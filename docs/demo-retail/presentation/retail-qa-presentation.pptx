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72888" y="822960"/>
            <a:ext cx="1645920" cy="1645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" name="Image 0" descr="/tmp/claude-0/-home-user-job-RAG/ef3eafce-311b-5f93-abd3-f923a7360240/scratchpad/retail-pptx/icons/shopping-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4368" y="12344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346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«Синапс.Инсайт» для ретейла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61188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и ответы — демонстрация на кейсе «ТоргЛайн»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сценариев  ·  15 документов  ·  демонстрация проходит в самой платформе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устроена эта демонстрация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Фиктивная сеть «ТоргЛайн»: продукты и непродовольственные товары, несколько регионов, собственная программа лояльности.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идёт в самой платформе — агент отвечает по реально загруженным документам, а не по заготовленному тексту.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сценариев ниже — это 8 конкретных, уже подтверждённых возможностей платформы, а не абстрактные примеры.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следующий слайд: вопрос(ы) клиенту-ретейлеру → ожидаемый ответ агента → какую возможность платформы это доказывает.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223760" y="1417320"/>
            <a:ext cx="4419295" cy="1005840"/>
          </a:xfrm>
          <a:prstGeom prst="roundRect">
            <a:avLst>
              <a:gd name="adj" fmla="val 5455"/>
            </a:avLst>
          </a:prstGeom>
          <a:solidFill>
            <a:srgbClr val="F3F4F7"/>
          </a:solidFill>
          <a:ln/>
        </p:spPr>
      </p:sp>
      <p:sp>
        <p:nvSpPr>
          <p:cNvPr id="5" name="Shape 3"/>
          <p:cNvSpPr/>
          <p:nvPr/>
        </p:nvSpPr>
        <p:spPr>
          <a:xfrm>
            <a:off x="7406640" y="162763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tmp/claude-0/-home-user-job-RAG/ef3eafce-311b-5f93-abd3-f923a7360240/scratchpad/retail-pptx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4" y="177393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38160" y="1527048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и таблицы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38160" y="1856232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text-to-SQL по остаткам, продажам, марже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23760" y="2587752"/>
            <a:ext cx="4419295" cy="1005840"/>
          </a:xfrm>
          <a:prstGeom prst="roundRect">
            <a:avLst>
              <a:gd name="adj" fmla="val 5455"/>
            </a:avLst>
          </a:prstGeom>
          <a:solidFill>
            <a:srgbClr val="F3F4F7"/>
          </a:solidFill>
          <a:ln/>
        </p:spPr>
      </p:sp>
      <p:sp>
        <p:nvSpPr>
          <p:cNvPr id="10" name="Shape 7"/>
          <p:cNvSpPr/>
          <p:nvPr/>
        </p:nvSpPr>
        <p:spPr>
          <a:xfrm>
            <a:off x="7406640" y="2798064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/tmp/claude-0/-home-user-job-RAG/ef3eafce-311b-5f93-abd3-f923a7360240/scratchpad/retail-pptx/icon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29443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138160" y="2697480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доступа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138160" y="3026664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доступа — row-фильтры и маски по ролям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223760" y="3758184"/>
            <a:ext cx="4419295" cy="1005840"/>
          </a:xfrm>
          <a:prstGeom prst="roundRect">
            <a:avLst>
              <a:gd name="adj" fmla="val 5455"/>
            </a:avLst>
          </a:prstGeom>
          <a:solidFill>
            <a:srgbClr val="F3F4F7"/>
          </a:solidFill>
          <a:ln/>
        </p:spPr>
      </p:sp>
      <p:sp>
        <p:nvSpPr>
          <p:cNvPr id="15" name="Shape 11"/>
          <p:cNvSpPr/>
          <p:nvPr/>
        </p:nvSpPr>
        <p:spPr>
          <a:xfrm>
            <a:off x="7406640" y="3968496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/tmp/claude-0/-home-user-job-RAG/ef3eafce-311b-5f93-abd3-f923a7360240/scratchpad/retail-pptx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944" y="41148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3867912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документам (RAG)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38160" y="4197096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регламенты, контракты, переписка с источником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223760" y="4928616"/>
            <a:ext cx="4419295" cy="1005840"/>
          </a:xfrm>
          <a:prstGeom prst="roundRect">
            <a:avLst>
              <a:gd name="adj" fmla="val 5455"/>
            </a:avLst>
          </a:prstGeom>
          <a:solidFill>
            <a:srgbClr val="F3F4F7"/>
          </a:solidFill>
          <a:ln/>
        </p:spPr>
      </p:sp>
      <p:sp>
        <p:nvSpPr>
          <p:cNvPr id="20" name="Shape 15"/>
          <p:cNvSpPr/>
          <p:nvPr/>
        </p:nvSpPr>
        <p:spPr>
          <a:xfrm>
            <a:off x="7406640" y="5138928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/tmp/claude-0/-home-user-job-RAG/ef3eafce-311b-5f93-abd3-f923a7360240/scratchpad/retail-pptx/icons/layer-gro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5285232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8160" y="5038344"/>
            <a:ext cx="3322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Курируемые шаблоны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138160" y="5367528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«Мои шаблоны» — обычный и строгий режим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Бриф перед встречей с поставщиком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Категорийный менеджер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«ФрешПродукт»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поставщика: условия контракта, категория товаров, срок действия, штрафные условия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Динамика продаж и маржи по его SKU за 2 квартал 2026 — выделить просадку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Были ли претензии или штрафы за последние 6 месяцев?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собери бриф к переговорам из всех трёх ответов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12" name="Text 9"/>
          <p:cNvSpPr/>
          <p:nvPr/>
        </p:nvSpPr>
        <p:spPr>
          <a:xfrm>
            <a:off x="6461608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1608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«Fresh», срок 15.01.2025–31.12.2026, отсрочка 21 день, неустойка 0,1% в день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Просадка по томатам (FR-1001) в мае: 12 500 → 6 800 шт., в июне — восстановление до 11 900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инцидента за 2 кв. 2026: неустойки 43 300 ₽, компенсации 83 600 ₽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бриф должен объединить все три ответа, не потеряв уже подтверждённые данные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многошаговый синтез · text-to-SQL · прямая проверка дефекта, найденного в Кейсе 01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user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Разграничение доступа по ролям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вопрос — три роли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«Покажи выручку и маржу по магазинам»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3515258" cy="4114800"/>
          </a:xfrm>
          <a:prstGeom prst="roundRect">
            <a:avLst>
              <a:gd name="adj" fmla="val 1561"/>
            </a:avLst>
          </a:prstGeom>
          <a:solidFill>
            <a:srgbClr val="F3F4F7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17627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магазина №14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7240" y="278892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только строку своего магазина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закупочной стоимости и маржи скрыты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38218" y="2011680"/>
            <a:ext cx="3515258" cy="4114800"/>
          </a:xfrm>
          <a:prstGeom prst="roundRect">
            <a:avLst>
              <a:gd name="adj" fmla="val 1561"/>
            </a:avLst>
          </a:prstGeom>
          <a:solidFill>
            <a:srgbClr val="F3F4F7"/>
          </a:solidFill>
          <a:ln/>
        </p:spPr>
      </p:sp>
      <p:sp>
        <p:nvSpPr>
          <p:cNvPr id="13" name="Text 10"/>
          <p:cNvSpPr/>
          <p:nvPr/>
        </p:nvSpPr>
        <p:spPr>
          <a:xfrm>
            <a:off x="4566818" y="217627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Рег. директор (Центральный)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66818" y="278892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магазины №14 и №22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Маржа видна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8127797" y="2011680"/>
            <a:ext cx="3515258" cy="4114800"/>
          </a:xfrm>
          <a:prstGeom prst="roundRect">
            <a:avLst>
              <a:gd name="adj" fmla="val 1561"/>
            </a:avLst>
          </a:prstGeom>
          <a:solidFill>
            <a:srgbClr val="F3F4F7"/>
          </a:solidFill>
          <a:ln/>
        </p:spPr>
      </p:sp>
      <p:sp>
        <p:nvSpPr>
          <p:cNvPr id="16" name="Text 13"/>
          <p:cNvSpPr/>
          <p:nvPr/>
        </p:nvSpPr>
        <p:spPr>
          <a:xfrm>
            <a:off x="8356397" y="2176272"/>
            <a:ext cx="30580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Финансист HQ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56397" y="2788920"/>
            <a:ext cx="30580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Видит все 6 магазинов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колонки, включая закупочные цены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row-фильтры и маски по персонам («Граф доступа») — уже реальный механизм, а не план на v2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bo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остатков по акции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операционный менеджер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сейчас идут акции и по каким товарам?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Покажи магазины, где остаток по SKU акции ниже 3 дней продаж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Сформируй список для догрузки по приоритету — сначала магазины с наибольшим оборотом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12" name="Text 9"/>
          <p:cNvSpPr/>
          <p:nvPr/>
        </p:nvSpPr>
        <p:spPr>
          <a:xfrm>
            <a:off x="6461608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1608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«Дачный сезон», 15.07–15.08.2026, категория CAT-NEW-BBQ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 остаток: магазины №14, №22, №31, №08, №19, №27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догрузки по выручке: №31 → №14 → №22 → №19 → №27 → №08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роутинг «Data-вопросы» → SQL-агрегация; естественный мостик к проактивным алертам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user-gradu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Онбординг продавца-консультанта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сотрудник магазина, первая неделя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оформить возврат товара без чека?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делать, если сработала защитная бирка на выходе?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скидка положена держателю карты лояльности «Золото»?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12" name="Text 9"/>
          <p:cNvSpPr/>
          <p:nvPr/>
        </p:nvSpPr>
        <p:spPr>
          <a:xfrm>
            <a:off x="6461608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1608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5 000 ₽ — по документу и заявлению; свыше — согласование с директором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Пригласить к стойке, проверить чек и бирки; при расхождении — администратор/охрана, без применения силы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Начисление 5% + дополнительные акции и приоритетная поддержка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промпты персон · recall шаблонов · технический шум в ответ не просачивается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head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жалобы клиента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 службы поддержки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Иванов И.И. жалуется, что не получил баллы за покупку от 12.07 — проверь начисления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политика возврата баллов при возврате товара?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Составь ответ клиенту с объяснением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12" name="Text 9"/>
          <p:cNvSpPr/>
          <p:nvPr/>
        </p:nvSpPr>
        <p:spPr>
          <a:xfrm>
            <a:off x="6461608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1608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 на 3 200 ₽ → начислено 160 баллов, зачислено 14.07 — в пределах правила 48 часов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возврате товара баллы списываются пропорционально возвращённой сумме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клиенту синтезируется из истории покупок + текста политики лояльности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объединение CRM-данных и документов в одном ответе · маскирование ПДн для роли поддержки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book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Пополнение глоссария мерчандайзинга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Категорийный менеджер — модератор очереди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3073298" cy="137160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/>
        </p:spPr>
      </p:sp>
      <p:sp>
        <p:nvSpPr>
          <p:cNvPr id="9" name="Shape 6"/>
          <p:cNvSpPr/>
          <p:nvPr/>
        </p:nvSpPr>
        <p:spPr>
          <a:xfrm>
            <a:off x="713232" y="1993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13232" y="2514600"/>
            <a:ext cx="27441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Загружена новая планограмма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незнакомыми кодами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21938" y="1828800"/>
            <a:ext cx="438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0"/>
          <p:cNvSpPr/>
          <p:nvPr/>
        </p:nvSpPr>
        <p:spPr>
          <a:xfrm>
            <a:off x="4079138" y="1828800"/>
            <a:ext cx="3073298" cy="137160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/>
        </p:spPr>
      </p:sp>
      <p:sp>
        <p:nvSpPr>
          <p:cNvPr id="14" name="Shape 11"/>
          <p:cNvSpPr/>
          <p:nvPr/>
        </p:nvSpPr>
        <p:spPr>
          <a:xfrm>
            <a:off x="4243730" y="1993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424373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243730" y="2514600"/>
            <a:ext cx="27441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предлагает кандидатов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глоссарий термина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152437" y="1828800"/>
            <a:ext cx="438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7609637" y="1828800"/>
            <a:ext cx="3073298" cy="1371600"/>
          </a:xfrm>
          <a:prstGeom prst="roundRect">
            <a:avLst>
              <a:gd name="adj" fmla="val 4000"/>
            </a:avLst>
          </a:prstGeom>
          <a:solidFill>
            <a:srgbClr val="F3F4F7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4229" y="199339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7774229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74229" y="2514600"/>
            <a:ext cx="274411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Модератор в «Задачи → Предложения»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одобряет или отклоняет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48640" y="3657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термины, ожидаемые в очереди предложений: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160520"/>
            <a:ext cx="1412748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4" name="Text 21"/>
          <p:cNvSpPr/>
          <p:nvPr/>
        </p:nvSpPr>
        <p:spPr>
          <a:xfrm>
            <a:off x="548640" y="4160520"/>
            <a:ext cx="1412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CAT-NEW-ECO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189988" y="4160520"/>
            <a:ext cx="992124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6" name="Text 23"/>
          <p:cNvSpPr/>
          <p:nvPr/>
        </p:nvSpPr>
        <p:spPr>
          <a:xfrm>
            <a:off x="2189988" y="4160520"/>
            <a:ext cx="9921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ECO-BAG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410712" y="416052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28" name="Text 25"/>
          <p:cNvSpPr/>
          <p:nvPr/>
        </p:nvSpPr>
        <p:spPr>
          <a:xfrm>
            <a:off x="3410712" y="4160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ECO-HOME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736592" y="4160520"/>
            <a:ext cx="162306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0" name="Text 27"/>
          <p:cNvSpPr/>
          <p:nvPr/>
        </p:nvSpPr>
        <p:spPr>
          <a:xfrm>
            <a:off x="4736592" y="4160520"/>
            <a:ext cx="16230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ECO-TABLEWARE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588252" y="4160520"/>
            <a:ext cx="1833372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2" name="Text 29"/>
          <p:cNvSpPr/>
          <p:nvPr/>
        </p:nvSpPr>
        <p:spPr>
          <a:xfrm>
            <a:off x="6588252" y="4160520"/>
            <a:ext cx="18333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PROMO-26-Q4-ECO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8640" y="50292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Категорийный менеджер заходит в очередь и одобряет/отклоняет каждый кандидат.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модерация — платформа расширяет собственные знания под присмотром человека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chart-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Шаблонный отчёт по акции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Маркетинг-аналитик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— «Дачный сезон»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Заведён шаблон: триггер «эффективность акции […]», образец ответа с графиком, обычный режим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по прошедшей акции: «Эффективность акции "Дачный сезон"?»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сравнения — тот же вопрос со строгим шаблоном (текст не меняется, только цифры)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33008" y="1691640"/>
            <a:ext cx="5410048" cy="4434840"/>
          </a:xfrm>
          <a:prstGeom prst="roundRect">
            <a:avLst>
              <a:gd name="adj" fmla="val 1237"/>
            </a:avLst>
          </a:prstGeom>
          <a:solidFill>
            <a:srgbClr val="F3F4F7"/>
          </a:solidFill>
          <a:ln/>
        </p:spPr>
      </p:sp>
      <p:sp>
        <p:nvSpPr>
          <p:cNvPr id="12" name="Text 9"/>
          <p:cNvSpPr/>
          <p:nvPr/>
        </p:nvSpPr>
        <p:spPr>
          <a:xfrm>
            <a:off x="6461608" y="1856232"/>
            <a:ext cx="495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61608" y="2286000"/>
            <a:ext cx="495284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Выручка: 6 750 000 ₽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чек: 1 890 ₽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 продаж: 38% (цель была 35%)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Охват программы лояльности: 44% (цель была 40%)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«Мои шаблоны»: обычный режим (структура фиксирована) против строгого (текст неизменен)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188720" y="50292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/tmp/claude-0/-home-user-job-RAG/ef3eafce-311b-5f93-abd3-f923a7360240/scratchpad/retail-pptx/icons/balance-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6217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438912"/>
            <a:ext cx="9768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vs Closed-book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874520" y="841248"/>
            <a:ext cx="9768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 по обучению, перед раскаткой агента на всех сотрудников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«Можно ли принять возврат товара с повреждённой заводской упаковкой, если у покупателя нет чека?»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148840"/>
            <a:ext cx="5410048" cy="3977640"/>
          </a:xfrm>
          <a:prstGeom prst="roundRect">
            <a:avLst>
              <a:gd name="adj" fmla="val 1379"/>
            </a:avLst>
          </a:prstGeom>
          <a:solidFill>
            <a:srgbClr val="F3F4F7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37744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/tmp/claude-0/-home-user-job-RAG/ef3eafce-311b-5f93-abd3-f923a7360240/scratchpad/retail-pptx/icons/check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4780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04872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RAG-агент (доступ к документам)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" y="3063240"/>
            <a:ext cx="49528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регламент нестандартных возвратов: да, при подтверждении покупки картой лояльности или выпиской — лимит 3 000 ₽ без согласования, свыше — с директором. Ответ точный, со ссылкой на конкретный пункт документа.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233008" y="2148840"/>
            <a:ext cx="5410048" cy="3977640"/>
          </a:xfrm>
          <a:prstGeom prst="roundRect">
            <a:avLst>
              <a:gd name="adj" fmla="val 1379"/>
            </a:avLst>
          </a:prstGeom>
          <a:solidFill>
            <a:srgbClr val="F3F4F7"/>
          </a:solidFill>
          <a:ln/>
        </p:spPr>
      </p:sp>
      <p:sp>
        <p:nvSpPr>
          <p:cNvPr id="15" name="Shape 11"/>
          <p:cNvSpPr/>
          <p:nvPr/>
        </p:nvSpPr>
        <p:spPr>
          <a:xfrm>
            <a:off x="6461608" y="2377440"/>
            <a:ext cx="457200" cy="457200"/>
          </a:xfrm>
          <a:prstGeom prst="ellipse">
            <a:avLst/>
          </a:prstGeom>
          <a:solidFill>
            <a:srgbClr val="9A9A9A"/>
          </a:solidFill>
          <a:ln/>
        </p:spPr>
      </p:sp>
      <p:pic>
        <p:nvPicPr>
          <p:cNvPr id="16" name="Image 2" descr="/tmp/claude-0/-home-user-job-RAG/ef3eafce-311b-5f93-abd3-f923a7360240/scratchpad/retail-pptx/icons/times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4780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55968" y="2404872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Closed-book агент (общие знания)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61608" y="3063240"/>
            <a:ext cx="49528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располагает внутренним регламентом компании — либо честно отказывается («не располагаю данными о внутреннем регламенте»), либо даёт общий, неточный ответ без ссылки на конкретное правило.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548640" y="626364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F3C7E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6263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Демонстрирует: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retrieval через прямое сравнение — назначение Closed-book RAG как эталона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Пакет готов к демонстрации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33323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310896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документов Word/Excel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429658" y="2103120"/>
            <a:ext cx="33323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429658" y="310896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сценариев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10677" y="2103120"/>
            <a:ext cx="33323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8310677" y="3108960"/>
            <a:ext cx="33323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папок-коллекций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466344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ответы на этих слайдах — ожидаемые результаты по данным, реально заложенным в документы «ТоргЛайн». Сама демонстрация проходит в живом чате платформы, а не по заготовленному сценарию.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89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docs/demo-retail/dataset/ — полный пакет документов и пошаговый runbook демонстрации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Синапс.Инсайт для ретейла — вопросы и ответы</dc:title>
  <dc:subject>PptxGenJS Presentation</dc:subject>
  <dc:creator>Синапс.Инсайт — демо для ретейла</dc:creator>
  <cp:lastModifiedBy>Синапс.Инсайт — демо для ретейла</cp:lastModifiedBy>
  <cp:revision>1</cp:revision>
  <dcterms:created xsi:type="dcterms:W3CDTF">2026-07-24T18:32:28Z</dcterms:created>
  <dcterms:modified xsi:type="dcterms:W3CDTF">2026-07-24T18:32:28Z</dcterms:modified>
</cp:coreProperties>
</file>