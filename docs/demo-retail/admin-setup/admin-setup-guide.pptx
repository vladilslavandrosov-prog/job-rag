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888" y="777240"/>
            <a:ext cx="1645920" cy="1645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3" name="Image 0" descr="/tmp/claude-0/-home-user-job-RAG/ef3eafce-311b-5f93-abd3-f923a7360240/scratchpad/admin-pptx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1887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Настройка платформы к демонстрации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документов и Граф доступа — сценарий «Разграничение доступа по ролям»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инструкция администратора  ·  кейс «ТоргЛайн»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настроить перед показом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в платформе работает только после двух шагов настройки — документы должны быть загружены и проиндексированы, а доступ по ролям должен быть явно сконфигурирован (по умолчанию он не настраивается автоматически).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ECEEF0"/>
          </a:solidFill>
          <a:ln/>
        </p:spPr>
      </p:sp>
      <p:sp>
        <p:nvSpPr>
          <p:cNvPr id="5" name="Shape 3"/>
          <p:cNvSpPr/>
          <p:nvPr/>
        </p:nvSpPr>
        <p:spPr>
          <a:xfrm>
            <a:off x="1879549" y="2514600"/>
            <a:ext cx="731520" cy="7315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6" name="Image 0" descr="/tmp/claude-0/-home-user-job-RAG/ef3eafce-311b-5f93-abd3-f923a7360240/scratchpad/admin-pptx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3285" y="27066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Загрузка документов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файлов «ТоргЛайн» по доменам/коллекциям, дождаться статуса «Готово»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41978" y="2194560"/>
            <a:ext cx="4389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399178" y="219456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ECEEF0"/>
          </a:solidFill>
          <a:ln/>
        </p:spPr>
      </p:sp>
      <p:sp>
        <p:nvSpPr>
          <p:cNvPr id="11" name="Shape 8"/>
          <p:cNvSpPr/>
          <p:nvPr/>
        </p:nvSpPr>
        <p:spPr>
          <a:xfrm>
            <a:off x="5730088" y="2514600"/>
            <a:ext cx="731520" cy="7315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2" name="Image 1" descr="/tmp/claude-0/-home-user-job-RAG/ef3eafce-311b-5f93-abd3-f923a7360240/scratchpad/admin-pptx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24" y="270662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7778" y="342900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Граф доступа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73498" y="40233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персоны, row-фильтры и маски на таблице продаж по магазинам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792517" y="2194560"/>
            <a:ext cx="4389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8249717" y="219456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ECEEF0"/>
          </a:solidFill>
          <a:ln/>
        </p:spPr>
      </p:sp>
      <p:sp>
        <p:nvSpPr>
          <p:cNvPr id="17" name="Shape 13"/>
          <p:cNvSpPr/>
          <p:nvPr/>
        </p:nvSpPr>
        <p:spPr>
          <a:xfrm>
            <a:off x="9580626" y="2514600"/>
            <a:ext cx="731520" cy="7315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8" name="Image 2" descr="/tmp/claude-0/-home-user-job-RAG/ef3eafce-311b-5f93-abd3-f923a7360240/scratchpad/admin-pptx/icons/check-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362" y="270662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8317" y="342900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Демо готово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24037" y="40233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 «Карте покрытия» + тестовые запросы от каждой роли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7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5" name="Image 0" descr="/tmp/claude-0/-home-user-job-RAG/ef3eafce-311b-5f93-abd3-f923a7360240/scratchpad/admin-pptx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20624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доменов и коллекций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874520" y="822960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грузить файлы — завести домен «Ретейл-Демо» и коллекции по папкам ниже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440771" cy="411480"/>
          </a:xfrm>
          <a:prstGeom prst="rect">
            <a:avLst/>
          </a:prstGeom>
          <a:solidFill>
            <a:srgbClr val="3645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600200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989411" y="1600200"/>
            <a:ext cx="6878537" cy="411480"/>
          </a:xfrm>
          <a:prstGeom prst="rect">
            <a:avLst/>
          </a:prstGeom>
          <a:solidFill>
            <a:srgbClr val="3645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2563" y="1600200"/>
            <a:ext cx="67322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867949" y="1600200"/>
            <a:ext cx="1775106" cy="411480"/>
          </a:xfrm>
          <a:prstGeom prst="rect">
            <a:avLst/>
          </a:prstGeom>
          <a:solidFill>
            <a:srgbClr val="3645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41101" y="1600200"/>
            <a:ext cx="1628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011680"/>
            <a:ext cx="244077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011680"/>
            <a:ext cx="22944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01-postavshiki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89411" y="2011680"/>
            <a:ext cx="687853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62563" y="2011680"/>
            <a:ext cx="67322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dogovor-freshprodukt.docx, pretenzii-log.docx,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prodazhi-marzha-po-sku.xlsx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67949" y="2011680"/>
            <a:ext cx="177510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41101" y="2011680"/>
            <a:ext cx="16288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2724912"/>
            <a:ext cx="2440771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2724912"/>
            <a:ext cx="22944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02-prodazhi-regiony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989411" y="2724912"/>
            <a:ext cx="6878537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2563" y="2724912"/>
            <a:ext cx="67322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prodazhi-po-magazinam.xlsx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867949" y="2724912"/>
            <a:ext cx="1775106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41101" y="2724912"/>
            <a:ext cx="16288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3438144"/>
            <a:ext cx="244077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3438144"/>
            <a:ext cx="22944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03-sklad-promo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989411" y="3438144"/>
            <a:ext cx="687853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62563" y="3438144"/>
            <a:ext cx="67322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ostatki-po-sku.xlsx, promo-kalendar.docx,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effektivnost-akciy.xlsx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867949" y="3438144"/>
            <a:ext cx="177510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41101" y="3438144"/>
            <a:ext cx="16288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3, 7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4151376"/>
            <a:ext cx="2440771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" y="4151376"/>
            <a:ext cx="22944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04-personal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989411" y="4151376"/>
            <a:ext cx="6878537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62563" y="4151376"/>
            <a:ext cx="67322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reglament-kassovyh-operaciy.docx, instrukciya-bezopasnost.docx,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skripty-prodazh.docx, programma-loyalnosti.docx,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reglament-nestandartnyh-vozvratov.docx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867949" y="4151376"/>
            <a:ext cx="1775106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941101" y="4151376"/>
            <a:ext cx="16288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48640" y="4864608"/>
            <a:ext cx="244077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" y="4864608"/>
            <a:ext cx="22944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05-klienty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989411" y="4864608"/>
            <a:ext cx="687853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62563" y="4864608"/>
            <a:ext cx="67322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istoriya-pokupok-ivanov.xlsx, politika-vozvrata.docx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867949" y="4864608"/>
            <a:ext cx="177510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941101" y="4864608"/>
            <a:ext cx="16288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8640" y="5577840"/>
            <a:ext cx="2440771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1792" y="5577840"/>
            <a:ext cx="22944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06-merchandising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2989411" y="5577840"/>
            <a:ext cx="6878537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62563" y="5577840"/>
            <a:ext cx="67322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planogramma-novaya.docx  (грузится отдельно, последним)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867949" y="5577840"/>
            <a:ext cx="1775106" cy="713232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941101" y="5577840"/>
            <a:ext cx="16288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36454F"/>
          </a:solidFill>
          <a:ln/>
        </p:spPr>
      </p:sp>
      <p:sp>
        <p:nvSpPr>
          <p:cNvPr id="51" name="Text 48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prodazhi-po-magazinam.xlsx (коллекция 02) — та самая таблица, на которой настраивается Граф доступа для сценария 2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7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5" name="Image 0" descr="/tmp/claude-0/-home-user-job-RAG/ef3eafce-311b-5f93-abd3-f923a7360240/scratchpad/admin-pptx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20624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документов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874520" y="822960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«Источники → Документы» — по одному файлу или целой директорией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6309360" cy="4297680"/>
          </a:xfrm>
          <a:prstGeom prst="roundRect">
            <a:avLst>
              <a:gd name="adj" fmla="val 1277"/>
            </a:avLst>
          </a:prstGeom>
          <a:solidFill>
            <a:srgbClr val="ECEEF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7647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действий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194560"/>
            <a:ext cx="5852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папки-коллекции выбрать домен, коллекцию, тип документа (Регламент / Политика / Другое)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«+ Директория» — подключить папку целиком: пакетная загрузка и синхронизация за один раз (быстрее, чем по одному файлу)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Дождаться статуса «Готово» по каждому документу в реестре — до этого момента индексация не завершена и поиск по документу недоступен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колонку «Фрагменты» — ноль чанков означает, что индексация не удалась, даже если статус выглядит нормально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178040" y="1600200"/>
            <a:ext cx="4465015" cy="2103120"/>
          </a:xfrm>
          <a:prstGeom prst="roundRect">
            <a:avLst>
              <a:gd name="adj" fmla="val 2609"/>
            </a:avLst>
          </a:prstGeom>
          <a:solidFill>
            <a:srgbClr val="ECEEF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1764792"/>
            <a:ext cx="4007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в реестре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06640" y="2194560"/>
            <a:ext cx="40078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Коллекция, Домен — совпадают с планом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= «Готово»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Фрагменты &gt; 0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 соответствует домену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78040" y="3977640"/>
            <a:ext cx="4465015" cy="1965960"/>
          </a:xfrm>
          <a:prstGeom prst="roundRect">
            <a:avLst>
              <a:gd name="adj" fmla="val 2791"/>
            </a:avLst>
          </a:prstGeom>
          <a:solidFill>
            <a:srgbClr val="ECEEF0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640" y="4142232"/>
            <a:ext cx="4007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Важный нюанс — planogramma-novaya.docx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06640" y="4572000"/>
            <a:ext cx="4007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Грузить отдельно, после того как остальные 14 файлов уже проиндексированы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новые термины для сценария 6 потеряются в общей очереди предложений вместо отдельной, наглядной пачки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36454F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docs/platform/istochniki-dokumenty.md — полное описание экрана и колонок реестра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7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5" name="Image 0" descr="/tmp/claude-0/-home-user-job-RAG/ef3eafce-311b-5f93-abd3-f923a7360240/scratchpad/admin-pptx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20624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Граф доступа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874520" y="822960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«Управление данными → Граф доступа» — row-фильтры и маски для персон и пользователей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410048" cy="2743200"/>
          </a:xfrm>
          <a:prstGeom prst="roundRect">
            <a:avLst>
              <a:gd name="adj" fmla="val 2000"/>
            </a:avLst>
          </a:prstGeom>
          <a:solidFill>
            <a:srgbClr val="ECEEF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76479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194560"/>
            <a:ext cx="495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Ограничивают, какие строки таблицы видит персона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уровня схема.таблица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Магазин = «Магазин №14» — видны только строки этого магазина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33008" y="1600200"/>
            <a:ext cx="5410048" cy="2743200"/>
          </a:xfrm>
          <a:prstGeom prst="roundRect">
            <a:avLst>
              <a:gd name="adj" fmla="val 2000"/>
            </a:avLst>
          </a:prstGeom>
          <a:solidFill>
            <a:srgbClr val="ECEEF0"/>
          </a:solidFill>
          <a:ln/>
        </p:spPr>
      </p:sp>
      <p:sp>
        <p:nvSpPr>
          <p:cNvPr id="12" name="Text 9"/>
          <p:cNvSpPr/>
          <p:nvPr/>
        </p:nvSpPr>
        <p:spPr>
          <a:xfrm>
            <a:off x="6461608" y="176479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1608" y="2194560"/>
            <a:ext cx="495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Скрывают или заменяют значения в отдельных колонках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уровня схема.таблица.колонка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колонка «Маржа» — скрыта для роли «директор магазина», видна для HQ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3750"/>
            </a:avLst>
          </a:prstGeom>
          <a:solidFill>
            <a:srgbClr val="ECEEF0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736592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вкладки экрана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51663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«Политики доступа» — настройка фильтров и масок по конкретной персоне  ·  «Карта покрытия» — какие таблицы/колонки уже защищены, а какие ещё нет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36454F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в демо: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 тот механизм, который в исходном ТЗ был заявлен «опционально для v2», но по факту уже реализован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7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5" name="Image 0" descr="/tmp/claude-0/-home-user-job-RAG/ef3eafce-311b-5f93-abd3-f923a7360240/scratchpad/admin-pptx/icons/user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20624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персон для сценария 2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874520" y="822960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персоны на таблице prodazhi-po-magazinam.xlsx (коллекция 02-prodazhi-regiony)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3328325" cy="457200"/>
          </a:xfrm>
          <a:prstGeom prst="rect">
            <a:avLst/>
          </a:prstGeom>
          <a:solidFill>
            <a:srgbClr val="3645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691640"/>
            <a:ext cx="31820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876965" y="1691640"/>
            <a:ext cx="3883045" cy="457200"/>
          </a:xfrm>
          <a:prstGeom prst="rect">
            <a:avLst/>
          </a:prstGeom>
          <a:solidFill>
            <a:srgbClr val="3645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50117" y="1691640"/>
            <a:ext cx="373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60010" y="1691640"/>
            <a:ext cx="3883045" cy="457200"/>
          </a:xfrm>
          <a:prstGeom prst="rect">
            <a:avLst/>
          </a:prstGeom>
          <a:solidFill>
            <a:srgbClr val="36454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33162" y="1691640"/>
            <a:ext cx="373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148840"/>
            <a:ext cx="332832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148840"/>
            <a:ext cx="318202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магазина №14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76965" y="2148840"/>
            <a:ext cx="388304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50117" y="2148840"/>
            <a:ext cx="373674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 = «Магазин №14»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60010" y="2148840"/>
            <a:ext cx="388304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33162" y="2148840"/>
            <a:ext cx="373674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Скрыты: «Закупочная стоимость», «Маржа (руб/%)»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108960"/>
            <a:ext cx="3328325" cy="960120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3108960"/>
            <a:ext cx="318202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директор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(Центральный)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76965" y="3108960"/>
            <a:ext cx="3883045" cy="960120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50117" y="3108960"/>
            <a:ext cx="373674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= «Центральный»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760010" y="3108960"/>
            <a:ext cx="3883045" cy="960120"/>
          </a:xfrm>
          <a:prstGeom prst="rect">
            <a:avLst/>
          </a:prstGeom>
          <a:solidFill>
            <a:srgbClr val="ECEEF0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33162" y="3108960"/>
            <a:ext cx="373674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колонки видны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069080"/>
            <a:ext cx="332832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4069080"/>
            <a:ext cx="318202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Финансист HQ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876965" y="4069080"/>
            <a:ext cx="388304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50117" y="4069080"/>
            <a:ext cx="373674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фильтра (все строки)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760010" y="4069080"/>
            <a:ext cx="388304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3162" y="4069080"/>
            <a:ext cx="373674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колонки видны, включая закупочные цены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36454F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docs/demo-retail/dataset/README.md, раздел «Настройка для сценария 2» — точные названия ролей и полей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7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5" name="Image 0" descr="/tmp/claude-0/-home-user-job-RAG/ef3eafce-311b-5f93-abd3-f923a7360240/scratchpad/admin-pptx/icons/clipboard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20624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перед показом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874520" y="822960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по каждому пункту до начала встречи с клиентом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7C7C"/>
          </a:solidFill>
          <a:ln/>
        </p:spPr>
      </p:sp>
      <p:pic>
        <p:nvPicPr>
          <p:cNvPr id="9" name="Image 1" descr="/tmp/claude-0/-home-user-job-RAG/ef3eafce-311b-5f93-abd3-f923a7360240/scratchpad/admin-pptx/icons/check-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645920"/>
            <a:ext cx="10500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«Карта покрытия» по таблице prodazhi-po-magazinam.xlsx — нет незащищённых строк/колонок сверх того, что решено оставить открытым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25328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7C7C"/>
          </a:solidFill>
          <a:ln/>
        </p:spPr>
      </p:sp>
      <p:pic>
        <p:nvPicPr>
          <p:cNvPr id="12" name="Image 2" descr="/tmp/claude-0/-home-user-job-RAG/ef3eafce-311b-5f93-abd3-f923a7360240/scratchpad/admin-pptx/icons/check-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06040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487168"/>
            <a:ext cx="10500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Тестовый запрос «Покажи выручку и маржу по магазинам» от каждой из трёх персон — результат совпадает с ожидаемым (слайд 6)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374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7C7C"/>
          </a:solidFill>
          <a:ln/>
        </p:spPr>
      </p:sp>
      <p:pic>
        <p:nvPicPr>
          <p:cNvPr id="15" name="Image 3" descr="/tmp/claude-0/-home-user-job-RAG/ef3eafce-311b-5f93-abd3-f923a7360240/scratchpad/admin-pptx/icons/check-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447288"/>
            <a:ext cx="265176" cy="2651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328416"/>
            <a:ext cx="10500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Пограничный случай: попытка запроса вне разрешённой области (например, чужой регион) — доступ корректно отклонён, а не тихо игнорируется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421538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7C7C"/>
          </a:solidFill>
          <a:ln/>
        </p:spPr>
      </p:sp>
      <p:pic>
        <p:nvPicPr>
          <p:cNvPr id="18" name="Image 4" descr="/tmp/claude-0/-home-user-job-RAG/ef3eafce-311b-5f93-abd3-f923a7360240/scratchpad/admin-pptx/icons/check-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88536"/>
            <a:ext cx="265176" cy="2651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169664"/>
            <a:ext cx="10500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15 документов — статус «Готово», фрагменты &gt; 0 (см. слайд 4)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8640" y="50566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7C7C"/>
          </a:solidFill>
          <a:ln/>
        </p:spPr>
      </p:sp>
      <p:pic>
        <p:nvPicPr>
          <p:cNvPr id="21" name="Image 5" descr="/tmp/claude-0/-home-user-job-RAG/ef3eafce-311b-5f93-abd3-f923a7360240/scratchpad/admin-pptx/icons/check-squ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129784"/>
            <a:ext cx="265176" cy="26517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5010912"/>
            <a:ext cx="10500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planogramma-novaya.docx загружен последним, если в демо также входит сценарий 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E7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5" name="Image 0" descr="/tmp/claude-0/-home-user-job-RAG/ef3eafce-311b-5f93-abd3-f923a7360240/scratchpad/admin-pptx/icons/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20624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нужно настраивать для этого кейса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874520" y="822960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«Граф процедур» и «Граф код→таблица» — тоже часть «Управление данными», но для другой задачи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5410048" cy="3931920"/>
          </a:xfrm>
          <a:prstGeom prst="roundRect">
            <a:avLst>
              <a:gd name="adj" fmla="val 1395"/>
            </a:avLst>
          </a:prstGeom>
          <a:solidFill>
            <a:srgbClr val="ECEEF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90195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процедур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495284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хранимых процедур — какая процедура что вызывает, от каких таблиц зависит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Актуален для сценариев с БД и SQL-объектами заказчика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ретейл-кейсе «ТоргЛайн» отдельных хранимых процедур нет — настраивать нечего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33008" y="1737360"/>
            <a:ext cx="5410048" cy="3931920"/>
          </a:xfrm>
          <a:prstGeom prst="roundRect">
            <a:avLst>
              <a:gd name="adj" fmla="val 1395"/>
            </a:avLst>
          </a:prstGeom>
          <a:solidFill>
            <a:srgbClr val="ECEEF0"/>
          </a:solidFill>
          <a:ln/>
        </p:spPr>
      </p:sp>
      <p:sp>
        <p:nvSpPr>
          <p:cNvPr id="12" name="Text 9"/>
          <p:cNvSpPr/>
          <p:nvPr/>
        </p:nvSpPr>
        <p:spPr>
          <a:xfrm>
            <a:off x="6461608" y="190195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95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код→таблица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1608" y="2331720"/>
            <a:ext cx="495284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Связывает код-коллекцию (репозиторий GitLab) с таблицами и процедурами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Нужен, когда в демо участвует кодовая база (например, кейс с код-ревью)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ретейл-кейсе кодовой коллекции нет — блок можно не трогать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36454F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 знать: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тратить время подготовки на настройку того, что этот конкретный сценарий не использует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Итоговый чек-лист администратора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93338" cy="4572000"/>
          </a:xfrm>
          <a:prstGeom prst="roundRect">
            <a:avLst>
              <a:gd name="adj" fmla="val 2156"/>
            </a:avLst>
          </a:prstGeom>
          <a:solidFill>
            <a:srgbClr val="27313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75564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Документы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293613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и коллекции созданы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файлов загружены по плану (слайд 3)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«Готово», фрагменты &gt; 0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planogramma-novaya.docx — отдельно, последним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99178" y="1554480"/>
            <a:ext cx="3393338" cy="4572000"/>
          </a:xfrm>
          <a:prstGeom prst="roundRect">
            <a:avLst>
              <a:gd name="adj" fmla="val 2156"/>
            </a:avLst>
          </a:prstGeom>
          <a:solidFill>
            <a:srgbClr val="27313A"/>
          </a:solidFill>
          <a:ln/>
        </p:spPr>
      </p:sp>
      <p:sp>
        <p:nvSpPr>
          <p:cNvPr id="7" name="Text 5"/>
          <p:cNvSpPr/>
          <p:nvPr/>
        </p:nvSpPr>
        <p:spPr>
          <a:xfrm>
            <a:off x="4627778" y="175564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Граф доступа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27778" y="2286000"/>
            <a:ext cx="293613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персоны заведены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настроены (слайд 6)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 настроены (слайд 6)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«Карта покрытия» без пробелов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49717" y="1554480"/>
            <a:ext cx="3393338" cy="4572000"/>
          </a:xfrm>
          <a:prstGeom prst="roundRect">
            <a:avLst>
              <a:gd name="adj" fmla="val 2156"/>
            </a:avLst>
          </a:prstGeom>
          <a:solidFill>
            <a:srgbClr val="27313A"/>
          </a:solidFill>
          <a:ln/>
        </p:spPr>
      </p:sp>
      <p:sp>
        <p:nvSpPr>
          <p:cNvPr id="10" name="Text 8"/>
          <p:cNvSpPr/>
          <p:nvPr/>
        </p:nvSpPr>
        <p:spPr>
          <a:xfrm>
            <a:off x="8478317" y="175564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Проверка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78317" y="2286000"/>
            <a:ext cx="293613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Тестовый запрос от каждой роли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Пограничный случай отклонён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E7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трогали Граф процедур / код→таблица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 и справочные материалы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4" name="Image 0" descr="/tmp/claude-0/-home-user-job-RAG/ef3eafce-311b-5f93-abd3-f923a7360240/scratchpad/admin-pptx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8191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35608"/>
            <a:ext cx="10408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docs/platform/istochniki-dokumenty.md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175564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«Источники → Документы» — колонки, фильтры, статусы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8" name="Image 1" descr="/tmp/claude-0/-home-user-job-RAG/ef3eafce-311b-5f93-abd3-f923a7360240/scratchpad/admin-pptx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3347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487168"/>
            <a:ext cx="10408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docs/platform/upravlenie-dannymi.md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34440" y="280720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доступа, Граф процедур, Граф код→таблица, Анализ схемы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2" name="Image 2" descr="/tmp/claude-0/-home-user-job-RAG/ef3eafce-311b-5f93-abd3-f923a7360240/scratchpad/admin-pptx/icons/user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8503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538728"/>
            <a:ext cx="10408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docs/demo-retail/dataset/README.md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34440" y="385876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конфигурация ролей для сценария 2 и полный runbook демонстрации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6" name="Image 3" descr="/tmp/claude-0/-home-user-job-RAG/ef3eafce-311b-5f93-abd3-f923a7360240/scratchpad/admin-pptx/icons/list-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736592"/>
            <a:ext cx="265176" cy="2651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590288"/>
            <a:ext cx="10408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docs/demo-retail/scenarios.md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234440" y="491032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8 демо-сценариев и какую возможность платформы каждый проверяет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платформы к демонстрации</dc:title>
  <dc:subject>PptxGenJS Presentation</dc:subject>
  <dc:creator>Синапс.Инсайт — инструкция администратора</dc:creator>
  <cp:lastModifiedBy>Синапс.Инсайт — инструкция администратора</cp:lastModifiedBy>
  <cp:revision>1</cp:revision>
  <dcterms:created xsi:type="dcterms:W3CDTF">2026-07-24T18:43:09Z</dcterms:created>
  <dcterms:modified xsi:type="dcterms:W3CDTF">2026-07-24T18:43:09Z</dcterms:modified>
</cp:coreProperties>
</file>