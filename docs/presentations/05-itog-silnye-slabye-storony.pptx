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Титульный слайд закрывающей, пятой части серии из пяти. Эта часть — не про технологию и не про конкретный проект, а про сводную, доказательную оценку всей платформы «Камерата» целиком: что подтверждено документально и что остаётся неизвестным. Материал синтезирован двумя независимыми исследовательскими агентами (один собирал сильные стороны, другой — слабые) с последующей сверкой, поэтому в качестве самостоятельного упражнения полезно перед чтением дальше вспомнить факты, которые встречались в частях 1-4, и попробовать самостоятельно предсказать, какие из них подтвердятся цифрами, а какие останутся расплывчатыми обещаниями.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всей серии из пяти частей с выделением текущей, пятой и последней. Важно проговорить явно: расширения цикла шестой частью про пилот Д8 не будет — весь материал про статус конкретного пилота, где он упоминается в этой части, приводится как пример из источника (сводного резюме по продукту), а не как отсылка к отдельной части курса. Для самостоятельного изучения полезно перед следующими слайдами вспомнить: какие конкретные факты из частей 1-4 про архитектуру, PII Shield и домены/доступ вы бы предсказали как «сильные стороны», а какие — как потенциально слабые места, ещё до того как увидите итоговый список.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Методологический слайд: почему этой оценке вообще можно доверять. Ключевая идея для самостоятельного изучения — источники здесь явно ранжированы по достоверности, и это не формальность: дальше в презентации разница между «RFI-подтверждено» и «только вендорский документ» будет определять, можно ли смело предъявлять пункт заказчику или нужно сначала перепроверить. Обратите внимание, что маркетинговые материалы разработчика сознательно исключены из списка сильных сторон — они попадают в презентацию только как повод для слабой стороны, если расходятся с фактами; это важное методологическое решение, отличающее данную оценку от типичного вендорского маркетинга.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Обзорный слайд без терминов — специально упрощённая формулировка каждого пункта, взятая из раздела источника «Простыми словами». Это не замена детальному разбору дальше, а быстрый ориентир: если вы читаете материал за одну сессию и хотите вынести самое важное, этих 12 строк достаточно. Задание для самостоятельной работы: после прочтения детальных категорийных слайдов вернитесь сюда и попробуйте для каждой из 12 строк вспомнить точную техническую формулировку и метку источника (RFI-подтверждено / критично и т.д.) — это хороший способ проверить, что упрощение не потеряло смысл.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Слайд-карта раздела сильных сторон: четыре категории, 15 пунктов в сумме, почти все — с меткой RFI-подтверждено или подтверждено скриншотом. Обратите внимание на порядок: раздел начинается с PII Shield неслучайно — это компонент с наивысшей значимостью для регулируемого покупателя, и именно там сосредоточены самые конкретные технические цифры во всей базе знаний. Следующие четыре слайда разворачивают каждую категорию подробно, с полными формулировками пунктов и метками достоверности источника.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категории «Защита ПДн»: сам механизм обнаружения и порядок проверки доступа. Ключевой нюанс для самостоятельного разбора — тройное обнаружение (метка + правило + NER) страхует от разных типов ошибок: аннотации ловят то, что размечено заранее, формальные правила — то, что имеет строгий формат (номер паспорта, СНИЛС и т.п.), а NER — то, что нигде не размечено и не подчиняется шаблону, то есть свободный текст. Второй пункт — про порядок проверки: система сначала решает, можно ли вообще показывать запись, и только потом решает, как её показать (замаскированной или нет) — это разница между «скрыть данные» и «не показывать вообще», и она снимает конкретное опасение клиента с другой встречи (mz-arsenal), что стоит отметить как пример того, как абстрактная архитектурная деталь отвечает на реальный вопрос бизнеса.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половина категории «Защита ПДн» — цифры и хранение. Важно для самостоятельного анализа: это единственное место во всей базе знаний, где вообще есть измеренные (а не целевые) числа такой конкретности — медиана и p95 отдельно для правил и для NER, отдельно время на табличные данные. Держите эти цифры в памяти — на слайде про «самый критичный риск» дальше в этой части будет прямой контраст: точность распознавания (в отличие от задержки) не измерена нигде. Второй блок — про TTL и поведение при отказе хранилища: то, что компонент выбирает не запускаться, а не деградировать до незащищённого режима, — это осознанный компромисс в пользу безопасности за счёт доступности, и стоит обдумать, какие эксплуатационные последствия у такого выбора (недоступность сервиса при сбое инфраструктуры).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Категория про управление доступом напрямую продолжает материал части 4 («Домены и доступ»), но теперь с фокусом на то, что из заявленного подтверждено скриншотом живого интерфейса. Обратите внимание на первый пункт — четырёхзвенный конвейер (роль → домен → строки/столбцы → маскирование) — это архитектурная гарантия того, что ни один из четырёх уровней проверки нельзя обойти отдельно; каждый запрос проходит все четыре. Второй и третий пункты — про операционные свойства (мгновенное применение изменений, разделение админки безопасности от админки каталога) — это те детали, которые обычно не видны в презентациях, но критичны для реальной эксплуатации в регулируемой среде.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архитектурных факта, все — RFI-подтверждено. Первый (on-premise, единственная HTTPS-дверь) закрывает распространённый страх регулируемого заказчика об утечке данных во внешние облака — платформа физически не имеет других точек выхода в интернет. Второй (модель-агностичность через простое требование tool/function calling) — практическая гибкость: заказчик не привязан к одному поставщику LLM и может переключаться между российскими и зарубежными моделями по мере необходимости или ограничений. Третий пункт стоит сопоставить с частой маркетинговой практикой «мягких» лимитов с предупреждениями — здесь лимит токенов работает как жёсткая техническая мера, а не рекомендация.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категория сильных сторон и, возможно, самая нетипичная для вендорской документации: разработчик письменно признаёт, что контроль обхода периметра не входит в его зону ответственности, и прямо называет это в терминах риска доверия («создаёт ложное представление о защищённости»), а не просто умалчивает. То же — со сроками: вместо расплывчатого «скоро» указаны конкретные кварталы (Vault — 1 кв. 2027, прокси с аутентификацией — 4 кв. 2026). Третий пункт интересен с методологической стороны: расхождение между тремя документами по ролевой модели могло бы быть слабой стороной («несогласованная документация»), но независимая проверка на практике показала, что сама система работает предсказуемо (два комбинируемых слоя), а расхождения — только в документах, поэтому пункт классифицирован как решённый и как аргумент в пользу продукта.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раздела слабых сторон: пять категорий, 14 пунктов. В отличие от сильных сторон, здесь метки серьёзности (критично/существенно) расставлены не для каждого пункта, а только там, где источник явно её называет — это сделано намеренно, чтобы не создавать ложного ощущения одинаковой тяжести всех проблем. Из пяти категорий первая и пятая содержат единственные два пункта с меткой «критично» во всём документе — на них стоит обратить особое внимание при чтении дальше, один из них станет темой отдельного слайда «самый критичный риск».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Самая важная категория слабых сторон: именно здесь сосредоточен компонент с наибольшей значимостью для регулируемого покупателя — точность распознавания и маскирования персональных данных — и именно здесь обнаруживается системный разрыв между целью и измерением. Обратите внимание на формулировку первого пункта: пороги ≥98%/≥95%/≥70% существуют «только как целевые, ни разу как измеренные» — это не значит, что система не работает, это значит, что никто пока не может документально подтвердить, что она достигает заявленного порога. Второй и третий пункты объясняют, почему измерение именно сейчас проблематично: инструмент дообучения под терминологию клиента ещё не готов, а трекер результатов тестирования пуст. Четвёртый пункт — более техническая деталь про несовпадение документации с реальным интерфейсом настройки паттернов.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Категория собирает всё, чего в системе пока нет или явно не будет. Верхний ряд — пять чипов дорожной карты: два элемента (Kerberos/SPNEGO, сторонний DLP) не появятся вообще — это архитектурное решение, а не временный пробел; три элемента (прокси с аутентификацией, Vault, криптографическое подтверждение неизменности журнала) запланированы на конкретные кварталы 2026-2027. Нижние два пункта — про распределение ответственности (контроль обхода периметра — на клиенте, не на платформе) и про негранулярность роли ИБ-оператора. Ни один из пунктов этой категории не помечен как «критично» или «существенно» в источнике — они читаются как заранее известные и честно заявленные ограничения, а не как скрытые риски.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Первая половина категории маркетинговых расхождений: три примера того, как презентационные материалы уходят вперёд подтверждённой реальности. Обратите внимание на первый пункт — это не разовая недоработка, а устойчивая закономерность через три ревизии презентации (12, затем 39, затем 35 слайдов): объём материала растёт, а бизнес-кейсы (в отличие от кейсов для разработчиков) так и не появляются. Второй пункт — типичный для быстро растущей презентации риск: чем точнее и подробнее каталог поддерживаемых моделей, тем больше он может разойтись с реальностью и тем заметнее будет расхождение при демонстрации. Третий пункт интересен процессом: противоречие сначала усилилось в одной ревизии, а затем было исправлено во второй — то есть команда либо заметила и исправила ошибку сама, либо была на неё указана.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Вторая половина категории маркетинговых расхождений — деньги и точность непроверенных фактов. Первый пункт стоит запомнить дословно, потому что он часто всплывает как возражение на переговорах: «дёшево и быстро» относится только к самому пилоту как процессу, а не к совокупной стоимости владения — инфраструктура и обращения к внешним моделям оплачиваются отдельно, и это подтверждено и техническим заданием, и письменным ответом разработчика, просто не проговаривается по умолчанию в презентациях. Второй пункт — общий урок о добавлении конкретики в презентацию без верификации: чем точнее цифра (номер в реестре, статья КоАП, сумма штрафа), тем выше репутационная цена ошибки, если её никто не сверил перед публикацией. Итоговая плашка внизу слайда — важный контекст: это не про сам пилот Д8, а про качество продающих материалов.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Эта категория опирается на отдельный аналитический документ по актуальному статусу пилота Д8 (case-06) и приводится здесь как конкретный, живой пример того, как абстрактные риски проявляются на практике — а не как отсылка к отдельной части учебного цикла, которой больше не существует. Мини-доска треков показывает контраст: две дорожки данных (КХД/ESB и MCP) уже решены, третья («RAG-компании») стоит на месте с самого начала. Второй пункт — операционная деталь, которая легко исправляется административно (зафиксировать дату), но пока не сделана, а от неё зависит весь шестинедельный календарь пилота — то есть риск не технический, а организационный.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Последняя категория слабых сторон формально состоит из одного пункта источника, но он объединяет три разных вопроса, каждый из которых сам по себе важен для решения о покупке. Центральный вопрос — верифицирован ли построчный/поколоночный доступ хоть на одном реальном пользователе в продакшене, или демонстрируемый на экране пример представляет собой пустую заготовку. Это прямо касается всего материала части 4 про домены и доступ: там объяснялся механизм, здесь ставится вопрос — работает ли он в реальных данных заказчика прямо сейчас. Второй и третий подвопросы (полнота доменов/коллекций и права агентов клиента на запись) — той же природы: элементы, для которых на момент составления резюме нет ни подтверждения, ни опровержения.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единственный слайд в презентации, специально выделенный ярким контрастным оформлением, — потому что он указывает на системный разрыв, а не на изолированный недостаток. Задержка обработки — единственная область во всей базе знаний, где есть измеренное число такой конкретности (медиана и p95 отдельно для разных механизмов, см. слайд 7); точность распознавания и маскирования ПДн — то, что реально решает, безопасна ли система для регулируемого клиента, — не измерена нигде, включая собственный письменный ответ разработчика на RFI. Пороги ≥98%/≥95%/≥70% упомянуты здесь как пример из технического задания конкретного пилота (Д8) — они демонстрируют, что это не абстрактная методологическая претензия, а конкретный, измеримый критерий приёмки, по которому пока нет ни единого измеренного числа. Для самостоятельного анализа: подумайте, какие практические шаги позволили бы закрыть именно этот разрыв до конца пилота, и почему измерение точности объективно сложнее, чем измерение задержки.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«Синтез» дословно передаёт итоговый вывод источника — это не пересказ, а прямое обобщение того, к чему пришли оба независимых исследовательских агента после сверки. Две идеи стоит держать вместе, а не по отдельности: (1) честность о границах возможностей — это актив, а не признание слабости, и с ним нужно работать проактивно, предъявляя его как есть; (2) при этом системно, во всей базе знаний, есть один и тот же паттерн — измерено только то, что измерить легко (время отклика), а то, что измерить трудно и что действительно важно для регулируемого покупателя (точность, статус тестов), остаётся на уровне целей и устных заявлений. Понимание этого паттерна — ключ к следующему слайду о практических выводах.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Практический вывод переводит синтез в конкретные действия для трёх разных аудиторий. Первая колонка — самая простая: сильные стороны можно и нужно предъявлять уверенно, ссылаясь на конкретный источник (RFI или скриншот), потому что это выдерживает проверку. Вторая колонка — самая тонкая: слабости 1-3 не являются поводом останавливать пилот с Д8, но должны быть проговорены заранее, чтобы промежуточный неполный результат воспринимался заказчиком как ожидаемый этап калибровки модели под его терминологию, а не как срыв обязательств — разница только в том, когда и как об этом сказано. Третья колонка адресована не участникам пилота, а команде продаж — расхождения в презентационных материалах нужно устранить или, как минимум, подготовить обоснованный ответ на случай, если квалифицированный покупатель их заметит.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Итоговый обзор всех пяти частей цикла одним слайдом — по одной строке смысла на часть. Это хороший чек-лист для самопроверки: если после недели изучения материала вы можете самостоятельно развернуть каждую из этих пяти строк в несколько содержательных предложений с конкретными фактами и цифрами, значит, материал усвоен. Обратите внимание на логику последовательности: части 1-2 — это технология и продукт («как это устроено»), часть 3-4 — это конкретные механизмы защиты и контроля («как это защищено»), а часть 5 — это шаг назад и честная оценка всего изученного («чему верить и с какими оговорками»).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фактов, которые стоит помнить дольше всего после изучения всего цикла — намеренно смешаны сильные и слабые стороны (цвет карточки подсказывает знак: навy — сильная сторона, вишнёвый — слабая или открытый вопрос), потому что реальная оценка платформы не сводится ни к чистому одобрению, ни к чистой критике. Для самостоятельной проверки усвоения материала: попробуйте для каждого из восьми тезисов назвать метку источника (RFI-подтверждено / подтверждено скриншотом / критично / существенно) без подглядывания в предыдущие слайды — если получится для 6 из 8, значит, детальный материал действительно усвоен, а не просто прочитан.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Финальный слайд закрывает пятичастный цикл без анонса продолжения. Для самостоятельной работы имеет смысл в конце недели вернуться к трём слайдам: «Самый критичный риск» (18), «Синтез» (19) и «Ключевые тезисы» (22) — вместе они формируют самое компактное и полное резюме всего материала обеих категорий, сильных и слабых сторон. Если данные из этой части будут использоваться в реальном разговоре с заказчиком или в решении о пилоте/покупке, стоит также свериться с первоисточником (docs/analysis/case-07-product-summary.md) и документами, на которые он ссылается — RFI-ответы разработчика и актуальный статус пилота — поскольку часть фактов (особенно статус открытых вопросов) может обновляться по мере хода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image" Target="../media/image-22-7.png"/><Relationship Id="rId8" Type="http://schemas.openxmlformats.org/officeDocument/2006/relationships/image" Target="../media/image-2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A000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ЗАКЛЮЧИТЕЛЬНАЯ ЧАСТЬ СЕРИИ · ЧАСТЬ 5 ИЗ 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960120" cy="9601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76" y="2095576"/>
            <a:ext cx="700888" cy="700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20040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Итог: сильные и слабые стороны платформы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470916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Честная, основанная на фактах оценка платформы «Камерата»: что подтверждено RFI и живыми скриншотами, а что остаётся риском или открытым вопросом.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6172200"/>
            <a:ext cx="146304" cy="146304"/>
          </a:xfrm>
          <a:prstGeom prst="ellipse">
            <a:avLst/>
          </a:prstGeom>
          <a:solidFill>
            <a:srgbClr val="7A2E38"/>
          </a:solidFill>
          <a:ln/>
        </p:spPr>
      </p:sp>
      <p:sp>
        <p:nvSpPr>
          <p:cNvPr id="9" name="Shape 6"/>
          <p:cNvSpPr/>
          <p:nvPr/>
        </p:nvSpPr>
        <p:spPr>
          <a:xfrm>
            <a:off x="1133856" y="6172200"/>
            <a:ext cx="146304" cy="146304"/>
          </a:xfrm>
          <a:prstGeom prst="ellipse">
            <a:avLst/>
          </a:prstGeom>
          <a:solidFill>
            <a:srgbClr val="7A2E38"/>
          </a:solidFill>
          <a:ln/>
        </p:spPr>
      </p:sp>
      <p:sp>
        <p:nvSpPr>
          <p:cNvPr id="10" name="Shape 7"/>
          <p:cNvSpPr/>
          <p:nvPr/>
        </p:nvSpPr>
        <p:spPr>
          <a:xfrm>
            <a:off x="1444752" y="6172200"/>
            <a:ext cx="146304" cy="146304"/>
          </a:xfrm>
          <a:prstGeom prst="ellipse">
            <a:avLst/>
          </a:prstGeom>
          <a:solidFill>
            <a:srgbClr val="7A2E38"/>
          </a:solidFill>
          <a:ln/>
        </p:spPr>
      </p:sp>
      <p:sp>
        <p:nvSpPr>
          <p:cNvPr id="11" name="Shape 8"/>
          <p:cNvSpPr/>
          <p:nvPr/>
        </p:nvSpPr>
        <p:spPr>
          <a:xfrm>
            <a:off x="1755648" y="6172200"/>
            <a:ext cx="146304" cy="146304"/>
          </a:xfrm>
          <a:prstGeom prst="ellipse">
            <a:avLst/>
          </a:prstGeom>
          <a:solidFill>
            <a:srgbClr val="7A2E38"/>
          </a:solidFill>
          <a:ln/>
        </p:spPr>
      </p:sp>
      <p:sp>
        <p:nvSpPr>
          <p:cNvPr id="12" name="Shape 9"/>
          <p:cNvSpPr/>
          <p:nvPr/>
        </p:nvSpPr>
        <p:spPr>
          <a:xfrm>
            <a:off x="2066544" y="61722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6117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СЕРИИ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Часть 5 из 5 — финальная часть цикла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13232" y="1435608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5078" y="1487454"/>
            <a:ext cx="280355" cy="2803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9903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234440" y="1600200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Фундамент: LLM, RAG и векторный поиск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078" y="2200686"/>
            <a:ext cx="280355" cy="28035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11226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234440" y="2313432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«Камерата»: архитектура и интерфейс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13232" y="2862072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78" y="2913918"/>
            <a:ext cx="280355" cy="28035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82549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234440" y="3026664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данных: PII Shield и DLP</a:t>
            </a:r>
            <a:endParaRPr lang="en-US" sz="1450" dirty="0"/>
          </a:p>
        </p:txBody>
      </p:sp>
      <p:sp>
        <p:nvSpPr>
          <p:cNvPr id="16" name="Shape 11"/>
          <p:cNvSpPr/>
          <p:nvPr/>
        </p:nvSpPr>
        <p:spPr>
          <a:xfrm>
            <a:off x="713232" y="3575304"/>
            <a:ext cx="384048" cy="384048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078" y="3627150"/>
            <a:ext cx="280355" cy="280355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35387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1234440" y="3739896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и доступ</a:t>
            </a:r>
            <a:endParaRPr lang="en-US" sz="1450" dirty="0"/>
          </a:p>
        </p:txBody>
      </p:sp>
      <p:sp>
        <p:nvSpPr>
          <p:cNvPr id="20" name="Shape 14"/>
          <p:cNvSpPr/>
          <p:nvPr/>
        </p:nvSpPr>
        <p:spPr>
          <a:xfrm>
            <a:off x="548640" y="4215384"/>
            <a:ext cx="7863840" cy="603504"/>
          </a:xfrm>
          <a:prstGeom prst="roundRect">
            <a:avLst>
              <a:gd name="adj" fmla="val 12121"/>
            </a:avLst>
          </a:prstGeom>
          <a:solidFill>
            <a:srgbClr val="990011"/>
          </a:solidFill>
          <a:ln/>
        </p:spPr>
      </p:sp>
      <p:sp>
        <p:nvSpPr>
          <p:cNvPr id="21" name="Shape 15"/>
          <p:cNvSpPr/>
          <p:nvPr/>
        </p:nvSpPr>
        <p:spPr>
          <a:xfrm>
            <a:off x="713232" y="428853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78" y="4340382"/>
            <a:ext cx="280355" cy="280355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3444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234440" y="4453128"/>
            <a:ext cx="6949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сильные и слабые стороны платформы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6720840" y="43982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ЗДЕСЬ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686800" y="1371600"/>
            <a:ext cx="2971800" cy="5074920"/>
          </a:xfrm>
          <a:prstGeom prst="roundRect">
            <a:avLst>
              <a:gd name="adj" fmla="val 3077"/>
            </a:avLst>
          </a:prstGeom>
          <a:solidFill>
            <a:srgbClr val="E7E9F5"/>
          </a:solidFill>
          <a:ln/>
        </p:spPr>
      </p:sp>
      <p:sp>
        <p:nvSpPr>
          <p:cNvPr id="27" name="Shape 20"/>
          <p:cNvSpPr/>
          <p:nvPr/>
        </p:nvSpPr>
        <p:spPr>
          <a:xfrm>
            <a:off x="8915400" y="1572768"/>
            <a:ext cx="438912" cy="438912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4653" y="1632021"/>
            <a:ext cx="320406" cy="32040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915400" y="2084832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было и что дальше</a:t>
            </a:r>
            <a:endParaRPr lang="en-US" sz="1450" dirty="0"/>
          </a:p>
        </p:txBody>
      </p:sp>
      <p:sp>
        <p:nvSpPr>
          <p:cNvPr id="30" name="Text 22"/>
          <p:cNvSpPr/>
          <p:nvPr/>
        </p:nvSpPr>
        <p:spPr>
          <a:xfrm>
            <a:off x="8915400" y="2542032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 1–4 подробно разобрали технологию и продукт: как устроены LLM и RAG, как собрана платформа «Камерата», как работает защита данных и как устроены домены и доступ.</a:t>
            </a:r>
            <a:endParaRPr lang="en-US" sz="1050" dirty="0"/>
          </a:p>
        </p:txBody>
      </p:sp>
      <p:sp>
        <p:nvSpPr>
          <p:cNvPr id="31" name="Text 23"/>
          <p:cNvSpPr/>
          <p:nvPr/>
        </p:nvSpPr>
        <p:spPr>
          <a:xfrm>
            <a:off x="8915400" y="388620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 финальная часть ничего нового не добавляет к технологии — она делает шаг назад и даёт итоговую, независимую оценку всей платформы: сильные стороны и слабые, риски и открытые вопросы.</a:t>
            </a:r>
            <a:endParaRPr lang="en-US" sz="1050" dirty="0"/>
          </a:p>
        </p:txBody>
      </p:sp>
      <p:sp>
        <p:nvSpPr>
          <p:cNvPr id="32" name="Text 24"/>
          <p:cNvSpPr/>
          <p:nvPr/>
        </p:nvSpPr>
        <p:spPr>
          <a:xfrm>
            <a:off x="8915400" y="548640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продолжения не будет — это завершение цикла.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серии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читать эту оценку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777240" cy="7772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007" y="1613687"/>
            <a:ext cx="567385" cy="56738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23317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1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7160" y="257860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собирал сильные стороны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07" y="3533927"/>
            <a:ext cx="567385" cy="5673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4251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Агент 2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37160" y="4498848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собирал слабые стороны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1508760" y="1892808"/>
            <a:ext cx="685800" cy="1005840"/>
          </a:xfrm>
          <a:prstGeom prst="line">
            <a:avLst/>
          </a:prstGeom>
          <a:noFill/>
          <a:ln w="19050">
            <a:solidFill>
              <a:srgbClr val="E8D3D5"/>
            </a:solidFill>
            <a:prstDash val="dash"/>
          </a:ln>
        </p:spPr>
      </p:sp>
      <p:sp>
        <p:nvSpPr>
          <p:cNvPr id="13" name="Shape 9"/>
          <p:cNvSpPr/>
          <p:nvPr/>
        </p:nvSpPr>
        <p:spPr>
          <a:xfrm>
            <a:off x="1508760" y="2898648"/>
            <a:ext cx="685800" cy="914400"/>
          </a:xfrm>
          <a:prstGeom prst="line">
            <a:avLst/>
          </a:prstGeom>
          <a:noFill/>
          <a:ln w="19050">
            <a:solidFill>
              <a:srgbClr val="E8D3D5"/>
            </a:solidFill>
            <a:prstDash val="dash"/>
          </a:ln>
        </p:spPr>
      </p:sp>
      <p:sp>
        <p:nvSpPr>
          <p:cNvPr id="14" name="Shape 10"/>
          <p:cNvSpPr/>
          <p:nvPr/>
        </p:nvSpPr>
        <p:spPr>
          <a:xfrm>
            <a:off x="2331720" y="2331720"/>
            <a:ext cx="1874520" cy="1463040"/>
          </a:xfrm>
          <a:prstGeom prst="roundRect">
            <a:avLst>
              <a:gd name="adj" fmla="val 6250"/>
            </a:avLst>
          </a:prstGeom>
          <a:solidFill>
            <a:srgbClr val="2B1013"/>
          </a:solidFill>
          <a:ln/>
        </p:spPr>
      </p:sp>
      <p:sp>
        <p:nvSpPr>
          <p:cNvPr id="15" name="Text 11"/>
          <p:cNvSpPr/>
          <p:nvPr/>
        </p:nvSpPr>
        <p:spPr>
          <a:xfrm>
            <a:off x="2331720" y="2606040"/>
            <a:ext cx="187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Сверка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Синтез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4434840" y="2834640"/>
            <a:ext cx="457200" cy="457200"/>
          </a:xfrm>
          <a:prstGeom prst="ellipse">
            <a:avLst/>
          </a:prstGeom>
          <a:solidFill>
            <a:srgbClr val="FCF6F5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6562" y="2896362"/>
            <a:ext cx="333756" cy="33375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212080" y="1371600"/>
            <a:ext cx="6400800" cy="4663440"/>
          </a:xfrm>
          <a:prstGeom prst="roundRect">
            <a:avLst>
              <a:gd name="adj" fmla="val 1961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486400" y="153619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пункт дальше в этой части несёт метку источника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486400" y="2011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сильных сторон — уверенность в источнике: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5486400" y="233172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22" name="Text 17"/>
          <p:cNvSpPr/>
          <p:nvPr/>
        </p:nvSpPr>
        <p:spPr>
          <a:xfrm>
            <a:off x="5486400" y="232257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23" name="Text 18"/>
          <p:cNvSpPr/>
          <p:nvPr/>
        </p:nvSpPr>
        <p:spPr>
          <a:xfrm>
            <a:off x="7040880" y="23134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письменный ответ разработчика — высший приоритет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486400" y="2697480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486400" y="268833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7406640" y="2679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задокументировано по живому интерфейсу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86400" y="306324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1E7145"/>
          </a:solidFill>
          <a:ln/>
        </p:spPr>
      </p:sp>
      <p:sp>
        <p:nvSpPr>
          <p:cNvPr id="28" name="Text 23"/>
          <p:cNvSpPr/>
          <p:nvPr/>
        </p:nvSpPr>
        <p:spPr>
          <a:xfrm>
            <a:off x="5486400" y="305409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</a:t>
            </a:r>
            <a:endParaRPr lang="en-US" sz="950" dirty="0"/>
          </a:p>
        </p:txBody>
      </p:sp>
      <p:sp>
        <p:nvSpPr>
          <p:cNvPr id="29" name="Text 24"/>
          <p:cNvSpPr/>
          <p:nvPr/>
        </p:nvSpPr>
        <p:spPr>
          <a:xfrm>
            <a:off x="6400800" y="3044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вопрос закрыт проверкой на практике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5486400" y="35204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слабых сторон — значимость риска: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5486400" y="384048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990011"/>
          </a:solidFill>
          <a:ln/>
        </p:spPr>
      </p:sp>
      <p:sp>
        <p:nvSpPr>
          <p:cNvPr id="32" name="Text 27"/>
          <p:cNvSpPr/>
          <p:nvPr/>
        </p:nvSpPr>
        <p:spPr>
          <a:xfrm>
            <a:off x="5486400" y="383133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</a:t>
            </a:r>
            <a:endParaRPr lang="en-US" sz="950" dirty="0"/>
          </a:p>
        </p:txBody>
      </p:sp>
      <p:sp>
        <p:nvSpPr>
          <p:cNvPr id="33" name="Text 28"/>
          <p:cNvSpPr/>
          <p:nvPr/>
        </p:nvSpPr>
        <p:spPr>
          <a:xfrm>
            <a:off x="6537960" y="382219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бьёт по приёмочным критериям / комплаенсу</a:t>
            </a:r>
            <a:endParaRPr lang="en-US" sz="1050" dirty="0"/>
          </a:p>
        </p:txBody>
      </p:sp>
      <p:sp>
        <p:nvSpPr>
          <p:cNvPr id="34" name="Shape 29"/>
          <p:cNvSpPr/>
          <p:nvPr/>
        </p:nvSpPr>
        <p:spPr>
          <a:xfrm>
            <a:off x="5486400" y="4206240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6E2E1"/>
          </a:solidFill>
          <a:ln w="9525">
            <a:solidFill>
              <a:srgbClr val="B23A4A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486400" y="419709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существенно</a:t>
            </a:r>
            <a:endParaRPr lang="en-US" sz="950" dirty="0"/>
          </a:p>
        </p:txBody>
      </p:sp>
      <p:sp>
        <p:nvSpPr>
          <p:cNvPr id="36" name="Text 31"/>
          <p:cNvSpPr/>
          <p:nvPr/>
        </p:nvSpPr>
        <p:spPr>
          <a:xfrm>
            <a:off x="6766560" y="418795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заметный риск, требует внимания до решения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5486400" y="4663440"/>
            <a:ext cx="5852160" cy="1188720"/>
          </a:xfrm>
          <a:prstGeom prst="roundRect">
            <a:avLst>
              <a:gd name="adj" fmla="val 6154"/>
            </a:avLst>
          </a:prstGeom>
          <a:solidFill>
            <a:srgbClr val="F6E2E1"/>
          </a:solidFill>
          <a:ln/>
        </p:spPr>
      </p:sp>
      <p:sp>
        <p:nvSpPr>
          <p:cNvPr id="38" name="Text 33"/>
          <p:cNvSpPr/>
          <p:nvPr/>
        </p:nvSpPr>
        <p:spPr>
          <a:xfrm>
            <a:off x="5669280" y="4754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материалы (презентации, sales-enablement) намеренно исключены из сильных сторон и появляются только там, где расходятся с подтверждённой реальностью.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«Простыми словами» — главное с двух сторон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список — 15 сильных и 14 слабых пунктов — дальше по категориям. Здесь — самые важные по 6 с каждой стороны.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37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👍  Что хорошо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349240" cy="457200"/>
          </a:xfrm>
          <a:prstGeom prst="roundRect">
            <a:avLst>
              <a:gd name="adj" fmla="val 14000"/>
            </a:avLst>
          </a:prstGeom>
          <a:solidFill>
            <a:srgbClr val="990011"/>
          </a:solidFill>
          <a:ln/>
        </p:spPr>
      </p:sp>
      <p:sp>
        <p:nvSpPr>
          <p:cNvPr id="8" name="Text 6"/>
          <p:cNvSpPr/>
          <p:nvPr/>
        </p:nvSpPr>
        <p:spPr>
          <a:xfrm>
            <a:off x="6263640" y="17373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👎  Что настораживает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3225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10" name="Shape 8"/>
          <p:cNvSpPr/>
          <p:nvPr/>
        </p:nvSpPr>
        <p:spPr>
          <a:xfrm>
            <a:off x="667512" y="244144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96" y="2498232"/>
            <a:ext cx="307056" cy="30705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07008" y="235915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Личные данные ищет сразу тремя способами — по метке, по шаблону и по смыслу текста.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548640" y="305409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14" name="Shape 11"/>
          <p:cNvSpPr/>
          <p:nvPr/>
        </p:nvSpPr>
        <p:spPr>
          <a:xfrm>
            <a:off x="667512" y="317296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96" y="3229752"/>
            <a:ext cx="307056" cy="3070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07008" y="309067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Работает очень быстро — вся проверка занимает меньше 2 миллисекунд.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548640" y="378561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18" name="Shape 14"/>
          <p:cNvSpPr/>
          <p:nvPr/>
        </p:nvSpPr>
        <p:spPr>
          <a:xfrm>
            <a:off x="667512" y="390448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96" y="3961272"/>
            <a:ext cx="307056" cy="3070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382219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«Шпаргалка» с расшифровкой меток не покидает контур; если хранилище недоступно — система откажется работать, а не покажет данные без защиты.</a:t>
            </a:r>
            <a:endParaRPr lang="en-US" sz="1080" dirty="0"/>
          </a:p>
        </p:txBody>
      </p:sp>
      <p:sp>
        <p:nvSpPr>
          <p:cNvPr id="21" name="Shape 16"/>
          <p:cNvSpPr/>
          <p:nvPr/>
        </p:nvSpPr>
        <p:spPr>
          <a:xfrm>
            <a:off x="548640" y="451713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22" name="Shape 17"/>
          <p:cNvSpPr/>
          <p:nvPr/>
        </p:nvSpPr>
        <p:spPr>
          <a:xfrm>
            <a:off x="667512" y="463600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96" y="4692792"/>
            <a:ext cx="307056" cy="3070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455371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проверяют, можно ли смотреть запись вообще, и только потом её показывают — маскированной или нет.</a:t>
            </a:r>
            <a:endParaRPr lang="en-US" sz="1080" dirty="0"/>
          </a:p>
        </p:txBody>
      </p:sp>
      <p:sp>
        <p:nvSpPr>
          <p:cNvPr id="25" name="Shape 19"/>
          <p:cNvSpPr/>
          <p:nvPr/>
        </p:nvSpPr>
        <p:spPr>
          <a:xfrm>
            <a:off x="548640" y="524865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26" name="Shape 20"/>
          <p:cNvSpPr/>
          <p:nvPr/>
        </p:nvSpPr>
        <p:spPr>
          <a:xfrm>
            <a:off x="667512" y="536752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96" y="5424312"/>
            <a:ext cx="307056" cy="3070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207008" y="528523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включается и выключается сразу, без перезагрузки системы.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548640" y="59801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E7E9F5"/>
          </a:solidFill>
          <a:ln/>
        </p:spPr>
      </p:sp>
      <p:sp>
        <p:nvSpPr>
          <p:cNvPr id="30" name="Shape 23"/>
          <p:cNvSpPr/>
          <p:nvPr/>
        </p:nvSpPr>
        <p:spPr>
          <a:xfrm>
            <a:off x="667512" y="6099048"/>
            <a:ext cx="420624" cy="42062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296" y="6155832"/>
            <a:ext cx="307056" cy="3070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207008" y="601675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честно пишет о том, чего система не умеет — с конкретными сроками, а не расплывчато.</a:t>
            </a:r>
            <a:endParaRPr lang="en-US" sz="1080" dirty="0"/>
          </a:p>
        </p:txBody>
      </p:sp>
      <p:sp>
        <p:nvSpPr>
          <p:cNvPr id="33" name="Shape 25"/>
          <p:cNvSpPr/>
          <p:nvPr/>
        </p:nvSpPr>
        <p:spPr>
          <a:xfrm>
            <a:off x="6263640" y="23225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34" name="Shape 26"/>
          <p:cNvSpPr/>
          <p:nvPr/>
        </p:nvSpPr>
        <p:spPr>
          <a:xfrm>
            <a:off x="6382512" y="24414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9296" y="2498232"/>
            <a:ext cx="307056" cy="30705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922008" y="235915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Никто не измерил, насколько точно система находит личные данные — известна только скорость.</a:t>
            </a:r>
            <a:endParaRPr lang="en-US" sz="1080" dirty="0"/>
          </a:p>
        </p:txBody>
      </p:sp>
      <p:sp>
        <p:nvSpPr>
          <p:cNvPr id="37" name="Shape 28"/>
          <p:cNvSpPr/>
          <p:nvPr/>
        </p:nvSpPr>
        <p:spPr>
          <a:xfrm>
            <a:off x="6263640" y="305409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38" name="Shape 29"/>
          <p:cNvSpPr/>
          <p:nvPr/>
        </p:nvSpPr>
        <p:spPr>
          <a:xfrm>
            <a:off x="6382512" y="317296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9296" y="3229752"/>
            <a:ext cx="307056" cy="307056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6922008" y="309067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«Обучить» систему под словечки конкретной компании пока нельзя по-настоящему — есть только черновик.</a:t>
            </a:r>
            <a:endParaRPr lang="en-US" sz="1080" dirty="0"/>
          </a:p>
        </p:txBody>
      </p:sp>
      <p:sp>
        <p:nvSpPr>
          <p:cNvPr id="41" name="Shape 31"/>
          <p:cNvSpPr/>
          <p:nvPr/>
        </p:nvSpPr>
        <p:spPr>
          <a:xfrm>
            <a:off x="6263640" y="378561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42" name="Shape 32"/>
          <p:cNvSpPr/>
          <p:nvPr/>
        </p:nvSpPr>
        <p:spPr>
          <a:xfrm>
            <a:off x="6382512" y="390448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9296" y="3961272"/>
            <a:ext cx="307056" cy="30705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6922008" y="382219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Цифра «тестирование готово на 93%» сказана на словах; файл с реальными результатами теста пуст.</a:t>
            </a:r>
            <a:endParaRPr lang="en-US" sz="1080" dirty="0"/>
          </a:p>
        </p:txBody>
      </p:sp>
      <p:sp>
        <p:nvSpPr>
          <p:cNvPr id="45" name="Shape 34"/>
          <p:cNvSpPr/>
          <p:nvPr/>
        </p:nvSpPr>
        <p:spPr>
          <a:xfrm>
            <a:off x="6263640" y="451713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46" name="Shape 35"/>
          <p:cNvSpPr/>
          <p:nvPr/>
        </p:nvSpPr>
        <p:spPr>
          <a:xfrm>
            <a:off x="6382512" y="463600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39296" y="4692792"/>
            <a:ext cx="307056" cy="307056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6922008" y="455371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Нельзя дать сотруднику ИБ доступ только к одной настройке — вместе с ней он получает весь раздел безопасности.</a:t>
            </a:r>
            <a:endParaRPr lang="en-US" sz="1080" dirty="0"/>
          </a:p>
        </p:txBody>
      </p:sp>
      <p:sp>
        <p:nvSpPr>
          <p:cNvPr id="49" name="Shape 37"/>
          <p:cNvSpPr/>
          <p:nvPr/>
        </p:nvSpPr>
        <p:spPr>
          <a:xfrm>
            <a:off x="6263640" y="524865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50" name="Shape 38"/>
          <p:cNvSpPr/>
          <p:nvPr/>
        </p:nvSpPr>
        <p:spPr>
          <a:xfrm>
            <a:off x="6382512" y="536752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9296" y="5424312"/>
            <a:ext cx="307056" cy="307056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6922008" y="528523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рекламных примерах нет ни одного реального клиента, использующего систему так, как её рекламируют.</a:t>
            </a:r>
            <a:endParaRPr lang="en-US" sz="1080" dirty="0"/>
          </a:p>
        </p:txBody>
      </p:sp>
      <p:sp>
        <p:nvSpPr>
          <p:cNvPr id="53" name="Shape 40"/>
          <p:cNvSpPr/>
          <p:nvPr/>
        </p:nvSpPr>
        <p:spPr>
          <a:xfrm>
            <a:off x="6263640" y="5980176"/>
            <a:ext cx="5349240" cy="658368"/>
          </a:xfrm>
          <a:prstGeom prst="roundRect">
            <a:avLst>
              <a:gd name="adj" fmla="val 9722"/>
            </a:avLst>
          </a:prstGeom>
          <a:solidFill>
            <a:srgbClr val="F6E2E1"/>
          </a:solidFill>
          <a:ln/>
        </p:spPr>
      </p:sp>
      <p:sp>
        <p:nvSpPr>
          <p:cNvPr id="54" name="Shape 41"/>
          <p:cNvSpPr/>
          <p:nvPr/>
        </p:nvSpPr>
        <p:spPr>
          <a:xfrm>
            <a:off x="6382512" y="6099048"/>
            <a:ext cx="420624" cy="420624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9296" y="6155832"/>
            <a:ext cx="307056" cy="307056"/>
          </a:xfrm>
          <a:prstGeom prst="rect">
            <a:avLst/>
          </a:prstGeom>
        </p:spPr>
      </p:pic>
      <p:sp>
        <p:nvSpPr>
          <p:cNvPr id="56" name="Text 42"/>
          <p:cNvSpPr/>
          <p:nvPr/>
        </p:nvSpPr>
        <p:spPr>
          <a:xfrm>
            <a:off x="6922008" y="6016752"/>
            <a:ext cx="45628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8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Самое главное: не проверено, реально ли построчное разграничение настроено хоть для одного человека.</a:t>
            </a:r>
            <a:endParaRPr lang="en-US" sz="1080" dirty="0"/>
          </a:p>
        </p:txBody>
      </p:sp>
      <p:sp>
        <p:nvSpPr>
          <p:cNvPr id="57" name="Text 43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«Простыми словами»</a:t>
            </a:r>
            <a:endParaRPr lang="en-US" sz="1000" dirty="0"/>
          </a:p>
        </p:txBody>
      </p:sp>
      <p:sp>
        <p:nvSpPr>
          <p:cNvPr id="58" name="Text 44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СИЛЬНЫХ СТОРОН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Четыре категории — 15 пунктов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783080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433" y="1864553"/>
            <a:ext cx="440558" cy="4405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ПУНКТОВ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16002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персональных данных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2697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Тройное обнаружение, измеренная задержка, изоляция расшифровки, приоритет доступа, отдельная защита секретов.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63640" y="150876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7E9F5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783080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433" y="1864553"/>
            <a:ext cx="440558" cy="44055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15200" y="180136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ПУНКТА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7315200" y="203911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доступом и governance данных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37960" y="269748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Многослойный конвейер, мгновенное применение изменений, независимый реестр ИБ, три журнала аудита.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48640" y="39776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7E9F5"/>
          </a:solidFill>
          <a:ln/>
        </p:spPr>
      </p:sp>
      <p:sp>
        <p:nvSpPr>
          <p:cNvPr id="17" name="Shape 13"/>
          <p:cNvSpPr/>
          <p:nvPr/>
        </p:nvSpPr>
        <p:spPr>
          <a:xfrm>
            <a:off x="822960" y="4251960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33" y="4333433"/>
            <a:ext cx="440558" cy="44055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270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ПУНКТА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1600200" y="45079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и развёртывание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2960" y="51663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Полностью on-premise, модель-агностичность, реальная блокировка при исчерпании лимита.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263640" y="3977640"/>
            <a:ext cx="5349240" cy="2286000"/>
          </a:xfrm>
          <a:prstGeom prst="roundRect">
            <a:avLst>
              <a:gd name="adj" fmla="val 4000"/>
            </a:avLst>
          </a:prstGeom>
          <a:solidFill>
            <a:srgbClr val="E7E9F5"/>
          </a:solidFill>
          <a:ln/>
        </p:spPr>
      </p:sp>
      <p:sp>
        <p:nvSpPr>
          <p:cNvPr id="23" name="Shape 18"/>
          <p:cNvSpPr/>
          <p:nvPr/>
        </p:nvSpPr>
        <p:spPr>
          <a:xfrm>
            <a:off x="6537960" y="4251960"/>
            <a:ext cx="603504" cy="603504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9433" y="4333433"/>
            <a:ext cx="440558" cy="44055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15200" y="427024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ПУНКТА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7315200" y="450799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Честность о собственных ограничениях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6537960" y="51663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отказ от переобещания, названные сроки, проверенная на практике ролевая модель.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ЗАЩИТА ПДН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Тройное обнаружение и защита секретов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" y="1680210"/>
            <a:ext cx="333756" cy="33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72768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механизма обнаружения ПДн одновременно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1828800"/>
            <a:ext cx="8851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Аннотации каталога, свыше 250 формальных правил (с контрольными суммами для 6 типов данных), NER для свободного текста — все три работают параллельно.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195560" y="1609344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9" name="Text 6"/>
          <p:cNvSpPr/>
          <p:nvPr/>
        </p:nvSpPr>
        <p:spPr>
          <a:xfrm>
            <a:off x="10195560" y="1600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3097530"/>
            <a:ext cx="333756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990088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проверяется раньше, чем данные маскируются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07008" y="3246120"/>
            <a:ext cx="88513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Замаскированный ответ по записи без прав на неё считается нарушением и не показывается вовсе. Прямой ответ на опасение клиента, поднятое на другой встрече.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0195560" y="3026664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15" name="Text 11"/>
          <p:cNvSpPr/>
          <p:nvPr/>
        </p:nvSpPr>
        <p:spPr>
          <a:xfrm>
            <a:off x="10195560" y="301752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4514850"/>
            <a:ext cx="333756" cy="3337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40740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Отдельная, независимая защита коммерческой тайны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07008" y="4663440"/>
            <a:ext cx="84856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«База секретов» — векторное сравнение с курируемой базой эталонов (PASS &lt;0,75 / REVIEW 0,75–0,88 / BLOCK ≥0,88), не смешана с автоматическим PII-маскированием.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829800" y="4443984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829800" y="443484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PII Shield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ЗАЩИТА ПДН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Измеренная задержка и защищённое хранение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Самые конкретные технические цифры во всей базе знаний — не заявленные, а измеренные.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829800" y="1298448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6" name="Text 4"/>
          <p:cNvSpPr/>
          <p:nvPr/>
        </p:nvSpPr>
        <p:spPr>
          <a:xfrm>
            <a:off x="9829800" y="128930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7E9F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039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0,05 мс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8580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— формальные правила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7560" y="1874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7E9F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2039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1,08 мс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7472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медиана — NER (свободный текст)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874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7E9F5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2039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мс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совокупно, при p95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915400" y="1874520"/>
            <a:ext cx="2606040" cy="1371600"/>
          </a:xfrm>
          <a:prstGeom prst="roundRect">
            <a:avLst>
              <a:gd name="adj" fmla="val 6667"/>
            </a:avLst>
          </a:prstGeom>
          <a:solidFill>
            <a:srgbClr val="E7E9F5"/>
          </a:solidFill>
          <a:ln/>
        </p:spPr>
      </p:sp>
      <p:sp>
        <p:nvSpPr>
          <p:cNvPr id="17" name="Text 15"/>
          <p:cNvSpPr/>
          <p:nvPr/>
        </p:nvSpPr>
        <p:spPr>
          <a:xfrm>
            <a:off x="8915400" y="2039112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 сек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9052560" y="27157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табличные данные, 150–200 строк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52044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8D3D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377647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026" y="3850538"/>
            <a:ext cx="400507" cy="400507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600200" y="37490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Таблица соответствий «метка ↔ значение» никогда не покидает контур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600200" y="41605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Привязана к сессии, TTL 60 минут. При недоступности хранилища компонент отказывается запускаться — а не тихо деградирует до менее защищённого режима. Это архитектурное решение «упасть, а не показать без защиты» — редкая для индустрии позиция.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595360" y="5166360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595360" y="515721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PII Shield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ДОСТУП И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Управление доступом и данными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" y="1634490"/>
            <a:ext cx="333756" cy="33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27048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Многослойный обязательный конвейер доступа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1783080"/>
            <a:ext cx="8485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→ коллекция/домен → построчная/поколоночная фильтрация (OPA/Rego, генерируется автоматически из бизнес-доменов каталога) → PII-маскирование — применяется к каждому запросу, не обходится формулировкой.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829800" y="1563624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29800" y="15544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2804922"/>
            <a:ext cx="333756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697480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Изменения доступа вступают в силу немедленно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07008" y="2953512"/>
            <a:ext cx="8485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перезапуска системы; уже открытая сессия донашивает прежний охват до своего конца, но новый запрос уже видит новые права.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9829800" y="2734056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9829800" y="272491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391363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3975354"/>
            <a:ext cx="333756" cy="3337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3867912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Независимый, не наследуемый реестр сотрудников ИБ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07008" y="4123944"/>
            <a:ext cx="8485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Администратор в каталоге не получает доступ в саму админку безопасности автоматически — осознанное разделение полномочий.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829800" y="3904488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829800" y="3895344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5084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5145786"/>
            <a:ext cx="333756" cy="3337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5038344"/>
            <a:ext cx="8485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отдельных журнала аудита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07008" y="5294376"/>
            <a:ext cx="848563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LLM-сессии (pii_audit), привилегированные действия (admin_audit_log), SQL-запросы (sql_audit) — запись только на добавление, экспорт в CEF/JSON(ECS) для SIEM.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9829800" y="5074920"/>
            <a:ext cx="1783080" cy="237744"/>
          </a:xfrm>
          <a:prstGeom prst="roundRect">
            <a:avLst>
              <a:gd name="adj" fmla="val 23077"/>
            </a:avLst>
          </a:prstGeom>
          <a:solidFill>
            <a:srgbClr val="E7E9F5"/>
          </a:solidFill>
          <a:ln w="9525">
            <a:solidFill>
              <a:srgbClr val="2F3C7E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9829800" y="5065776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Подтверждено скриншотом</a:t>
            </a:r>
            <a:endParaRPr lang="en-US" sz="950" dirty="0"/>
          </a:p>
        </p:txBody>
      </p:sp>
      <p:sp>
        <p:nvSpPr>
          <p:cNvPr id="28" name="Text 22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Доступ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АРХИТЕКТУРА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и развёртывание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083" y="1960931"/>
            <a:ext cx="467258" cy="46725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Полностью on-premise, изолированный контур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04672" y="356616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входная HTTPS-дверь; платформа сама наружу не обращается. Векторизация — на CPU, GPU не нужен самой платформе. Сайзинг пилота скромный: 8–16 vCPU, 32–64 ГБ, без GPU.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04672" y="53492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10" name="Text 7"/>
          <p:cNvSpPr/>
          <p:nvPr/>
        </p:nvSpPr>
        <p:spPr>
          <a:xfrm>
            <a:off x="804672" y="5340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06824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E7E9F5"/>
          </a:solidFill>
          <a:ln/>
        </p:spPr>
      </p:sp>
      <p:sp>
        <p:nvSpPr>
          <p:cNvPr id="12" name="Shape 9"/>
          <p:cNvSpPr/>
          <p:nvPr/>
        </p:nvSpPr>
        <p:spPr>
          <a:xfrm>
            <a:off x="4562856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267" y="1960931"/>
            <a:ext cx="467258" cy="46725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62856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Модель-агностичность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4562856" y="356616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Единственное требование — tool/function calling. Подтверждена работа с GigaChat, Qwen (локально), OpenAI, Anthropic, YandexGPT.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62856" y="53492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17" name="Text 13"/>
          <p:cNvSpPr/>
          <p:nvPr/>
        </p:nvSpPr>
        <p:spPr>
          <a:xfrm>
            <a:off x="4562856" y="5340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65008" y="1600200"/>
            <a:ext cx="3538728" cy="4206240"/>
          </a:xfrm>
          <a:prstGeom prst="roundRect">
            <a:avLst>
              <a:gd name="adj" fmla="val 2584"/>
            </a:avLst>
          </a:prstGeom>
          <a:solidFill>
            <a:srgbClr val="E7E9F5"/>
          </a:solidFill>
          <a:ln/>
        </p:spPr>
      </p:sp>
      <p:sp>
        <p:nvSpPr>
          <p:cNvPr id="19" name="Shape 15"/>
          <p:cNvSpPr/>
          <p:nvPr/>
        </p:nvSpPr>
        <p:spPr>
          <a:xfrm>
            <a:off x="8321040" y="1874520"/>
            <a:ext cx="640080" cy="64008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7451" y="1960931"/>
            <a:ext cx="467258" cy="46725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321040" y="2697480"/>
            <a:ext cx="30266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Реальная принудительная блокировка потребления</a:t>
            </a:r>
            <a:endParaRPr lang="en-US" sz="1550" dirty="0"/>
          </a:p>
        </p:txBody>
      </p:sp>
      <p:sp>
        <p:nvSpPr>
          <p:cNvPr id="22" name="Text 17"/>
          <p:cNvSpPr/>
          <p:nvPr/>
        </p:nvSpPr>
        <p:spPr>
          <a:xfrm>
            <a:off x="8321040" y="3566160"/>
            <a:ext cx="302666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исчерпании лимита токенов доступ реально перекрывается — не просто выводится предупреждение.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321040" y="53492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24" name="Text 19"/>
          <p:cNvSpPr/>
          <p:nvPr/>
        </p:nvSpPr>
        <p:spPr>
          <a:xfrm>
            <a:off x="8321040" y="5340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Архитектура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ЧЕСТНОСТЬ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Честность о собственных ограничениях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Нетипичная для вендора черта — признание границ возможностей письменно, а не только в презентациях.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1600200"/>
          </a:xfrm>
          <a:prstGeom prst="roundRect">
            <a:avLst>
              <a:gd name="adj" fmla="val 5714"/>
            </a:avLst>
          </a:prstGeom>
          <a:solidFill>
            <a:srgbClr val="2B101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0195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34" y="1969846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810512"/>
            <a:ext cx="9875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«Контроль обхода периметра — не функция компонента защиты; заявлять обратное не выдерживает проверки и создаёт ложное представление о защищённости».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2788920"/>
            <a:ext cx="9875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отказ от переобещания — письменный ответ разработчика. Такая формулировка почти не встречается в презентациях.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646920" y="3063240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11" name="Text 8"/>
          <p:cNvSpPr/>
          <p:nvPr/>
        </p:nvSpPr>
        <p:spPr>
          <a:xfrm>
            <a:off x="9646920" y="3054096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3600450"/>
            <a:ext cx="333756" cy="33375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207008" y="3493008"/>
            <a:ext cx="8851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Названные ограничения с датами, а не расплывчатые обещания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207008" y="3749040"/>
            <a:ext cx="88513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Kerberos/SPNEGO не поддерживается вообще; интеграция со сторонним DLP не поддерживается (свой механизм вместо этого); прокси с аутентификацией — 4 кв. 2026; Vault — 1 кв. 2027.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10195560" y="3529584"/>
            <a:ext cx="1417320" cy="237744"/>
          </a:xfrm>
          <a:prstGeom prst="roundRect">
            <a:avLst>
              <a:gd name="adj" fmla="val 23077"/>
            </a:avLst>
          </a:prstGeom>
          <a:solidFill>
            <a:srgbClr val="2F3C7E"/>
          </a:solidFill>
          <a:ln/>
        </p:spPr>
      </p:sp>
      <p:sp>
        <p:nvSpPr>
          <p:cNvPr id="17" name="Text 13"/>
          <p:cNvSpPr/>
          <p:nvPr/>
        </p:nvSpPr>
        <p:spPr>
          <a:xfrm>
            <a:off x="10195560" y="352044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RFI-подтверждено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548640" y="477316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4834890"/>
            <a:ext cx="333756" cy="3337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07008" y="4727448"/>
            <a:ext cx="9491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Разрешённая архитектурная неоднозначность ролевой модели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1207008" y="498348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вендорских документа называли три разных набора ролей; проверкой на практике подтверждена реальная модель — два независимых комбинируемых слоя, то есть работающий, а не только бумажный механизм.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10835640" y="4764024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1E7145"/>
          </a:solidFill>
          <a:ln/>
        </p:spPr>
      </p:sp>
      <p:sp>
        <p:nvSpPr>
          <p:cNvPr id="23" name="Text 18"/>
          <p:cNvSpPr/>
          <p:nvPr/>
        </p:nvSpPr>
        <p:spPr>
          <a:xfrm>
            <a:off x="10835640" y="47548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</a:t>
            </a:r>
            <a:endParaRPr lang="en-US" sz="950" dirty="0"/>
          </a:p>
        </p:txBody>
      </p:sp>
      <p:sp>
        <p:nvSpPr>
          <p:cNvPr id="24" name="Text 19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Сильные стороны · Честность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СЛАБЫХ СТОРОН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категорий — 14 пунктов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BE7E9"/>
          </a:solidFill>
          <a:ln/>
        </p:spPr>
      </p:sp>
      <p:sp>
        <p:nvSpPr>
          <p:cNvPr id="5" name="Shape 3"/>
          <p:cNvSpPr/>
          <p:nvPr/>
        </p:nvSpPr>
        <p:spPr>
          <a:xfrm>
            <a:off x="1335024" y="19019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9090" y="1976018"/>
            <a:ext cx="400507" cy="4005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58368" y="25603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ПУНКТА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85800" y="2816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Guard / PII-маскирование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3657600"/>
            <a:ext cx="18470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Высшая значимость для регулируемого покупателя — и нет измеренной метрики точности.</a:t>
            </a:r>
            <a:endParaRPr lang="en-US" sz="980" dirty="0"/>
          </a:p>
        </p:txBody>
      </p:sp>
      <p:sp>
        <p:nvSpPr>
          <p:cNvPr id="10" name="Shape 7"/>
          <p:cNvSpPr/>
          <p:nvPr/>
        </p:nvSpPr>
        <p:spPr>
          <a:xfrm>
            <a:off x="2807208" y="164592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6E2E1"/>
          </a:solidFill>
          <a:ln/>
        </p:spPr>
      </p:sp>
      <p:sp>
        <p:nvSpPr>
          <p:cNvPr id="11" name="Shape 8"/>
          <p:cNvSpPr/>
          <p:nvPr/>
        </p:nvSpPr>
        <p:spPr>
          <a:xfrm>
            <a:off x="3593592" y="19019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7658" y="1976018"/>
            <a:ext cx="400507" cy="4005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6936" y="25603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ПУНКТА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2944368" y="2816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Пробелы дорожной карты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2944368" y="3657600"/>
            <a:ext cx="18470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Vault, прокси с аутентификацией, Kerberos, сторонний DLP, узкая роль ИБ.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5065776" y="164592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BE7E9"/>
          </a:solidFill>
          <a:ln/>
        </p:spPr>
      </p:sp>
      <p:sp>
        <p:nvSpPr>
          <p:cNvPr id="17" name="Shape 13"/>
          <p:cNvSpPr/>
          <p:nvPr/>
        </p:nvSpPr>
        <p:spPr>
          <a:xfrm>
            <a:off x="5852160" y="19019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6226" y="1976018"/>
            <a:ext cx="400507" cy="40050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75504" y="25603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ПУНКТОВ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5202936" y="2816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Маркетинг vs подтверждённая реальность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5202936" y="3657600"/>
            <a:ext cx="18470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Кейсы, переключение моделей, партнёр, стоимость пилота, непроверенные цифры.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7324344" y="164592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6E2E1"/>
          </a:solidFill>
          <a:ln/>
        </p:spPr>
      </p:sp>
      <p:sp>
        <p:nvSpPr>
          <p:cNvPr id="23" name="Shape 18"/>
          <p:cNvSpPr/>
          <p:nvPr/>
        </p:nvSpPr>
        <p:spPr>
          <a:xfrm>
            <a:off x="8110728" y="19019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4794" y="1976018"/>
            <a:ext cx="400507" cy="40050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34072" y="25603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ПУНКТА</a:t>
            </a:r>
            <a:endParaRPr lang="en-US" sz="950" dirty="0"/>
          </a:p>
        </p:txBody>
      </p:sp>
      <p:sp>
        <p:nvSpPr>
          <p:cNvPr id="26" name="Text 20"/>
          <p:cNvSpPr/>
          <p:nvPr/>
        </p:nvSpPr>
        <p:spPr>
          <a:xfrm>
            <a:off x="7461504" y="2816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текущего хода пилота Д8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7461504" y="3657600"/>
            <a:ext cx="18470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Незавершённая дорожка данных и незафиксированная дата старта.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9582912" y="1645920"/>
            <a:ext cx="2121408" cy="4114800"/>
          </a:xfrm>
          <a:prstGeom prst="roundRect">
            <a:avLst>
              <a:gd name="adj" fmla="val 4310"/>
            </a:avLst>
          </a:prstGeom>
          <a:solidFill>
            <a:srgbClr val="FBE7E9"/>
          </a:solidFill>
          <a:ln/>
        </p:spPr>
      </p:sp>
      <p:sp>
        <p:nvSpPr>
          <p:cNvPr id="29" name="Shape 23"/>
          <p:cNvSpPr/>
          <p:nvPr/>
        </p:nvSpPr>
        <p:spPr>
          <a:xfrm>
            <a:off x="10369296" y="1901952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3362" y="1976018"/>
            <a:ext cx="400507" cy="400507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92640" y="256032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ПУНКТ</a:t>
            </a:r>
            <a:endParaRPr lang="en-US" sz="950" dirty="0"/>
          </a:p>
        </p:txBody>
      </p:sp>
      <p:sp>
        <p:nvSpPr>
          <p:cNvPr id="32" name="Text 25"/>
          <p:cNvSpPr/>
          <p:nvPr/>
        </p:nvSpPr>
        <p:spPr>
          <a:xfrm>
            <a:off x="9720072" y="2816352"/>
            <a:ext cx="1847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Фундаментальные открытые вопросы</a:t>
            </a:r>
            <a:endParaRPr lang="en-US" sz="1250" dirty="0"/>
          </a:p>
        </p:txBody>
      </p:sp>
      <p:sp>
        <p:nvSpPr>
          <p:cNvPr id="33" name="Text 26"/>
          <p:cNvSpPr/>
          <p:nvPr/>
        </p:nvSpPr>
        <p:spPr>
          <a:xfrm>
            <a:off x="9720072" y="3657600"/>
            <a:ext cx="184708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8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подтверждено, работает ли построчное разграничение хоть для одного человека.</a:t>
            </a:r>
            <a:endParaRPr lang="en-US" sz="980" dirty="0"/>
          </a:p>
        </p:txBody>
      </p:sp>
      <p:sp>
        <p:nvSpPr>
          <p:cNvPr id="34" name="Text 27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</a:t>
            </a:r>
            <a:endParaRPr lang="en-US" sz="1000" dirty="0"/>
          </a:p>
        </p:txBody>
      </p:sp>
      <p:sp>
        <p:nvSpPr>
          <p:cNvPr id="35" name="Text 28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AI GUARD / PII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Наивысшая значимость для регулируемого покупателя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" y="1680210"/>
            <a:ext cx="333756" cy="33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72768"/>
            <a:ext cx="9354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подтверждённой метрики точности PII-маскирования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1828800"/>
            <a:ext cx="93543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Измерена только задержка. Пороги ≥98% / ≥95% / ≥70% из ТЗ пилота существуют только как целевые, ни разу — как измеренные.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698480" y="1609344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10698480" y="16002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85292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2914650"/>
            <a:ext cx="333756" cy="3337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07008" y="2807208"/>
            <a:ext cx="912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Дообучение NER под терминологию клиента — только «заготовки»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1207008" y="3063240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готовая функция. Угрожает достижимости порога ≥98% на специфичной для Д8 брокерской терминологии; быстрого пути донастройки до конца пилота нет.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10469880" y="284378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6E2E1"/>
          </a:solidFill>
          <a:ln w="9525">
            <a:solidFill>
              <a:srgbClr val="B23A4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469880" y="28346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существенно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48640" y="408736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4149090"/>
            <a:ext cx="333756" cy="3337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07008" y="4041648"/>
            <a:ext cx="9125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 по ИБ-тестированию подтверждено только устно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207008" y="4297680"/>
            <a:ext cx="9125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Реальный трекер тестирования (test-tracker.xlsx) на момент проверки пуст (0/24). Разрыв между словами и проверяемым артефактом.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10469880" y="4078224"/>
            <a:ext cx="1143000" cy="237744"/>
          </a:xfrm>
          <a:prstGeom prst="roundRect">
            <a:avLst>
              <a:gd name="adj" fmla="val 23077"/>
            </a:avLst>
          </a:prstGeom>
          <a:solidFill>
            <a:srgbClr val="F6E2E1"/>
          </a:solidFill>
          <a:ln w="9525">
            <a:solidFill>
              <a:srgbClr val="B23A4A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469880" y="406908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существенно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548640" y="532180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5383530"/>
            <a:ext cx="333756" cy="3337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07008" y="527608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Кастомные regex-паттерны проще на экране, чем в документации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1207008" y="5532120"/>
            <a:ext cx="10405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фиксированных категорий + общий [CUSTOM_N] вместо свободного id/prefix/validator. Два паттерна под Д8 хранятся устаревшими — авто-синхронизации нет.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AI Guard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ДОРОЖНАЯ КАРТА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Пробелы дорожной карты и явно не поддерживается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990011"/>
          </a:solidFill>
          <a:ln/>
        </p:spPr>
      </p:sp>
      <p:sp>
        <p:nvSpPr>
          <p:cNvPr id="5" name="Shape 3"/>
          <p:cNvSpPr/>
          <p:nvPr/>
        </p:nvSpPr>
        <p:spPr>
          <a:xfrm>
            <a:off x="1357884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5778" y="185097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3774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Kerberos / SPNEGO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поддерживается вообще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807208" y="16002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990011"/>
          </a:solidFill>
          <a:ln/>
        </p:spPr>
      </p:sp>
      <p:sp>
        <p:nvSpPr>
          <p:cNvPr id="10" name="Shape 7"/>
          <p:cNvSpPr/>
          <p:nvPr/>
        </p:nvSpPr>
        <p:spPr>
          <a:xfrm>
            <a:off x="3616452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4346" y="1850974"/>
            <a:ext cx="367132" cy="3671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98648" y="23774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Сторонний DLP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898648" y="28346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поддерживается (свой механизм)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5065776" y="16002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F6E2E1"/>
          </a:solidFill>
          <a:ln/>
        </p:spPr>
      </p:sp>
      <p:sp>
        <p:nvSpPr>
          <p:cNvPr id="15" name="Shape 11"/>
          <p:cNvSpPr/>
          <p:nvPr/>
        </p:nvSpPr>
        <p:spPr>
          <a:xfrm>
            <a:off x="5875020" y="17830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914" y="1850974"/>
            <a:ext cx="367132" cy="3671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57216" y="23774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Прокси с аутентификацией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5157216" y="28346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кв. 2026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7324344" y="16002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F6E2E1"/>
          </a:solidFill>
          <a:ln/>
        </p:spPr>
      </p:sp>
      <p:sp>
        <p:nvSpPr>
          <p:cNvPr id="20" name="Shape 15"/>
          <p:cNvSpPr/>
          <p:nvPr/>
        </p:nvSpPr>
        <p:spPr>
          <a:xfrm>
            <a:off x="8133588" y="17830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1482" y="1850974"/>
            <a:ext cx="367132" cy="3671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415784" y="23774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7415784" y="28346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кв. 2027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9582912" y="1600200"/>
            <a:ext cx="2121408" cy="1691640"/>
          </a:xfrm>
          <a:prstGeom prst="roundRect">
            <a:avLst>
              <a:gd name="adj" fmla="val 5405"/>
            </a:avLst>
          </a:prstGeom>
          <a:solidFill>
            <a:srgbClr val="F6E2E1"/>
          </a:solidFill>
          <a:ln/>
        </p:spPr>
      </p:sp>
      <p:sp>
        <p:nvSpPr>
          <p:cNvPr id="25" name="Shape 19"/>
          <p:cNvSpPr/>
          <p:nvPr/>
        </p:nvSpPr>
        <p:spPr>
          <a:xfrm>
            <a:off x="10392156" y="178308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0050" y="1850974"/>
            <a:ext cx="367132" cy="36713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674352" y="2377440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Крипто-подтверждение неизменности журнала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9674352" y="2834640"/>
            <a:ext cx="193852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кв. 2026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0362" y="3600450"/>
            <a:ext cx="333756" cy="33375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07008" y="349300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обхода периметра — явно не функция платформы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1207008" y="3749040"/>
            <a:ext cx="1040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 заявлено, но ломает типичное наивное предположение покупателя; ответственность за файрвол/веб-фильтр — на клиенте.</a:t>
            </a:r>
            <a:endParaRPr lang="en-US" sz="1100" dirty="0"/>
          </a:p>
        </p:txBody>
      </p:sp>
      <p:sp>
        <p:nvSpPr>
          <p:cNvPr id="33" name="Shape 25"/>
          <p:cNvSpPr/>
          <p:nvPr/>
        </p:nvSpPr>
        <p:spPr>
          <a:xfrm>
            <a:off x="548640" y="477316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362" y="4834890"/>
            <a:ext cx="333756" cy="3337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1207008" y="472744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«Оператор ИБ» нельзя сузить только до настроек анонимизатора</a:t>
            </a:r>
            <a:endParaRPr lang="en-US" sz="1350" dirty="0"/>
          </a:p>
        </p:txBody>
      </p:sp>
      <p:sp>
        <p:nvSpPr>
          <p:cNvPr id="36" name="Text 27"/>
          <p:cNvSpPr/>
          <p:nvPr/>
        </p:nvSpPr>
        <p:spPr>
          <a:xfrm>
            <a:off x="1207008" y="4983480"/>
            <a:ext cx="1040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Выдача роли открывает весь раздел администрирования безопасности целиком; более гранулярной кастомной роли пока нет.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Дорожная карта</a:t>
            </a:r>
            <a:endParaRPr lang="en-US" sz="1000" dirty="0"/>
          </a:p>
        </p:txBody>
      </p:sp>
      <p:sp>
        <p:nvSpPr>
          <p:cNvPr id="38" name="Text 29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МАРКЕТИНГ (1/2)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Кейсы, переключение моделей, партнёр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1848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" y="1680210"/>
            <a:ext cx="333756" cy="33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57276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один именованный кейс не демонстрирует питчуемые сценарии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1828800"/>
            <a:ext cx="10405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Вопросы к ERP/CRM, агенты HR/бухгалтерии/поддержки — во всех версиях презентации (12→39→35 слайдов) кейсы остаются инструментами для разработчиков (код-ревью, тесты). Разрыв не сократился с ростом объёма презентации.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03580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3097530"/>
            <a:ext cx="333756" cy="333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299008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Переключение моделей ни разу не подтверждено скриншотом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07008" y="3246120"/>
            <a:ext cx="10405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чате наблюдалась только одна модель (OpenAI/gpt-5.4); при этом новая версия презентации добавила гиперточный каталог версий моделей — риск устаревания и потери доверия.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45312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362" y="4514850"/>
            <a:ext cx="333756" cy="3337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07008" y="440740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партнёра Veai описывалась противоречиво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1207008" y="4663440"/>
            <a:ext cx="10405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биллинг vs DLP-способный шлюз — в первой ревизии новой презентации противоречие даже усилилось, потом исправлено во второй ревизии в соответствии с RFI (DLP — нативная функция платформы, не Veai). Разовый штрих, но показывает пробел в QA маркетинговых материалов.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Маркетинг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МАРКЕТИНГ (2/2)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пилота и точность новых цифр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70992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362" y="1771650"/>
            <a:ext cx="333756" cy="3337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07008" y="166420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Нарратив «пилот дёшево и быстро» не включает инфраструктуру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207008" y="1920240"/>
            <a:ext cx="10405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 сервера, видеокарт (GPU) и обращений к внешней модели не проговаривается по умолчанию — подтверждено и ТЗ, и RFI, но всплывает только при отдельном вопросе.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321868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362" y="3280410"/>
            <a:ext cx="333756" cy="33375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07008" y="317296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Добавленная в новой презентации точность не верифицирована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1207008" y="3429000"/>
            <a:ext cx="1040587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Версии моделей, номер в реестре ПО №33199, конкретная статья и сумма штрафа КоАП — никто не проверял. Репутационный риск, если окажется неточной.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48640" y="470916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6E2E1"/>
          </a:solidFill>
          <a:ln/>
        </p:spPr>
      </p:sp>
      <p:sp>
        <p:nvSpPr>
          <p:cNvPr id="13" name="Shape 9"/>
          <p:cNvSpPr/>
          <p:nvPr/>
        </p:nvSpPr>
        <p:spPr>
          <a:xfrm>
            <a:off x="777240" y="4892040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134" y="4959934"/>
            <a:ext cx="367132" cy="3671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63040" y="4828032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i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 категории маркетинговых расхождений касаются в первую очередь команды продаж и презентационных материалов, а не самого пилота с Д8 — но полезны для подготовки к возражениям квалифицированного покупателя.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Маркетинг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ХОД ПИЛОТА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текущего хода пилота Д8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Пример из актуального статуса пилота, зафиксированного в источнике — не отдельная часть серии.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9F5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3852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34" y="2006422"/>
            <a:ext cx="367132" cy="3671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КХД / ESB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325112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E7E9F5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193852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606" y="2006422"/>
            <a:ext cx="367132" cy="3671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93792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53712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2F3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РЕШЕНО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01584" y="1737360"/>
            <a:ext cx="3520440" cy="1417320"/>
          </a:xfrm>
          <a:prstGeom prst="roundRect">
            <a:avLst>
              <a:gd name="adj" fmla="val 6452"/>
            </a:avLst>
          </a:prstGeom>
          <a:solidFill>
            <a:srgbClr val="990011"/>
          </a:solidFill>
          <a:ln/>
        </p:spPr>
      </p:sp>
      <p:sp>
        <p:nvSpPr>
          <p:cNvPr id="16" name="Shape 12"/>
          <p:cNvSpPr/>
          <p:nvPr/>
        </p:nvSpPr>
        <p:spPr>
          <a:xfrm>
            <a:off x="8330184" y="193852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078" y="2006422"/>
            <a:ext cx="367132" cy="36713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970264" y="19202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«RAG-компании» (Дорожка D)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30184" y="2670048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ДВИЖЕНИЯ С НАЧАЛА ПИЛОТА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44728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" y="3509010"/>
            <a:ext cx="333756" cy="3337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07008" y="340156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«RAG-компании» — единственный трек без движения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207008" y="3657600"/>
            <a:ext cx="1040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самого начала пилота. Риск стать блокером в последний момент без запаса времени, в отличие от уже решённых КХД/ESB и MCP.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48640" y="4681728"/>
            <a:ext cx="457200" cy="45720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362" y="4743450"/>
            <a:ext cx="333756" cy="3337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07008" y="4636008"/>
            <a:ext cx="10405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дата фактического «Дня 1» так и не зафиксирована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1207008" y="4892040"/>
            <a:ext cx="104058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Закрытие доступа к КХД/ESB — точка, от которой считается весь 6-недельный календарь пилота. Легко исправимо, но пока не сделано.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Пилот Д8</a:t>
            </a:r>
            <a:endParaRPr lang="en-US" sz="1000" dirty="0"/>
          </a:p>
        </p:txBody>
      </p:sp>
      <p:sp>
        <p:nvSpPr>
          <p:cNvPr id="29" name="Text 22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ОТКРЫТЫЕ ВОПРОСЫ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Фундаментальные вопросы для решения о покупке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11765"/>
            </a:avLst>
          </a:prstGeom>
          <a:solidFill>
            <a:srgbClr val="99001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134" y="1622374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подтверждено, реально ли построчные фильтры/маски настроены хотя бы для одной персоны в проде — или админ-экран просто пустой пример.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0241280" y="1536192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990011"/>
          </a:solidFill>
          <a:ln/>
        </p:spPr>
      </p:sp>
      <p:sp>
        <p:nvSpPr>
          <p:cNvPr id="9" name="Text 6"/>
          <p:cNvSpPr/>
          <p:nvPr/>
        </p:nvSpPr>
        <p:spPr>
          <a:xfrm>
            <a:off x="10241280" y="152704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6E2E1"/>
          </a:solidFill>
          <a:ln/>
        </p:spPr>
      </p:sp>
      <p:sp>
        <p:nvSpPr>
          <p:cNvPr id="11" name="Shape 8"/>
          <p:cNvSpPr/>
          <p:nvPr/>
        </p:nvSpPr>
        <p:spPr>
          <a:xfrm>
            <a:off x="786384" y="2660904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450" y="2734970"/>
            <a:ext cx="400507" cy="4005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86384" y="3383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Построчные/поколоночные фильтры в проде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86384" y="41148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Реально настроены хотя бы для одного человека — или показанный на экране пример пуст?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306824" y="24231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6E2E1"/>
          </a:solidFill>
          <a:ln/>
        </p:spPr>
      </p:sp>
      <p:sp>
        <p:nvSpPr>
          <p:cNvPr id="16" name="Shape 12"/>
          <p:cNvSpPr/>
          <p:nvPr/>
        </p:nvSpPr>
        <p:spPr>
          <a:xfrm>
            <a:off x="4544568" y="2660904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634" y="2734970"/>
            <a:ext cx="400507" cy="40050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44568" y="3383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список доменов/коллекций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4544568" y="41148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же неопределённость: насколько полно и системно охвачены реальные бизнес-домены заказчика.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8065008" y="2423160"/>
            <a:ext cx="3538728" cy="2834640"/>
          </a:xfrm>
          <a:prstGeom prst="roundRect">
            <a:avLst>
              <a:gd name="adj" fmla="val 3226"/>
            </a:avLst>
          </a:prstGeom>
          <a:solidFill>
            <a:srgbClr val="F6E2E1"/>
          </a:solidFill>
          <a:ln/>
        </p:spPr>
      </p:sp>
      <p:sp>
        <p:nvSpPr>
          <p:cNvPr id="21" name="Shape 16"/>
          <p:cNvSpPr/>
          <p:nvPr/>
        </p:nvSpPr>
        <p:spPr>
          <a:xfrm>
            <a:off x="8302752" y="2660904"/>
            <a:ext cx="548640" cy="54864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6818" y="2734970"/>
            <a:ext cx="400507" cy="40050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302752" y="3383280"/>
            <a:ext cx="3063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Доступ агентов клиента: чтение или запись?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302752" y="411480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Могут ли агенты клиента писать/менять данные, или доступ строго read-only — не прояснено.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54406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Остаётся нерешённым на момент составления этого резюме — помечено как «критично для комплаенса».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Слабые стороны · Открытые вопросы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4A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КРИТИЧНЫЙ РИСК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измерено — и что только обещано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108960" cy="2651760"/>
          </a:xfrm>
          <a:prstGeom prst="roundRect">
            <a:avLst>
              <a:gd name="adj" fmla="val 3448"/>
            </a:avLst>
          </a:prstGeom>
          <a:solidFill>
            <a:srgbClr val="1E7145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006" y="1969846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ИЗМЕРЕНО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2 мс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822960" y="34747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DF2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обработки, p95 — единственная измеренная величина во всей базе знаний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77640" y="16916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7A2E38"/>
          </a:solidFill>
          <a:ln/>
        </p:spPr>
      </p:sp>
      <p:sp>
        <p:nvSpPr>
          <p:cNvPr id="11" name="Shape 8"/>
          <p:cNvSpPr/>
          <p:nvPr/>
        </p:nvSpPr>
        <p:spPr>
          <a:xfrm>
            <a:off x="4160520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414" y="1969846"/>
            <a:ext cx="367132" cy="36713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ИЗ ТЗ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11480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98%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114800" y="3291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чувствительным типам ПДн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114800" y="3913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ИЗМЕРЕНО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492240" y="16916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7A2E38"/>
          </a:solidFill>
          <a:ln/>
        </p:spPr>
      </p:sp>
      <p:sp>
        <p:nvSpPr>
          <p:cNvPr id="18" name="Shape 14"/>
          <p:cNvSpPr/>
          <p:nvPr/>
        </p:nvSpPr>
        <p:spPr>
          <a:xfrm>
            <a:off x="6675120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014" y="1969846"/>
            <a:ext cx="367132" cy="3671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62940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ИЗ ТЗ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62940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95%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6629400" y="3291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стандартным типам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629400" y="3913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ИЗМЕРЕНО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9006840" y="1691640"/>
            <a:ext cx="2331720" cy="2651760"/>
          </a:xfrm>
          <a:prstGeom prst="roundRect">
            <a:avLst>
              <a:gd name="adj" fmla="val 3922"/>
            </a:avLst>
          </a:prstGeom>
          <a:solidFill>
            <a:srgbClr val="7A2E38"/>
          </a:solidFill>
          <a:ln/>
        </p:spPr>
      </p:sp>
      <p:sp>
        <p:nvSpPr>
          <p:cNvPr id="25" name="Shape 20"/>
          <p:cNvSpPr/>
          <p:nvPr/>
        </p:nvSpPr>
        <p:spPr>
          <a:xfrm>
            <a:off x="9189720" y="190195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7614" y="1969846"/>
            <a:ext cx="367132" cy="36713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144000" y="24688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ИЗ ТЗ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9144000" y="2697480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70%</a:t>
            </a:r>
            <a:endParaRPr lang="en-US" sz="3000" dirty="0"/>
          </a:p>
        </p:txBody>
      </p:sp>
      <p:sp>
        <p:nvSpPr>
          <p:cNvPr id="29" name="Text 23"/>
          <p:cNvSpPr/>
          <p:nvPr/>
        </p:nvSpPr>
        <p:spPr>
          <a:xfrm>
            <a:off x="9144000" y="3291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F3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по редким/сложным типам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9144000" y="3913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ИЗМЕРЕНО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640080" y="4526280"/>
            <a:ext cx="108813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</p:spPr>
      </p:sp>
      <p:sp>
        <p:nvSpPr>
          <p:cNvPr id="32" name="Text 26"/>
          <p:cNvSpPr/>
          <p:nvPr/>
        </p:nvSpPr>
        <p:spPr>
          <a:xfrm>
            <a:off x="868680" y="469087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35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Нигде во всей базе знаний, включая RFI, нет подтверждённой метрики точности PII-маскирования — измерена только задержка. Пороги ≥98% / ≥95% / ≥70% из технического задания пилота Д8 существуют только как целевые, ни разу как измеренные.</a:t>
            </a:r>
            <a:endParaRPr lang="en-US" sz="1350" dirty="0"/>
          </a:p>
        </p:txBody>
      </p:sp>
      <p:sp>
        <p:nvSpPr>
          <p:cNvPr id="33" name="Shape 27"/>
          <p:cNvSpPr/>
          <p:nvPr/>
        </p:nvSpPr>
        <p:spPr>
          <a:xfrm>
            <a:off x="868680" y="5623560"/>
            <a:ext cx="914400" cy="237744"/>
          </a:xfrm>
          <a:prstGeom prst="roundRect">
            <a:avLst>
              <a:gd name="adj" fmla="val 23077"/>
            </a:avLst>
          </a:prstGeom>
          <a:solidFill>
            <a:srgbClr val="990011"/>
          </a:solidFill>
          <a:ln/>
        </p:spPr>
      </p:sp>
      <p:sp>
        <p:nvSpPr>
          <p:cNvPr id="34" name="Text 28"/>
          <p:cNvSpPr/>
          <p:nvPr/>
        </p:nvSpPr>
        <p:spPr>
          <a:xfrm>
            <a:off x="868680" y="561441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критично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1920240" y="5605272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Пилот Д8 использует именно эти пороги как приёмочные критерии — пример из источника, не отдельная часть цикла.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E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критичный риск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7C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это читать вместе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691640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199" y="1771879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45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3C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Честность как аргумент доверия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2103120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 демонстрирует редкую для вендора черту — письменную готовность признавать границы возможностей. Это стоит использовать как аргумент доверия перед клиентом, а не прятать.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886200"/>
            <a:ext cx="11064240" cy="2286000"/>
          </a:xfrm>
          <a:prstGeom prst="roundRect">
            <a:avLst>
              <a:gd name="adj" fmla="val 4000"/>
            </a:avLst>
          </a:prstGeom>
          <a:solidFill>
            <a:srgbClr val="FBE7E9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199" y="4240759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00200" y="411480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Системный разрыв между измеренным и заявленным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600200" y="4572000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область с реальными числами — задержка обработки. Там, где решение действительно критично для регулируемого клиента (точность распознавания ПДн, статус фактического прогона тестов), чисел либо нет, либо они существуют только в устной форме.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Синтез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это значит для решения о пилоте/покупке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810512"/>
            <a:ext cx="594360" cy="59436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4911" y="1890751"/>
            <a:ext cx="433883" cy="43388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260604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Предъявлять уверенно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04672" y="329184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сильные стороны — предъявлять как есть, с цитированием RFI. Это подтверждённые, проверенные факты.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06824" y="155448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FBE7E9"/>
          </a:solidFill>
          <a:ln/>
        </p:spPr>
      </p:sp>
      <p:sp>
        <p:nvSpPr>
          <p:cNvPr id="10" name="Shape 7"/>
          <p:cNvSpPr/>
          <p:nvPr/>
        </p:nvSpPr>
        <p:spPr>
          <a:xfrm>
            <a:off x="4562856" y="1810512"/>
            <a:ext cx="594360" cy="59436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3095" y="1890751"/>
            <a:ext cx="433883" cy="43388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62856" y="260604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Проговорить заранее с заказчиком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62856" y="329184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Слабости 1–3 категории AI Guard (нет метрики точности NER, недоготовое дообучение, устный vs документальный прогресс тестов) — не повод останавливать пилот, а повод явно обозначить как ожидаемый этап калибровки, а не как срыв обязательств.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65008" y="1554480"/>
            <a:ext cx="3538728" cy="4297680"/>
          </a:xfrm>
          <a:prstGeom prst="roundRect">
            <a:avLst>
              <a:gd name="adj" fmla="val 2584"/>
            </a:avLst>
          </a:prstGeom>
          <a:solidFill>
            <a:srgbClr val="F6E2E1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1810512"/>
            <a:ext cx="594360" cy="594360"/>
          </a:xfrm>
          <a:prstGeom prst="ellipse">
            <a:avLst/>
          </a:prstGeom>
          <a:solidFill>
            <a:srgbClr val="B23A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1279" y="1890751"/>
            <a:ext cx="433883" cy="43388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606040"/>
            <a:ext cx="30266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Задача команды продаж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321040" y="3291840"/>
            <a:ext cx="302666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Маркетинговые расхождения (кейсы, модели, партнёр, стоимость, непроверенные цифры) касаются в первую очередь презентационных материалов, а не самого пилота — но полезны для подготовки к возражениям квалифицированного покупателя.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Практический вывод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ВСЕГО ЦИКЛА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частей одним слайдом — что вы теперь знаете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45336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4146" y="1619402"/>
            <a:ext cx="400507" cy="4005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371600" y="166420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Фундамент: LLM, RAG и векторный поиск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806440" y="1517904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технология под капотом — от языковых моделей до поиска по смыслу.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2532888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146" y="2606954"/>
            <a:ext cx="400507" cy="40050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71600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371600" y="26517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«Камерата»: архитектура и интерфейс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806440" y="2505456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технология собрана в конкретный продукт — из чего он состоит и как выглядит.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520440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46" y="3594506"/>
            <a:ext cx="400507" cy="40050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71600" y="341985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371600" y="363931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данных: PII Shield и DLP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806440" y="3493008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персональные данные и коммерческая тайна защищены на практике, механизм за механизмом.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507992"/>
            <a:ext cx="548640" cy="5486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6" y="4582058"/>
            <a:ext cx="400507" cy="40050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40740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371600" y="462686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Домены и доступ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806440" y="4480560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Кто и что видит в системе — как разграничен и проверяется доступ на каждом уровне.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502920" y="5367528"/>
            <a:ext cx="11155680" cy="896112"/>
          </a:xfrm>
          <a:prstGeom prst="roundRect">
            <a:avLst>
              <a:gd name="adj" fmla="val 8163"/>
            </a:avLst>
          </a:prstGeom>
          <a:solidFill>
            <a:srgbClr val="990011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54955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" y="5569610"/>
            <a:ext cx="400507" cy="40050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71600" y="5394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371600" y="5614416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сильные и слабые стороны платформы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5806440" y="5468112"/>
            <a:ext cx="5715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Честная, основанная на фактах оценка всего вышеизложенного — эта часть.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Обзор цикла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900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ТЕЗИСЫ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76072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B101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Итоговые тезисы всего цикла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7E9F5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27632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702" y="1695526"/>
            <a:ext cx="367132" cy="3671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89888" y="1554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ПДн проверяются тремя механизмами одновременно, доступ решается до маскирования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463040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BE7E9"/>
          </a:solidFill>
          <a:ln/>
        </p:spPr>
      </p:sp>
      <p:sp>
        <p:nvSpPr>
          <p:cNvPr id="9" name="Shape 6"/>
          <p:cNvSpPr/>
          <p:nvPr/>
        </p:nvSpPr>
        <p:spPr>
          <a:xfrm>
            <a:off x="6373368" y="1627632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1262" y="1695526"/>
            <a:ext cx="367132" cy="3671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13448" y="155448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измеренная величина во всей базе — задержка (≤2 мс); точность распознавания не измерена нигде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280720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7E9F5"/>
          </a:solidFill>
          <a:ln/>
        </p:spPr>
      </p:sp>
      <p:sp>
        <p:nvSpPr>
          <p:cNvPr id="13" name="Shape 9"/>
          <p:cNvSpPr/>
          <p:nvPr/>
        </p:nvSpPr>
        <p:spPr>
          <a:xfrm>
            <a:off x="749808" y="29718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702" y="3039694"/>
            <a:ext cx="367132" cy="3671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89888" y="289864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Платформа полностью on-premise и модель-агностична — работает с любыми LLM без выхода в интернет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172200" y="2807208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7E9F5"/>
          </a:solidFill>
          <a:ln/>
        </p:spPr>
      </p:sp>
      <p:sp>
        <p:nvSpPr>
          <p:cNvPr id="17" name="Shape 12"/>
          <p:cNvSpPr/>
          <p:nvPr/>
        </p:nvSpPr>
        <p:spPr>
          <a:xfrm>
            <a:off x="6373368" y="2971800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262" y="3039694"/>
            <a:ext cx="367132" cy="36713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013448" y="2898648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 проверяется многослойно на каждый запрос и меняется мгновенно, без перезапуска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48640" y="415137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7E9F5"/>
          </a:solidFill>
          <a:ln/>
        </p:spPr>
      </p:sp>
      <p:sp>
        <p:nvSpPr>
          <p:cNvPr id="21" name="Shape 15"/>
          <p:cNvSpPr/>
          <p:nvPr/>
        </p:nvSpPr>
        <p:spPr>
          <a:xfrm>
            <a:off x="749808" y="4315968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702" y="4383862"/>
            <a:ext cx="367132" cy="36713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89888" y="4242816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Разработчик редко для вендора признаёт ограничения письменно и с датами — это аргумент доверия</a:t>
            </a:r>
            <a:endParaRPr lang="en-US" sz="1200" dirty="0"/>
          </a:p>
        </p:txBody>
      </p:sp>
      <p:sp>
        <p:nvSpPr>
          <p:cNvPr id="24" name="Shape 17"/>
          <p:cNvSpPr/>
          <p:nvPr/>
        </p:nvSpPr>
        <p:spPr>
          <a:xfrm>
            <a:off x="6172200" y="4151376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BE7E9"/>
          </a:solidFill>
          <a:ln/>
        </p:spPr>
      </p:sp>
      <p:sp>
        <p:nvSpPr>
          <p:cNvPr id="25" name="Shape 18"/>
          <p:cNvSpPr/>
          <p:nvPr/>
        </p:nvSpPr>
        <p:spPr>
          <a:xfrm>
            <a:off x="6373368" y="4315968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262" y="4383862"/>
            <a:ext cx="367132" cy="3671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013448" y="4242816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Питчуемые бизнес-сценарии (ERP/CRM, HR) ни разу не подтверждены именованным клиентским кейсом</a:t>
            </a:r>
            <a:endParaRPr lang="en-US" sz="1200" dirty="0"/>
          </a:p>
        </p:txBody>
      </p:sp>
      <p:sp>
        <p:nvSpPr>
          <p:cNvPr id="28" name="Shape 20"/>
          <p:cNvSpPr/>
          <p:nvPr/>
        </p:nvSpPr>
        <p:spPr>
          <a:xfrm>
            <a:off x="548640" y="5495544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FBE7E9"/>
          </a:solidFill>
          <a:ln/>
        </p:spPr>
      </p:sp>
      <p:sp>
        <p:nvSpPr>
          <p:cNvPr id="29" name="Shape 21"/>
          <p:cNvSpPr/>
          <p:nvPr/>
        </p:nvSpPr>
        <p:spPr>
          <a:xfrm>
            <a:off x="749808" y="5660136"/>
            <a:ext cx="502920" cy="502920"/>
          </a:xfrm>
          <a:prstGeom prst="ellipse">
            <a:avLst/>
          </a:prstGeom>
          <a:solidFill>
            <a:srgbClr val="990011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7702" y="5728030"/>
            <a:ext cx="367132" cy="36713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389888" y="558698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Самый критичный открытый вопрос: не подтверждено, что построчные фильтры настроены хоть для одного человека в проде</a:t>
            </a:r>
            <a:endParaRPr lang="en-US" sz="1200" dirty="0"/>
          </a:p>
        </p:txBody>
      </p:sp>
      <p:sp>
        <p:nvSpPr>
          <p:cNvPr id="32" name="Shape 23"/>
          <p:cNvSpPr/>
          <p:nvPr/>
        </p:nvSpPr>
        <p:spPr>
          <a:xfrm>
            <a:off x="6172200" y="5495544"/>
            <a:ext cx="5440680" cy="1234440"/>
          </a:xfrm>
          <a:prstGeom prst="roundRect">
            <a:avLst>
              <a:gd name="adj" fmla="val 7407"/>
            </a:avLst>
          </a:prstGeom>
          <a:solidFill>
            <a:srgbClr val="E7E9F5"/>
          </a:solidFill>
          <a:ln/>
        </p:spPr>
      </p:sp>
      <p:sp>
        <p:nvSpPr>
          <p:cNvPr id="33" name="Shape 24"/>
          <p:cNvSpPr/>
          <p:nvPr/>
        </p:nvSpPr>
        <p:spPr>
          <a:xfrm>
            <a:off x="6373368" y="5660136"/>
            <a:ext cx="502920" cy="50292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1262" y="5728030"/>
            <a:ext cx="367132" cy="36713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7013448" y="5586984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B101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Итог: сильные стороны — предъявлять как есть; слабости калибровки — проговаривать заранее, а не скрывать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502920" y="6537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тезисы</a:t>
            </a:r>
            <a:endParaRPr lang="en-US" sz="1000" dirty="0"/>
          </a:p>
        </p:txBody>
      </p:sp>
      <p:sp>
        <p:nvSpPr>
          <p:cNvPr id="37" name="Text 27"/>
          <p:cNvSpPr/>
          <p:nvPr/>
        </p:nvSpPr>
        <p:spPr>
          <a:xfrm>
            <a:off x="11155680" y="65379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5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4A000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94960" y="1371600"/>
            <a:ext cx="1005840" cy="1005840"/>
          </a:xfrm>
          <a:prstGeom prst="ellipse">
            <a:avLst/>
          </a:prstGeom>
          <a:solidFill>
            <a:srgbClr val="2F3C7E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0748" y="1507388"/>
            <a:ext cx="734263" cy="7342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697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Цикл завершён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822960" y="3429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5 из 5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737360" y="4069080"/>
            <a:ext cx="8686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FCF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основ LLM и RAG — через архитектуру платформы, защиту данных и разграничение доступа — до честной, основанной на фактах итоговой оценки. Продолжения не будет: это финал серии.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394960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05856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6"/>
          <p:cNvSpPr/>
          <p:nvPr/>
        </p:nvSpPr>
        <p:spPr>
          <a:xfrm>
            <a:off x="6016752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6327648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638544" y="5257800"/>
            <a:ext cx="146304" cy="1463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737360" y="59436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9B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Материал подготовлен для самостоятельного изучения — вернитесь к любой части при необходимости.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2026-08-28T19:53:16Z</dcterms:created>
  <dcterms:modified xsi:type="dcterms:W3CDTF">2026-08-28T19:53:16Z</dcterms:modified>
</cp:coreProperties>
</file>