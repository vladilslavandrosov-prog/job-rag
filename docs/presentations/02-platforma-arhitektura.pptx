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курса из 5 частей. Часть 2 посвящена не технологии как таковой (это было в части 1 — LLM, RAG, векторный поиск), а тому, как эта технология упакована в конкретный продукт: интерфейс платформы «Камерата». Ряд из 11 кружков внизу — это ровно те 11 пунктов левого меню платформы, которые последовательно разбираются в этой колоде: Чат, Мои шаблоны, Источники, Задачи, Калибровка, Управление данными, Каталог, Агенты, Администрирование, База секретов, Мониторинг. Для самостоятельного изучения: держите открытым README базы знаний платформы (docs/platform/README.md) — там та же структура меню с ссылками на детальные статьи по каждому разделу, использованные как первичный источник для этой колоды.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список из 5 пунктов идентичен во всех пяти частях серии — это сделано намеренно, чтобы курс воспринимался как единый связный цикл, а не как пять независимых презентаций. Часть 2 (эта колода) выделена как текущая. Важный мост: часть 1 отвечала на вопрос «как это работает технически» (устройство LLM, ретривал, эмбеддинги), а часть 2 отвечает на вопрос «как я, как пользователь или администратор, вижу и трогаю эту технологию руками» — то есть переход от механики к продукту. Прежде чем читать дальше, полезно вспомнить из части 1 базовые термины: чанк (фрагмент документа после разбиения), эмбеддинг (векторное представление смысла), реранкер (модель, дополнительно пересортировывающая найденные фрагменты по релевантности) — они снова встретятся здесь уже в контексте конкретных экранов калибровки.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Происхождение имени «Камерата» символично: во Флоренции конца XVI века так называли собрание музыкантов и учёных, из опытов которого выросла опера — не один солист, а ансамбль исполнителей, каждый со своей партией. Платформа устроена похоже: за одним ответом стоит не одна модель, а несколько узких агентов и оркестратор, сводящий их работу воедино (этот образ разворачивается подробнее на слайде про раздел «Агенты»). Ключевое отличие от обычного публичного чат-бота — не в качестве текста, а в источнике истины: сначала поиск по данным компании, потом ответ, с обязательной ссылкой на источник, и явным «не найдено», если ответа в данных нет, вместо уверенной выдумки.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ориентировочная карта: реальное левое меню платформы содержит все 11 пунктов плоским списком (Чат, Мои шаблоны, Источники, Задачи, Калибровка, Управление данными, Каталог, Агенты, Администрирование, База секретов, Мониторинг), группировка на этом слайде — авторская, для удобства восприятия структуры курса. «Источники» на самом деле разворачивается в подпункт «Документы» — в этой колоде рассматривается именно он. «Калибровка» тоже составной раздел: внутри него — «Калибровка детектора», «Политики поиска» и «Отладка сессий», разобранные по отдельности на следующих слайдах. Каждый из 11 пунктов этой карты получит собственный слайд или блок далее в колоде — держите этот слайд как навигационный ориентир при последующем чтении.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«Чат» состоит из двух панелей: слева список чатов с полнотекстовым поиском и группировкой по дате, справа — сама переписка. Верхняя панель диалога: «+ Новый чат» начинает новую сессию, «‹ Скрыть историю» сворачивает левую панель, «↓ PDF» экспортирует текущий диалог в PDF (активна только когда в чате уже есть сообщения), «Модель» выбирает LLM, обрабатывающую диалог (среди опций — OpenAI/gpt-5.4·veai), «Агент» выбирает роль/персону, задающую стиль и фокус ответов (персоны настраиваются отдельно, в разделе «Задачи → Промпты персон», и влияют только на системный чат, не на канвасных агентов), «Рассуждения» — переключатель, показывающий ход рассуждений модели прямо в интерфейсе. Известная на 17.08.2026 проблема: выбор модели непостоянен — селектор регулярно слетает на первую модель в списке вместо того, чтобы запоминать выбор пользователя; подтверждено, что это уже устранено в новой версии платформы, которая скоро выйдет. Вторая известная проблема — редирект на адрес app.local:8080 после периода бездействия в интерфейсе чата; этот адрес похож на незаменённый плейсхолдер локальной разработки (VITE_APP_URL/NEXTAUTH_URL/APP_BASE_URL) в обработчике истечения сессии или в конфиге SSO-редиректа, а не на реальный адрес стенда; заведено как баг для команды платформы, через пользовательские настройки не лечится.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Механизм «Мои шаблоны» — это управляемая куратором (администратором или аналитиком) библиотека образцовых ответов. Форма создания шаблона: «Вопрос-триггер» — формулировка, при похожести на которую сработает recall; «Ответ-образец» — текст шаблона; «График» — тип графика, если ответ должен его включать; «таблица» — ответ включает табличную форму; «строгий шаблон» — переключатель режима применения. В обычном режиме шаблон фиксирует, КАК отвечать (структуру, тон, формулировки), но не то, какие именно цифры показывать — они пересчитываются заново на момент вопроса. В строгом режиме ответ выдаётся как есть, только с подстановкой актуальных данных вместо значений, записанных в шаблоне при его создании. Пример из источника: шаблон с триггером «собери бриф к встрече с клиентом» и образцом, повторяющим структуру портрет → позиции → динамика → обращения, гарантирует, что итоговый ответ на такой запрос всегда идёт по одной надёжной структуре, при этом каждый раз пересчитывая данные заново — то есть шаблоны решают проблему консистентности формы ответа, а не проблему свежести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Действия на экране: «+ Загрузить файл» добавляет один документ вручную, «+ Директорию» подключает целую директорию как источник с пакетной загрузкой и синхронизацией папки. Модалка «Загрузка документа» (зафиксировано 17.08.2026) после выбора файла показывает поле «Назначение» с двумя вариантами: «В коллекцию» (документ привязывается к конкретной существующей коллекции — создавать новые коллекции может только администратор, обычный пользователь при загрузке лишь выбирает из уже существующих) и «Личные документы» (вариант по умолчанию — коллекция не нужна вообще, файл уходит в личное пространство uploads без домена, а доступ определяется отдельным переключателем видимости «Только мне» / «Команде» / «Всем» вместо членства в коллекции). Число фрагментов (чанков) не обязательно пропорционально размеру файла — у документов одинакового размера оно может отличаться, поскольку зависит скорее от количества смысловых разделов в тексте, чем от объёма в байтах. Типы документов включают, например, «Другое», «Регламент», «Политика» и другие.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экранов раздела «Задачи» образуют единый конвейер: «Предложения» — основная очередь (в примере 469 предложений), с фильтрами по типу и статусу и сортируемой таблицей (Тип, Объект, Паттерн, Уверенность, Статус, Дата); каждое предложение несёт оценку уверенности автоматического извлечения и статус PENDING REVIEW до решения человека. Среди примеров терминов глоссария встречаются понятия из предметной области кредитного риска и взыскания задолженности — RSK (правила управления рисками), RS-007 (стресс-тестирование), ECL (Expected Credit Loss), сценарии CRISIS/ADVERSE/MODERATE/BASE, Promise to Pay — это отдельная предметная область от брокерского/инвестиционного направления и документов по охране труда, что подтверждает мультидоменность платформы (см. слайд 20). «Агенты на утверждении» подробно разбираются на слайде 17. «Статистика» показывает долю предложений с типом «ошибка индексации», отражающую операционное состояние пайплайна. «Очередь обработки» обновляется каждые 5 секунд и показывает: сколько задач ждёт, сколько в работе, сколько «зависло» (воркеры-призраки), сколько упало с ошибкой, сколько активных воркеров — с кнопками «Догрузить упавшие» и «Расчистить зависшие» для ручного восстановления. «Промпты персон» — детали на слайде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«Предложения» — центральная очередь конвейера «Задачи»: пример на скриншоте показывал 469 предложений, с сортируемой таблицей по колонкам Тип, Объект, Паттерн, Уверенность, Статус, Дата. Два типа предложений: document_review — разобранный документ, предложенный к вводу в базу знаний, и glossary_term — новый термин глоссария (словаря делового языка компании). «Агенты на утверждении» — двухстадийное согласование: сначала проверку проходит дата-стюард (роль, отвечающая за домены данных, узлы и параметры агента, обозначенная в интерфейсе аббревиатурой «DS»), а после его одобрения заявка уходит на ревью информационной безопасности; только после обеих стадий агент появляется в селекторе чата. Это тот же механизм согласования, что подробно разбирается на слайде про раздел «Агенты» (слайд 17) — просто здесь показана очередь, ожидающая решения, а там — сам процесс конструирования и публикации.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«Статистика» даёт управленческий срез очереди «Предложения»: сколько всего накопилось, сколько ожидает решения человека, сколько уже одобрено, сколько отклонено — с разбивкой по статусу и по типу предложения; отдельного внимания заслуживает доля предложений с типом «ошибка индексации» — она напрямую отражает текущее операционное здоровье пайплайна обработки документов (чем выше доля ошибок, тем больше проблем на этапе индексации новых источников). «Очередь обработки» — не аналитический отчёт, а операционный дашборд реального времени (обновление каждые 5 секунд): показывает пять счётчиков (в очереди / в работе / зависло-«призраки» / упало с ошибкой / активных воркеров) и даёт две кнопки ручного вмешательства — «Догрузить упавшие» и «Расчистить зависшие», — позволяя восстановить застрявшие задачи, не дожидаясь автоматики. «Промпты персон» — важно не путать этот механизм с конструктором агентов: промпты персон меняют стиль ответа только у системных агентов чата (тех, что выбираются в выпадающем списке «Агент» на панели диалога), тогда как канвасные (governed) агенты, собранные визуально и прошедшие согласование дата-стюард → ИБ, настраиваются совершенно отдельно и промптами персон не затрагиваются.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 организован во вкладки. «Калибровка порогов» — настройка чувствительности детектора с выбором конкретной коллекции документов. «Чанкинг» — как именно разбивается табличный контент на фрагменты (таблицы часто требуют иной логики разбиения, чем обычный текст, чтобы не разрывать строки/столбцы бессмысленно). «Документы» — точечная проверка: как детектор отработал на конкретном документе. «Обслуживание» — служебные операции над самим детектором. «Корни measure» — отдельный range-роутер, отвечающий за маршрутизацию вопросов про числовые диапазоны и меры (например, «от и до какой суммы» и подобные количественные вопросы) — это самостоятельный механизм, соседствующий с детектором таблиц на одном экране, но решающий другую задачу. Важно проговорить связь вперёд: is_table — не финальное решение о том, что показывать пользователю, а лишь метаданные, разметка чанка; финальное решение — оставить, усилить или скрыть — принимает политика ранжирования на следующем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механизма на этом экране решают одну и ту же задачу — «поиск нашёл что-то похожее, но подходит ли оно на самом деле» — на разных этапах одного запроса. Роутинг решает, куда вообще идти за ответом (в SQL, в код, в документы), ещё до поиска, по триггерным фразам или regex, с встроенными правилами в коде и возможностью добавить дополнительные фразы поверх (аддитивно). Планировщик/реплан решает, доверять ли найденному: нижний порог уверенности в примере — 0.35 (ниже — автоматический доретрив в другом источнике), верхний — 0.60 (выше — используется как есть); между ними серая зона, где по желанию включается дополнительный вызов LLM-судьи релевантности. Важно: такой реплан реагирует на низкую уверенность или отсутствие результата поиска, а НЕ на ошибку выполнения уже сгенерированного SQL-запроса — это два разных класса сбоя. Политики ранжирования — референс-таблица из пяти строк: commit_msg-шум самая жёсткая (даже в теме — лёгкий штраф 0.15, вне темы — полное исключение); diagram-шум, код-процедур-шум и процедура-документация-шум — нейтральные (в теме не трогаются, вне темы получают разный по силе штраф 0.20–0.30); таблица-схема-boost — единственная с положительным действием (в теме усиливается на 0.20, вне темы остаётся без штрафа). Роутинг включает минимум две категории: «Data-вопросы» (триггеры «сколько», «количество», «привилегии») и «Структурные вопросы» (триггеры «как устроен», «по какому принципу», «порядок предоставления»); слишком общие паттерны вроде «все» или «что» система отклоняет при сохранении. Отдельный блок «Тест-запрос» позволяет проверить эффект правила на примере вопроса до того, как оно повлияет на реальный поиск.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«Отладка сессий» — инструмент разбора диалогов пользователей: список сессий с поиском по пользователю, а клик по конкретному диалогу должен раскрывать разбор сессии — использованные инструменты, построенный план, полученные ответы. Это ровно тот уровень детализации, который нужен для диагностики сбоев RAG-агента: какой SQL был сгенерирован, какие фрагменты найдены, по какому плану строился ответ. Однако в текущем окружении экран показывает предупреждение «Аудит-БД не сконфигурирована», и список диалогов пуст — функция в продукте существует, но не подключена именно в этом развёртывании. Практическое следствие для аналитика или ИБ: если нужно разобрать, почему агент дал конкретный неверный или подозрительный ответ, придётся анализировать текст ответа и вопроса вручную прямо в интерфейсе чата, без доступа к внутренней трассировке (какой инструмент вызывался, какой SQL был сгенерирован, какие именно чанки попали в контекст). Это важное операционное ограничение текущего стенда, а не постоянное свойство платформы — стоит зафиксировать как открытый вопрос к команде платформы о сроках подключения аудит-БД.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«Анализ схемы таблицы» — инструмент, которым система анализирует структуру конкретной таблицы БД по её полному имени (FQN, схема.таблица): колонки, типы, вероятно генерирует текстовые описания полей для использования в text-в-SQL пайплайне — прежде чем агент сможет надёжно писать SQL-запросы к реальной таблице, платформе нужно заранее знать её схему; это фундамент для роутинга «Data-вопросов» (слайд 12) в SQL-запрос. «Граф процедур (lineage)» — отслеживание происхождения и связей хранимых процедур: какая процедура что вызывает, от каких таблиц зависит. Ключевая техническая деталь — пересчёт графа можно ограничить только устаревшими или новыми элементами, инкрементально, по хэшу содержимого; если хэш не изменился, повторный пересчёт — no-op (не выполняется впустую). Этот же принцип инкрементального пересчёта по хэшу применяется и к синхронизации документов в целом — общий архитектурный паттерн платформы для экономии вычислений на больших объёмах метаданных.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«Граф код→таблица» — экран из трёх связанных блоков. Первый: извлечение из код-коллекции — коллекция типа «Кодовая база» привязывается к целевому сервису или базе данных из реестра сервисов платформы («ОМ», OpenMetadata) и подключается к репозиторию. Второй: пересборка lineage-связей документов с таблицами и процедурами прямо из уже проиндексированных чанков, без повторного эмбеддинга — когда каталог таблиц и процедур растёт, система может задним числом найти в уже загруженных документах упоминания вновь распознанных сущностей. Третий: синхронизация с GitLab в трёх режимах — инкремент (только новые коммиты), сверка/reconcile (по дереву репозитория, самостоятельно устраняющая расхождения) и полный пере-синк. «Граф доступа» — фактическая реализация разграничения доступа НА УРОВНЕ ДАННЫХ (не интерфейса): вкладка «Политики доступа» настраивает row-фильтры и маски по конкретной персоне, вкладка «Карта покрытия» показывает, какие таблицы и колонки уже защищены политиками, а какие ещё нет (то есть где остались непокрытые риски). Row-политики решают, какие строки видны конкретной персоне; маски — какие колонки скрыты или заменены. Это готовый механизм платформы, а не то, что придётся проектировать с нуля — подробный разбор с примерами и частыми заблуждениями будет в части 4 «Домены и доступ».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«Каталог» построен на OpenMetadata — открытой платформе управления метаданными, здесь используемой не только как каталог данных, но и как централизованный источник identity: единый вход (SSO) и права доступа к самому каталогу заводятся именно тут. Это ключевая архитектурная деталь для раздела «Администрирование» (слайд 18): создание любого пользователя или администратора платформы начинается именно в Каталоге, а не в экранах DLP/ИБ. Форма создания пользователя в Каталоге — «Настройки → Команды и пользователи → Пользователи» (для обычного пользователя) или «→ Админы» (для администратора) — содержит поля Электронная почта, Отображаемое имя, Описание, Пароль, а также необязательные многозначные поля Команды/Роли/Персоны (права на сам каталог данных, не путать с ролью по LLM-провайдерам на экране «Пользователи и доступ») и тумблер «Админ». Отдельно Каталог выступает реестром сервисов («ОМ»), к которому привязывается код-коллекция при построении lineage графа код→таблица. В базе знаний этот раздел не описан целиком отдельной статьёй — сведения о нём собраны по частям из статьи про администрирование пользователей.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«Агенты» — каталог и конструктор агентов платформы. Новый агент собирается на визуальном конструкторе («канвасе»), после чего проходит согласование: сначала у дата-стюарда (роль, отвечающая за домены данных, узлы и параметры агента, обозначенная в интерфейсе аббревиатурой «DS»), затем у информационной безопасности. Только после обеих стадий агент появляется в селекторе чата — то есть публикация нового или изменённого агента никогда не происходит автоматически, только после двухстороннего человеческого одобрения (тот же принцип human-in-the-loop, что и в разделе «Задачи»). Существующего агента можно редактировать на том же канвасе — редактирование создаёт новую версию, а не перезаписывает старую бесследно. В системе сосуществуют два класса агентов: системные, без визуального flow (вероятно, это то, чем управляют ролевые «Промпты персон» из раздела «Задачи», слайд 10), и канвасные, с полноценным визуально сконструированным графом обработки, которые и проходят двухстадийное согласование. Среди примеров агентов есть тип «Closed-book RAG» — агент, сознательно отвечающий по собственным знаниям модели, без обращения к поиску; это не противоречие идее RAG-платформы, а рабочий инструмент: такой агент может служить эталоном для сравнения (что ответила бы модель без доступа к корпоративным данным) или обрабатывать вопросы, для которых поиск не нужен.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Точка входа — пункт «Администрирование» в левом меню, оттуда верхнее меню «Рабочее место ИБ». Три разных, независимых друг от друга места, которые легко перепутать: Каталог (OpenMetadata) — исходная identity плюс права на сам каталог данных; «Рабочее место ИБ → Сотрудники ИБ» (/dlp/staff/) — кто может войти в саму админку, с ролями «Оператор ИБ» (не может редактировать сотрудников ИБ и менять настройки безопасности) и «Администратор ИБ»; «Рабочее место ИБ → Пользователи и доступ» (/dlp/users/) — какие LLM-провайдеры и с каким лимитом токенов доступны пользователям чата, к доступу в админку отношения не имеет. Создание пользователя — всегда минимум два независимых этапа в двух разных системах: этап 1 в Каталоге (identity, тумблер «Админ» выключен для обычного пользователя, включён для администратора) и этап 2 в «Пользователи и доступ» (Email, Имя, OM User ID оставить пустым — заполнится при первой синхронизации, Роль — определяет доступные LLM-провайдеры, из вариантов «без роли/все провайдеры», «Администратор/все провайдеры», «Внешние провайдеры разрешены» — yandexgpt/gigachat/ollama/anthropic/openai, «Только внутренние провайдеры» — yandexgpt/gigachat/ollama; Лимит токенов в день, по умолчанию 0 = без лимита). Доступ в саму админку требует отдельного этапа в «Сотрудники ИБ» — без него пользователь не попадёт в админку, даже будучи Admin в Каталоге. Роли складываются, а не взаимоисключают: базовая роль платформы (Пользователь/Администратор) и роль в «Сотрудники ИБ» (Оператор ИБ/Администратор ИБ) — два независимых слоя, можно комбинировать. Карточка пользователя в «Пользователи и доступ» дополнительно содержит чекбокс «Пользователь активен», точечные права на модели и до 5 персональных API-ключей (pii_uk_…) для подключения внешних клиентов — весь трафик через такой ключ всё равно идёт через контур платформы с маскированием ПДн и атрибуцией в аудите.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«База секретов» — отдельный верхнеуровневый раздел меню, который легко спутать с «Источники → Документы», но по назначению это совершенно другой инструмент: админка векторной базы коммерческой тайны и настроек DLP-детекции, обслуживающая механизмы pii-shield и dlp-secret. На этом экране: Провайдеры (модели, используемые для детекции), Добавить/Поиск/Тест детекции (ручная работа с эталонными чанками секретов), Реранкинг (пересортировка кандидатов по релевантности), Ключевые слова, Блэклист ОМ (список, синхронизируемый из OpenMetadata), Политики синхронизации, Regex-паттерны (кастомные регулярные выражения для распознавания специфичных для компании форматов — номеров договоров, счетов, лицензий), Управление базой (администрирование коллекции Qdrant — векторной БД), Интеграция (токены для внешних интеграций). Три пункта меню в этом разделе документированы лишь частично, без разбора по скриншотам: «Список документов», «Загрузить», «Загрузить блэклист». Эта колода намеренно не раскрывает детали DLP-механизма — он заслуживает отдельного, полноценного разбора, который и будет в части 3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один из тех фактов о платформе, которые легко упустить, глядя только на отдельные экраны: она не просто «поддерживает мультиарендность» абстрактно — на практике, прямо сейчас, в одном инстансе сосуществуют минимум три предметные области. Свидетельства этому разбросаны по разным разделам: в «Задачи → Предложения» среди примеров терминов глоссария встречаются понятия кредитного риска и взыскания задолженности (RSK — правила управления рисками, RS-007 — стресс-тестирование, ECL — Expected Credit Loss, сценарии стресс-тестирования CRISIS/ADVERSE/MODERATE/BASE, Promise to Pay); в «Источники → Документы» встречаются документы по охране труда; во множестве других мест — брокерская/инвестиционная тематика (отчёты брокера, портфели). Для курса это значит, что при изучении конкретных примеров (например, отчёта брокера Д8 в инструкциях) важно понимать, что это лишь один из нескольких доменов, живущих в системе одновременно, и архитектура платформы (домены, персоны, коллекции, row-политики графа доступа) должна не позволять данным и терминологии одного домена просачиваться в ответы по другому. Подробный механизм разграничения — домены на профиле/команде и роль Domain Only Access Role — будет разобран в части 4 «Домены и доступ».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Селектор моделей в чате включает OpenAI/gpt-5.4·veai — вызов реально уходит в облачную модель за пределами компании, но проходит через компонент AI Guard (защищённый AI-шлюз платформы): чувствительные сущности (ФИО, суммы, счета, реквизиты) обезличиваются на лету перед отправкой во внешнюю модель и восстанавливаются обратно только внутри контура, в ответе, который видит сотрудник. Суффикс «veai» в названии модели, судя по всему, и обозначает этот шлюз — он же упоминается в методическом материале по продажам как «AI Gateway» и как партнёр «Veai», обеспечивающий биллинг обращений к иностранным LLM. Ключевой нюанс для комплаенс-проверки: соответствие требованию ТЗ о непокидании периметра компании (раздел 3.2, критерий приёмки №8) в этой архитектуре обеспечивается НЕ отсутствием внешнего вызова как такового, а тем, что наружу уходит уже обезличенный текст — то есть реальные значения физически остаются внутри контура компании, а во внешний контур попадает только маскированная версия. Формально это стоит сверить с буквальной формулировкой критерия №8 (означает ли «не покидает периметр» буквально «нет сетевых вызовов вовне» или «нет вызовов с раскрытыми данными») — но сам механизм задокументирован и специфицирован тестовыми сценариями (см. кейс о пилотном ТЗ по AI Guard), а не является предположением или домыслом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Сводный список терминов, встречавшихся в этой колоде по мере разбора конкретных экранов — полезно держать под рукой при самостоятельном изучении, чтобы не листать назад в поисках определения. Часть терминов раскрыта здесь лишь коротко и получит полное развитие в следующих частях курса: «Домен» и «Персона» — в части 4 «Домены и доступ» (там же — разбор частых заблуждений: владельцы/эксперты домена, роли «Контроль доступа» — сами по себе доступа не дают, реальный механизм — домен на профиле/команде плюс роль Domain Only Access Role); AI Guard и маскирование — в части 3 «Защита данных: PII Shield и DLP». Термины «Чанк», «Интент», «Реплан» пересекаются с материалом части 1 (векторный поиск, ретривал) — если что-то из этого не откладывается, стоит вернуться к части 1 прежде чем двигаться дальше по этому курсу.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 таблица собирает воедино все разделы левого меню, разобранные в колоде, отвечая на три практических вопроса разом: что это за экран, что конкретно он делает, и кому из ролей он в первую очередь адресован. Полезно использовать её как чек-лист самопроверки: закрыть остальные слайды и попробовать по памяти воспроизвести содержимое столбца «Что делает» для каждой строки — если для какого-то раздела это не получается, стоит вернуться к соответствующему слайду. Раздел «Мониторинг» намеренно оставлен с прочерком в столбце «Кто пользуется» — в исходной базе знаний платформы (docs/platform/README.md) он помечен как «не описан»: это открытый пробел документации, а не ошибка данной колоды.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тезисов, которые стоит вынести из этой части как минимальный чек-лист понимания продукта. Первый и второй — про философию платформы: она не заменяет источники правды генерацией «из головы», и любое изменение базы знаний или появление нового агента проходит через явное человеческое подтверждение. Третий и четвёртый — про то, что «под капотом» есть настоящие настраиваемые механизмы, а не чёрный ящик: качество поиска калибруется явно видимыми параметрами (пороги 0.35/0.60, политики ранжирования, правила роутинга), а разграничение доступа к данным на уровне строк и колонок — уже готовая часть платформы. Пятый — практическое предупреждение для тех, кто будет настраивать доступ пользователей: три экрана администрирования выглядят похоже, но управляют разными вещами, и путаница между ними — частый источник ошибок (например, пользователь заведён в Каталоге, но не может пользоваться LLM, потому что не заведён отдельно в «Пользователи и доступ»). Шестой — два факта, которые стоит держать в фокусе при работе с реальными клиентскими данными: мультидоменность инстанса и то, что чат по умолчанию предлагает облачную модель, защищённую AI Guard, но требующую формальной сверки с критериями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 части 2, симметричный титульному (тёмный фон завершает «сэндвич» деки). Часть 3 «Защита данных: PII Shield и DLP» подробно раскроет то, что в этой части было дано лишь анонсом: экран «База секретов» (слайд 19) и механизм AI Guard, маскирующий данные при вызове облачной модели (слайд 21). Из базы знаний платформы для части 3 уже подготовлены источники: rukovodstvo-administratora-ib.md (руководство администратора ИБ — самая глубокая версия, включает PII Shield и построчную фильтрацию, базу секретов, три журнала аудита, точные шаги реагирования на инциденты, полную таблицу соответствия ФСТЭК №17/21, модель угроз и остаточные риски), instrukciya-smyslovaya-proverka-kt.md и instrukciya-semanticheskaya-proverka-dlp.md (практические инструкции по настройке смысловой/семантической проверки коммерческой тайны — словарь терминов, тест детекции, вердикты PASS/REVIEW/BLOCK). Перед переходом к части 3 полезно закрепить материал этой части — особенно разделы «База секретов» (слайд 19) и «Администрирование» (слайд 18), поскольку часть 3 будет активно ссылаться на роли «Администратор ИБ» и «Оператор ИБ», уже введённые здесь.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3694176" cy="310896"/>
          </a:xfrm>
          <a:prstGeom prst="roundRect">
            <a:avLst>
              <a:gd name="adj" fmla="val 17647"/>
            </a:avLst>
          </a:prstGeom>
          <a:solidFill>
            <a:srgbClr val="1EC6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6012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КУРС · СЕРИЯ ИЗ 5 ЧАСТЕЙ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2/5 — Платформа «Камерата»: архитектура и интерфейс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технология RAG из части 1 упакована в реальный продукт: разделы левого меню, экраны и рабочие процессы конкретной платформы «Камерата».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12362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1236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6083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6083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9805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9805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3526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352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67248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6724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30969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30969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94691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94691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8412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841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22134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22134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185855" y="4892040"/>
            <a:ext cx="457200" cy="457200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185855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разделов левого меню — карта на слайде 4, детали дальше по колоде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27752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5224" y="6172200"/>
            <a:ext cx="146304" cy="146304"/>
          </a:xfrm>
          <a:prstGeom prst="ellipse">
            <a:avLst/>
          </a:prstGeom>
          <a:solidFill>
            <a:srgbClr val="1EC6DE"/>
          </a:solidFill>
          <a:ln w="12700">
            <a:solidFill>
              <a:srgbClr val="1EC6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22696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0168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7640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КУРСА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частей одного курса</a:t>
            </a:r>
            <a:endParaRPr lang="en-US" sz="3000" dirty="0"/>
          </a:p>
        </p:txBody>
      </p:sp>
      <p:sp>
        <p:nvSpPr>
          <p:cNvPr id="35" name="Text Subtitle"/>
          <p:cNvSpPr txBox="1"/>
          <p:nvPr/>
        </p:nvSpPr>
        <p:spPr>
          <a:xfrm>
            <a:off x="548640" y="12984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Оглавление курса: пять презентаций по порядку, каждая опирается на предыдущую.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91640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5544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Фундамент: LLM, RAG и векторный поиск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441448"/>
            <a:ext cx="384048" cy="384048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30428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«Камерата»: архитектура и интерфейс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37960" y="2505456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EC6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ЗДЕСЬ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191256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0540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данных: PII Shield и DLP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03904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941064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80390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и доступ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690872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55371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сильные и слабые стороны платформы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909560" y="1554480"/>
            <a:ext cx="3730752" cy="393192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18388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Мост между частями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1214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разобрала технологию: как устроены LLM, что такое RAG и как работает векторный поиск смысла.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8183880" y="2926080"/>
            <a:ext cx="3200400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30723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показывает, как технология упакована в продукт: конкретные экраны, кнопки и процессы платформы «Камерата».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8183880" y="4041648"/>
            <a:ext cx="3200400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83880" y="418795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3–5 идут дальше: защита данных (PII Shield и DLP), домены и доступ, итоговая оценка сильных и слабых сторон платформы.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Платформа в двух словах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AI-платформа корпоративных данных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задаёт вопрос обычным языком — получает число, таблицу, график или ссылку на документ, со ссылкой на источник.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56816" y="3703320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956816" y="381304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«Камерата»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56816" y="41605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из мира культуры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отсылает к флорентийской камерате XVI века — собранию музыкантов и учёных, породившему оперу.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554480"/>
            <a:ext cx="537667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379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103120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подразделения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256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473184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ИБ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2724912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2724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Дата-стюард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52560" y="2724912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5256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473184" y="2724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/ куратор домена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3703320"/>
            <a:ext cx="537667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3796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ПРОСТО ЧАТ-БОТ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251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по эрудиции модели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ищет в данных компании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4690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уверенно выдумать ответ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4690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скажет «не найдено»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1297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знает, кому отвечает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5129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права — отвечает в их границах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4251960"/>
            <a:ext cx="0" cy="132588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9001" name="TextAnalogyLabel"/>
          <p:cNvSpPr txBox="1"/>
          <p:nvPr/>
        </p:nvSpPr>
        <p:spPr>
          <a:xfrm>
            <a:off x="548640" y="576072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598932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очень начитанного коллегу, который перед каждым ответом сначала идёт в архив и перечитывает нужные документы, а потом честно говорит: «вот что нашёл» или «в документах об этом ничего нет» — вместо того чтобы отвечать по памяти и на удачу.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карта интерфейса: левое меню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262272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36192"/>
            <a:ext cx="2622728" cy="457200"/>
          </a:xfrm>
          <a:prstGeom prst="roundRect">
            <a:avLst>
              <a:gd name="adj" fmla="val 18000"/>
            </a:avLst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10512"/>
            <a:ext cx="2622728" cy="1828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536192"/>
            <a:ext cx="240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2194560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194560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761488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шаблоны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72536" y="1536192"/>
            <a:ext cx="262272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72536" y="1536192"/>
            <a:ext cx="2622728" cy="457200"/>
          </a:xfrm>
          <a:prstGeom prst="roundRect">
            <a:avLst>
              <a:gd name="adj" fmla="val 18000"/>
            </a:avLst>
          </a:prstGeom>
          <a:solidFill>
            <a:srgbClr val="36454F"/>
          </a:solidFill>
          <a:ln/>
        </p:spPr>
      </p:sp>
      <p:sp>
        <p:nvSpPr>
          <p:cNvPr id="18" name="Shape 16"/>
          <p:cNvSpPr/>
          <p:nvPr/>
        </p:nvSpPr>
        <p:spPr>
          <a:xfrm>
            <a:off x="3372536" y="1810512"/>
            <a:ext cx="2622728" cy="1828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82264" y="1536192"/>
            <a:ext cx="240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знания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7128" y="2194560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3712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030904" y="2194560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37128" y="2761488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3712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030904" y="2761488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данными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37128" y="3328416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37128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30904" y="3328416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6432" y="1536192"/>
            <a:ext cx="262272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6432" y="1536192"/>
            <a:ext cx="2622728" cy="457200"/>
          </a:xfrm>
          <a:prstGeom prst="roundRect">
            <a:avLst>
              <a:gd name="adj" fmla="val 18000"/>
            </a:avLst>
          </a:prstGeom>
          <a:solidFill>
            <a:srgbClr val="36454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6432" y="1810512"/>
            <a:ext cx="2622728" cy="1828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6160" y="1536192"/>
            <a:ext cx="240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и настройка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61024" y="2194560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6102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4800" y="2194560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61024" y="2761488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61024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854800" y="2761488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61024" y="3328416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61024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854800" y="3328416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20327" y="1536192"/>
            <a:ext cx="262272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20327" y="1536192"/>
            <a:ext cx="2622728" cy="457200"/>
          </a:xfrm>
          <a:prstGeom prst="roundRect">
            <a:avLst>
              <a:gd name="adj" fmla="val 18000"/>
            </a:avLst>
          </a:prstGeom>
          <a:solidFill>
            <a:srgbClr val="36454F"/>
          </a:solidFill>
          <a:ln/>
        </p:spPr>
      </p:sp>
      <p:sp>
        <p:nvSpPr>
          <p:cNvPr id="44" name="Shape 42"/>
          <p:cNvSpPr/>
          <p:nvPr/>
        </p:nvSpPr>
        <p:spPr>
          <a:xfrm>
            <a:off x="9020327" y="1810512"/>
            <a:ext cx="2622728" cy="1828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30055" y="1536192"/>
            <a:ext cx="240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и защита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84919" y="2194560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84919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9678695" y="2194560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184919" y="2761488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84919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БС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678695" y="2761488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секретов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184919" y="3328416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184919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9678695" y="3328416"/>
            <a:ext cx="179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" y="4416552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22960" y="4581144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на группы — условное, авторское (не литеральный подзаголовок в меню продукта): облегчает ориентацию — где искать/спрашивать данные, где отдаётся на модерацию человеку, где настраивается качество поиска, где решаются вопросы доступа и безопасности. Реальное меню платформы — плоский список из 11 пунктов.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«Чат» — главный рабочий экран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2834640" cy="3063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2821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диалогов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0025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чатам, группировка по дате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2423160"/>
            <a:ext cx="2505456" cy="384048"/>
          </a:xfrm>
          <a:prstGeom prst="roundRect">
            <a:avLst>
              <a:gd name="adj" fmla="val 11905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423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диалог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2926080"/>
            <a:ext cx="250545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· вчера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3429000"/>
            <a:ext cx="250545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· 3 дня назад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" y="3931920"/>
            <a:ext cx="250545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· на прошлой неделе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1600200"/>
            <a:ext cx="825977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173736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1737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Новый чат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56048" y="1737360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48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Скрыть историю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03136" y="173736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03136" y="17373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PDF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44384" y="173736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44384" y="17373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▾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759952" y="1737360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59952" y="173736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▾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784080" y="173736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84080" y="17373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Рассуждения ⏻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377440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с RAG-агентом: вопрос обычным языком → ответ со ссылкой на источник.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971800"/>
            <a:ext cx="310896" cy="3108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661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005072" y="2971800"/>
            <a:ext cx="7436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 </a:t>
            </a:r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LLM — включая OpenAI/gpt-5.4·veai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66160" y="3401568"/>
            <a:ext cx="310896" cy="3108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56616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05072" y="3401568"/>
            <a:ext cx="7436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 </a:t>
            </a:r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роль/персона чата, например «Платформа — Аналитик»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66160" y="3831336"/>
            <a:ext cx="310896" cy="3108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6616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05072" y="3831336"/>
            <a:ext cx="7436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Рассуждения  </a:t>
            </a:r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ход рассуждений модели в интерфейсе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566160" y="4261104"/>
            <a:ext cx="310896" cy="3108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6616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05072" y="4261104"/>
            <a:ext cx="7436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PDF  </a:t>
            </a:r>
            <a:pPr indent="0" marL="0"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диалога — активен, когда есть сообщения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828032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данных: селектор моделей включает облачную OpenAI/gpt-5.4 · veai — вызов реально уходит вовне, но проходит через AI Guard (защищённый шлюз): чувствительные сущности обезличиваются перед отправкой и восстанавливаются только внутри контура, в ответе сотруднику. Подробнее — слайд 21.</a:t>
            </a:r>
            <a:endParaRPr lang="en-US" sz="10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69671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5925312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как переписка с коллегой в мессенджере — только коллега перед каждым ответом сначала открывает нужные папки с документами компании, а внизу сообщения честно указывает, откуда взял информацию.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«Мои шаблоны» — курируемые образцы ответов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заранее задаёт пару «вопрос-триггер → образец ответа». Когда пользователь в чате задаёт похожий вопрос, система подставляет образец вместо генерации ответа с нуля.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Вопрос-триггер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97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«Собери бриф к встрече с клиентом»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665476"/>
            <a:ext cx="320040" cy="109728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28600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2219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совпадения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697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Похожий вопрос найден среди заданных триггеров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2665476"/>
            <a:ext cx="320040" cy="109728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78308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4944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режима применения шаблона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2304288"/>
            <a:ext cx="21488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2414016"/>
            <a:ext cx="978408" cy="256032"/>
          </a:xfrm>
          <a:prstGeom prst="roundRect">
            <a:avLst>
              <a:gd name="adj" fmla="val 21429"/>
            </a:avLst>
          </a:prstGeom>
          <a:solidFill>
            <a:srgbClr val="1EC6D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86600" y="241401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761488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тон и структура — из шаблона. Форма (график/таблица) пересчитывается по свежим данным на момент вопроса.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35440" y="2304288"/>
            <a:ext cx="21945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72600" y="2414016"/>
            <a:ext cx="978408" cy="256032"/>
          </a:xfrm>
          <a:prstGeom prst="roundRect">
            <a:avLst>
              <a:gd name="adj" fmla="val 21429"/>
            </a:avLst>
          </a:prstGeom>
          <a:solidFill>
            <a:srgbClr val="3645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241401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276148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возвращается как есть, только со свежими значениями вместо чисел, зафиксированных в шаблоне.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04672" y="4315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 ОТ ПАМЯТИ СЕССИИ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599432"/>
            <a:ext cx="10582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заводятся вручную куратором и действуют кросс-сессионно — для любого пользователя, задавшего похожий вопрос. Память сессии, напротив, переиспользовала бы уже полученный результат внутри одного конкретного диалога. Форма шаблона создания включает поля «Вопрос-триггер», «Ответ-образец», «График», «таблица» и переключатель «строгий шаблон». Текст шаблона всегда обезличен: сам образец не должен содержать реальные данные конкретного клиента, только структуру ответа.</a:t>
            </a:r>
            <a:endParaRPr lang="en-US" sz="11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66928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589788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папка «Готовые ответы» у секретаря: на часто повторяющийся вопрос не пишут ответ заново каждый раз, а достают проверенный шаблон и вписывают туда свежие цифры.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«Источники → Документы» — реестр загрузок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всех документов, загруженных в платформу для RAG-индексации: что загружено, статус обработки, коллекция и домен, сколько фрагментов получилось после индексации.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файла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7480" y="2478024"/>
            <a:ext cx="320040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6324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«Назначение»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478024"/>
            <a:ext cx="274320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1965960"/>
            <a:ext cx="31089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13248" y="2084832"/>
            <a:ext cx="1380744" cy="256032"/>
          </a:xfrm>
          <a:prstGeom prst="roundRect">
            <a:avLst>
              <a:gd name="adj" fmla="val 21429"/>
            </a:avLst>
          </a:prstGeom>
          <a:solidFill>
            <a:srgbClr val="1EC6D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13248" y="208483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КОЛЛЕКЦИЮ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13248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существующая коллекция — создать новую может только администратор.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49640" y="1965960"/>
            <a:ext cx="31089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05088" y="2084832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05088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ДОКУМЕНТЫ (ПО УМОЛЧ.)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705088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коллекции и домена, в uploads. Видимость: «Только мне» / «Команде» / «Всем».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83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обязательна только на пути «В коллекцию»; чтобы обойтись без неё — оставить «Личные документы» и выбрать видимость.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И ПОИСК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27939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279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4279392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20240" y="427939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коллекции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92424" y="4279392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2424" y="427939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документа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" y="46634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6634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66344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20240" y="466344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4056" y="4663440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34056" y="46634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обработки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5047488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04748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☑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49424" y="5047488"/>
            <a:ext cx="1956816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49424" y="504748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имени файла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3794760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40080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ТАБЛИЦЫ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4279392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427939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77456" y="4279392"/>
            <a:ext cx="507492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077456" y="4279392"/>
            <a:ext cx="507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76388" y="4279392"/>
            <a:ext cx="973836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676388" y="4279392"/>
            <a:ext cx="97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741664" y="4279392"/>
            <a:ext cx="662940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741664" y="4279392"/>
            <a:ext cx="66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496044" y="4279392"/>
            <a:ext cx="740664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496044" y="4279392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328148" y="4279392"/>
            <a:ext cx="973836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328148" y="4279392"/>
            <a:ext cx="97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4663440"/>
            <a:ext cx="740664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00800" y="4663440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32904" y="4663440"/>
            <a:ext cx="973836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32904" y="4663440"/>
            <a:ext cx="97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98180" y="466344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98180" y="466344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285732" y="4663440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285732" y="46634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0" y="5074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классифицируется сразу по трём независимым осям: коллекция, домен и тип.</a:t>
            </a:r>
            <a:endParaRPr lang="en-US" sz="9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66928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589788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картотека библиотеки: видно, какие «книги» сдали на полку, какие уже расставлены по разделам (проиндексированы), а какие ещё обрабатываются.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З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«Задачи» — конвейер модерации целиком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система сама предлагает изменения в базу знаний — термины глоссария, разбор документов, новых агентов — но ничего не применяется автоматически. Всё копится в очереди на подтверждение человеком.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014057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54501" y="2953512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54501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47472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Предложения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977640"/>
            <a:ext cx="1794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изменений: document_review, glossary_term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80985" y="3717036"/>
            <a:ext cx="219456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18729" y="2788920"/>
            <a:ext cx="2014057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24590" y="2953512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2459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28457" y="347472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на утверждении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928457" y="3977640"/>
            <a:ext cx="1794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новых/изменённых агентов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51075" y="3717036"/>
            <a:ext cx="219456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8819" y="2788920"/>
            <a:ext cx="2014057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4680" y="2953512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9468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98547" y="347472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198547" y="3977640"/>
            <a:ext cx="1794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очереди: сколько, статус, тип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21164" y="3717036"/>
            <a:ext cx="219456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8908" y="2788920"/>
            <a:ext cx="2014057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64769" y="2953512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64769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68636" y="347472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обработки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468636" y="3977640"/>
            <a:ext cx="1794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дашборд воркеров индексации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91254" y="3717036"/>
            <a:ext cx="219456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32" name="Shape 30"/>
          <p:cNvSpPr/>
          <p:nvPr/>
        </p:nvSpPr>
        <p:spPr>
          <a:xfrm>
            <a:off x="9628998" y="2788920"/>
            <a:ext cx="2014057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34858" y="2953512"/>
            <a:ext cx="402336" cy="402336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34858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38726" y="347472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персон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738726" y="3977640"/>
            <a:ext cx="17946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ролевые системные промпты чата</a:t>
            </a:r>
            <a:endParaRPr lang="en-US" sz="9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489204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51206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стол входящих документов у руководителя: система сама готовит черновик правки (новый термин, новый агент), но подписывает и утверждает его всегда человек — само по себе в справочниках ничего не меняется.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З (1/2)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«Задачи» подробнее: Предложения и Агенты на утверждении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очередь (469 предложений в примере) с фильтрами по типу и статусу и сортируемой таблицей.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539496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88036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35608" y="288036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35608" y="28803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95144" y="28803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95144" y="2880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36976" y="2880360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36976" y="288036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07992" y="288036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7992" y="28803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67528" y="2880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ADF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67528" y="2880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337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типа: document_review (разобранный документ, предложенный к вводу) и glossary_term (новый термин глоссария). Каждое предложение несёт оценку уверенности автоматического извлечения и статус — PENDING REVIEW до решения человека.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343400"/>
            <a:ext cx="4937760" cy="1600200"/>
          </a:xfrm>
          <a:prstGeom prst="roundRect">
            <a:avLst>
              <a:gd name="adj" fmla="val 5143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ГЛОССАРИЯ: КРЕДИТНЫЙ РИСК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773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  ·  RS-007  ·  ECL  ·  CRISIS/ADVERSE/MODERATE/BASE  ·  Promise to Pay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321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предметная область от брокерского направления и охраны труда — платформа обслуживает несколько бизнес-доменов в одном инстансе (слайд 20).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554480"/>
            <a:ext cx="537667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Агенты на утверждении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331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согласования новых или изменённых агентов. Только после обеих стадий агент появляется в селекторе чата.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2971800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29443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новый/изменённый агент, собранный на канвасе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20840" y="3355848"/>
            <a:ext cx="0" cy="201168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630168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36027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Дата-стюард (DS)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домены данных, узлы, параметры агента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720840" y="4014216"/>
            <a:ext cx="0" cy="201168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4288536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3796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95160" y="42611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безопасность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ревью перед публикацией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720840" y="4672584"/>
            <a:ext cx="0" cy="201168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4946904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3796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95160" y="49194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появляется в селекторе «Агент» в чате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З (2/2)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«Задачи» подробнее: Статистика, Очередь обработки, Промпты персон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7450" cy="448056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55648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755648"/>
            <a:ext cx="2613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286000"/>
            <a:ext cx="312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очереди предложений: всего / ожидает / одобрено / отклонено, разбивка по статусу и по типу.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108960"/>
            <a:ext cx="3125114" cy="777240"/>
          </a:xfrm>
          <a:prstGeom prst="roundRect">
            <a:avLst>
              <a:gd name="adj" fmla="val 10588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00400"/>
            <a:ext cx="2887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</a:rPr>
              <a:t>доля «ошибка индексации»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</a:rPr>
              <a:t>отражает операционное состояние пайплайна обработки документов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32122" y="1554480"/>
            <a:ext cx="3527450" cy="448056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5002" y="1755648"/>
            <a:ext cx="402336" cy="40233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1500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45354" y="1755648"/>
            <a:ext cx="2613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обработки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33290" y="2286000"/>
            <a:ext cx="3125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дашборд воркеров индексации, обновляется каждые 5 секунд.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1578" y="2889504"/>
            <a:ext cx="82296" cy="822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16170" y="2834640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очереди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1578" y="3200400"/>
            <a:ext cx="82296" cy="822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16170" y="3145536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1578" y="3511296"/>
            <a:ext cx="82296" cy="822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16170" y="3456432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зависло (призраки)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51578" y="3822192"/>
            <a:ext cx="82296" cy="822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16170" y="3767328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упало с ошибкой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51578" y="4133088"/>
            <a:ext cx="82296" cy="8229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16170" y="4078224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воркеров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33290" y="4462272"/>
            <a:ext cx="198424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33290" y="446227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Догрузить упавшие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33290" y="4800600"/>
            <a:ext cx="2185416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33290" y="48006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Расчистить зависшие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15605" y="1554480"/>
            <a:ext cx="3527450" cy="448056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98485" y="1755648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98485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28837" y="1755648"/>
            <a:ext cx="2613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Промпты персон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316773" y="2286000"/>
            <a:ext cx="312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Ролевые системные промпты, задающие стиль и фокус ответов агента в обычном чате.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16773" y="2971800"/>
            <a:ext cx="3125114" cy="1463040"/>
          </a:xfrm>
          <a:prstGeom prst="roundRect">
            <a:avLst>
              <a:gd name="adj" fmla="val 5625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481365" y="3127248"/>
            <a:ext cx="27959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Применяются только к персонам системного чата.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влияют на канвасных (governed) агентов — те настраиваются отдельно, в разделе «Агенты».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К (1/3)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«Калибровка детектора» — пороги детектора таблиц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настройки детектора, который на этапе индексации определяет, является ли фрагмент документа таблицей, и выставляет метаданные is_table.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94734" y="2359152"/>
            <a:ext cx="365760" cy="365760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94734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98064"/>
            <a:ext cx="1838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порогов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3273552"/>
            <a:ext cx="18019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порогов срабатывания детектора, с выбором коллекции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07757" y="21945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3851" y="2359152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3851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17485" y="2798064"/>
            <a:ext cx="1838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Чанкинг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935773" y="3273552"/>
            <a:ext cx="18019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табличного контента на фрагменты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66873" y="21945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12968" y="2359152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12968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76601" y="2798064"/>
            <a:ext cx="1838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94889" y="3273552"/>
            <a:ext cx="18019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детекции на конкретных документах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25990" y="21945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72084" y="2359152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72084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35718" y="2798064"/>
            <a:ext cx="1838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54006" y="3273552"/>
            <a:ext cx="18019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служебные операции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85107" y="21945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431201" y="2359152"/>
            <a:ext cx="365760" cy="3657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31201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94835" y="2798064"/>
            <a:ext cx="1838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Корни measure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13123" y="3273552"/>
            <a:ext cx="18019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range-роутер для вопросов про числовые диапазоны и меры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77240" y="45720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A8C"/>
                </a:solidFill>
              </a:rPr>
              <a:t>→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1325880" y="47091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политиками поиска: метаданные is_table, выставленные детектором на этапе индексации, использует политика ранжирования «таблица-схема-boost» на экране «Политики поиска» (следующий слайд) — единственная политика с положительным действием: чанки-таблицы в теме вопроса усиливаются, а вне темы остаются без штрафа.</a:t>
            </a:r>
            <a:endParaRPr lang="en-US" sz="120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83644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650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настройка кофемашины под конкретные зёрна: крутите не программу целиком, а несколько понятных ручек — насколько строго отличать таблицу от текста, что важнее при поиске, куда смотреть, если ответ получился странным.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К (2/3)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«Политики поиска» — три механизма на одном экране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393338" cy="1051560"/>
          </a:xfrm>
          <a:prstGeom prst="roundRect">
            <a:avLst>
              <a:gd name="adj" fmla="val 7826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591056"/>
            <a:ext cx="3064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01952"/>
            <a:ext cx="3064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идти за ответом: SQL / код / текст документа — ДО поиска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96842" y="1952244"/>
            <a:ext cx="347472" cy="109728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0" name="Shape 8"/>
          <p:cNvSpPr/>
          <p:nvPr/>
        </p:nvSpPr>
        <p:spPr>
          <a:xfrm>
            <a:off x="4399178" y="1481328"/>
            <a:ext cx="3393338" cy="1051560"/>
          </a:xfrm>
          <a:prstGeom prst="roundRect">
            <a:avLst>
              <a:gd name="adj" fmla="val 7826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63770" y="1591056"/>
            <a:ext cx="3064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/ реплан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63770" y="1901952"/>
            <a:ext cx="3064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доверять ли находке; порог 0.35–0.60, серая зона — опц. LLM-судья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47381" y="1952244"/>
            <a:ext cx="347472" cy="109728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9717" y="1481328"/>
            <a:ext cx="3393338" cy="1051560"/>
          </a:xfrm>
          <a:prstGeom prst="roundRect">
            <a:avLst>
              <a:gd name="adj" fmla="val 7826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4309" y="1591056"/>
            <a:ext cx="3064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ранжирования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4309" y="1901952"/>
            <a:ext cx="3064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оставить, приглушить или выкинуть — ПОСЛЕ поиска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Референс: действующие политики ранжирования (пример)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(payload)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интенте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06324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интента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55848"/>
            <a:ext cx="11094415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commit_msg-шум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kind=commit_msg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34838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(0.15)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15400" y="34838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1540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813048"/>
            <a:ext cx="11094415" cy="0"/>
          </a:xfrm>
          <a:prstGeom prst="line">
            <a:avLst/>
          </a:prstGeom>
          <a:noFill/>
          <a:ln w="12700">
            <a:solidFill>
              <a:srgbClr val="EDEF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813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diagram-шум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3813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diagram_type=*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0" y="38679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15400" y="386791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154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(0.30)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197096"/>
            <a:ext cx="11094415" cy="0"/>
          </a:xfrm>
          <a:prstGeom prst="line">
            <a:avLst/>
          </a:prstGeom>
          <a:noFill/>
          <a:ln w="12700">
            <a:solidFill>
              <a:srgbClr val="ED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1970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код-процедур-шум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74904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is_code=*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425196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15400" y="425196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9154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(0.25)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581144"/>
            <a:ext cx="11094415" cy="0"/>
          </a:xfrm>
          <a:prstGeom prst="line">
            <a:avLst/>
          </a:prstGeom>
          <a:noFill/>
          <a:ln w="12700">
            <a:solidFill>
              <a:srgbClr val="EDEFF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5811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процедура-документация-шум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749040" y="4581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procedural=*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83680" y="463600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15400" y="463600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91540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(0.20)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965192"/>
            <a:ext cx="11094415" cy="0"/>
          </a:xfrm>
          <a:prstGeom prst="line">
            <a:avLst/>
          </a:prstGeom>
          <a:noFill/>
          <a:ln w="12700">
            <a:solidFill>
              <a:srgbClr val="EDEFF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965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таблица-схема-boost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749040" y="4965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is_table=*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3680" y="502005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EC6D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83680" y="5020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(0.20)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15400" y="502005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915400" y="5020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8640" y="562356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777240" y="5733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 / 0.60</a:t>
            </a:r>
            <a:endParaRPr lang="en-US" sz="2200" dirty="0"/>
          </a:p>
        </p:txBody>
      </p:sp>
      <p:sp>
        <p:nvSpPr>
          <p:cNvPr id="59" name="Text 57"/>
          <p:cNvSpPr txBox="1"/>
          <p:nvPr/>
        </p:nvSpPr>
        <p:spPr>
          <a:xfrm>
            <a:off x="777240" y="613562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/ верхний порог уверенности реплана — между ними серая зона (опц. LLM-судья)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114800" y="5623560"/>
            <a:ext cx="7528255" cy="868680"/>
          </a:xfrm>
          <a:prstGeom prst="roundRect">
            <a:avLst>
              <a:gd name="adj" fmla="val 9474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4343400" y="5760720"/>
            <a:ext cx="70710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Тест-запрос: отдельный блок на этом экране показывает, какой интент был бы распознан по каждой политике и какое действие сработает — до того, как правило повлияет на реальный поиск.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К (3/3)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«Отладка сессий» — разбор диалогов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ДОЛЖНО РАБОТАТЬ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1945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сессий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пользователю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29718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диалогу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раскрывает разбор сессии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37490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Инструменты, план, ответы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SQL сгенерирован, какие фрагменты найдены, по какому плану строился ответ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1600200"/>
            <a:ext cx="3822192" cy="3017520"/>
          </a:xfrm>
          <a:prstGeom prst="roundRect">
            <a:avLst>
              <a:gd name="adj" fmla="val 2727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0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ТЕКУЩЕМ ОКРУЖЕНИИ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C6DE"/>
                </a:solidFill>
              </a:rPr>
              <a:t>⚠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889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«Аудит-БД не сконфигурирована»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диалогов пуст. Функция в продукте есть, но не подключена в этом развёртывании.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4937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СЕЙЧАС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9379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Штатный способ разобрать конкретную сессию сейчас недоступен — детальный разбор диалогов приходится делать вручную, по тексту ответов агента прямо в самом чате.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УД (1/2)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«Управление данными»: схемы и lineage процедур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схемы таблицы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23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анализирует структуру конкретной таблицы БД по её полному имени (FQN, схема.таблица) — колонки, типы — и, вероятно, генерирует описания полей для text-в-SQL пайплайна.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484632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3383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схема.таблица  →  колонки + типы  →  описания полей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агент сможет надёжно писать SQL-запросы к таблице, платформе нужно знать её схему.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7667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182880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9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 процедур (lineage)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происхождения и связей хранимых процедур — какая процедура что вызывает, от каких таблиц зависит.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20040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93408" y="3337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ИНКРЕМЕНТАЛЬНЫЙ ПЕРЕСЧЁТ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360273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графа можно ограничить только устаревшими или новыми элементами — по хэшу, без изменений это no-op. Тот же принцип применяется и к синхронизации документов.</a:t>
            </a:r>
            <a:endParaRPr lang="en-US" sz="110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85716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600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чертежи здания компании: видно, из чего состоит каждая таблица с данными, как один отчёт получается из другого и кому вообще разрешено туда заходить.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УД (2/2)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«Управление данными»: код→таблица и граф доступа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28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 код→таблица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423160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957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из код-коллекции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«Кодовая база» → сервис/БД из реестра «ОМ» → репозиторий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593592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Пересборка lineage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уже проиндексированных чанков, без повторного эмбеддинга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4764024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36592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с GitLab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инкремент · сверка (reconcile) · полный пере-синк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7667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182880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 доступа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и маски для персон и пользователей, с ключами на уровне схема.таблица / схема.таблица.колонка.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6324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751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доступа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79992" y="306324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17152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покрытия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393192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720840" y="4069080"/>
            <a:ext cx="457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разом две задачи: ограничить менеджера фронт-офиса кругом его клиентов, и замаскировать ПДн-колонки для ролей без права видеть их в открытом виде — оставив точный поиск по ФИО/ИНН доступным тем, кому положено.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5486400"/>
            <a:ext cx="3291840" cy="292608"/>
          </a:xfrm>
          <a:prstGeom prst="roundRect">
            <a:avLst>
              <a:gd name="adj" fmla="val 18750"/>
            </a:avLst>
          </a:prstGeom>
          <a:solidFill>
            <a:srgbClr val="1EC6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5486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подробности — в части 4 «Домены и доступ»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«Каталог» — OpenMetadata как источник identity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(OpenMetadata, «ОМ») — исходная identity пользователя: единый вход (SSO) плюс права на сам каталог данных. Это не «ещё одна база документов», а системный слой identity, на который опирается вся платформа.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" y="2999232"/>
            <a:ext cx="3186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SSO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47872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пароль пользователя/администратора рождаются здесь — используются для входа во всю платформу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8218" y="283464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02810" y="2999232"/>
            <a:ext cx="3186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на каталог данных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02810" y="3547872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Команды, Роли, Персоны — доступ к самому каталогу метаданных, независимо от доступа к LLM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7797" y="2834640"/>
            <a:ext cx="351525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92389" y="2999232"/>
            <a:ext cx="3186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сервисов («ОМ»)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92389" y="3547872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нему привязывается код-коллекция при построении графа код→таблица (слайд 15)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9834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7A8C"/>
                </a:solidFill>
              </a:rPr>
              <a:t>ℹ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749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не описан целиком в базе знаний — частично затронут через сценарий создания пользователя-администратора (слайд 18): этап 1 создания identity идёт именно здесь, в «Каталог → Настройки → Команды и пользователи».</a:t>
            </a:r>
            <a:endParaRPr lang="en-US" sz="11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85716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600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отдел кадров: именно здесь заводится карточка нового сотрудника и его логин — остальные экраны потом просто ссылаются на эту запись, а не заводят человека заново.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АГ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«Агенты» — конструктор на канвасе и согласование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76120"/>
            <a:ext cx="5212080" cy="4273632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57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КЛАССА АГЕНТОВ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72152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009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32935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визуального flow. Управляются «Промптами персон» (раздел «Задачи»). Пример типа: «Closed-book RAG» — сознательно отвечает по знаниям модели, без обращения к поиску (эталон для сравнения или общие вопросы без данных компании).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379472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3516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Канвасные (governed)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3667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визуально сконструированный граф обработки на «канвасе». Проходят обязательное согласование дата-стюард → ИБ перед публикацией.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867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показывает список активных агентов (агент, тип, наличие canvas-flow) и отдельно — заявки текущего пользователя, ожидающие согласования.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1476120"/>
            <a:ext cx="6062472" cy="4273632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806440" y="165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КАНВАСНОГО АГЕНТА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2070480"/>
            <a:ext cx="420624" cy="420624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20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03390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на канвасе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конструктор графа обработки; редактирование существующего агента = новая версия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62472" y="2527680"/>
            <a:ext cx="0" cy="32004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2966592"/>
            <a:ext cx="420624" cy="42062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2966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9300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Дата-стюард (DS)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доменов данных, узлов и параметров агента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62472" y="3423792"/>
            <a:ext cx="0" cy="32004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862704"/>
            <a:ext cx="420624" cy="42062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0" y="3862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82612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безопасность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ревью перед публикацией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62472" y="4319904"/>
            <a:ext cx="0" cy="32004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4758816"/>
            <a:ext cx="420624" cy="420624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4758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722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Селектор чата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становится доступен для выбора в чате</a:t>
            </a:r>
            <a:endParaRPr lang="en-US" sz="125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77975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08352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найм нового сотрудника на испытательный срок: сначала «конструируют» его обязанности на схеме, потом куратор данных проверяет, что он делает разумные вещи, и только затем ИБ выдаёт окончательный допуск.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АДМ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«Администрирование» — три экрана, которые часто путают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(OpenMetadata)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identity пользователя (единый вход/SSO) плюс права на сам каталог данных.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3012338" cy="274320"/>
          </a:xfrm>
          <a:prstGeom prst="roundRect">
            <a:avLst>
              <a:gd name="adj" fmla="val 20000"/>
            </a:avLst>
          </a:prstGeom>
          <a:solidFill>
            <a:srgbClr val="1EC6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069080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SSO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38218" y="169164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1098" y="1874520"/>
            <a:ext cx="365760" cy="36576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109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23317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«Сотрудники ИБ»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/dlp/staff/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29718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может войти в саму админку («Рабочее место ИБ»). Роли: Оператор ИБ / Администратор ИБ.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1098" y="4069080"/>
            <a:ext cx="3012338" cy="274320"/>
          </a:xfrm>
          <a:prstGeom prst="roundRect">
            <a:avLst>
              <a:gd name="adj" fmla="val 20000"/>
            </a:avLst>
          </a:prstGeom>
          <a:solidFill>
            <a:srgbClr val="1EC6D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1098" y="4069080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 админку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27797" y="169164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10677" y="1874520"/>
            <a:ext cx="365760" cy="36576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10677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10677" y="23317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«Пользователи и доступ»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/dlp/users/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10677" y="2971800"/>
            <a:ext cx="31494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LLM-провайдеры и с каким лимитом токенов доступны пользователям чата. К доступу в админку отношения не имеет.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10677" y="4069080"/>
            <a:ext cx="3012338" cy="274320"/>
          </a:xfrm>
          <a:prstGeom prst="roundRect">
            <a:avLst>
              <a:gd name="adj" fmla="val 20000"/>
            </a:avLst>
          </a:prstGeom>
          <a:solidFill>
            <a:srgbClr val="1EC6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10677" y="4069080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LLM-провайдеры, лимиты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082186" y="2880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0"/>
                </a:solidFill>
              </a:rPr>
              <a:t>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871765" y="2880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0"/>
                </a:solidFill>
              </a:rPr>
              <a:t>≠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4800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АВТОСИНХРОНИЗАЦИИ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047488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Пользователь, заведённый в Каталоге, сам не появляется в «Пользователи и доступ» — его нужно завести отдельно, вручную. Роли складываются, а не взаимоисключают: возможна комбинация «Пользователь + Оператор ИБ». Перевод в администраторы — не пересоздание, а тумблер «Админ» на существующей карточке в Каталоге.</a:t>
            </a:r>
            <a:endParaRPr lang="en-US" sz="110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85716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600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как в офисе с несколькими похожими дверьми подряд: одна ведёт в кабинет «кто вообще может войти в саму админку», другая — в кабинет «кому что разрешено внутри чата»; дверь на вид та же, а комнаты за ней разные — частая причина путаницы.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МЕНЮ · БС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«База секретов» — коротко, детали в части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4415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верхнеуровневый раздел меню (не путать с «Источники → Документы») — админка векторной базы коммерческой тайны и настроек DLP-детекции (pii-shield / dlp-secret).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69748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Провайдеры моделей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7984" y="269748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19424" y="269748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добавление/поиск/тест чанков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7288" y="269748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78728" y="269748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Реранкинг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46591" y="269748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38031" y="269748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347472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47472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Блэклист из OpenMetadata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7984" y="347472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19424" y="347472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regex-паттерны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7288" y="347472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78728" y="347472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коллекцией Qdrant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46591" y="3474720"/>
            <a:ext cx="2476424" cy="640080"/>
          </a:xfrm>
          <a:prstGeom prst="roundRect">
            <a:avLst>
              <a:gd name="adj" fmla="val 12857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38031" y="3474720"/>
            <a:ext cx="2293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интеграции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34340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пункта меню без детального разбора: «Список документов», «Загрузить», «Загрузить блэклист».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5029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C6DE"/>
                </a:solidFill>
              </a:rPr>
              <a:t>→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6636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разбор — механизм PII Shield, три журнала аудита, сценарии инцидентов, соответствие ФСТЭК — в части 3 «Защита данных: PII Shield и DLP».</a:t>
            </a:r>
            <a:endParaRPr lang="en-US" sz="1200" dirty="0"/>
          </a:p>
        </p:txBody>
      </p:sp>
      <p:sp>
        <p:nvSpPr>
          <p:cNvPr id="9001" name="TextAnalogyLabel"/>
          <p:cNvSpPr txBox="1"/>
          <p:nvPr/>
        </p:nvSpPr>
        <p:spPr>
          <a:xfrm>
            <a:off x="548640" y="5857160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9002" name="TextAnalogyBody"/>
          <p:cNvSpPr txBox="1"/>
          <p:nvPr/>
        </p:nvSpPr>
        <p:spPr>
          <a:xfrm>
            <a:off x="548640" y="6060040"/>
            <a:ext cx="1109441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отдельный сейф в той же компании: не там же, где обычные документы, а специально для того, что нельзя показывать наружу — с отдельной охраной и отдельными правилами.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ФАКТ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инстанс обслуживает несколько бизнес-доменов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одновременно обслуживает несколько бизнес-доменов в одном инстансе — это не три разных развёртывания, а один и тот же продукт с разными данными и глоссариями внутри.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86813" y="2999232"/>
            <a:ext cx="438912" cy="438912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6813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56616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Брокерское / инвестиционное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429768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портфели, отчёты брокера, операции клиентов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8218" y="278892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76392" y="2999232"/>
            <a:ext cx="438912" cy="438912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76392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4522" y="356616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Охрана труда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84522" y="429768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регламенты, документы по ОТ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7797" y="278892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65970" y="2999232"/>
            <a:ext cx="438912" cy="438912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6597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4101" y="356616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риск и взыскание задолженности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4101" y="4297680"/>
            <a:ext cx="3222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RSK, RS-007, ECL, сценарии CRISIS/ADVERSE/MODERATE/BASE, Promise to Pay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следствие: термины и данные одного домена (например, глоссарий кредитного риска) не должны «протекать» в ответы по другому домену — за это отвечают домены/персоны (часть 4) и коллекции документов (слайд 7).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ФАКТ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Облачная модель в селекторе чата — вопрос периметра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335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" y="1837944"/>
            <a:ext cx="2277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в чате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258568"/>
            <a:ext cx="2277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Модель: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OpenAI/gpt-5.4 · veai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18790" y="2322576"/>
            <a:ext cx="246888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0" name="Shape 8"/>
          <p:cNvSpPr/>
          <p:nvPr/>
        </p:nvSpPr>
        <p:spPr>
          <a:xfrm>
            <a:off x="3402254" y="1691640"/>
            <a:ext cx="2533574" cy="1371600"/>
          </a:xfrm>
          <a:prstGeom prst="roundRect">
            <a:avLst>
              <a:gd name="adj" fmla="val 6000"/>
            </a:avLst>
          </a:prstGeom>
          <a:solidFill>
            <a:srgbClr val="1EC6DE"/>
          </a:solidFill>
          <a:ln w="12700">
            <a:solidFill>
              <a:srgbClr val="1EC6DE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30270" y="1837944"/>
            <a:ext cx="2277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30270" y="2258568"/>
            <a:ext cx="2277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защищённый шлюз: ФИО, суммы,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— обезличены на лету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72404" y="2322576"/>
            <a:ext cx="246888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5868" y="1691640"/>
            <a:ext cx="25335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83884" y="1837944"/>
            <a:ext cx="2277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облачная модель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83884" y="2258568"/>
            <a:ext cx="2277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уже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обезличенный текст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6017" y="2322576"/>
            <a:ext cx="246888" cy="109728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09481" y="1691640"/>
            <a:ext cx="253357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37497" y="1837944"/>
            <a:ext cx="2277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сотруднику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237497" y="2258568"/>
            <a:ext cx="2277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значения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восстановлены внутри контура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36454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566160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ТЗ: КРИТЕРИЙ №8 (ДАННЫЕ НЕ ПОКИДАЮТ ПЕРИМЕТР)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840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Обеспечивается не отсутствием внешнего вызова, а тем, что наружу уходит уже обезличенный текст — реальные значения остаются в контуре. Формально стоит сверить с буквальной формулировкой критерия №8, но сам механизм задокументирован и специфицирован тестовыми сценариями, а не является предположением.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F2F2F2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4672" y="4983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ЗНАЧИТ СУФФИКС «VEAI»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5230368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Суффикс, судя по всему, обозначает именно этот шлюз — упоминается в методических материалах как «AI Gateway» и партнёр «Veai», обеспечивающий биллинг обращений к иностранным LLM.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Глоссарий терминов интерфейса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609344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8366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документов с общими правами и назначением; обязательна на пути загрузки «В коллекцию»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33008" y="1536192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97600" y="1609344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188366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тематическая область данных; определяет фокус ответов (детали — часть 4)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340864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" y="2414016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688336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«роль», в которой работает пользователь; определяет видимый срез данных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2340864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97600" y="2414016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(дата-стюард)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7600" y="2688336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домены, узлы и параметры нового агента — первая стадия согласования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13232" y="3218688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Канвасный (governed) агент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493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с визуальным графом обработки, проходит согласование DS → ИБ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33008" y="3145536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97600" y="3218688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 (фрагмент)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97600" y="3493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документа после разбиения при индексации — единица, которую находит поиск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13232" y="402336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29768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распознанная категория вопроса — определяет, какая политика ранжирования сработает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33008" y="3950208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97600" y="402336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Реплан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429768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повторный поиск в другом источнике при низкой уверенности находки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13232" y="4828032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FQN (схема.таблица)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102352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имя таблицы БД — ключ для анализа схемы и графа доступа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33008" y="4754880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97600" y="4828032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 / Каталог (OpenMetadata)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97600" y="5102352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метаданных — источник identity/SSO и реестр сервисов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559552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13232" y="5632704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9070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защищённый шлюз: маскирует чувствительные данные перед вызовом внешней модели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33008" y="5559552"/>
            <a:ext cx="54100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397600" y="5632704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397600" y="59070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аварийный пароль входа в админку в обход единого входа (SSO/AD)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Экран → что делает → кто пользуется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5544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ПОЛЬЗУЕТСЯ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11094415" cy="0"/>
          </a:xfrm>
          <a:prstGeom prst="line">
            <a:avLst/>
          </a:prstGeom>
          <a:noFill/>
          <a:ln w="12700">
            <a:solidFill>
              <a:srgbClr val="3645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938528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938528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с RAG-агентом: вопрос → ответ со ссылкой на источник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938528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пользователи чата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27228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шаблоны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272284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Курируемые образцы ответов, recall по похожему вопросу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272284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/ аналитик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587752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606040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→ Документы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2606040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загруженных источников, статус индексации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606040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администратор (коллекции)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939796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2939796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модерации: предложения, агенты, статистика, очередь, промпты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939796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Куратор, DS, ИБ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255264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273552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детектора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3273552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детектора таблиц, чанкинг, range-роутер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273552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 / администратор платформы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607308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поиска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3607308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 чанков, планировщик/реплан, роутинг вопросов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607308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 / администратор платформы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922776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394106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сессий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017520" y="3941064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диалогов по инструментам/плану (не подключено в этом окружении)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941064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 поддержки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4274820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данными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274820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схем, графы процедур / код→таблица / доступа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274820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 данных, ИБ (доступ)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590288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4360" y="4608576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017520" y="4608576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OpenMetadata: identity/SSO, реестр сервисов, права на каталог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4608576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942332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017520" y="4942332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агентов на канвасе, согласование DS → ИБ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366760" y="4942332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Дата-стюард, ИБ, куратор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257800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94360" y="5276088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017520" y="5276088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ИБ, Пользователи и доступ (LLM, лимиты, ключи)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366760" y="5276088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ИБ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94360" y="560984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секретов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017520" y="5609844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DLP-детекция коммерческой тайны (pii-shield/dlp-secret)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366760" y="5609844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ИБ-аналитик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5925312"/>
            <a:ext cx="11094415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94360" y="5943600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017520" y="5943600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описан в базе знаний на момент составления курса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366760" y="5943600"/>
            <a:ext cx="32762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" y="6277356"/>
            <a:ext cx="11094415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ЧАСТИ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тезисы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ЧАСТЬ 2/5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134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Продукт, не просто модель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9864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 части 1 упакована в интерфейс: поиск в данных компании → ответ со ссылкой на источник.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1098" y="1783080"/>
            <a:ext cx="402336" cy="40233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109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23134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moderated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21098" y="289864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«Задачи» — конвейер human-in-the-loop: предложения, агенты, глоссарий — ничего не применяется автоматически.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0677" y="1783080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10677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10677" y="231343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поиска — настраиваемый рычаг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10677" y="289864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Роутинг, реплан и политики ранжирования калибруются на отдельных экранах, а не «зашиты» намертво.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206240"/>
            <a:ext cx="402336" cy="40233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7365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данным — готовый механизм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2180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доступа: row-фильтры и маски по персонам на уровне схема.таблица.колонка — не требует проектирования с нуля.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1098" y="4206240"/>
            <a:ext cx="402336" cy="402336"/>
          </a:xfrm>
          <a:prstGeom prst="ellipse">
            <a:avLst/>
          </a:prstGeom>
          <a:solidFill>
            <a:srgbClr val="1EC6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2109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21098" y="47365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экрана администрирования — разные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21098" y="532180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Сотрудники ИБ, Пользователи и доступ — легко перепутать; автосинхронизации между ними нет.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2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10677" y="4206240"/>
            <a:ext cx="402336" cy="40233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10677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10677" y="47365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Мультидомен и облачная модель — держать в фокусе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10677" y="5321808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бизнес-доменов в одном инстансе; облачная модель в чате — через AI Guard, сверить с ТЗ по периметру.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3191256" cy="310896"/>
          </a:xfrm>
          <a:prstGeom prst="roundRect">
            <a:avLst>
              <a:gd name="adj" fmla="val 17647"/>
            </a:avLst>
          </a:prstGeom>
          <a:solidFill>
            <a:srgbClr val="1EC6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515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ИЗ 5 · ДАЛЬШЕ В КУРСЕ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данных: PII Shield и DLP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показала «База секретов» и AI Guard лишь анонсом. Часть 3 раскрывает механизм защиты данных полностью.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29184" cy="329184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Shield и построчная фильтрация данных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67912"/>
            <a:ext cx="329184" cy="329184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8679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журнала аудита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30682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Regex-паттерны и семантическая проверка коммерческой тайны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45736"/>
            <a:ext cx="329184" cy="329184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7457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реагирования на инциденты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84648"/>
            <a:ext cx="329184" cy="329184"/>
          </a:xfrm>
          <a:prstGeom prst="ellipse">
            <a:avLst/>
          </a:prstGeom>
          <a:solidFill>
            <a:srgbClr val="3F4C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84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ФСТЭК №17/21, модель угроз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0" y="3429000"/>
            <a:ext cx="2496312" cy="2423160"/>
          </a:xfrm>
          <a:prstGeom prst="roundRect">
            <a:avLst>
              <a:gd name="adj" fmla="val 3396"/>
            </a:avLst>
          </a:prstGeom>
          <a:solidFill>
            <a:srgbClr val="3F4C57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35844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НАПОМИНАНИЕ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858768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1–2 уже пройдены: технология и продукт. Часть 3 — как продукт защищает данные при работе с внешними моделями и людьми.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27752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75224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2696" y="6172200"/>
            <a:ext cx="146304" cy="146304"/>
          </a:xfrm>
          <a:prstGeom prst="ellipse">
            <a:avLst/>
          </a:prstGeom>
          <a:solidFill>
            <a:srgbClr val="1EC6DE"/>
          </a:solidFill>
          <a:ln w="12700">
            <a:solidFill>
              <a:srgbClr val="1EC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0168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17640" y="6172200"/>
            <a:ext cx="146304" cy="146304"/>
          </a:xfrm>
          <a:prstGeom prst="ellipse">
            <a:avLst/>
          </a:prstGeom>
          <a:solidFill>
            <a:srgbClr val="2B343C"/>
          </a:solidFill>
          <a:ln w="12700">
            <a:solidFill>
              <a:srgbClr val="4C5A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4577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2026-08-28T19:54:44Z</dcterms:created>
  <dcterms:modified xsi:type="dcterms:W3CDTF">2026-08-28T19:54:44Z</dcterms:modified>
</cp:coreProperties>
</file>