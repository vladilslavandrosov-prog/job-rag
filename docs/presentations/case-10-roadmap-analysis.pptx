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B1C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B3B1C"/>
                </a:solidFill>
                <a:latin typeface="Cambria"/>
              </a:rPr>
              <a:t>Пункты по уровню уверенности и кварталу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Q4 2026</c:v>
                  </c:pt>
                  <c:pt idx="1">
                    <c:v>Q1 2027</c:v>
                  </c:pt>
                  <c:pt idx="2">
                    <c:v>Q2 2027</c:v>
                  </c:pt>
                  <c:pt idx="3">
                    <c:v>H2 2027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2E6B9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Q4 2026</c:v>
                  </c:pt>
                  <c:pt idx="1">
                    <c:v>Q1 2027</c:v>
                  </c:pt>
                  <c:pt idx="2">
                    <c:v>Q2 2027</c:v>
                  </c:pt>
                  <c:pt idx="3">
                    <c:v>H2 2027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5</c:v>
                </c:pt>
                <c:pt idx="2">
                  <c:v/>
                </c:pt>
                <c:pt idx="3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</c:v>
                </c:pt>
              </c:strCache>
            </c:strRef>
          </c:tx>
          <c:spPr>
            <a:solidFill>
              <a:srgbClr val="B8791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Q4 2026</c:v>
                  </c:pt>
                  <c:pt idx="1">
                    <c:v>Q1 2027</c:v>
                  </c:pt>
                  <c:pt idx="2">
                    <c:v>Q2 2027</c:v>
                  </c:pt>
                  <c:pt idx="3">
                    <c:v>H2 2027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6</c:v>
                </c:pt>
                <c:pt idx="2">
                  <c:v>6</c:v>
                </c:pt>
                <c:pt idx="3">
                  <c:v/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</c:v>
                </c:pt>
              </c:strCache>
            </c:strRef>
          </c:tx>
          <c:spPr>
            <a:solidFill>
              <a:srgbClr val="8C7F6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Q4 2026</c:v>
                  </c:pt>
                  <c:pt idx="1">
                    <c:v>Q1 2027</c:v>
                  </c:pt>
                  <c:pt idx="2">
                    <c:v>Q2 2027</c:v>
                  </c:pt>
                  <c:pt idx="3">
                    <c:v>H2 2027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9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229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Открывающий слайд. Это самостоятельная колода (не часть образовательной серии 5 кейсов) — разбирает vendor-роадмап Камераты построчно для команды пилота Д8. Ключевая рамка, которую нужно держать с первого слайда: документ описывает направление развития, а не план поставки — это прямо написано в преамбуле источника. Три оси внизу (Каталог/Надзор/Где) — это не деление вендора, а наша собственная аналитическая линза из case-10, вокруг неё построена вся колода.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Держим рамку: цель — не пересказ, а понимание архитектурной ставки вендора и её связи с известными пробелами пилота. Отдельно стоит подчеркнуть презентующему: сама скорость ответа (2 дня) — управленческий сигнал, его стоит явно упомянуть на встрече с Д8 как признак работающего канала коммуникации с вендором, вне зависимости от содержания самого роадмапа.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линий — это структура вендора, а не наша. Важно проговорить: нумерация сквозная и стабильная между редакциями, значит на конкретный код (например КАТ-3) можно ссылаться в переписке с вендором и через квартал — он не переименуется. Дальше в колоде эти же 6 линий используются как оси для группировки: Каталог и Надзор — оси 1 и 2, остальные четыре линии — ось 3 (где применимо).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Определения даны дословно по источнику (раздел «Степень уверенности»). Правая тёмная панель — не часть документа вендора, это наша визуализация, предвосхищающая вывод следующего слайда: уверенность обваливается с горизонтом. Полезно явно сказать аудитории, что буквы не являются оценкой качества идеи — С и D могут быть отличными направлениями, буква оценивает только степень готовности архитектуры и ресурса, а не ценность.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взяты из таблицы case-10 §1: Q4 2026 = 1A+10B+1C (12 пунктов), Q1 2027 = 5B+6C (11), Q2 2027 = 6C (6), H2 2027 = 6D (6), итого 35. Это единственная таблица во всей колоде, которую стоит показать целиком и медленно — она несёт главный тезис разбора. Практическое следствие для переговоров с Д8: если заказчик спросит про конкретную дату из Q2/H2 2027, корректный ответ — «это направление, не обязательство», а не пересказ таблицы как графика поставки.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одно из самых сильных мест документа для позиционирования продукта: суверенность гарантирована архитектурно, а не обещанием. На слайде 25 эта же мысль вернётся как готовый аргумент для продаж. Важно уточнить у аудитории: Д8 сейчас работает в каком контуре — если в изолированном, то весь список ИНТ-1/2/3 (почта) для них пока не актуален физически, а не только по готовности.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Ось 1 — первая из трёх параллельных архитектурных ставок roadmap (case-10 §2). Ключевая мысль этого слайда: КАТ-3 — это переломный пункт, именно он меняет саму природу ответа платформы с «правдоподобного текста по данным» на «значение из контролируемого показателя». КАТ-6 (Q1, уровень C) — первый случай, когда показатель уходит и во внешний BI, это расширение поверхности использования каталога за пределы диалогового интерфейса.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КАТ-8 (H2, уровень D) — важно подчеркнуть формулировку источника дословно: «с обязательным подтверждением человеком». Даже на самом дальнем и самом автономном по звучанию пункте всей линии Каталог вендор явно не убирает человека из цепочки. Это стоит явно связать со слайдом про Надзор (НАД-3, НАД-5) — оба направления сходятся к одному принципу контроля.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Ось 2 — вторая параллельная ставка (case-10 §2). НАД-1 (реестр доступов) стоит явно связать со слайдом 24 (пересечение с пилотом) — это прямой ответ на баг «слетают домен и персона», найденный в пилоте Д8: реестр должен делать такие рассинхронизации видимыми до того, как они дойдут до пользователя.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НАД-5 (Q2, уровень C) — 'сквозной след' восстановим только 'для определённого класса действий', не для всех операций поголовно; это важная деталь, если Д8 спросит про полноту аудита. НАД-6 (H2, уровень D) закрывает всю линию Надзор технически сильным, но пока чисто исследовательским пунктом.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Хранение — первая из четырёх зон оси 3 (case-10 §2, ось 3). Apache Iceberg — открытый табличный формат, не привязанный к вендору хранилища; сам переход не требует переписывания витрин (см. слайд «Совместимость»). Учёт стоимости расчёта в рублях (ХРН-3) — впервые платформа начинает явно считать деньги, а не только строки и токены.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Линия «Раб. места» целиком на уровне C/D — самая неопределённая и одновременно самая рискованная новая поверхность во всём документе (case-10 §4, второй watch-item). Важно: подпись MSI-пакета собственным ЦС заказчика (РМ-2) означает, что модель доверия здесь заново решается заказчиком — источник прямо говорит, что модель подписи в изолированном контуре требует отдельного решения (см. слайд «Q1 2027 — требования заказчика»). Рекомендация для команды: поднять вопрос о PII Shield/DLP/RLS для локального агента отдельным пунктом при следующем обсуждении с вендором, не дожидаясь Q1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Эксплуатация и Интеграции закрывают ось 3. ЭКС-7 (H2, уровень D) — явный прицел на холдинговые структуры, не только одно юрлицо, стоит отметить отдельно для Д8, если группа рассматривает мультиконтурное развёртывание в будущем. Линия Интеграции напрямую связана со слайдом 24 «Пересечение с пилотом»: ИНТ-1/ИНТ-2 — это ответ на уже известный пробел по работе с MS Office 365/IMAP, зафиксированный в трекере пилота (сценарий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пунктов квартала (case-10: 1A+10B+1C). Обратите внимание аудитории на формулировку из источника: согласование первых 20-30 показателей названо явно определяющим фактором сроков — это не техническая деталь, а управленческая зависимость, которую стоит поднять на встрече с бизнес-подразделениями Д8 заранее, а не в момент внедрения.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половина квартала: линии Каталог и Надзор, все 6 пунктов — уровень B (запланировано, ресурс определён). Это самый доверенный кластер во всём документе после единственного A (ХРН-1 на следующем слайде).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половина квартала. ХРН-1 — единственный A во всём документе. ИНТ-2 — единственный C в Q4 2026, потому что чтение почты как источника (в отличие от отправки писем) требует согласования с ИБ по каждому ящику — отсюда чуть меньшая определённость архитектуры на старте.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пунктов квартала (case-10: 5B+6C). Обратите внимание: впервые появляется явное указание, что часть архитектуры (модель подписи РМ-агента в изолированном контуре) — это открытый вопрос, требующий решения самого заказчика, а не вендора. Это стоит поднять заранее, если Д8 работает в изолированном контуре.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половина Q1 2027: 4 из 6 пунктов уже C (направление подтверждено, состав уточняется) — заметный сдвиг относительно почти сплошного B в Q4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половина Q1 2027 — 5 пунктов. Обратите внимание: вся линия «Раб. места» стартует сразу на уровне C, без промежуточного B — то есть новая поверхность появляется в документе сразу как направление, а не как оформленный план.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2027 — первый квартал документа, целиком состоящий из уровня C (case-10 §1 таблица). Это уже не смешанный горизонт, как Q1 2027, а полностью «направленческий»: обещать конкретные даты по любому из этих 6 пунктов заказчику — обещать больше, чем гарантирует сам источник.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список Q2 2027 — все 6 линий представлены (кроме Интеграций), все на уровне C. Хороший слайд, чтобы явно проговорить: 'направление подтверждено' — это позиция вендора, а не наша оценка вероятности; наша задача — не завышать её в глазах заказчика.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H2 2027 — целиком уровень D, самый дальний и неопределённый горизонт документа. Полезно напомнить формулировку из раздела 'Порядок пересмотра' источника: изменение состава пунктов уровня C и D не считается изменением обязательств — то есть вендор явно оставляет себе право пересобрать этот список без нарушения договорённостей.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политик совместимости из раздела источника. Полезны как аргумент в переговорах об условиях внедрения: обновления не ломают интерфейсы без квартального предупреждения, а офлайн-обновление в изолированном контуре не требует внешних сетей — согласуется с гарантией из слайда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'Границы продукта' источника, дословно пять пунктов. Кросс-ссылка на case-07-product-summary.md: этот же паттерн честности о границах уже отмечался как сильная сторона продукта. Хороший слайд для управления ожиданиями Д8 — можно сразу закрыть вопросы 'а заменит ли это наш BI/MDM/антифрод' одной картинкой.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прямых пересечения из case-10 §3 — самый практический слайд колоды для команды пилота. Формулировки пробелов взяты дословно из case-08-test-tracker-analiz.md. Важный нюанс по ХРН-1: конструктор витрин уже реализован (A), но источник case-10 явно отмечает, что он 'может со временем снять часть ручной работы, но пока не заменяет настройку прав доступа и семантики' — не стоит представлять его как готовое решение проблемы семантического слоя CRM+DWH уже сегодня.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watch-items из case-10 §4 дословно. Пятый пункт выделен цветом 'пилот' (cool blue-gray), так как это прямая рекомендация к действию команды, а не наблюдение о документе. Хорошее место для открытого вопроса аудитории: что из пяти приоритетнее поднять на ближайшей встрече с вендором.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Синтез всей колоды в шести тезисах — они умышленно повторяют структуру всей презентации (оси → уверенность → честность документа → риск раб.мест → пересечение с пилотом → продающие тезисы), чтобы служить самодостаточным конспектом для того, кто не видел остальные слайды.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Закрывающий слайд самостоятельной колоды — без анонса следующей части, без серийной нумерации. Финальная реплика для презентующего: главная задача разбора выполнена, если аудитория выходит с чётким пониманием того, что «Q4 2026 — план, Q1 2027 — почти план, Q2/H2 2027 — направление», и с тремя конкретными пунктами (ИНТ-1/2, НАД-1, ХРН-1) как первыми кандидатами на проверку в следующем контакте с вендором.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4023360" cy="4023360"/>
          </a:xfrm>
          <a:prstGeom prst="ellipse">
            <a:avLst/>
          </a:prstGeom>
          <a:solidFill>
            <a:srgbClr val="97BC62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КАМЕРАТА · ТЕХНИЧЕСКОЕ НАПРАВЛЕНИЕ РАЗВИТИЯ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 Камераты: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 как разрабатывает вендор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Q4 2026 – H2 2027  ·  редакция документа от 28.08.2026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разбор для команды пилота АО «Инвестиционная компания Д8»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24451F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516636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отвечено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548640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507492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24451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5166360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отвечено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548640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Надзор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507492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24451F"/>
          </a:solidFill>
          <a:ln w="15875">
            <a:solidFill>
              <a:srgbClr val="6E8C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16752" y="5166360"/>
            <a:ext cx="4425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применимо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016752" y="5486400"/>
            <a:ext cx="4425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· Раб.места · Эксплуатация · Интеграции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РАЗБОРА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этот разбор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6537960" cy="4480560"/>
          </a:xfrm>
          <a:prstGeom prst="roundRect">
            <a:avLst>
              <a:gd name="adj" fmla="val 2041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Понять, что вендор реально планирует построить — а не просто пересказать таблицу пунктов.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пунктов документа сгруппированы в 6 линий и 4 горизонта — сама по себе таблица не объясняет, к чему вендор идёт.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в колоде читаем документ по трём осям: доверие к тому, ЧТО отвечено; доверие к тому, КАК это получено; и ГДЕ платформу вообще можно применять.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Каждому пункту присвоен уровень уверенности A–D — цель разбора в том, чтобы явно показать, где твёрдый план, а где гипотеза.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отдельно — свести роадмап с тем, что мы уже видели как открытые пробелы в пилоте Д8.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0" y="1508760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EAF2E4"/>
          </a:solidFill>
          <a:ln w="12700">
            <a:solidFill>
              <a:srgbClr val="5F7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0" y="17373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ХОРОШИЙ ЗНАК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0574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Этот документ — прямой ответ на пункт №36 журнала замечаний пилота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589520" y="2926080"/>
            <a:ext cx="3794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8E2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0" y="30632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26.08.2026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запись №36: «Отправить road map по доработкам»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28.08.2026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документ получен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452628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связь пришла через 2 дня — это первое прямое свидетельство, что вопросы из трекера доходят до продуктовой команды, а не остаются без ответа.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ДОКУМЕНТА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читать документ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76479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764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Каталог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258568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показателей и семантический слой над данными.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6002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3984" y="176479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43984" y="1764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Надзор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2258568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действий агентов, происхождение данных и аудит.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55864" y="160020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0456" y="1764792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0456" y="17647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07424" y="17556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Хранение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0456" y="2258568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Хранилище, витрины, обслуживание таблиц и стоимость расчётов.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456432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362102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" y="36210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36118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Раб. места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" y="411480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на рабочей станции пользователя.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9392" y="3456432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43984" y="362102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43984" y="36210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30952" y="36118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Эксплуатация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443984" y="411480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Поставка, установка, обновление и сопровождение.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55864" y="3456432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0456" y="3621024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0456" y="362102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ИНТ-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107424" y="36118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Интеграции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20456" y="4114800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внешних источников и каналов доставки результата.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5193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Сквозная нумерация пунктов (КАТ-1, НАД-1 …) стабильна между редакциями документа — на неё можно ссылаться при обсуждении внедрения.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ЧИТАТЬ УРОВНИ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Степень уверенности: A / B / C / 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7040880" cy="841248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922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Реализовано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0253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продукте, в указанном квартале выходит на стенды заказчиков.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551176"/>
            <a:ext cx="7040880" cy="841248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6B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426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Запланировано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9535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ресурс определены.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502152"/>
            <a:ext cx="7040880" cy="841248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941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B879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93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Направление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0448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Архитектурное решение подтверждено, состав уточняется.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453128"/>
            <a:ext cx="7040880" cy="841248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6451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8C7F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544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Исследование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85546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Исследовательский горизонт, состав ориентировочный.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1600200"/>
            <a:ext cx="3794760" cy="4206240"/>
          </a:xfrm>
          <a:prstGeom prst="roundRect">
            <a:avLst>
              <a:gd name="adj" fmla="val 2410"/>
            </a:avLst>
          </a:prstGeom>
          <a:solidFill>
            <a:srgbClr val="1B3B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38160" y="1783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ФАКТА К ГИПОТЕЗЕ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2286000"/>
            <a:ext cx="811530" cy="7772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8949690" y="2286000"/>
            <a:ext cx="811530" cy="777240"/>
          </a:xfrm>
          <a:prstGeom prst="rect">
            <a:avLst/>
          </a:prstGeom>
          <a:solidFill>
            <a:srgbClr val="3E7057"/>
          </a:solidFill>
          <a:ln/>
        </p:spPr>
      </p:sp>
      <p:sp>
        <p:nvSpPr>
          <p:cNvPr id="28" name="Shape 26"/>
          <p:cNvSpPr/>
          <p:nvPr/>
        </p:nvSpPr>
        <p:spPr>
          <a:xfrm>
            <a:off x="9761220" y="2286000"/>
            <a:ext cx="811530" cy="777240"/>
          </a:xfrm>
          <a:prstGeom prst="rect">
            <a:avLst/>
          </a:prstGeom>
          <a:solidFill>
            <a:srgbClr val="8E7A4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72750" y="2286000"/>
            <a:ext cx="811530" cy="777240"/>
          </a:xfrm>
          <a:prstGeom prst="rect">
            <a:avLst/>
          </a:prstGeom>
          <a:solidFill>
            <a:srgbClr val="8C7F6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38160" y="3118104"/>
            <a:ext cx="811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949690" y="3118104"/>
            <a:ext cx="811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761220" y="3118104"/>
            <a:ext cx="811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572750" y="3118104"/>
            <a:ext cx="811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E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34290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здесь видно направление: чем дальше горизонт, тем реже встречается «A» и «B» и тем чаще — «C» и «D». Следующий слайд показывает это по кварталам.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ВЫВОД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Уверенность обваливается с горизонтом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63093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554480"/>
            <a:ext cx="4572000" cy="1874520"/>
          </a:xfrm>
          <a:prstGeom prst="roundRect">
            <a:avLst>
              <a:gd name="adj" fmla="val 3902"/>
            </a:avLst>
          </a:prstGeom>
          <a:solidFill>
            <a:srgbClr val="FCEFD8"/>
          </a:solidFill>
          <a:ln w="12700">
            <a:solidFill>
              <a:srgbClr val="B8791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0" y="17007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A5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19659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6E4A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«Всё дальше Q1 2027 — не план, а гипотеза о направлении»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86600" y="3611880"/>
            <a:ext cx="4572000" cy="2103120"/>
          </a:xfrm>
          <a:prstGeom prst="roundRect">
            <a:avLst>
              <a:gd name="adj" fmla="val 3913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69480" y="3785616"/>
            <a:ext cx="384048" cy="329184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269480" y="37764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3749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Единственный пункт уровня A во всём документе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42519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ХРН-1 — конструктор витрин без кода. Уже реализован в продукте, в Q4 2026 выходит на стенды заказчиков. Всё остальное в документе — план (B), направление (C) или гипотеза (D).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Режимы развёртывания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5F5F5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ИЗОЛИРОВАННЫЙ КОНТУР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67128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обращений во внешние сети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Собственная плоскость инференса, локальные модели эмбеддингов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Обновления — офлайн-образами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Маскирование и контроль доступа на стороне заказчика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F5F5F5"/>
          </a:solidFill>
          <a:ln w="15875">
            <a:solidFill>
              <a:srgbClr val="5F7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7830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ПОДКЛЮЧЁННЫЙ КОНТУР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167128"/>
            <a:ext cx="48463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Дополнительно разрешены интеграции с внешними сервисами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почта, объектные хранилища, каталоги предприятия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интеграция включается явно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строго в границах выданных ей прав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512064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EAF2E4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239512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ГАРАНТИЯ, СОХРАНЯЮЩАЯСЯ В ОБОИХ РЕЖИМАХ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504688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элемент базового функционала — каталог показателей, надзор за агентами, витрины, аудит — не требует внешних вызовов. Заказчик в изолированном контуре не теряет функциональности: он теряет только сами внешние интеграции.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1 — ДОВЕРИЕ К ЧТО ОТВЕЧЕНО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Линия «Каталог»: от свободного SQL к согласованному показателю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агент отвечает, генерируя SQL или находя фрагмент документа «на лету». Roadmap методично уводит от этого — к ответу из заранее согласованного и версионируемого показателя.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3246120" cy="3977640"/>
          </a:xfrm>
          <a:prstGeom prst="roundRect">
            <a:avLst>
              <a:gd name="adj" fmla="val 2535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0"/>
            <a:ext cx="3246120" cy="365760"/>
          </a:xfrm>
          <a:prstGeom prst="roundRect">
            <a:avLst>
              <a:gd name="adj" fmla="val 22500"/>
            </a:avLst>
          </a:prstGeom>
          <a:solidFill>
            <a:srgbClr val="1B3B1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94560"/>
            <a:ext cx="3246120" cy="182880"/>
          </a:xfrm>
          <a:prstGeom prst="rect">
            <a:avLst/>
          </a:prstGeom>
          <a:solidFill>
            <a:srgbClr val="1B3B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011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" y="2487168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" y="24780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24597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" y="2724912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как объект каталога: формула, гранулярность, фильтры, владелец.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30936" y="3383280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" y="337413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335584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КАТ-2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" y="3621024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Наполнение каталога из бизнес-глоссария КХД заказчика.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30936" y="4279392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" y="42702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4251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КАТ-3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" y="451713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из каталога: вопрос разрешается в показатель, а не в SQL; расхождение фиксируется явно.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3886200" y="3835908"/>
            <a:ext cx="502920" cy="32918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2011680"/>
            <a:ext cx="3246120" cy="3977640"/>
          </a:xfrm>
          <a:prstGeom prst="roundRect">
            <a:avLst>
              <a:gd name="adj" fmla="val 2535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2011680"/>
            <a:ext cx="3246120" cy="365760"/>
          </a:xfrm>
          <a:prstGeom prst="roundRect">
            <a:avLst>
              <a:gd name="adj" fmla="val 22500"/>
            </a:avLst>
          </a:prstGeom>
          <a:solidFill>
            <a:srgbClr val="1B3B1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2194560"/>
            <a:ext cx="3246120" cy="182880"/>
          </a:xfrm>
          <a:prstGeom prst="rect">
            <a:avLst/>
          </a:prstGeom>
          <a:solidFill>
            <a:srgbClr val="1B3B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26280" y="2011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54296" y="2487168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54296" y="24780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38344" y="24597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КАТ-4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654296" y="2724912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витрины: назначение, состав, владелец, регламент обновления.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4654296" y="3383280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654296" y="337413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038344" y="335584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КАТ-5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654296" y="3621024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данных: нарушение схемы/качества выявляется до загрузки.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4654296" y="4279392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654296" y="42702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38344" y="4251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КАТ-6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654296" y="451713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показателей во внешние потребители — в диалоге и в BI.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7909560" y="3835908"/>
            <a:ext cx="502920" cy="32918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39" name="Shape 37"/>
          <p:cNvSpPr/>
          <p:nvPr/>
        </p:nvSpPr>
        <p:spPr>
          <a:xfrm>
            <a:off x="8549640" y="2011680"/>
            <a:ext cx="3246120" cy="3977640"/>
          </a:xfrm>
          <a:prstGeom prst="roundRect">
            <a:avLst>
              <a:gd name="adj" fmla="val 2535"/>
            </a:avLst>
          </a:prstGeom>
          <a:solidFill>
            <a:srgbClr val="EAF2E4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32520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 ЭТОГО ЭТАПА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8732520" y="2514600"/>
            <a:ext cx="2880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перестаёт быть SQL-запросом «на лету» и становится версионируемым объектом с владельцем и паспортом — а расхождение с ожидаемым значением фиксируется явно, а не тонет в тексте ответа.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1 — ДОВЕРИЕ К ЧТО ОТВЕЧЕНО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Линия «Каталог»: горизонт Q2–H2 2027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3520440" cy="365760"/>
          </a:xfrm>
          <a:prstGeom prst="roundRect">
            <a:avLst>
              <a:gd name="adj" fmla="val 22500"/>
            </a:avLst>
          </a:prstGeom>
          <a:solidFill>
            <a:srgbClr val="1B3B1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920240"/>
            <a:ext cx="3520440" cy="182880"/>
          </a:xfrm>
          <a:prstGeom prst="rect">
            <a:avLst/>
          </a:prstGeom>
          <a:solidFill>
            <a:srgbClr val="1B3B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737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" y="2212848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" y="220370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14984" y="21854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КАТ-7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30936" y="245059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покрытия показателями по доменам данных; связь показателя с ценой его расчёта.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4206240" y="3561588"/>
            <a:ext cx="548640" cy="32918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73736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737360"/>
            <a:ext cx="3520440" cy="365760"/>
          </a:xfrm>
          <a:prstGeom prst="roundRect">
            <a:avLst>
              <a:gd name="adj" fmla="val 22500"/>
            </a:avLst>
          </a:prstGeom>
          <a:solidFill>
            <a:srgbClr val="1B3B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920240"/>
            <a:ext cx="3520440" cy="182880"/>
          </a:xfrm>
          <a:prstGeom prst="rect">
            <a:avLst/>
          </a:prstGeom>
          <a:solidFill>
            <a:srgbClr val="1B3B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1737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2027 (исследование)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65776" y="2212848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8C7F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65776" y="220370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49824" y="21854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КАТ-8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65776" y="245059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 стюарда данных: предложения описаний и правил качества.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5065776" y="3108960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8C7F6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065776" y="309981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49824" y="308152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КАТ-9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065776" y="3346704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Графовое представление связей между показателями, витринами и источниками.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8641080" y="3561588"/>
            <a:ext cx="548640" cy="32918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6" name="Shape 24"/>
          <p:cNvSpPr/>
          <p:nvPr/>
        </p:nvSpPr>
        <p:spPr>
          <a:xfrm>
            <a:off x="9372600" y="1737360"/>
            <a:ext cx="2316175" cy="3977640"/>
          </a:xfrm>
          <a:prstGeom prst="roundRect">
            <a:avLst>
              <a:gd name="adj" fmla="val 3553"/>
            </a:avLst>
          </a:prstGeom>
          <a:solidFill>
            <a:srgbClr val="E7ECF0"/>
          </a:solidFill>
          <a:ln w="15875">
            <a:solidFill>
              <a:srgbClr val="5C7A9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37192" y="1920240"/>
            <a:ext cx="19869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C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ВАЖНАЯ ОГОВОРКА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537192" y="2212848"/>
            <a:ext cx="1986991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автономный помощник стюарда (КАТ-8) не подписывает правила сам: требуется обязательное подтверждение человеком. Это тот же принцип human-in-the-loop, что и в линии «Надзор».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2 — ДОВЕРИЕ К КАК ОТВЕЧЕНО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Линия «Надзор»: от наблюдаемости к подотчётности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Параллельно строится слой наблюдаемости за самими агентами — не просто логирование действий, а прослеживаемое и неопровержимое поведение.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3246120" cy="3977640"/>
          </a:xfrm>
          <a:prstGeom prst="roundRect">
            <a:avLst>
              <a:gd name="adj" fmla="val 2535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011680"/>
            <a:ext cx="3246120" cy="365760"/>
          </a:xfrm>
          <a:prstGeom prst="roundRect">
            <a:avLst>
              <a:gd name="adj" fmla="val 22500"/>
            </a:avLst>
          </a:prstGeom>
          <a:solidFill>
            <a:srgbClr val="1B3B1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94560"/>
            <a:ext cx="3246120" cy="182880"/>
          </a:xfrm>
          <a:prstGeom prst="rect">
            <a:avLst/>
          </a:prstGeom>
          <a:solidFill>
            <a:srgbClr val="1B3B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011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" y="2487168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" y="24780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24597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НАД-1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" y="2724912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доступов агентов: какой агент, к каким источникам и с какой моделью работает.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630936" y="3383280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" y="3374136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335584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НАД-2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" y="3621024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«создано моделью» у производных данных, наследуемый по цепочке.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30936" y="4279392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" y="42702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4251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НАД-3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" y="451713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Контур подтверждения: операции класса — только после явного согласия оператора.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3886200" y="3835908"/>
            <a:ext cx="502920" cy="32918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26280" y="2011680"/>
            <a:ext cx="3246120" cy="3977640"/>
          </a:xfrm>
          <a:prstGeom prst="roundRect">
            <a:avLst>
              <a:gd name="adj" fmla="val 2535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2011680"/>
            <a:ext cx="3246120" cy="365760"/>
          </a:xfrm>
          <a:prstGeom prst="roundRect">
            <a:avLst>
              <a:gd name="adj" fmla="val 22500"/>
            </a:avLst>
          </a:prstGeom>
          <a:solidFill>
            <a:srgbClr val="1B3B1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2194560"/>
            <a:ext cx="3246120" cy="182880"/>
          </a:xfrm>
          <a:prstGeom prst="rect">
            <a:avLst/>
          </a:prstGeom>
          <a:solidFill>
            <a:srgbClr val="1B3B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26280" y="2011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54296" y="2487168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54296" y="24780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38344" y="24597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НАД-4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654296" y="2724912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аудита на инструменты и вызовы, выполняемые агентом внутри контура.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7909560" y="3835908"/>
            <a:ext cx="502920" cy="32918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31" name="Shape 29"/>
          <p:cNvSpPr/>
          <p:nvPr/>
        </p:nvSpPr>
        <p:spPr>
          <a:xfrm>
            <a:off x="8549640" y="2011680"/>
            <a:ext cx="3246120" cy="3977640"/>
          </a:xfrm>
          <a:prstGeom prst="roundRect">
            <a:avLst>
              <a:gd name="adj" fmla="val 2535"/>
            </a:avLst>
          </a:prstGeom>
          <a:solidFill>
            <a:srgbClr val="EAF2E4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32520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 ЭТОГО ЭТАПА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2514600"/>
            <a:ext cx="2880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ответ на вопрос ИБ «а что если агент сделал что-то не то и это потом нужно доказать» — состав агентов, их доступы и производные данные становятся видимыми и атрибутируемыми.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2 — ДОВЕРИЕ К КАК ОТВЕЧЕНО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Линия «Надзор»: горизонт Q2–H2 2027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3520440" cy="365760"/>
          </a:xfrm>
          <a:prstGeom prst="roundRect">
            <a:avLst>
              <a:gd name="adj" fmla="val 22500"/>
            </a:avLst>
          </a:prstGeom>
          <a:solidFill>
            <a:srgbClr val="1B3B1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920240"/>
            <a:ext cx="3520440" cy="182880"/>
          </a:xfrm>
          <a:prstGeom prst="rect">
            <a:avLst/>
          </a:prstGeom>
          <a:solidFill>
            <a:srgbClr val="1B3B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737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" y="2212848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" y="220370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14984" y="21854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НАД-5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30936" y="245059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след: вопрос → инструменты → данные → модель → ответ, восстановимый для класса действий.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4206240" y="3561588"/>
            <a:ext cx="548640" cy="32918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737360"/>
            <a:ext cx="3520440" cy="3977640"/>
          </a:xfrm>
          <a:prstGeom prst="roundRect">
            <a:avLst>
              <a:gd name="adj" fmla="val 2338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737360"/>
            <a:ext cx="3520440" cy="365760"/>
          </a:xfrm>
          <a:prstGeom prst="roundRect">
            <a:avLst>
              <a:gd name="adj" fmla="val 22500"/>
            </a:avLst>
          </a:prstGeom>
          <a:solidFill>
            <a:srgbClr val="1B3B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920240"/>
            <a:ext cx="3520440" cy="182880"/>
          </a:xfrm>
          <a:prstGeom prst="rect">
            <a:avLst/>
          </a:prstGeom>
          <a:solidFill>
            <a:srgbClr val="1B3B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1737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2027 (исследование)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65776" y="2212848"/>
            <a:ext cx="310896" cy="256032"/>
          </a:xfrm>
          <a:prstGeom prst="roundRect">
            <a:avLst>
              <a:gd name="adj" fmla="val 21429"/>
            </a:avLst>
          </a:prstGeom>
          <a:solidFill>
            <a:srgbClr val="8C7F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65776" y="220370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49824" y="218541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НАД-6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65776" y="245059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7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журнала аудита от изменения задним числом: хэш-цепочка записей.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641080" y="3561588"/>
            <a:ext cx="548640" cy="329184"/>
          </a:xfrm>
          <a:prstGeom prst="rightArrow">
            <a:avLst/>
          </a:pr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9372600" y="1737360"/>
            <a:ext cx="2316175" cy="3977640"/>
          </a:xfrm>
          <a:prstGeom prst="roundRect">
            <a:avLst>
              <a:gd name="adj" fmla="val 3553"/>
            </a:avLst>
          </a:prstGeom>
          <a:solidFill>
            <a:srgbClr val="EAF2E4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37192" y="1920240"/>
            <a:ext cx="19869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 БЛОКЧЕЙНЕ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537192" y="2212848"/>
            <a:ext cx="1986991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НАД-6 связывает записи журнала аудита хэш-цепочкой — тот же принцип неизменности, что в блокчейне. Финальная точка линии: поведение агентов не просто логируется, а доказуемо не подделано задним числом.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3 — ГДЕ ЭТО МОЖНО ИСПОЛЬЗОВАТЬ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Зона «Хранение»: от расчёта к его стоимости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Третья ось расширяет поверхность применения платформы за пределы сегодняшнего единого серверного контура — по четырём направлениям. Начинаем с хранения.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0" y="209397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20848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20574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ХРН-1  ·  Q4 2026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" y="2368296"/>
            <a:ext cx="33192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оркестрация расчётов; конструктор витрин — сборка без ручного кода.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52360" y="209397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52360" y="20848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20574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ХРН-2  ·  Q1 2027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2368296"/>
            <a:ext cx="33192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Apache Iceberg: чтение, запись, обслуживание таблиц.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92440" y="19659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247120" y="209397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247120" y="20848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0574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ХРН-3  ·  Q1 2027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38744" y="2368296"/>
            <a:ext cx="33192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потребления ресурсов на уровне прогона в денежной стоимости.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0" y="369417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57600" y="36850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" y="3657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ХРН-4  ·  Q2 2027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" y="3968496"/>
            <a:ext cx="33192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обслуживания Iceberg: компакция, ретеншн, эволюция схемы.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3566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52360" y="369417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52360" y="36850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443984" y="3657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ХРН-5  ·  Q2 2027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443984" y="3968496"/>
            <a:ext cx="33192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владения витриной за период, сопоставленная с эффектом.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92440" y="3566160"/>
            <a:ext cx="3611880" cy="1417320"/>
          </a:xfrm>
          <a:prstGeom prst="roundRect">
            <a:avLst>
              <a:gd name="adj" fmla="val 4516"/>
            </a:avLst>
          </a:prstGeom>
          <a:solidFill>
            <a:srgbClr val="DCD5C2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1247120" y="369417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8C7F6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1247120" y="36850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3657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ХРН-6  ·  H2 2027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238744" y="3968496"/>
            <a:ext cx="331927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Распределённая модель владения данными между подразделениями группы.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51206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линии: открытый формат хранения (не привязанный к вендору) + явная стоимость расчёта в рублях + к H2 2027 — распределённое владение данными между подразделениями группы.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3 — ГДЕ ЭТО МОЖНО ИСПОЛЬЗОВАТЬ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Зона «Рабочие места»: новая поверхность — и новый периметр риска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0" y="181965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0" y="181051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17830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РМ-1  ·  Q1 2027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2093976"/>
            <a:ext cx="4965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Служба чтения локальных файлов (Windows, macOS) с явной моделью запретов.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16916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789920" y="181965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0" y="181051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135624" y="17830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РМ-2  ·  Q1 2027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35624" y="2093976"/>
            <a:ext cx="4965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пакетом MSI, подпись корпоративным ЦС заказчика, управление через GPO.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2918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341985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0" y="341071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" y="33832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РМ-3  ·  Q2 2027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" y="3694176"/>
            <a:ext cx="4965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сценариев работы с локальным контекстом пользователя.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3291840"/>
            <a:ext cx="5257800" cy="1417320"/>
          </a:xfrm>
          <a:prstGeom prst="roundRect">
            <a:avLst>
              <a:gd name="adj" fmla="val 4516"/>
            </a:avLst>
          </a:prstGeom>
          <a:solidFill>
            <a:srgbClr val="DCD5C2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789920" y="341985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8C7F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789920" y="341071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35624" y="33832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РМ-4  ·  H2 2027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135624" y="3694176"/>
            <a:ext cx="4965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Дальнейшие фазы агента рабочего места.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89204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FCEFD8"/>
          </a:solidFill>
          <a:ln w="12700">
            <a:solidFill>
              <a:srgbClr val="B879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29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5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ПЕРИМЕТР РИСКА — ДЕРЖАТЬ В ФОКУСЕ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4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Впервые платформа выходит за пределы серверного контура на компьютер конечного пользователя. Документ не говорит, применяются ли к тому, что читает локальный агент, уже принятые политики маскирования и контроля доступа (PII Shield, DLP, RLS) — это принципиально другой периметр риска, чем серверный чат.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ОСЬ 3 — ГДЕ ЭТО МОЖНО ИСПОЛЬЗОВАТЬ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Зоны «Эксплуатация» и «Интеграции»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394960" cy="411480"/>
          </a:xfrm>
          <a:prstGeom prst="roundRect">
            <a:avLst>
              <a:gd name="adj" fmla="val 17778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ЭКСПЛУАТАЦИЯ — К «ПОД КЛЮЧ»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" y="2130552"/>
            <a:ext cx="292608" cy="237744"/>
          </a:xfrm>
          <a:prstGeom prst="roundRect">
            <a:avLst>
              <a:gd name="adj" fmla="val 23077"/>
            </a:avLst>
          </a:prstGeom>
          <a:solidFill>
            <a:srgbClr val="2E6B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12648" y="212140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1031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ЭКС-1 (Q4)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3408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Воспроизводимые офлайн-образы поставки; фиксированный состав компонентов версии.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612648" y="2665476"/>
            <a:ext cx="292608" cy="237744"/>
          </a:xfrm>
          <a:prstGeom prst="roundRect">
            <a:avLst>
              <a:gd name="adj" fmla="val 23077"/>
            </a:avLst>
          </a:prstGeom>
          <a:solidFill>
            <a:srgbClr val="2E6B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" y="265633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78408" y="26380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ЭКС-2 (Q4)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" y="28757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интерфейса под фирменный стиль заказчика.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612648" y="3200400"/>
            <a:ext cx="292608" cy="237744"/>
          </a:xfrm>
          <a:prstGeom prst="roundRect">
            <a:avLst>
              <a:gd name="adj" fmla="val 23077"/>
            </a:avLst>
          </a:prstGeom>
          <a:solidFill>
            <a:srgbClr val="2E6B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" y="319125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78408" y="31729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ЭКС-3 (Q4)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34107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Настраиваемые оповещения о качестве данных и состоянии расчётов.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612648" y="3735324"/>
            <a:ext cx="292608" cy="237744"/>
          </a:xfrm>
          <a:prstGeom prst="roundRect">
            <a:avLst>
              <a:gd name="adj" fmla="val 23077"/>
            </a:avLst>
          </a:prstGeom>
          <a:solidFill>
            <a:srgbClr val="2E6B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2648" y="37261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78408" y="37078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ЭКС-4 (Q1)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39456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«под ключ»: единый установщик, контроль лицензии, проверка окружения.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12648" y="4270248"/>
            <a:ext cx="292608" cy="237744"/>
          </a:xfrm>
          <a:prstGeom prst="roundRect">
            <a:avLst>
              <a:gd name="adj" fmla="val 23077"/>
            </a:avLst>
          </a:prstGeom>
          <a:solidFill>
            <a:srgbClr val="B879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2648" y="426110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78408" y="42428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ЭКС-5 (Q1)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12648" y="4480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состояния платформы через диалог: статус, разбор сбоя расчёта.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612648" y="4805172"/>
            <a:ext cx="292608" cy="237744"/>
          </a:xfrm>
          <a:prstGeom prst="roundRect">
            <a:avLst>
              <a:gd name="adj" fmla="val 23077"/>
            </a:avLst>
          </a:prstGeom>
          <a:solidFill>
            <a:srgbClr val="B8791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2648" y="47960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78408" y="47777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ЭКС-6 (Q2)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" y="50154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предложение правил контроля качества по профилю данных.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612648" y="5340096"/>
            <a:ext cx="292608" cy="237744"/>
          </a:xfrm>
          <a:prstGeom prst="roundRect">
            <a:avLst>
              <a:gd name="adj" fmla="val 23077"/>
            </a:avLst>
          </a:prstGeom>
          <a:solidFill>
            <a:srgbClr val="8C7F6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2648" y="533095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78408" y="53126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ЭКС-7 (H2)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12648" y="55504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 нескольких изолированных контуров одной установкой (холдинги).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6217920" y="1600200"/>
            <a:ext cx="5394960" cy="411480"/>
          </a:xfrm>
          <a:prstGeom prst="roundRect">
            <a:avLst>
              <a:gd name="adj" fmla="val 17778"/>
            </a:avLst>
          </a:prstGeom>
          <a:solidFill>
            <a:srgbClr val="5F7F3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217920" y="16002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— ПОЧТА КАК КАНАЛ И ИСТОЧНИК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2167128"/>
            <a:ext cx="5394960" cy="1170432"/>
          </a:xfrm>
          <a:prstGeom prst="roundRect">
            <a:avLst>
              <a:gd name="adj" fmla="val 5469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155680" y="229514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1155680" y="228600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364224" y="2258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ИНТ-1  ·  Q4 2026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364224" y="2569464"/>
            <a:ext cx="5102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 отчётов и оповещений в почту: Microsoft 365 / Exchange, SMTP-релей.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17920" y="3465576"/>
            <a:ext cx="5394960" cy="1170432"/>
          </a:xfrm>
          <a:prstGeom prst="roundRect">
            <a:avLst>
              <a:gd name="adj" fmla="val 5469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1155680" y="3593592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1155680" y="358444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364224" y="3557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ИНТ-2  ·  Q4 2026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364224" y="3867912"/>
            <a:ext cx="5102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выделенных ящиков и папок как источника данных (Graph, IMAP). Область доступа — явный перечень.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17920" y="4764024"/>
            <a:ext cx="5394960" cy="1170432"/>
          </a:xfrm>
          <a:prstGeom prst="roundRect">
            <a:avLst>
              <a:gd name="adj" fmla="val 5469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1155680" y="4892040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1155680" y="488289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364224" y="4855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ИНТ-3  ·  Q1 2027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364224" y="5166360"/>
            <a:ext cx="5102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Политики доступа и маскирования распространяются на почтовые источники; ящики учитываются в реестре доступов (НАД-1).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217920" y="6080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линия, начинающаяся не с внутренней инфраструктуры, а с конкретного внешнего канала.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 — согласованные показатели и контроль над агентами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960120"/>
          </a:xfrm>
          <a:prstGeom prst="roundRect">
            <a:avLst>
              <a:gd name="adj" fmla="val 8571"/>
            </a:avLst>
          </a:prstGeom>
          <a:solidFill>
            <a:srgbClr val="EAF2E4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Квартал закрывает два вопроса: ответ по данным начинает считаться по утверждённой формуле из каталога, а состав агентов, моделей и их доступов становится наблюдаемым. Параллельно открывается линия интеграций — корпоративная почта как канал доставки и как источник содержания.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ПОТРЕБУЕТСЯ СО СТОРОНЫ ЗАКАЗЧИКА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2916936"/>
            <a:ext cx="6601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 Kubernetes согласованной версии, доступ к источникам КХД, ресурсы под инференс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584448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" y="3483864"/>
            <a:ext cx="6601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Назначенный владелец каталога показателей со стороны заказчика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151376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" y="4050792"/>
            <a:ext cx="6601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первых 20–30 показателей с бизнес-подразделениями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718304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8952" y="4617720"/>
            <a:ext cx="6601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о периоде удержания журналов аудита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5285232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8952" y="5184648"/>
            <a:ext cx="6601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ID: регистрация приложения с правами на выделенные ящики + учётная запись SMTP-релея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5852160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" y="5751576"/>
            <a:ext cx="6601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Перечень почтовых ящиков/папок и согласование обработки переписки со службой ИБ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18120" y="2606040"/>
            <a:ext cx="3840480" cy="3703320"/>
          </a:xfrm>
          <a:prstGeom prst="roundRect">
            <a:avLst>
              <a:gd name="adj" fmla="val 2469"/>
            </a:avLst>
          </a:prstGeom>
          <a:solidFill>
            <a:srgbClr val="1B3B1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92440" y="2834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ОПРЕДЕЛЯЕТ СРОКИ ЭТАПА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154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41605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показателей нужно согласовать с бизнес-подразделениями — источник называет это прямо определяющим фактором сроков всего этапа Q4 2026, а не техническую деталь.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· ПУНКТЫ 1/2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 — линии «Каталог» и «Надзор»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как объект каталога: формула, гранулярность, фильтры, владелец, привязка к источникам.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5236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Наполнение каталога показателей из бизнес-глоссария КХД заказчика.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24712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24712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3874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из каталога: вопрос разрешается в показатель, а не в свободный SQL; расхождение фиксируется явно.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доступов агентов: какой агент, к каким источникам и с какой моделью работает; изменения фиксируются.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5236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4398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4398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 «создано моделью» у производных данных, наследуемый по цепочке преобразований.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244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24712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124712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3874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НАД-3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Контур подтверждения действий: операции заданного класса — только после явного согласия оператора.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· ПУНКТЫ 2/2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2026 — «Хранение», «Эксплуатация», «Интеграции»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оркестрация расчётов; конструктор витрин — сборка без ручного кода.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5236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Воспроизводимые офлайн-образы поставки; фиксированный состав компонентов версии.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24712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24712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3874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Оформление интерфейса под фирменный стиль заказчика.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Настраиваемые оповещения о качестве данных и состоянии расчётов.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5236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4398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ИНТ-1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4398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 отчётов и оповещений в почту: Microsoft 365 / Exchange, SMTP-релей в контуре заказчика.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244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24712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124712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3874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ИНТ-2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выделенных ящиков и папок как источника данных (Graph / IMAP). Область — явный перечень ящиков.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2027 — данные как продукт и стоимость в деньгах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960120"/>
          </a:xfrm>
          <a:prstGeom prst="roundRect">
            <a:avLst>
              <a:gd name="adj" fmla="val 8571"/>
            </a:avLst>
          </a:prstGeom>
          <a:solidFill>
            <a:srgbClr val="EAF2E4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получает паспорт и контракт, стоимость её расчёта выражается в рублях, установка в изолированном контуре выполняется единым установщиком. Отдельно начинается линия агента рабочего места.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ПОТРЕБУЕТСЯ СО СТОРОНЫ ЗАКАЗЧИКА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2916936"/>
            <a:ext cx="6601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Объектное хранилище под формат Iceberg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639312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" y="3538728"/>
            <a:ext cx="6601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Учётные записи и роли в каталоге предприятия (AD/LDAP)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261104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" y="4160520"/>
            <a:ext cx="6601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 паспорта витрины и контракта данных; назначенные владельцы доменов данных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882896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8952" y="4782312"/>
            <a:ext cx="6601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ЦС для подписи агента рабочего места + политики распространения ПО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18120" y="26060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1B3B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92440" y="2834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ОТДЕЛЬНОЕ РЕШЕНИЕ ЗАКАЗЧИКА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3154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416052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E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подписи агента рабочего места в изолированном контуре (внутренний ЦС, GPO или MDM) прямо названа вопросом, требующим отдельного решения заказчика — не готовым ответом вендора.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· ПУНКТЫ 1/2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2027 — «Каталог», «Надзор», «Хранение»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КАТ-4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витрины: назначение, состав, владелец, регламент обновления, ограничения применимости.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5236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данных с проверкой на входе: нарушение схемы/качества выявляется до загрузки.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24712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24712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3874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показателей во внешние потребители — доступны и в диалоге, и в BI.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аудита на инструменты и вызовы, выполняемые агентом внутри контура.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5236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4398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ХРН-2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4398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табличного формата Apache Iceberg: чтение, запись, обслуживание таблиц.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244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24712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124712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3874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ХРН-3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потребления ресурсов на уровне прогона с пересчётом в денежную стоимость.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· ПУНКТЫ 2/2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2027 — «Раб. места», «Эксплуатация», «Интеграции»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Служба чтения локальных файлов на рабочей станции (Windows, macOS) с явной моделью запретов.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5236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пакетом MSI, подпись корпоративным ЦС заказчика, управление через групповые политики.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24712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2E6B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24712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3874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«под ключ» в изолированном контуре: единый установщик, контроль лицензии, проверка окружения.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состояния платформы через диалоговый интерфейс: запрос статуса, разбор сбоя расчёта.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5236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4398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ИНТ-3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4398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Распространение политик доступа и маскирования на почтовые источники; учёт ящиков в реестре доступов (НАД-1).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2027 — восстановимость и эксплуатационная зрелость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960120"/>
          </a:xfrm>
          <a:prstGeom prst="roundRect">
            <a:avLst>
              <a:gd name="adj" fmla="val 8571"/>
            </a:avLst>
          </a:prstGeom>
          <a:solidFill>
            <a:srgbClr val="EAF2E4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Действия агента становятся восстановимыми на всю глубину для определённого класса операций, обслуживание Iceberg выходит на полный цикл, стоимость витрины считается за период и сопоставляется с эффектом.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060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ПОТРЕБУЕТСЯ СО СТОРОНЫ ЗАКАЗЧИКА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291693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журналов аудита за согласованный период удержания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" y="341985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 доступа внутреннего аудита к сквозному следу действий агентов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023360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" y="392277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Согласованное окно для работ по обслуживанию таблиц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2606040"/>
            <a:ext cx="3840480" cy="3703320"/>
          </a:xfrm>
          <a:prstGeom prst="roundRect">
            <a:avLst>
              <a:gd name="adj" fmla="val 2469"/>
            </a:avLst>
          </a:prstGeom>
          <a:solidFill>
            <a:srgbClr val="B8791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9244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CE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 КВАРТАЛА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3154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C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4114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6 пунктов Q2 2027 — уровень «направление подтверждено, состав уточняется». Ни один пункт квартала ещё не имеет статуса «запланировано» (B).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 · ВСЕ ПУНКТЫ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2027 — 6 пунктов, уровень C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КАТ-7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покрытия показателями по доменам данных; связь показателя с ценой его расчёта.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5236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след: вопрос → инструменты → данные → модель → ответ, восстановимый для класса действий.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2440" y="160020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247120" y="17282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247120" y="17190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38744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200253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 обслуживания Iceberg: компакция, ретеншн, эволюция схемы.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владения витриной за период и сопоставление с полученным эффектом.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5236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44398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4398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сценариев работы с локальным контекстом пользователя.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92440" y="3931920"/>
            <a:ext cx="3611880" cy="2103120"/>
          </a:xfrm>
          <a:prstGeom prst="roundRect">
            <a:avLst>
              <a:gd name="adj" fmla="val 3043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1247120" y="405993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B8791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1247120" y="40507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238744" y="4023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4334256"/>
            <a:ext cx="33192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предложение правил контроля качества по профилю данных.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2027 · ИССЛЕДОВАТЕЛЬСКИЙ ГОРИЗОНТ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H2 2027 — масштаб и автономность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731520"/>
          </a:xfrm>
          <a:prstGeom prst="roundRect">
            <a:avLst>
              <a:gd name="adj" fmla="val 11250"/>
            </a:avLst>
          </a:prstGeom>
          <a:solidFill>
            <a:srgbClr val="DCD5C2"/>
          </a:solidFill>
          <a:ln w="12700">
            <a:solidFill>
              <a:srgbClr val="8C7F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904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A4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исследовательский: помощник стюарда данных, неизменяемый журнал аудита, распределённое владение данными и обслуживание нескольких изолированных контуров. Состав работ уточняется по мере готовности архитектуры.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DCD5C2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0" y="24140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8C7F6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24048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" y="2377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" y="2688336"/>
            <a:ext cx="33192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 стюарда данных: предложения описаний и правил качества с обязательным подтверждением человеком.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22860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DCD5C2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52360" y="24140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8C7F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52360" y="24048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43984" y="2377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КАТ-9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688336"/>
            <a:ext cx="33192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Графовое представление связей между показателями, витринами и источниками.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2286000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DCD5C2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247120" y="2414016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8C7F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247120" y="24048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38744" y="2377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38744" y="2688336"/>
            <a:ext cx="33192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журнала аудита от изменения задним числом: связывание записей хэш-цепочкой.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361688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DCD5C2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0" y="448970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8C7F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0" y="448056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" y="4453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" y="4764024"/>
            <a:ext cx="33192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Распределённая модель владения данными между подразделениями группы.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0" y="4361688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DCD5C2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52360" y="448970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8C7F6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452360" y="448056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443984" y="4453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РМ-4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43984" y="4764024"/>
            <a:ext cx="33192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Дальнейшие фазы агента рабочего места.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4361688"/>
            <a:ext cx="3611880" cy="1874520"/>
          </a:xfrm>
          <a:prstGeom prst="roundRect">
            <a:avLst>
              <a:gd name="adj" fmla="val 3415"/>
            </a:avLst>
          </a:prstGeom>
          <a:solidFill>
            <a:srgbClr val="DCD5C2"/>
          </a:solidFill>
          <a:ln w="9525">
            <a:solidFill>
              <a:srgbClr val="D8E2D2"/>
            </a:solidFill>
            <a:prstDash val="solid"/>
          </a:ln>
          <a:effectLst>
            <a:outerShdw sx="100000" sy="100000" kx="0" ky="0" algn="bl" rotWithShape="0" blurRad="63500" dist="25400" dir="5400000">
              <a:srgbClr val="3A4A3A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1247120" y="448970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8C7F6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1247120" y="448056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38744" y="44531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ЭКС-7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238744" y="4764024"/>
            <a:ext cx="331927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 нескольких изолированных контуров одной установкой (для групп и холдингов).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6400800"/>
            <a:ext cx="11155680" cy="320040"/>
          </a:xfrm>
          <a:prstGeom prst="roundRect">
            <a:avLst>
              <a:gd name="adj" fmla="val 17143"/>
            </a:avLst>
          </a:prstGeom>
          <a:solidFill>
            <a:srgbClr val="8C7F6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02920" y="64008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уровень D  ·  «состав ориентировочный» — формулировка документа, не наша оценка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ГАРАНТИИ ПЛАТФОРМЫ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Совместимость и обновления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01368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9222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002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Обратная совместимость интерфейсов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600200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Сохраняется в пределах мажорной версии; breaking-изменения — только в мажорном выпуске, объявляются не позднее чем за 1 квартал до выхода.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34056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249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53288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Переход на Iceberg без переписывания витрин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532888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хранения меняется под неизменным слоем доступа; старый и новый формат сосуществуют в период миграции, откат возможен на всём его протяжении.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374136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66744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4655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Поддержка текущей и предыдущей мажорной версии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465576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 не обязан обновляться в темпе выхода версий: пропуск версии допустим, обновление — последовательное.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306824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5994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59028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39826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Обновление в изолированном контуре офлайн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4398264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Офлайн-пакет с проверкой целостности, установка в согласованное окно, откат на предыдущую версию, без обращений во внешние сети.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239512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 w="9525">
            <a:solidFill>
              <a:srgbClr val="D8E2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532120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5229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3309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Каталог показателей переживает обновления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5330952"/>
            <a:ext cx="5989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Формулы, паспорта и контракты хранятся в формате, не зависящем от версии платформы, и выгружаются целиком.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ЧЕСТНОСТЬ ВЕНДОРА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Границы продукта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9224" y="2176272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заменяет BI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9224" y="2670048"/>
            <a:ext cx="32278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Отдаёт согласованные значения показателей; визуализация и регламентная отчётность — за существующими средствами.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9392" y="1554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2569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425696" y="2176272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MDM-система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25696" y="2670048"/>
            <a:ext cx="32278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Потребляет справочники, но не берёт на себя их ведение как отдельный продукт.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55864" y="15544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0216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02168" y="2176272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фронт-офис и не антифрод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02168" y="2670048"/>
            <a:ext cx="32278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применения — аналитика и работа с данными, не операции с клиентом в реальном времени.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490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" y="4370832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формирует регуляторную отчётность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" y="4864608"/>
            <a:ext cx="32278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для неё могут готовиться в платформе, но формирование и подпись форм — во внешних системах.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9392" y="37490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25696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5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425696" y="4370832"/>
            <a:ext cx="3227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мультиконтур до H2 2027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25696" y="4864608"/>
            <a:ext cx="32278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 нескольких изолированных контуров одной установкой появляется только в ЭКС-7.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85216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EAF2E4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9436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B3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явных «этого мы не делаем» — редкая для вендорских roadmap-документов прямота, тот же паттерн честности, что уже отмечался в сильных сторонах продукта (case-07). Полезно для позиционирования: не продавать то, чего roadmap сам не обещает.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ПИЛОТОМ Д8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Пересечение с пилотом Д8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148840" cy="457200"/>
          </a:xfrm>
          <a:prstGeom prst="rect">
            <a:avLst/>
          </a:prstGeom>
          <a:solidFill>
            <a:srgbClr val="1B3B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12648" y="1508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роадмапа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88920" y="1508760"/>
            <a:ext cx="3977640" cy="457200"/>
          </a:xfrm>
          <a:prstGeom prst="rect">
            <a:avLst/>
          </a:prstGeom>
          <a:solidFill>
            <a:srgbClr val="1B3B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98648" y="15087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решает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03720" y="1508760"/>
            <a:ext cx="3977640" cy="457200"/>
          </a:xfrm>
          <a:prstGeom prst="rect">
            <a:avLst/>
          </a:prstGeom>
          <a:solidFill>
            <a:srgbClr val="1B3B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13448" y="15087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уже видели пробел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2148840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965960"/>
            <a:ext cx="3977640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1965960"/>
            <a:ext cx="3977640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2093976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ИНТ-1, ИНТ-2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648" y="2514600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2E6B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" y="25054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1560" y="2514600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B879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250545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898648" y="2075688"/>
            <a:ext cx="37581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Microsoft 365/Exchange как источник данных и канал доставки отчётов.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1965960"/>
            <a:ext cx="3977640" cy="1417320"/>
          </a:xfrm>
          <a:prstGeom prst="rect">
            <a:avLst/>
          </a:prstGeom>
          <a:solidFill>
            <a:srgbClr val="E7ECF0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13448" y="2075688"/>
            <a:ext cx="37581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80" dirty="0">
                <a:solidFill>
                  <a:srgbClr val="3C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case-08, сценарий 7 анонимизатора «Работа с электронной почтой» — статус «В работе»: нужна настройка Gmail, доработка под MS Office 365, IMAP в компании не применяется.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21488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3383280"/>
            <a:ext cx="3977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383280"/>
            <a:ext cx="3977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" y="3511296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НАД-1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2648" y="3931920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2E6B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2648" y="39227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898648" y="3493008"/>
            <a:ext cx="37581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доступов агентов: какой агент, к каким источникам и с какой моделью работает.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03720" y="3383280"/>
            <a:ext cx="3977640" cy="1417320"/>
          </a:xfrm>
          <a:prstGeom prst="rect">
            <a:avLst/>
          </a:prstGeom>
          <a:solidFill>
            <a:srgbClr val="E7ECF0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13448" y="3493008"/>
            <a:ext cx="37581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80" dirty="0">
                <a:solidFill>
                  <a:srgbClr val="3C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case-08, риск №3 — баг «слетают домен и персона»: реестр доступов должен делать такие рассинхронизации видимыми до пользователя.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02920" y="4800600"/>
            <a:ext cx="2148840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88920" y="4800600"/>
            <a:ext cx="3977640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03720" y="4800600"/>
            <a:ext cx="3977640" cy="1417320"/>
          </a:xfrm>
          <a:prstGeom prst="rect">
            <a:avLst/>
          </a:prstGeom>
          <a:solidFill>
            <a:srgbClr val="F5F5F5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2648" y="4928616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ХРН-1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12648" y="5349240"/>
            <a:ext cx="365760" cy="310896"/>
          </a:xfrm>
          <a:prstGeom prst="roundRect">
            <a:avLst>
              <a:gd name="adj" fmla="val 17647"/>
            </a:avLst>
          </a:prstGeom>
          <a:solidFill>
            <a:srgbClr val="2C5F2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2648" y="53400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2898648" y="4910328"/>
            <a:ext cx="37581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 витрин без кода — единая оркестрация расчётов.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03720" y="4800600"/>
            <a:ext cx="3977640" cy="1417320"/>
          </a:xfrm>
          <a:prstGeom prst="rect">
            <a:avLst/>
          </a:prstGeom>
          <a:solidFill>
            <a:srgbClr val="E7ECF0"/>
          </a:solidFill>
          <a:ln w="6350">
            <a:solidFill>
              <a:srgbClr val="D8E2D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13448" y="4910328"/>
            <a:ext cx="37581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080" dirty="0">
                <a:solidFill>
                  <a:srgbClr val="3C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case-08, сценарий 5 платформы: «по-прежнему не удалось настроить сценарий для семантического слоя CRM+DWH» — ручная настройка RLS и семантики.</a:t>
            </a:r>
            <a:endParaRPr lang="en-US" sz="1080" dirty="0"/>
          </a:p>
        </p:txBody>
      </p:sp>
      <p:sp>
        <p:nvSpPr>
          <p:cNvPr id="40" name="Text 37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WATCH-ITEMS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держать в фокусе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67335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5506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C/D — не план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391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«Изменение состава пунктов уровня C и D не является изменением обязательств» — формулировка самого документа. Не пересказывать Q2/H2 2027 заказчику как график поставки.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1673352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82512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65506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Раб. места — новый периметр риска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03911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Впервые платформа выходит на компьютер пользователя. Не указано, применяются ли PII Shield/DLP/RLS к тому, что читает локальный агент.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27248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329184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2735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Изолированный контур = продающий тезис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657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теряет функциональности, теряет только интеграции» — сильное, архитектурно подтверждённое доказательство суверенности продукта.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127248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3291840"/>
            <a:ext cx="384048" cy="38404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82512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2735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Границы продукта — паттерн честности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6576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10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явных «этого мы не делаем» — воспроизводимая и полезная для позиционирования модель прямоты вендора.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745736"/>
            <a:ext cx="11109960" cy="1417320"/>
          </a:xfrm>
          <a:prstGeom prst="roundRect">
            <a:avLst>
              <a:gd name="adj" fmla="val 5806"/>
            </a:avLst>
          </a:prstGeom>
          <a:solidFill>
            <a:srgbClr val="E7ECF0"/>
          </a:solidFill>
          <a:ln w="15875">
            <a:solidFill>
              <a:srgbClr val="5C7A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4910328"/>
            <a:ext cx="384048" cy="384048"/>
          </a:xfrm>
          <a:prstGeom prst="ellipse">
            <a:avLst/>
          </a:prstGeom>
          <a:solidFill>
            <a:srgbClr val="5C7A9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7512" y="4910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892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52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Запросить сроки НАД-1/2/3 и КАТ-1/3 отдельно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5276088"/>
            <a:ext cx="10195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C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контроль над агентами и доверие к каталогу — приоритет Д8, эти пункты пока B, не A: стоит уточнить у вендора ожидаемый переход в A, не полагаясь на календарную привязку к кварталу.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B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Итоговые тезисы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7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1645920"/>
            <a:ext cx="4590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строит не список фич, а три параллельные оси доверия: ЧТО отвечено (Каталог), КАК отвечено (Надзор) и ГДЕ это применимо (Хранение/Раб.места/Эксплуатация/Интеграции).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64224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7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839712" y="1645920"/>
            <a:ext cx="4590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 в датах обваливается с горизонтом: Q4 2026 — почти весь B, Q1 2027 — уже наполовину C, Q2 2027 — целиком C, H2 2027 — целиком D. Только один пункт во всём документе (ХРН-1) — уровень A.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02920" y="3172968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7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" y="3310128"/>
            <a:ext cx="4590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сам честно называет исследовательские горизонты гипотезой, а не планом — этой рамке стоит следовать и в разговоре с заказчиком.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217920" y="3172968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64224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7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39712" y="3310128"/>
            <a:ext cx="4590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Линия «Раб. места» — новый периметр риска, который стоит явно проверить на соответствие PII Shield/DLP/RLS, не дожидаясь Q1 2027.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502920" y="4837176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7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" y="4974336"/>
            <a:ext cx="4590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три пункта — прямой ответ на уже известные пробелы пилота Д8: почта (ИНТ-1/2), реестр доступов агентов (НАД-1) и конструктор витрин (ХРН-1).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217920" y="4837176"/>
            <a:ext cx="5394960" cy="1481328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D8E2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4224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F7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839712" y="4974336"/>
            <a:ext cx="4590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222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«Изолированный контур не теряет функциональности» и пять явных границ продукта — два готовых, архитектурно подтверждённых тезиса для позиционирования у заказчика.</a:t>
            </a:r>
            <a:endParaRPr lang="en-US" sz="1130" dirty="0"/>
          </a:p>
        </p:txBody>
      </p:sp>
      <p:sp>
        <p:nvSpPr>
          <p:cNvPr id="23" name="Text 20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5120640" cy="512064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206240"/>
            <a:ext cx="4389120" cy="4389120"/>
          </a:xfrm>
          <a:prstGeom prst="ellipse">
            <a:avLst/>
          </a:prstGeom>
          <a:solidFill>
            <a:srgbClr val="97BC62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FE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описывает направление развития платформы, а не план поставки. Обязательства по срокам и составу возникают в техническом задании и договоре на конкретное внедрение.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9875520" cy="1600200"/>
          </a:xfrm>
          <a:prstGeom prst="roundRect">
            <a:avLst>
              <a:gd name="adj" fmla="val 5714"/>
            </a:avLst>
          </a:prstGeom>
          <a:solidFill>
            <a:srgbClr val="24451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434340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645152"/>
            <a:ext cx="9326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docs/sources/kamerata/roadmap-2026q4-2027h2.md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«Техническое направление развития платформы», редакция от 28.08.2026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docs/analysis/case-10-roadmap-analysis.md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«Куда разработчик ведёт платформу» — синтез трёх осей и связей с пилотом Д8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2026-09-05T08:42:54Z</dcterms:created>
  <dcterms:modified xsi:type="dcterms:W3CDTF">2026-09-05T08:42:54Z</dcterms:modified>
</cp:coreProperties>
</file>