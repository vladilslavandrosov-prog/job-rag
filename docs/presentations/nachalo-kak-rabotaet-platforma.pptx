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Вводная встреча перед демо. Цель — договориться о составе документов для загрузки.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презентации. Дать заказчику самому предложить пару формулировок из своей практики.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Закрывающий слайд: договориться о конкретном списке каталогов и ответственных.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4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 ·  ПОДГОТОВКА К ДЕМОНСТРАЦИИ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загрузить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платформу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0156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8F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 поиск по документам — и почему от состава и разнообразия корпуса напрямую зависит, насколько показательной получится демонстрация.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553712"/>
            <a:ext cx="10820095" cy="0"/>
          </a:xfrm>
          <a:prstGeom prst="line">
            <a:avLst/>
          </a:prstGeom>
          <a:noFill/>
          <a:ln w="12700">
            <a:solidFill>
              <a:srgbClr val="1B44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47548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5D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ПОГОВОРИМ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5800" y="5084064"/>
            <a:ext cx="548640" cy="548640"/>
          </a:xfrm>
          <a:prstGeom prst="ellipse">
            <a:avLst/>
          </a:prstGeom>
          <a:solidFill>
            <a:srgbClr val="0E6F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221224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62456" y="5120640"/>
            <a:ext cx="1927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смыслу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90824" y="5084064"/>
            <a:ext cx="548640" cy="548640"/>
          </a:xfrm>
          <a:prstGeom prst="ellipse">
            <a:avLst/>
          </a:prstGeom>
          <a:solidFill>
            <a:srgbClr val="0E6F7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84" y="52212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7480" y="5120640"/>
            <a:ext cx="1927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поиск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95848" y="5084064"/>
            <a:ext cx="548640" cy="548640"/>
          </a:xfrm>
          <a:prstGeom prst="ellipse">
            <a:avLst/>
          </a:prstGeom>
          <a:solidFill>
            <a:srgbClr val="0E6F7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8" y="522122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72504" y="5120640"/>
            <a:ext cx="1927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 между документами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800871" y="5084064"/>
            <a:ext cx="548640" cy="548640"/>
          </a:xfrm>
          <a:prstGeom prst="ellipse">
            <a:avLst/>
          </a:prstGeom>
          <a:solidFill>
            <a:srgbClr val="E457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031" y="52212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477527" y="5120640"/>
            <a:ext cx="1927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Каталоги и доступ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8580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6D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ITQ Group  ·  ООО «АйТиКью Про»  ·  сентябрь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9456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4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ОБСУЖДАТЬ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8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загрузим — то и увидим на демо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43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отвечает только по тем документам, которые в неё загружены. Всё, что вы увидите на демо, — прямое следствие того, чем наполнен корпус.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227168" cy="3108960"/>
          </a:xfrm>
          <a:prstGeom prst="roundRect">
            <a:avLst>
              <a:gd name="adj" fmla="val 2647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286000"/>
            <a:ext cx="548640" cy="548640"/>
          </a:xfrm>
          <a:prstGeom prst="ellipse">
            <a:avLst/>
          </a:prstGeom>
          <a:solidFill>
            <a:srgbClr val="9AAEB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4231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2304288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случайных файлов</a:t>
            </a:r>
            <a:endParaRPr lang="en-US" sz="16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02666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72184" y="2999232"/>
            <a:ext cx="405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получаются точечными — их трудно отличить от обычного поиска по файлам.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6850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72184" y="3657600"/>
            <a:ext cx="405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Связывать нечего: каждый вопрос упирается ровно в один документ.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34340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72184" y="4315968"/>
            <a:ext cx="405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абстрактным примерам не понять, справится ли платформа с вашей спецификой.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278728" y="1965960"/>
            <a:ext cx="5227168" cy="3108960"/>
          </a:xfrm>
          <a:prstGeom prst="roundRect">
            <a:avLst>
              <a:gd name="adj" fmla="val 2647"/>
            </a:avLst>
          </a:prstGeom>
          <a:solidFill>
            <a:srgbClr val="08202C"/>
          </a:solidFill>
          <a:ln/>
        </p:spPr>
      </p:sp>
      <p:sp>
        <p:nvSpPr>
          <p:cNvPr id="17" name="Shape 11"/>
          <p:cNvSpPr/>
          <p:nvPr/>
        </p:nvSpPr>
        <p:spPr>
          <a:xfrm>
            <a:off x="6644488" y="2286000"/>
            <a:ext cx="548640" cy="548640"/>
          </a:xfrm>
          <a:prstGeom prst="ellipse">
            <a:avLst/>
          </a:prstGeom>
          <a:solidFill>
            <a:srgbClr val="E4573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648" y="242316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330288" y="2304288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Репрезентативный срез</a:t>
            </a:r>
            <a:endParaRPr lang="en-US" sz="16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776" y="3026664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065112" y="2999232"/>
            <a:ext cx="405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как платформа находит нужное по смыслу, а не по совпадению слов.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2776" y="3685032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065112" y="3657600"/>
            <a:ext cx="405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как один ответ собирается из нескольких документов сразу.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2776" y="4343400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065112" y="4315968"/>
            <a:ext cx="405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8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разграничение доступа: один вопрос, разные роли — разные ответы.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685800" y="5358384"/>
            <a:ext cx="10820095" cy="868680"/>
          </a:xfrm>
          <a:prstGeom prst="roundRect">
            <a:avLst>
              <a:gd name="adj" fmla="val 9474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984" y="5637276"/>
            <a:ext cx="310896" cy="310896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1545336" y="5431536"/>
            <a:ext cx="958565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 не нужен весь ваш архив.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срез, по которому вы сами задаёте рабочие вопросы каждый день, — на нём разница между платформой и обычным поиском видна сразу.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9456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4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 ПОИСКА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8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Платформа ищет смысл, а не совпадение букв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43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Ctrl+F находит документ, только если в нём стоят ровно те же слова, что вы набрали. Платформа устроена иначе.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938528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212848"/>
            <a:ext cx="603504" cy="603504"/>
          </a:xfrm>
          <a:prstGeom prst="ellipse">
            <a:avLst/>
          </a:prstGeom>
          <a:solidFill>
            <a:srgbClr val="0E6F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8471" y="2369759"/>
            <a:ext cx="289682" cy="28968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545336" y="2139696"/>
            <a:ext cx="310896" cy="310896"/>
          </a:xfrm>
          <a:prstGeom prst="ellipse">
            <a:avLst/>
          </a:prstGeom>
          <a:solidFill>
            <a:srgbClr val="E457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453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4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962656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режется на куски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3566160"/>
            <a:ext cx="2670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загрузке каждый документ заранее разбирается на смысловые фрагменты — абзац, раздел, несколько предложений подряд.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42232" y="3200400"/>
            <a:ext cx="197968" cy="0"/>
          </a:xfrm>
          <a:prstGeom prst="line">
            <a:avLst/>
          </a:prstGeom>
          <a:noFill/>
          <a:ln w="19050">
            <a:solidFill>
              <a:srgbClr val="B8CFD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395064" y="1938528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60824" y="2212848"/>
            <a:ext cx="603504" cy="603504"/>
          </a:xfrm>
          <a:prstGeom prst="ellipse">
            <a:avLst/>
          </a:prstGeom>
          <a:solidFill>
            <a:srgbClr val="0E6F7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735" y="2369759"/>
            <a:ext cx="289682" cy="28968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254600" y="2139696"/>
            <a:ext cx="310896" cy="310896"/>
          </a:xfrm>
          <a:prstGeom prst="ellipse">
            <a:avLst/>
          </a:prstGeom>
          <a:solidFill>
            <a:srgbClr val="E457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25460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4" dirty="0"/>
          </a:p>
        </p:txBody>
      </p:sp>
      <p:sp>
        <p:nvSpPr>
          <p:cNvPr id="19" name="Text 15"/>
          <p:cNvSpPr txBox="1"/>
          <p:nvPr/>
        </p:nvSpPr>
        <p:spPr>
          <a:xfrm>
            <a:off x="4760824" y="2962656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кусок — в набор чисел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760824" y="3566160"/>
            <a:ext cx="2670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Специальная модель превращает фрагмент в длинный набор чисел — «отпечаток смысла» этого текста.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851496" y="3200400"/>
            <a:ext cx="197968" cy="0"/>
          </a:xfrm>
          <a:prstGeom prst="line">
            <a:avLst/>
          </a:prstGeom>
          <a:noFill/>
          <a:ln w="19050">
            <a:solidFill>
              <a:srgbClr val="B8CFD2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8104327" y="1938528"/>
            <a:ext cx="3401568" cy="2651760"/>
          </a:xfrm>
          <a:prstGeom prst="roundRect">
            <a:avLst>
              <a:gd name="adj" fmla="val 3103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470087" y="2212848"/>
            <a:ext cx="603504" cy="603504"/>
          </a:xfrm>
          <a:prstGeom prst="ellipse">
            <a:avLst/>
          </a:prstGeom>
          <a:solidFill>
            <a:srgbClr val="0E6F7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998" y="2369759"/>
            <a:ext cx="289682" cy="28968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963863" y="2139696"/>
            <a:ext cx="310896" cy="310896"/>
          </a:xfrm>
          <a:prstGeom prst="ellipse">
            <a:avLst/>
          </a:prstGeom>
          <a:solidFill>
            <a:srgbClr val="E4573C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3863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4" dirty="0"/>
          </a:p>
        </p:txBody>
      </p:sp>
      <p:sp>
        <p:nvSpPr>
          <p:cNvPr id="27" name="Text 22"/>
          <p:cNvSpPr txBox="1"/>
          <p:nvPr/>
        </p:nvSpPr>
        <p:spPr>
          <a:xfrm>
            <a:off x="8470087" y="2962656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Близкие числа = близкий смысл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8470087" y="3566160"/>
            <a:ext cx="2670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Тексты про одно и то же получают похожие отпечатки, даже если написаны совершенно разными словами.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85800" y="4754880"/>
            <a:ext cx="10820095" cy="868680"/>
          </a:xfrm>
          <a:prstGeom prst="roundRect">
            <a:avLst>
              <a:gd name="adj" fmla="val 9474"/>
            </a:avLst>
          </a:prstGeom>
          <a:solidFill>
            <a:srgbClr val="E4EFF0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1051560" y="4901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«Порядок расторжения договора»</a:t>
            </a:r>
            <a:endParaRPr lang="en-US" sz="1250" dirty="0"/>
          </a:p>
        </p:txBody>
      </p:sp>
      <p:sp>
        <p:nvSpPr>
          <p:cNvPr id="31" name="Text 26"/>
          <p:cNvSpPr txBox="1"/>
          <p:nvPr/>
        </p:nvSpPr>
        <p:spPr>
          <a:xfrm>
            <a:off x="1051560" y="5175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документа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617720" y="5148072"/>
            <a:ext cx="457200" cy="0"/>
          </a:xfrm>
          <a:prstGeom prst="line">
            <a:avLst/>
          </a:prstGeom>
          <a:noFill/>
          <a:ln w="22225">
            <a:solidFill>
              <a:srgbClr val="0E6F7A"/>
            </a:solidFill>
            <a:prstDash val="solid"/>
            <a:tailEnd type="triangle"/>
          </a:ln>
        </p:spPr>
      </p:sp>
      <p:sp>
        <p:nvSpPr>
          <p:cNvPr id="33" name="Text 28"/>
          <p:cNvSpPr txBox="1"/>
          <p:nvPr/>
        </p:nvSpPr>
        <p:spPr>
          <a:xfrm>
            <a:off x="5257800" y="49011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0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0.14   −0.62   0.09   0.77   −0.31   …  ]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5257800" y="52303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отпечаток смысла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685800" y="5779008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делается один раз, при загрузке.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момент вопроса ничего не перечитывается заново — поиск идёт уже по готовым отпечаткам, поэтому ответ приходит за секунды даже на большом корпусе.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9456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4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Разные слова — один смысл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43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F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здесь смысловой поиск делает то, чего не умеет поиск по словам.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4160520" cy="1508760"/>
          </a:xfrm>
          <a:prstGeom prst="roundRect">
            <a:avLst>
              <a:gd name="adj" fmla="val 5455"/>
            </a:avLst>
          </a:prstGeom>
          <a:solidFill>
            <a:srgbClr val="1033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8408" y="20299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C8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СОТРУДНИКА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340864"/>
            <a:ext cx="3575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 нам грозит, если мы захотим прекратить сотрудничество раньше срока?»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983480" y="2633472"/>
            <a:ext cx="2224735" cy="0"/>
          </a:xfrm>
          <a:prstGeom prst="line">
            <a:avLst/>
          </a:prstGeom>
          <a:noFill/>
          <a:ln w="22225">
            <a:solidFill>
              <a:srgbClr val="E4573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30672" y="2368296"/>
            <a:ext cx="530352" cy="530352"/>
          </a:xfrm>
          <a:prstGeom prst="ellipse">
            <a:avLst/>
          </a:prstGeom>
          <a:solidFill>
            <a:srgbClr val="E4573C"/>
          </a:solidFill>
          <a:ln w="38100">
            <a:solidFill>
              <a:srgbClr val="08202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8688" y="249631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846320" y="2971800"/>
            <a:ext cx="2499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0A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совпадение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0A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смыслу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45375" y="1874520"/>
            <a:ext cx="4160520" cy="1508760"/>
          </a:xfrm>
          <a:prstGeom prst="roundRect">
            <a:avLst>
              <a:gd name="adj" fmla="val 5455"/>
            </a:avLst>
          </a:prstGeom>
          <a:solidFill>
            <a:srgbClr val="10333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37983" y="20299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C8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НАЙДЕННЫЙ ФРАГМЕНТ ДОГОВОРА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637983" y="2340864"/>
            <a:ext cx="3575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«Раздел 7. Порядок расторжения договора и применяемые штрафные санкции»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547872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одного общего слова. Обычный поиск по словам этот раздел не нашёл бы вовсе.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85800" y="4041648"/>
            <a:ext cx="10820095" cy="0"/>
          </a:xfrm>
          <a:prstGeom prst="line">
            <a:avLst/>
          </a:prstGeom>
          <a:noFill/>
          <a:ln w="12700">
            <a:solidFill>
              <a:srgbClr val="1B445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4224528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70" kern="0" dirty="0">
                <a:solidFill>
                  <a:srgbClr val="5D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ПЛАТФОРМЫ ЭТИ ФОРМУЛИРОВКИ БЛИЗКИ ДРУГ К ДРУГУ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85800" y="4590288"/>
            <a:ext cx="1973824" cy="786384"/>
          </a:xfrm>
          <a:prstGeom prst="roundRect">
            <a:avLst>
              <a:gd name="adj" fmla="val 13953"/>
            </a:avLst>
          </a:prstGeom>
          <a:solidFill>
            <a:srgbClr val="10333F"/>
          </a:solidFill>
          <a:ln w="12700">
            <a:solidFill>
              <a:srgbClr val="0A505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" y="4626864"/>
            <a:ext cx="175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расторжение договора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897368" y="4590288"/>
            <a:ext cx="1973824" cy="786384"/>
          </a:xfrm>
          <a:prstGeom prst="roundRect">
            <a:avLst>
              <a:gd name="adj" fmla="val 13953"/>
            </a:avLst>
          </a:prstGeom>
          <a:solidFill>
            <a:srgbClr val="10333F"/>
          </a:solidFill>
          <a:ln w="12700">
            <a:solidFill>
              <a:srgbClr val="0A505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07096" y="4626864"/>
            <a:ext cx="175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прекращение сотрудничества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108936" y="4590288"/>
            <a:ext cx="1973824" cy="786384"/>
          </a:xfrm>
          <a:prstGeom prst="roundRect">
            <a:avLst>
              <a:gd name="adj" fmla="val 13953"/>
            </a:avLst>
          </a:prstGeom>
          <a:solidFill>
            <a:srgbClr val="10333F"/>
          </a:solidFill>
          <a:ln w="12700">
            <a:solidFill>
              <a:srgbClr val="0A505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18664" y="4626864"/>
            <a:ext cx="175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односторонний отказ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320504" y="4590288"/>
            <a:ext cx="1973824" cy="786384"/>
          </a:xfrm>
          <a:prstGeom prst="roundRect">
            <a:avLst>
              <a:gd name="adj" fmla="val 13953"/>
            </a:avLst>
          </a:prstGeom>
          <a:solidFill>
            <a:srgbClr val="10333F"/>
          </a:solidFill>
          <a:ln w="12700">
            <a:solidFill>
              <a:srgbClr val="0A505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30232" y="4626864"/>
            <a:ext cx="175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из соглашения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532071" y="4590288"/>
            <a:ext cx="1973824" cy="786384"/>
          </a:xfrm>
          <a:prstGeom prst="roundRect">
            <a:avLst>
              <a:gd name="adj" fmla="val 13953"/>
            </a:avLst>
          </a:prstGeom>
          <a:solidFill>
            <a:srgbClr val="10333F"/>
          </a:solidFill>
          <a:ln w="12700">
            <a:solidFill>
              <a:srgbClr val="0A505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641799" y="4626864"/>
            <a:ext cx="175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отношений с контрагентом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5742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4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значит для подготовки демо: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на демонстрации можно задавать своими словами — подбирать формулировки под текст документа не нужно.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9456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4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ПОИСКА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8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Смысловой и точный поиск — вместе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43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из них силён там, где второй ошибается. Платформа запускает оба и объединяет результаты.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212848"/>
            <a:ext cx="2148840" cy="2148840"/>
          </a:xfrm>
          <a:prstGeom prst="ellipse">
            <a:avLst/>
          </a:prstGeom>
          <a:solidFill>
            <a:srgbClr val="0E6F7A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40280" y="2212848"/>
            <a:ext cx="2148840" cy="2148840"/>
          </a:xfrm>
          <a:prstGeom prst="ellipse">
            <a:avLst/>
          </a:prstGeom>
          <a:solidFill>
            <a:srgbClr val="E4573C">
              <a:alpha val="5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0861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смыслу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30861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словам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51760" y="4764024"/>
            <a:ext cx="0" cy="-329184"/>
          </a:xfrm>
          <a:prstGeom prst="line">
            <a:avLst/>
          </a:prstGeom>
          <a:noFill/>
          <a:ln w="19050">
            <a:solidFill>
              <a:srgbClr val="08202C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822960" y="4818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объединённый результат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093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список ответов, ранжированный по релевантности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2080" y="1965960"/>
            <a:ext cx="6293815" cy="1847088"/>
          </a:xfrm>
          <a:prstGeom prst="roundRect">
            <a:avLst>
              <a:gd name="adj" fmla="val 4455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22976" y="2240280"/>
            <a:ext cx="548640" cy="548640"/>
          </a:xfrm>
          <a:prstGeom prst="ellipse">
            <a:avLst/>
          </a:prstGeom>
          <a:solidFill>
            <a:srgbClr val="0E6F7A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0136" y="237744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217920" y="2258568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Смысловой поиск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2734056"/>
            <a:ext cx="4967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нужное, даже если вопрос задан совсем другими словами. Работает там, где человек спрашивает по-человечески: «а что будет, если просрочим оплату».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212080" y="3977640"/>
            <a:ext cx="6293815" cy="1847088"/>
          </a:xfrm>
          <a:prstGeom prst="roundRect">
            <a:avLst>
              <a:gd name="adj" fmla="val 4455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22976" y="4251960"/>
            <a:ext cx="548640" cy="548640"/>
          </a:xfrm>
          <a:prstGeom prst="ellipse">
            <a:avLst/>
          </a:prstGeom>
          <a:solidFill>
            <a:srgbClr val="E4573C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136" y="438912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217920" y="4270248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поиск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217920" y="4745736"/>
            <a:ext cx="4967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Ищет буквальное совпадение: номер договора, статью закона, артикул, фамилию, внутренний термин. Как раз то, что смысловой поиск может «смазать», подобрав похожее вместо точного.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85800" y="594360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корпуса это значит: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полезны и связные тексты (регламенты, переписка, отчёты), и документы с точными реквизитами — номерами, датами, ссылками на нормы. Вместе они показывают обе половины поиска.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9456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4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 МЕЖДУ ДОКУМЕНТАМИ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8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ответ — несколько документов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43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ответ идут не файлы целиком, а несколько наиболее подходящих кусков — и они вполне могут прийти из разных документов сразу.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880360" cy="1060704"/>
          </a:xfrm>
          <a:prstGeom prst="roundRect">
            <a:avLst>
              <a:gd name="adj" fmla="val 7759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305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52728" y="2093976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Регламент о командировках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86968" y="2532888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DFE9EA"/>
          </a:solidFill>
          <a:ln/>
        </p:spPr>
      </p:sp>
      <p:sp>
        <p:nvSpPr>
          <p:cNvPr id="10" name="Shape 7"/>
          <p:cNvSpPr/>
          <p:nvPr/>
        </p:nvSpPr>
        <p:spPr>
          <a:xfrm>
            <a:off x="1755648" y="2532888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E4573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55648" y="253288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24328" y="2532888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DFE9EA"/>
          </a:solidFill>
          <a:ln/>
        </p:spPr>
      </p:sp>
      <p:sp>
        <p:nvSpPr>
          <p:cNvPr id="13" name="Shape 10"/>
          <p:cNvSpPr/>
          <p:nvPr/>
        </p:nvSpPr>
        <p:spPr>
          <a:xfrm>
            <a:off x="3566160" y="2496312"/>
            <a:ext cx="502920" cy="0"/>
          </a:xfrm>
          <a:prstGeom prst="line">
            <a:avLst/>
          </a:prstGeom>
          <a:noFill/>
          <a:ln w="19050">
            <a:solidFill>
              <a:srgbClr val="BFD2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3154680"/>
            <a:ext cx="2880360" cy="1060704"/>
          </a:xfrm>
          <a:prstGeom prst="roundRect">
            <a:avLst>
              <a:gd name="adj" fmla="val 7759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31927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52728" y="3282696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Приказ об изменении лимитов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86968" y="3721608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E457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86968" y="372160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755648" y="3721608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DFE9EA"/>
          </a:solidFill>
          <a:ln/>
        </p:spPr>
      </p:sp>
      <p:sp>
        <p:nvSpPr>
          <p:cNvPr id="20" name="Shape 16"/>
          <p:cNvSpPr/>
          <p:nvPr/>
        </p:nvSpPr>
        <p:spPr>
          <a:xfrm>
            <a:off x="2624328" y="3721608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DFE9EA"/>
          </a:solidFill>
          <a:ln/>
        </p:spPr>
      </p:sp>
      <p:sp>
        <p:nvSpPr>
          <p:cNvPr id="21" name="Shape 17"/>
          <p:cNvSpPr/>
          <p:nvPr/>
        </p:nvSpPr>
        <p:spPr>
          <a:xfrm>
            <a:off x="3566160" y="3685032"/>
            <a:ext cx="502920" cy="0"/>
          </a:xfrm>
          <a:prstGeom prst="line">
            <a:avLst/>
          </a:prstGeom>
          <a:noFill/>
          <a:ln w="19050">
            <a:solidFill>
              <a:srgbClr val="BFD2D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85800" y="4343400"/>
            <a:ext cx="2880360" cy="1060704"/>
          </a:xfrm>
          <a:prstGeom prst="roundRect">
            <a:avLst>
              <a:gd name="adj" fmla="val 7759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50799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252728" y="4471416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на частые вопросы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86968" y="4910328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DFE9EA"/>
          </a:solidFill>
          <a:ln/>
        </p:spPr>
      </p:sp>
      <p:sp>
        <p:nvSpPr>
          <p:cNvPr id="26" name="Shape 21"/>
          <p:cNvSpPr/>
          <p:nvPr/>
        </p:nvSpPr>
        <p:spPr>
          <a:xfrm>
            <a:off x="1755648" y="4910328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DFE9EA"/>
          </a:solidFill>
          <a:ln/>
        </p:spPr>
      </p:sp>
      <p:sp>
        <p:nvSpPr>
          <p:cNvPr id="27" name="Shape 22"/>
          <p:cNvSpPr/>
          <p:nvPr/>
        </p:nvSpPr>
        <p:spPr>
          <a:xfrm>
            <a:off x="2624328" y="4910328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E4573C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624328" y="49103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566160" y="4873752"/>
            <a:ext cx="502920" cy="0"/>
          </a:xfrm>
          <a:prstGeom prst="line">
            <a:avLst/>
          </a:prstGeom>
          <a:noFill/>
          <a:ln w="19050">
            <a:solidFill>
              <a:srgbClr val="BFD2D5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85800" y="55321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разбит на смысловые куски заранее, при загрузке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069080" y="2496312"/>
            <a:ext cx="0" cy="2377440"/>
          </a:xfrm>
          <a:prstGeom prst="line">
            <a:avLst/>
          </a:prstGeom>
          <a:noFill/>
          <a:ln w="19050">
            <a:solidFill>
              <a:srgbClr val="BFD2D5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069080" y="3685032"/>
            <a:ext cx="457200" cy="0"/>
          </a:xfrm>
          <a:prstGeom prst="line">
            <a:avLst/>
          </a:prstGeom>
          <a:noFill/>
          <a:ln w="22225">
            <a:solidFill>
              <a:srgbClr val="0E6F7A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4599432" y="3118104"/>
            <a:ext cx="2743200" cy="1133856"/>
          </a:xfrm>
          <a:prstGeom prst="roundRect">
            <a:avLst>
              <a:gd name="adj" fmla="val 7258"/>
            </a:avLst>
          </a:prstGeom>
          <a:solidFill>
            <a:srgbClr val="E4EFF0"/>
          </a:solidFill>
          <a:ln/>
        </p:spPr>
      </p:sp>
      <p:sp>
        <p:nvSpPr>
          <p:cNvPr id="34" name="Shape 29"/>
          <p:cNvSpPr/>
          <p:nvPr/>
        </p:nvSpPr>
        <p:spPr>
          <a:xfrm>
            <a:off x="4818888" y="3392424"/>
            <a:ext cx="548640" cy="548640"/>
          </a:xfrm>
          <a:prstGeom prst="ellipse">
            <a:avLst/>
          </a:prstGeom>
          <a:solidFill>
            <a:srgbClr val="0E6F7A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29584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5495544" y="320954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Отбираются несколько самых близких кусков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7415784" y="3685032"/>
            <a:ext cx="457200" cy="0"/>
          </a:xfrm>
          <a:prstGeom prst="line">
            <a:avLst/>
          </a:prstGeom>
          <a:noFill/>
          <a:ln w="22225">
            <a:solidFill>
              <a:srgbClr val="0E6F7A"/>
            </a:solidFill>
            <a:prstDash val="solid"/>
            <a:tailEnd type="triangle"/>
          </a:ln>
        </p:spPr>
      </p:sp>
      <p:sp>
        <p:nvSpPr>
          <p:cNvPr id="38" name="Shape 32"/>
          <p:cNvSpPr/>
          <p:nvPr/>
        </p:nvSpPr>
        <p:spPr>
          <a:xfrm>
            <a:off x="7946136" y="2788920"/>
            <a:ext cx="3559759" cy="1792224"/>
          </a:xfrm>
          <a:prstGeom prst="roundRect">
            <a:avLst>
              <a:gd name="adj" fmla="val 4592"/>
            </a:avLst>
          </a:prstGeom>
          <a:solidFill>
            <a:srgbClr val="08202C"/>
          </a:solidFill>
          <a:ln/>
        </p:spPr>
      </p:sp>
      <p:sp>
        <p:nvSpPr>
          <p:cNvPr id="39" name="Shape 33"/>
          <p:cNvSpPr/>
          <p:nvPr/>
        </p:nvSpPr>
        <p:spPr>
          <a:xfrm>
            <a:off x="8275320" y="3063240"/>
            <a:ext cx="548640" cy="548640"/>
          </a:xfrm>
          <a:prstGeom prst="ellipse">
            <a:avLst/>
          </a:prstGeom>
          <a:solidFill>
            <a:srgbClr val="E4573C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200400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8951976" y="3081528"/>
            <a:ext cx="22338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связный ответ</a:t>
            </a:r>
            <a:endParaRPr lang="en-US" sz="1550" dirty="0"/>
          </a:p>
        </p:txBody>
      </p:sp>
      <p:sp>
        <p:nvSpPr>
          <p:cNvPr id="42" name="Text 35"/>
          <p:cNvSpPr txBox="1"/>
          <p:nvPr/>
        </p:nvSpPr>
        <p:spPr>
          <a:xfrm>
            <a:off x="8275320" y="3739896"/>
            <a:ext cx="29013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Собран из кусков трёх разных документов, со ссылками на каждый источник — можно проверить, откуда взята каждая часть.</a:t>
            </a:r>
            <a:endParaRPr lang="en-US" sz="1150" dirty="0"/>
          </a:p>
        </p:txBody>
      </p:sp>
      <p:sp>
        <p:nvSpPr>
          <p:cNvPr id="43" name="Text 36"/>
          <p:cNvSpPr txBox="1"/>
          <p:nvPr/>
        </p:nvSpPr>
        <p:spPr>
          <a:xfrm>
            <a:off x="685800" y="5870448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Отсюда простое правило корпуса: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больше загружено связанных, пересекающихся по теме документов, тем полнее ответ — и тем заметнее разница с обычным поиском по файлам.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9456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4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РЕКОМЕНДАЦИЯ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8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стоит загрузить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43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«побольше», а разнообразнее: разные типы документов показывают разные стороны поиска.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810512"/>
            <a:ext cx="3387242" cy="1828800"/>
          </a:xfrm>
          <a:prstGeom prst="roundRect">
            <a:avLst>
              <a:gd name="adj" fmla="val 4500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420624" cy="4206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2487168"/>
            <a:ext cx="2838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Регламенты и политики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871216"/>
            <a:ext cx="28386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правила, положения, инструкции — то, о чём сотрудники чаще всего спрашивают «а как у нас положено».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02226" y="1810512"/>
            <a:ext cx="3387242" cy="1828800"/>
          </a:xfrm>
          <a:prstGeom prst="roundRect">
            <a:avLst>
              <a:gd name="adj" fmla="val 4500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546" y="2011680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76546" y="2487168"/>
            <a:ext cx="2838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Договоры и приложения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76546" y="2871216"/>
            <a:ext cx="28386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Показывают сразу обе половины поиска: смысловые формулировки и точные реквизиты — номера, даты, ссылки на нормы.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18653" y="1810512"/>
            <a:ext cx="3387242" cy="1828800"/>
          </a:xfrm>
          <a:prstGeom prst="roundRect">
            <a:avLst>
              <a:gd name="adj" fmla="val 4500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973" y="2011680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92973" y="2487168"/>
            <a:ext cx="2838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и справки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392973" y="2871216"/>
            <a:ext cx="28386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периодов подряд — видно, как система собирает ответ из нескольких документов одновременно.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85800" y="3840480"/>
            <a:ext cx="3387242" cy="1828800"/>
          </a:xfrm>
          <a:prstGeom prst="roundRect">
            <a:avLst>
              <a:gd name="adj" fmla="val 4500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41648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60120" y="4517136"/>
            <a:ext cx="2838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Презентации и материалы встреч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960120" y="4901184"/>
            <a:ext cx="28386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того, что платформа работает не только с «правильно» написанными текстами.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402226" y="3840480"/>
            <a:ext cx="3387242" cy="1828800"/>
          </a:xfrm>
          <a:prstGeom prst="roundRect">
            <a:avLst>
              <a:gd name="adj" fmla="val 4500"/>
            </a:avLst>
          </a:prstGeom>
          <a:solidFill>
            <a:srgbClr val="F1F5F6"/>
          </a:solidFill>
          <a:ln w="12700">
            <a:solidFill>
              <a:srgbClr val="D7E2E4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546" y="4041648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676546" y="4517136"/>
            <a:ext cx="2838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Служебные записки и переписка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676546" y="4901184"/>
            <a:ext cx="28386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Живой, неотредактированный язык — самая честная проверка смыслового поиска.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8118653" y="3840480"/>
            <a:ext cx="3387242" cy="1828800"/>
          </a:xfrm>
          <a:prstGeom prst="roundRect">
            <a:avLst>
              <a:gd name="adj" fmla="val 4500"/>
            </a:avLst>
          </a:prstGeom>
          <a:solidFill>
            <a:srgbClr val="08202C"/>
          </a:solidFill>
          <a:ln/>
        </p:spPr>
      </p:sp>
      <p:sp>
        <p:nvSpPr>
          <p:cNvPr id="27" name="Shape 20"/>
          <p:cNvSpPr/>
          <p:nvPr/>
        </p:nvSpPr>
        <p:spPr>
          <a:xfrm>
            <a:off x="8392973" y="4023360"/>
            <a:ext cx="457200" cy="457200"/>
          </a:xfrm>
          <a:prstGeom prst="ellipse">
            <a:avLst/>
          </a:prstGeom>
          <a:solidFill>
            <a:srgbClr val="E4573C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273" y="413766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392973" y="4517136"/>
            <a:ext cx="2838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документов на одну тему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8392973" y="4901184"/>
            <a:ext cx="28386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8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условие содержательного демо: чтобы платформе было что связывать между собой.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685800" y="5925312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 — ваши реальные документы и ваши повседневные вопросы к ним.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Заранее составленный список из 10–15 таких вопросов делает демонстрацию предметной, а не показательной.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9456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4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Каталоги и роли: продумайте заранее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43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F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простые вещи, которые стоит продумать до загрузки: они делают демонстрацию заметно содержательнее.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181448" cy="3246120"/>
          </a:xfrm>
          <a:prstGeom prst="roundRect">
            <a:avLst>
              <a:gd name="adj" fmla="val 2535"/>
            </a:avLst>
          </a:prstGeom>
          <a:solidFill>
            <a:srgbClr val="10333F"/>
          </a:solidFill>
          <a:ln/>
        </p:spPr>
      </p:sp>
      <p:sp>
        <p:nvSpPr>
          <p:cNvPr id="7" name="Shape 5"/>
          <p:cNvSpPr/>
          <p:nvPr/>
        </p:nvSpPr>
        <p:spPr>
          <a:xfrm>
            <a:off x="1014984" y="2240280"/>
            <a:ext cx="530352" cy="530352"/>
          </a:xfrm>
          <a:prstGeom prst="ellipse">
            <a:avLst/>
          </a:prstGeom>
          <a:solidFill>
            <a:srgbClr val="0E6F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" y="237286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73352" y="2258568"/>
            <a:ext cx="390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Каталоги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014984" y="2926080"/>
            <a:ext cx="452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Сгруппируйте документы по темам или подразделениям, а не складывайте всё в одну папку. Достаточно двух-трёх понятных групп.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14984" y="3675888"/>
            <a:ext cx="1361389" cy="877824"/>
          </a:xfrm>
          <a:prstGeom prst="roundRect">
            <a:avLst>
              <a:gd name="adj" fmla="val 8333"/>
            </a:avLst>
          </a:prstGeom>
          <a:solidFill>
            <a:srgbClr val="08202C"/>
          </a:solidFill>
          <a:ln w="12700">
            <a:solidFill>
              <a:srgbClr val="0A505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231" y="38221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69848" y="4169664"/>
            <a:ext cx="125166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Договоры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595829" y="3675888"/>
            <a:ext cx="1361389" cy="877824"/>
          </a:xfrm>
          <a:prstGeom prst="roundRect">
            <a:avLst>
              <a:gd name="adj" fmla="val 8333"/>
            </a:avLst>
          </a:prstGeom>
          <a:solidFill>
            <a:srgbClr val="08202C"/>
          </a:solidFill>
          <a:ln w="12700">
            <a:solidFill>
              <a:srgbClr val="0A505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076" y="382219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650693" y="4169664"/>
            <a:ext cx="125166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Регламенты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176674" y="3675888"/>
            <a:ext cx="1361389" cy="877824"/>
          </a:xfrm>
          <a:prstGeom prst="roundRect">
            <a:avLst>
              <a:gd name="adj" fmla="val 8333"/>
            </a:avLst>
          </a:prstGeom>
          <a:solidFill>
            <a:srgbClr val="08202C"/>
          </a:solidFill>
          <a:ln w="12700">
            <a:solidFill>
              <a:srgbClr val="0A505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921" y="382219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231538" y="4169664"/>
            <a:ext cx="125166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1014984" y="4791456"/>
            <a:ext cx="452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влияет на то, где платформа ищет ответ.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324448" y="1965960"/>
            <a:ext cx="5181448" cy="3246120"/>
          </a:xfrm>
          <a:prstGeom prst="roundRect">
            <a:avLst>
              <a:gd name="adj" fmla="val 2535"/>
            </a:avLst>
          </a:prstGeom>
          <a:solidFill>
            <a:srgbClr val="10333F"/>
          </a:solidFill>
          <a:ln/>
        </p:spPr>
      </p:sp>
      <p:sp>
        <p:nvSpPr>
          <p:cNvPr id="22" name="Shape 16"/>
          <p:cNvSpPr/>
          <p:nvPr/>
        </p:nvSpPr>
        <p:spPr>
          <a:xfrm>
            <a:off x="6653632" y="2240280"/>
            <a:ext cx="530352" cy="530352"/>
          </a:xfrm>
          <a:prstGeom prst="ellipse">
            <a:avLst/>
          </a:prstGeom>
          <a:solidFill>
            <a:srgbClr val="E4573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220" y="2372868"/>
            <a:ext cx="265176" cy="26517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312000" y="2258568"/>
            <a:ext cx="390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 доступа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6653632" y="2926080"/>
            <a:ext cx="452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видит только то, на что у него есть право, — даже если в платформу загружено больше. Наметьте одну-две роли с разным доступом.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8707831" y="35661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9942271" y="35661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6653632" y="3840480"/>
            <a:ext cx="196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Договоры</a:t>
            </a:r>
            <a:endParaRPr lang="en-US" sz="11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6179" y="3858768"/>
            <a:ext cx="237744" cy="237744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0619" y="3858768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653632" y="4151376"/>
            <a:ext cx="196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Регламенты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6179" y="4169664"/>
            <a:ext cx="237744" cy="237744"/>
          </a:xfrm>
          <a:prstGeom prst="rect">
            <a:avLst/>
          </a:prstGeom>
        </p:spPr>
      </p:pic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0619" y="4169664"/>
            <a:ext cx="237744" cy="237744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653632" y="4462272"/>
            <a:ext cx="196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</a:t>
            </a:r>
            <a:endParaRPr lang="en-US" sz="11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6179" y="4480560"/>
            <a:ext cx="237744" cy="237744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40619" y="4480560"/>
            <a:ext cx="237744" cy="237744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6653632" y="4846320"/>
            <a:ext cx="452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вопрос, две роли — два разных ответа.</a:t>
            </a:r>
            <a:endParaRPr lang="en-US" sz="1100" dirty="0"/>
          </a:p>
        </p:txBody>
      </p:sp>
      <p:sp>
        <p:nvSpPr>
          <p:cNvPr id="38" name="Text 25"/>
          <p:cNvSpPr txBox="1"/>
          <p:nvPr/>
        </p:nvSpPr>
        <p:spPr>
          <a:xfrm>
            <a:off x="685800" y="54864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4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стоит показать на демо: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разграничение доступа работает до того, как ответ будет собран, — недоступный документ не попадает в ответ вообще, а не вырезается из него задним числом.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9456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4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ФОРМАТЫ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8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учесть перед отправкой файлов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43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вещь, о которой лучше договориться заранее, чтобы на демо не оказалось документов, с которыми платформа не сможет работать.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227168" cy="2286000"/>
          </a:xfrm>
          <a:prstGeom prst="roundRect">
            <a:avLst>
              <a:gd name="adj" fmla="val 3600"/>
            </a:avLst>
          </a:prstGeom>
          <a:solidFill>
            <a:srgbClr val="E4EFF0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2267712"/>
            <a:ext cx="566928" cy="566928"/>
          </a:xfrm>
          <a:prstGeom prst="ellipse">
            <a:avLst/>
          </a:prstGeom>
          <a:solidFill>
            <a:srgbClr val="0E6F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2409444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28216" y="2286000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Подойдёт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033272" y="2999232"/>
            <a:ext cx="453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офисные форматы и текстовые документы — всё, что содержит текст как текст. Простая проверка: если содержимое файла можно выделить курсором и скопировать, платформа его обработает.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8728" y="1965960"/>
            <a:ext cx="5227168" cy="2286000"/>
          </a:xfrm>
          <a:prstGeom prst="roundRect">
            <a:avLst>
              <a:gd name="adj" fmla="val 3600"/>
            </a:avLst>
          </a:prstGeom>
          <a:solidFill>
            <a:srgbClr val="FBEAE5"/>
          </a:solidFill>
          <a:ln w="12700">
            <a:solidFill>
              <a:srgbClr val="F0C6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26200" y="2267712"/>
            <a:ext cx="566928" cy="566928"/>
          </a:xfrm>
          <a:prstGeom prst="ellipse">
            <a:avLst/>
          </a:prstGeom>
          <a:solidFill>
            <a:srgbClr val="E457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932" y="2409444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21144" y="2212848"/>
            <a:ext cx="385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подойдёт: сканы без текстового слоя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626200" y="2999232"/>
            <a:ext cx="453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 или фотография страницы — для платформы просто картинка. Распознавание текста с изображений не поддерживается: такой документ будет помечен как необработанный и в поиск не попадёт.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85800" y="4572000"/>
            <a:ext cx="10820095" cy="0"/>
          </a:xfrm>
          <a:prstGeom prst="line">
            <a:avLst/>
          </a:prstGeom>
          <a:noFill/>
          <a:ln w="12700">
            <a:solidFill>
              <a:srgbClr val="D7E2E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47548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70" kern="0" dirty="0">
                <a:solidFill>
                  <a:srgbClr val="7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ЧЕК-ЛИСТ ПЕРЕД ОТПРАВКОЙ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0235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5800" y="5559552"/>
            <a:ext cx="336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Выборочно проверьте файлы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5852160"/>
            <a:ext cx="336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несколько документов и попробуйте выделить текст мышью. Не выделяется — это картинка.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418" y="510235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14418" y="5559552"/>
            <a:ext cx="336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Уберите дубли и черновики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414418" y="5852160"/>
            <a:ext cx="336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Старые редакции попадают в поиск наравне с актуальными и могут смешаться в одном ответе.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037" y="5102352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143037" y="5559552"/>
            <a:ext cx="3362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Отметьте актуальные версии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8143037" y="5852160"/>
            <a:ext cx="336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у документа есть несколько редакций, скажите нам, какая действующая.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9456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4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произойдёт после загрузки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43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F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передачи файлов до готовности отвечать на ваши вопросы — три шага.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3362858" cy="2633472"/>
          </a:xfrm>
          <a:prstGeom prst="roundRect">
            <a:avLst>
              <a:gd name="adj" fmla="val 3125"/>
            </a:avLst>
          </a:prstGeom>
          <a:solidFill>
            <a:srgbClr val="10333F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2395728"/>
            <a:ext cx="566928" cy="566928"/>
          </a:xfrm>
          <a:prstGeom prst="ellipse">
            <a:avLst/>
          </a:prstGeom>
          <a:solidFill>
            <a:srgbClr val="0E6F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253746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508760" y="2322576"/>
            <a:ext cx="310896" cy="310896"/>
          </a:xfrm>
          <a:prstGeom prst="ellipse">
            <a:avLst/>
          </a:prstGeom>
          <a:solidFill>
            <a:srgbClr val="E457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0876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4" dirty="0"/>
          </a:p>
        </p:txBody>
      </p:sp>
      <p:sp>
        <p:nvSpPr>
          <p:cNvPr id="11" name="Text 8"/>
          <p:cNvSpPr txBox="1"/>
          <p:nvPr/>
        </p:nvSpPr>
        <p:spPr>
          <a:xfrm>
            <a:off x="1033272" y="3127248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передаёте срез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1033272" y="3803904"/>
            <a:ext cx="26679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Два-три каталога с реальными документами, несколько документов на общую тему и одна-две роли с разным доступом.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03522" y="3310128"/>
            <a:ext cx="256032" cy="0"/>
          </a:xfrm>
          <a:prstGeom prst="line">
            <a:avLst/>
          </a:prstGeom>
          <a:noFill/>
          <a:ln w="19050">
            <a:solidFill>
              <a:srgbClr val="0A505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414418" y="2103120"/>
            <a:ext cx="3362858" cy="2633472"/>
          </a:xfrm>
          <a:prstGeom prst="roundRect">
            <a:avLst>
              <a:gd name="adj" fmla="val 3125"/>
            </a:avLst>
          </a:prstGeom>
          <a:solidFill>
            <a:srgbClr val="10333F"/>
          </a:solidFill>
          <a:ln/>
        </p:spPr>
      </p:sp>
      <p:sp>
        <p:nvSpPr>
          <p:cNvPr id="15" name="Shape 12"/>
          <p:cNvSpPr/>
          <p:nvPr/>
        </p:nvSpPr>
        <p:spPr>
          <a:xfrm>
            <a:off x="4761890" y="2395728"/>
            <a:ext cx="566928" cy="566928"/>
          </a:xfrm>
          <a:prstGeom prst="ellipse">
            <a:avLst/>
          </a:prstGeom>
          <a:solidFill>
            <a:srgbClr val="0E6F7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622" y="2537460"/>
            <a:ext cx="283464" cy="28346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237378" y="2322576"/>
            <a:ext cx="310896" cy="310896"/>
          </a:xfrm>
          <a:prstGeom prst="ellipse">
            <a:avLst/>
          </a:prstGeom>
          <a:solidFill>
            <a:srgbClr val="E457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237378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4" dirty="0"/>
          </a:p>
        </p:txBody>
      </p:sp>
      <p:sp>
        <p:nvSpPr>
          <p:cNvPr id="19" name="Text 15"/>
          <p:cNvSpPr txBox="1"/>
          <p:nvPr/>
        </p:nvSpPr>
        <p:spPr>
          <a:xfrm>
            <a:off x="4761890" y="3127248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загружаем и индексируем</a:t>
            </a:r>
            <a:endParaRPr lang="en-US" sz="1550" dirty="0"/>
          </a:p>
        </p:txBody>
      </p:sp>
      <p:sp>
        <p:nvSpPr>
          <p:cNvPr id="20" name="Text 16"/>
          <p:cNvSpPr txBox="1"/>
          <p:nvPr/>
        </p:nvSpPr>
        <p:spPr>
          <a:xfrm>
            <a:off x="4761890" y="3803904"/>
            <a:ext cx="26679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разбираются на смысловые куски и превращаются в отпечатки смысла. Дальше поиск идёт уже по готовому индексу.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832141" y="3310128"/>
            <a:ext cx="256032" cy="0"/>
          </a:xfrm>
          <a:prstGeom prst="line">
            <a:avLst/>
          </a:prstGeom>
          <a:noFill/>
          <a:ln w="19050">
            <a:solidFill>
              <a:srgbClr val="0A5058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8143037" y="2103120"/>
            <a:ext cx="3362858" cy="2633472"/>
          </a:xfrm>
          <a:prstGeom prst="roundRect">
            <a:avLst>
              <a:gd name="adj" fmla="val 3125"/>
            </a:avLst>
          </a:prstGeom>
          <a:solidFill>
            <a:srgbClr val="10333F"/>
          </a:solidFill>
          <a:ln/>
        </p:spPr>
      </p:sp>
      <p:sp>
        <p:nvSpPr>
          <p:cNvPr id="23" name="Shape 19"/>
          <p:cNvSpPr/>
          <p:nvPr/>
        </p:nvSpPr>
        <p:spPr>
          <a:xfrm>
            <a:off x="8490509" y="2395728"/>
            <a:ext cx="566928" cy="566928"/>
          </a:xfrm>
          <a:prstGeom prst="ellipse">
            <a:avLst/>
          </a:prstGeom>
          <a:solidFill>
            <a:srgbClr val="0E6F7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241" y="2537460"/>
            <a:ext cx="283464" cy="28346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965997" y="2322576"/>
            <a:ext cx="310896" cy="310896"/>
          </a:xfrm>
          <a:prstGeom prst="ellipse">
            <a:avLst/>
          </a:prstGeom>
          <a:solidFill>
            <a:srgbClr val="E4573C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65997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4" dirty="0"/>
          </a:p>
        </p:txBody>
      </p:sp>
      <p:sp>
        <p:nvSpPr>
          <p:cNvPr id="27" name="Text 22"/>
          <p:cNvSpPr txBox="1"/>
          <p:nvPr/>
        </p:nvSpPr>
        <p:spPr>
          <a:xfrm>
            <a:off x="8490509" y="3127248"/>
            <a:ext cx="2667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Проходим по вашим вопросам</a:t>
            </a:r>
            <a:endParaRPr lang="en-US" sz="1550" dirty="0"/>
          </a:p>
        </p:txBody>
      </p:sp>
      <p:sp>
        <p:nvSpPr>
          <p:cNvPr id="28" name="Text 23"/>
          <p:cNvSpPr txBox="1"/>
          <p:nvPr/>
        </p:nvSpPr>
        <p:spPr>
          <a:xfrm>
            <a:off x="8490509" y="3803904"/>
            <a:ext cx="26679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идёт не по сценарию, а по вашему списку рабочих вопросов — включая те, которые вы придумаете прямо на встрече.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685800" y="4901184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Заодно на демонстрации будет видна и остальная часть маршрута: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прав доступа до того, как ответ собран, и обезличивание персональных данных перед обращением к модели.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85800" y="5468112"/>
            <a:ext cx="10820095" cy="621792"/>
          </a:xfrm>
          <a:prstGeom prst="roundRect">
            <a:avLst>
              <a:gd name="adj" fmla="val 13235"/>
            </a:avLst>
          </a:prstGeom>
          <a:solidFill>
            <a:srgbClr val="E4573C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5623560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545336" y="5504688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Предлагаем начать со списка каталогов и ответственных за них.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685800" y="62727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6D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ITQ Group  ·  ООО «АйТиКью Про»  ·  платформа «Камерата»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ООО «АйТиКью Про»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Камерата — подготовка документов к демонстрации</dc:title>
  <dc:subject>PptxGenJS Presentation</dc:subject>
  <dc:creator>ITQ Group</dc:creator>
  <cp:lastModifiedBy>ITQ Group</cp:lastModifiedBy>
  <cp:revision>1</cp:revision>
  <dcterms:created xsi:type="dcterms:W3CDTF">2026-09-09T08:35:51Z</dcterms:created>
  <dcterms:modified xsi:type="dcterms:W3CDTF">2026-09-09T08:35:51Z</dcterms:modified>
</cp:coreProperties>
</file>