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первая из пяти частей учебного цикла по платформе. Цель части 1 — дать прочный концептуальный фундамент: что такое LLM и RAG, из каких шагов состоит пайплайн поиска и генерации ответа, и где в этом пайплайне встроена защита данных. Все последующие части (2–5) будут опираться на термины и схему, введённые здесь, поэтому имеет смысл изучать материал не бегло, а вдумчиво, при необходимости возвращаясь к глоссарию (слайд 23) и итоговой схеме (слайд 22). Материал построен на собственной документации проекта — онбординге и базе знаний по платформе — а не только на общих представлениях об 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список идентичен во всех пяти частях цикла — так удобнее ориентироваться, независимо от того, в каком порядке материалы изучаются. Часть 1 (эта) — единственная в цикле, где разбираются общие принципы LLM и RAG без привязки к конкретной платформе; начиная с части 2 весь материал будет про конкретную реализацию — её интерфейс, архитектуру, реальные экраны и ограничения, зафиксированные в документации по RFI-ответам вендора. Если какой-то термин из частей 2–5 покажется незнакомым, стоит вернуться сюда, в глоссарий (слайд 23) или в итоговую схему (слайд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Ключевая мысль этого слайда: задача, которую решает вся платформа, — не «сделать ИИ умнее вообще», а «дать ИИ доступ именно к тем документам компании, на которые у конкретного пользователя есть права, и сделать так, чтобы он отвечал по ним, а не по общим знаниям из интернета». Это и есть RAG — Retrieval-Augmented Generation, «генерация, дополненная поиском». Важно, что проверка прав доступа — не постфактум-фильтр ответа, а происходит на самом раннем этапе, до того как текст вообще попадёт в модель; это будет подробно раскрыто на слайде 15 и ещё глубже — в части 4 цикла.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Технически LLM — это нейросеть-трансформер, обученная в два этапа: сперва предсказывать следующий токен на огромном корпусе текста (предобучение), затем — дообученная отвечать в формате диалога и следовать инструкциям (инструктивная настройка/RLHF). «Токен» — не всегда целое слово: длинные слова могут разбиваться на несколько токенов, короткие слова и пробелы могут склеиваться в один. Важно для интуиции: модель не хранит ответы в виде готовой базы фактов — она генерирует текст заново на каждом шаге, поэтому один и тот же вопрос, заданный дважды, может дать чуть разные по формулировке (а иногда и по сути) ответы. Это прямое следствие вероятностной природы генерации и подводит к следующему слайду — ограничениям «голой»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три ограничения имеют одну общую причину — модель отвечает исключительно из «памяти», зашитой в её веса во время обучения, у неё нет способа заглянуть во внешний источник фактов, если её этому специально не научили. Отсюда следует важный практический вывод для пользователя платформы: если система в ответе указывает источник — конкретный документ и фрагмент — это явный признак того, что сработал RAG-контур, а не сырая генерация «из головы». И наоборот: ответ без ссылки на источник по вопросу, для которого источник должен был найтись, — повод насторожиться и перепроверить.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Важное уточнение: RAG не «дообучает» модель на документах компании — веса модели не меняются. Вместо этого нужный фрагмент текста просто подкладывается в сам запрос к модели («в контекст») прямо в момент вопроса — как если бы вы сами вставили в чат нужный абзац регламента перед тем, как спросить. Это принципиально дешевле и быстрее переобучения, и — что важно для безопасности — обратимо: закрыли доступ к документу или обновили его — и в следующий раз он либо не найдётся, либо найдётся уже в новой версии, без необходимости что-либо «забывать» из весов модели.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Эта четырёхшаговая схема — намеренное упрощение для первого знакомства. На следующих 14 слайдах шаг «Поиск» будет разложен на составляющие: чанкинг и эмбеддинги (подготовка документов заранее, ещё до вопроса пользователя), а затем гибридный поиск, top-K и реранкинг с судьёй (уже в момент самого вопроса). Плюс два слоя, которые физически стоят внутри пайплайна, но не сводятся к «поиску» в узком смысле — проверка прав доступа (до того, как что-либо попадёт дальше) и маскирование чувствительных данных (перед тем, как текст покинет периметр компании, если модель внешняя). Полная сборка всех шагов вместе — слайд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Разбивка на чанки — первый из этапов «индексации», то есть подготовки документов, которая происходит заранее, ещё до того как пользователь задал вопрос (в отличие от поиска и генерации ответа, которые происходят уже в момент вопроса). Размер чанка — важный параметр настройки: слишком мелкие чанки теряют контекст (предложение вне абзаца может быть двусмысленным), слишком крупные — снова возвращают проблему «размытой» релевантности. На практике границы чанков стараются проводить по естественным границам документа — абзацам, пунктам, разделам, — а не резать текст механически каждые N символов. Пример с «Риск-профилями клиентов» взят из разбора реального лога работы агента (кейс D8-014): агент доставал именно нужный фрагмент регламента лимитов, а не весь документ.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bge-m3 — конкретная модель эмбеддингов, поставляемая в составе платформы (наряду с jina-code для кода): 568 млн параметров, размерность вектора 1024, максимальная длина входа 8192 токена. «Работает на CPU» не значит «работает без ограничений» — скорость индексации по факту зависит от наличия GPU в контуре: без ускорителя обработка документа занимает больше времени (в задокументированном диапазоне это от 2 до 50 секунд на документ в зависимости от размера и загрузки), но принципиальной необходимости в GPU для самого шага векторизации нет. Это отдельный сайзинг от сайзинга платформы в целом (8–16 vCPU, 32–64 ГБ ОЗУ, 200 ГБ диска) — путать эти два числа с требованиями к инфраструктуре под саму большую языковую модель (для локального размещения — уровня 2×A100, 80–160 ГБ VRAM) в коммерческих материалах уже случалось, и это зафиксированный в проекте риск.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Технически cosine-близость двух векторов вычисляется как косинус угла между ними — то есть скалярное произведение векторов, поделённое на произведение их длин; результат не зависит от «длины» вектора, только от направления, что удобно для сравнения смысла независимо от длины исходного текста. Это не единственная метрика близости (есть также евклидово расстояние, скалярное произведение без нормализации и т. д.), но cosine — самая распространённая для текстовых эмбеддингов и именно она используется в связке с моделями вроде bge-m3 и векторными базами вроде Qdrant. Термин попадёт в глоссарий (слайд 23) и пригодится при изучении части про калибровку поиска платформы, где пороги уверенности (0.35 / 0.60) настраиваются администратором напрямую.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Qdrant — открытое (open-source) специализированное хранилище векторов, использующее приближённый поиск ближайших соседей (ANN, approximate nearest neighbours) — компромисс между точностью и скоростью, который позволяет искать по миллионам векторов за миллисекунды, не перебирая их все по очереди. В требованиях к развёртыванию платформы Qdrant указан наравне с PostgreSQL и S3-совместимым объектным хранилищем как одно из трёх типов хранилищ инфраструктуры (группа «Хранилища», ориентировочно 8–16 vCPU, 32–128 ГБ ОЗУ, от 200 ГБ диска — совместно с остальными хранилищами данной группы). Важно для интуиции: векторная база — не замена обычным базам данных компании, а дополнительный, специализированный слой именно для семантического поиска.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Полезная интуиция: лексический поиск («по словам») — это в первую очередь про надёжность на точных, формальных сущностях (номер договора, ИНН, конкретный технический термин), а семантический — про устойчивость к тому, как именно человек сформулировал вопрос. В реальных корпоративных вопросах часто нужны оба режима сразу: например, вопрос «какие штрафы за просрочку по 214-ФЗ» одновременно содержит точный номер закона (лексика) и смысловую формулировку «штрафы за просрочку» (семантика, которая может в документе называться «неустойка» или «пеня»). Именно поэтому ни один из двух способов поиска по отдельности не считается production-достаточным в зрелых RAG-системах.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Конкретное числовое соотношение весов (например, 0.7 к 0.3) — настраиваемый параметр политики поиска, а не физическая константа: соотношение можно и нужно калибровать под конкретный корпус документов и типичные формулировки вопросов пользователей. Смысл цифры в другом: разработчики системы по умолчанию явно закладывают приоритет смысловой близости над дословным совпадением, потому что реальные вопросы сотрудников почти никогда не повторяют формулировки регламентов слово в слово. Технически итоговая оценка релевантности чанка — это взвешенная сумма (или похожая функция объединения) оценки от векторного поиска и оценки от лексического поиска (например, BM25-подобного алгоритма), после чего результаты сортируются по этой общей оценке и передаются дальше — на шаг top-K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Число K — настраиваемый параметр, а не жёстко фиксированная константа: значение около 5 — типичный практический баланс между «достаточно контекста, чтобы ответить полно» и «не перегружать модель избыточным, менее релевантным материалом». Слишком маленький K рискует не захватить нужный, но чуть ниже по рангу фрагмент; слишком большой — увеличивает стоимость запроса (больше токенов на вход) и может снизить качество ответа за счёт «шума» от менее подходящих кусков. На top-K влияет всё, что было до него в пайплайне: если гибридный поиск (шаг 4) отранжировал неверно, top-K лишь аккуратно отрежет уже искажённый список — поэтому качество этого шага критически зависит от качества предыдущего.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Разница между обычным (векторным) поиском и реранкером — в архитектуре моделей. Векторный поиск использует bi-encoder: вопрос и чанк кодируются в векторы независимо друг от друга, а затем сравниваются простой формулой (cosine-близость) — это и позволяет заранее проиндексировать миллионы чанков и искать по ним очень быстро. Реранкер — cross-encoder: он получает пару «вопрос + чанк» одновременно и пропускает их через модель вместе, что позволяет уловить более тонкие взаимосвязи, но не масштабируется на миллионы пар — поэтому и применяется только к уже суженному списку кандидатов. В конфигурации платформы это выглядит как отдельный настраиваемый экран (сравнение моделей реранкинга, порог max_length=512), то есть это не «чёрный ящик», а калибруемый компонент.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Пороги 0.35 и 0.60 — конкретный пример калибровки, зафиксированный в документации по интерфейсу платформы (экран «Калибровка → Политики поиска»); это настраиваемые значения, а не универсальная константа RAG вообще. Важно различать: реранкер (шаг 6) — это про порядок уже найденных кандидатов, а судья (шаг 7) — это про принципиальное решение «годится ли вообще хоть что-то из найденного для ответа». Если судья решает, что нет — система не выдаёт неуверенный ответ как есть, а инициирует повторный поиск в другом источнике (например, если не нашла в документах — пробует в коде) с тем же вопросом. Важная оговорка из практики проекта: этот механизм самокоррекции покрывает случаи «не нашли» или «нашли не то», но не покрывает случаи «нашли и даже сформировали технический запрос (например, SQL) к данным, но сам запрос сломался при выполнении» — это отдельный класс сбоя.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один из самых важных архитектурных принципов всей платформы, и его стоит запомнить дословно: разграничение доступа применяется до обезличивания, а не вместо него. Смысл в том, что маскирование персональных данных (следующий слайд) решает другую задачу — прячет конкретные значения (ФИО, номер счёта) от внешней модели, — но не решает задачу «должен ли этот пользователь вообще видеть, что такая запись существует». Обе проверки нужны одновременно и в правильном порядке: сначала — есть ли доступ вообще (да/нет на уровне записи), и только затем, если доступ есть, но данные всё равно уходят во внешнюю модель — маскирование конкретных значений. Полная механика (домен на профиле/команде, роль Domain Only Access Role, частые заблуждения про «владельцев домена») будет разобрана в части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анонс части 3 цикла («Защита данных: PII Shield и DLP»), где механизм обнаружения ПДн будет разобран подробно: три параллельных механизма обнаружения (аннотации каталога метаданных, свыше 250 формальных правил для типизированных идентификаторов, NER для свободного текста на русском и английском отдельно), 20 встроенных типов ПДн и отдельный DLP-механизм для коммерческой тайны (не персональных данных), который работает по другому принципу — смысловая близость к базе защищаемых сведений с порогами PASS/REVIEW/BLOCK. Важная оговорка на будущее: PII-маскирование и коммерческая тайна — разные по природе объекты защиты, и не всё, что относится к коммерческой тайне компании, ловится PII-детектором в принципе (финансовые показатели, условия сделок — это не персональные данные).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TTL (time to live) 60 минут — значение по умолчанию, настраиваемое администратором; смысл ограничения по времени в том, чтобы соответствие «метка → значение» не накапливалось бессрочно и не превращалось в отдельный риск утечки само по себе. После истечения TTL или завершения сессии таблица для этой сессии перестаёт быть доступной для обратной подстановки — то есть восстановить исходные значения в уже сформированном ответе получится только пока сессия и её TTL ещё активны. «Fail-closed, без тихого отката» — важный принцип надёжности: если компонент, отвечающий за таблицу соответствий, не может гарантированно работать, система скорее откажет в обслуживании, чем начнёт передавать данные в менее защищённом виде без явного уведомления администратора.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Формирование ответа — финальный шаг retrieval-цепочки, но не финальный шаг всего пайплайна: если исходные данные были обезличены на шаге маскирования (слайд 18), то перед показом ответа пользователю системе ещё предстоит решить, восстанавливать ли метки обратно в реальные значения — это зависит от того, есть ли у конкретного пользователя право видеть эти данные в открытом виде (см. слайд 17). Если право есть — метки в ответе меняются обратно по той самой таблице соответствий; если права нет — метки останутся метками даже в финальном тексте, который видит пользователь. Указание источника документа-текста также помогает выявлять брешь версионирования: если регламент был обновлён, а чанк в индексе — нет, ссылка на источник хотя бы позволяет вручную сверить дату актуальности документа.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Режим журналирования по умолчанию — «только добавление» (append-only): записи нельзя задним числом изменить или удалить, что важно для аудита и расследования инцидентов. По умолчанию хранится обезличенный текст и категории найденных сущностей, а не сами значения; отдельный, полностью зашифрованный режим с сырыми ПДн — явно включаемая опция с собственным сроком хранения (по умолчанию 90 суток). Практическая проверка соответствия маскирования на практике происходит именно через журнал: специальный «Журнал LLM-сессий» с колонками «Оригинал»/«Анонимизировано» и построчными «Маппингами» — но сам этот журнал доступен только сотрудникам ИБ с соответствующими правами, а не рядовым пользователям чата.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Эта схема сознательно избыточна по деталям по сравнению со слайдом 7 — она предназначена как справочный «постер», к которому можно возвращаться после изучения деталей на слайдах 8–21, а не как первое знакомство с темой. Обратите внимание на порядок: проверка доступа стоит сразу после вопроса, ещё до самого поиска по смыслу — это не ошибка компоновки, а прямое отражение принципа «доступ проверяется до обезличивания и до того, как результат попадёт в модель» (слайд 17). LLM-судья и маскирование показаны как условные шаги («если нужно» / «если внешняя модель») — потому что они включаются не всегда: судья — только для пограничных случаев уверенности, маскирование — обязательно для внешних моделей и опционально для полностью локальных.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глоссарий стоит держать под рукой при изучении оставшихся частей цикла — начиная с части 2 все эти термины будут использоваться без повторного объяснения, уже применительно к конкретным экранам платформы (например, «топ-50 кандидатов» на экране реранкинга Базы секретов, или пороги 0.75/0.88 для DLP-детекции, устроенные по тому же принципу трёх зон, что и пороги реранкинга/судьи на слайде 16). Более широкий глоссарий проекта (включая термины retrieval-тюнинга — интент, реплан, роутинг) находится в базе знаний отдельным документом и может пригодиться, если понадобится ещё больше деталей, чем уместилось в этой презентации.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Четвёртое заблуждение специально сформулировано осторожнее остальных: указание источника — сильный сигнал добросовестности ответа (он резко снижает вероятность «чистой» галлюцинации из общих знаний модели), но не является формальной гарантией фактической точности синтеза, особенно если модель обобщает сразу несколько фрагментов или если в исходном чанке уже была ошибка. На практике для критичных решений (например, юридических или финансовых последствий) стоит открывать указанный источник и проверять формулировку вручную — платформа облегчает эту проверку тем, что источник всегда указан явно, а не «спрятан» внутри ответа.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Идея этого слайда — явно закрыть «зачем нам вообще была нужна эта теория» перед тем, как цикл перейдёт к конкретике. Практический совет для самостоятельного изучения: при чтении частей 2–5 полезно держать в голове именно эту схему соответствия — если встретится незнакомый экран или термин платформы, почти наверняка он окажется конкретной реализацией одного из шагов, разобранных в частях 1 (эта презентация). Например, экран «Калибровка → Политики поиска» из части 2 — это прямое продолжение слайдов 13, 16 этой презентации (веса гибридного поиска, пороги реплана и судьи), просто увиденное уже как настоящий интерфейс, а не общая схема.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из всей презентации нужно унести только одну мысль — вот она: RAG превращает LLM из «умного собеседника с общими знаниями» в «умного собеседника, отвечающего строго по документам компании, с проверкой прав на каждый документ и защитой чувствительных данных на каждом шаге». Каждый из шести тезисов на этом слайде разворачивается в отдельный набор слайдов выше — если какой-то пункт вызывает вопрос, стоит вернуться к соответствующему разделу (тезисы идут примерно в том же порядке, что и содержание презентации) прежде чем переходить к части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Часть 2 продолжит именно с того места, где закончилась эта презентация: та же терминология (чанк, эмбеддинг, top-K, гибридный поиск, реранкер, судья, TTL) будет использоваться уже применительно к конкретным экранам платформы «Камерата» — без повторного объяснения базовых понятий. Рекомендация для самостоятельного изучения: прежде чем переходить к части 2, стоит убедиться, что глоссарий (слайд 23) и итоговая схема пайплайна (слайд 22) не вызывают вопросов — весь дальнейший цикл выстроен на этом фундаменте, и пробелы здесь будут только накапливаться дальше.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slideLayout" Target="../slideLayouts/slideLayout1.xml"/><Relationship Id="rId1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024E56"/>
          </a:solidFill>
          <a:ln/>
        </p:spPr>
      </p:sp>
      <p:sp>
        <p:nvSpPr>
          <p:cNvPr id="3" name="Shape 1"/>
          <p:cNvSpPr/>
          <p:nvPr/>
        </p:nvSpPr>
        <p:spPr>
          <a:xfrm>
            <a:off x="10607040" y="4206240"/>
            <a:ext cx="3108960" cy="3108960"/>
          </a:xfrm>
          <a:prstGeom prst="ellipse">
            <a:avLst/>
          </a:prstGeom>
          <a:solidFill>
            <a:srgbClr val="024954"/>
          </a:solidFill>
          <a:ln/>
        </p:spPr>
      </p:sp>
      <p:sp>
        <p:nvSpPr>
          <p:cNvPr id="4" name="Shape 2"/>
          <p:cNvSpPr/>
          <p:nvPr/>
        </p:nvSpPr>
        <p:spPr>
          <a:xfrm>
            <a:off x="640080" y="685800"/>
            <a:ext cx="3200400" cy="365760"/>
          </a:xfrm>
          <a:prstGeom prst="roundRect">
            <a:avLst>
              <a:gd name="adj" fmla="val 50000"/>
            </a:avLst>
          </a:prstGeom>
          <a:solidFill>
            <a:srgbClr val="02C39A"/>
          </a:solidFill>
          <a:ln/>
        </p:spPr>
      </p:sp>
      <p:sp>
        <p:nvSpPr>
          <p:cNvPr id="5" name="Text 3"/>
          <p:cNvSpPr/>
          <p:nvPr/>
        </p:nvSpPr>
        <p:spPr>
          <a:xfrm>
            <a:off x="640080" y="685800"/>
            <a:ext cx="3200400" cy="365760"/>
          </a:xfrm>
          <a:prstGeom prst="rect">
            <a:avLst/>
          </a:prstGeom>
          <a:noFill/>
          <a:ln/>
        </p:spPr>
        <p:txBody>
          <a:bodyPr wrap="square" lIns="0" tIns="0" rIns="0" bIns="0" rtlCol="0" anchor="ctr"/>
          <a:lstStyle/>
          <a:p>
            <a:pPr algn="ctr" indent="0" marL="0">
              <a:buNone/>
            </a:pPr>
            <a:r>
              <a:rPr lang="en-US" sz="1200" b="1" spc="100" kern="0" dirty="0">
                <a:solidFill>
                  <a:srgbClr val="013A40"/>
                </a:solidFill>
                <a:latin typeface="Calibri" pitchFamily="34" charset="0"/>
                <a:ea typeface="Calibri" pitchFamily="34" charset="-122"/>
                <a:cs typeface="Calibri" pitchFamily="34" charset="-120"/>
              </a:rPr>
              <a:t>ОБРАЗОВАТЕЛЬНЫЙ ЦИКЛ · 5 ЧАСТЕЙ</a:t>
            </a:r>
            <a:endParaRPr lang="en-US" sz="1200" dirty="0"/>
          </a:p>
        </p:txBody>
      </p:sp>
      <p:sp>
        <p:nvSpPr>
          <p:cNvPr id="6" name="Text 4"/>
          <p:cNvSpPr/>
          <p:nvPr/>
        </p:nvSpPr>
        <p:spPr>
          <a:xfrm>
            <a:off x="594360" y="1371600"/>
            <a:ext cx="9144000" cy="640080"/>
          </a:xfrm>
          <a:prstGeom prst="rect">
            <a:avLst/>
          </a:prstGeom>
          <a:noFill/>
          <a:ln/>
        </p:spPr>
        <p:txBody>
          <a:bodyPr wrap="square" lIns="0" tIns="0" rIns="0" bIns="0" rtlCol="0" anchor="ctr"/>
          <a:lstStyle/>
          <a:p>
            <a:pPr indent="0" marL="0">
              <a:buNone/>
            </a:pPr>
            <a:r>
              <a:rPr lang="en-US" sz="2600" b="1" dirty="0">
                <a:solidFill>
                  <a:srgbClr val="7FE0D3"/>
                </a:solidFill>
                <a:latin typeface="Cambria" pitchFamily="34" charset="0"/>
                <a:ea typeface="Cambria" pitchFamily="34" charset="-122"/>
                <a:cs typeface="Cambria" pitchFamily="34" charset="-120"/>
              </a:rPr>
              <a:t>Часть 1 / 5</a:t>
            </a:r>
            <a:endParaRPr lang="en-US" sz="2600" dirty="0"/>
          </a:p>
        </p:txBody>
      </p:sp>
      <p:sp>
        <p:nvSpPr>
          <p:cNvPr id="7" name="Text 5"/>
          <p:cNvSpPr/>
          <p:nvPr/>
        </p:nvSpPr>
        <p:spPr>
          <a:xfrm>
            <a:off x="548640" y="1965960"/>
            <a:ext cx="9875520" cy="19659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Фундамент: как устроены</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LLM и RAG</a:t>
            </a:r>
            <a:endParaRPr lang="en-US" sz="4600" dirty="0"/>
          </a:p>
        </p:txBody>
      </p:sp>
      <p:sp>
        <p:nvSpPr>
          <p:cNvPr id="8" name="Text 6"/>
          <p:cNvSpPr/>
          <p:nvPr/>
        </p:nvSpPr>
        <p:spPr>
          <a:xfrm>
            <a:off x="594360" y="3977640"/>
            <a:ext cx="7863840" cy="914400"/>
          </a:xfrm>
          <a:prstGeom prst="rect">
            <a:avLst/>
          </a:prstGeom>
          <a:noFill/>
          <a:ln/>
        </p:spPr>
        <p:txBody>
          <a:bodyPr wrap="square" lIns="0" tIns="0" rIns="0" bIns="0" rtlCol="0" anchor="ctr"/>
          <a:lstStyle/>
          <a:p>
            <a:pPr indent="0" marL="0">
              <a:lnSpc>
                <a:spcPct val="125000"/>
              </a:lnSpc>
              <a:buNone/>
            </a:pPr>
            <a:r>
              <a:rPr lang="en-US" sz="1500" dirty="0">
                <a:solidFill>
                  <a:srgbClr val="BFE9E2"/>
                </a:solidFill>
                <a:latin typeface="Calibri" pitchFamily="34" charset="0"/>
                <a:ea typeface="Calibri" pitchFamily="34" charset="-122"/>
                <a:cs typeface="Calibri" pitchFamily="34" charset="-120"/>
              </a:rPr>
              <a:t>Простыми словами о больших языковых моделях, поиске по смыслу и о том, как компания безопасно «скрещивает» ИИ со своими документами — с погружением в детали для тех, кто хочет разобраться глубоко.</a:t>
            </a:r>
            <a:endParaRPr lang="en-US" sz="1500" dirty="0"/>
          </a:p>
        </p:txBody>
      </p:sp>
      <p:sp>
        <p:nvSpPr>
          <p:cNvPr id="9" name="Shape 7"/>
          <p:cNvSpPr/>
          <p:nvPr/>
        </p:nvSpPr>
        <p:spPr>
          <a:xfrm>
            <a:off x="594360" y="5806440"/>
            <a:ext cx="384048" cy="384048"/>
          </a:xfrm>
          <a:prstGeom prst="ellipse">
            <a:avLst/>
          </a:prstGeom>
          <a:solidFill>
            <a:srgbClr val="02C39A"/>
          </a:solidFill>
          <a:ln/>
        </p:spPr>
      </p:sp>
      <p:sp>
        <p:nvSpPr>
          <p:cNvPr id="10" name="Text 8"/>
          <p:cNvSpPr/>
          <p:nvPr/>
        </p:nvSpPr>
        <p:spPr>
          <a:xfrm>
            <a:off x="594360" y="5806440"/>
            <a:ext cx="384048" cy="384048"/>
          </a:xfrm>
          <a:prstGeom prst="rect">
            <a:avLst/>
          </a:prstGeom>
          <a:noFill/>
          <a:ln/>
        </p:spPr>
        <p:txBody>
          <a:bodyPr wrap="square" lIns="0" tIns="0" rIns="0" bIns="0" rtlCol="0" anchor="ctr"/>
          <a:lstStyle/>
          <a:p>
            <a:pPr algn="ctr" indent="0" marL="0">
              <a:buNone/>
            </a:pPr>
            <a:r>
              <a:rPr lang="en-US" sz="1400" b="1" dirty="0">
                <a:solidFill>
                  <a:srgbClr val="013A40"/>
                </a:solidFill>
                <a:latin typeface="Calibri" pitchFamily="34" charset="0"/>
                <a:ea typeface="Calibri" pitchFamily="34" charset="-122"/>
                <a:cs typeface="Calibri" pitchFamily="34" charset="-120"/>
              </a:rPr>
              <a:t>1</a:t>
            </a:r>
            <a:endParaRPr lang="en-US" sz="1400" dirty="0"/>
          </a:p>
        </p:txBody>
      </p:sp>
      <p:sp>
        <p:nvSpPr>
          <p:cNvPr id="11" name="Shape 9"/>
          <p:cNvSpPr/>
          <p:nvPr/>
        </p:nvSpPr>
        <p:spPr>
          <a:xfrm>
            <a:off x="1161288" y="5806440"/>
            <a:ext cx="384048" cy="384048"/>
          </a:xfrm>
          <a:prstGeom prst="ellipse">
            <a:avLst/>
          </a:prstGeom>
          <a:solidFill>
            <a:srgbClr val="02555C"/>
          </a:solidFill>
          <a:ln/>
        </p:spPr>
      </p:sp>
      <p:sp>
        <p:nvSpPr>
          <p:cNvPr id="12" name="Text 10"/>
          <p:cNvSpPr/>
          <p:nvPr/>
        </p:nvSpPr>
        <p:spPr>
          <a:xfrm>
            <a:off x="1161288" y="5806440"/>
            <a:ext cx="384048" cy="384048"/>
          </a:xfrm>
          <a:prstGeom prst="rect">
            <a:avLst/>
          </a:prstGeom>
          <a:noFill/>
          <a:ln/>
        </p:spPr>
        <p:txBody>
          <a:bodyPr wrap="square" lIns="0" tIns="0" rIns="0" bIns="0" rtlCol="0" anchor="ctr"/>
          <a:lstStyle/>
          <a:p>
            <a:pPr algn="ctr" indent="0" marL="0">
              <a:buNone/>
            </a:pPr>
            <a:r>
              <a:rPr lang="en-US" sz="1400" b="1" dirty="0">
                <a:solidFill>
                  <a:srgbClr val="7FC9C0"/>
                </a:solidFill>
                <a:latin typeface="Calibri" pitchFamily="34" charset="0"/>
                <a:ea typeface="Calibri" pitchFamily="34" charset="-122"/>
                <a:cs typeface="Calibri" pitchFamily="34" charset="-120"/>
              </a:rPr>
              <a:t>2</a:t>
            </a:r>
            <a:endParaRPr lang="en-US" sz="1400" dirty="0"/>
          </a:p>
        </p:txBody>
      </p:sp>
      <p:sp>
        <p:nvSpPr>
          <p:cNvPr id="13" name="Shape 11"/>
          <p:cNvSpPr/>
          <p:nvPr/>
        </p:nvSpPr>
        <p:spPr>
          <a:xfrm>
            <a:off x="1728216" y="5806440"/>
            <a:ext cx="384048" cy="384048"/>
          </a:xfrm>
          <a:prstGeom prst="ellipse">
            <a:avLst/>
          </a:prstGeom>
          <a:solidFill>
            <a:srgbClr val="02555C"/>
          </a:solidFill>
          <a:ln/>
        </p:spPr>
      </p:sp>
      <p:sp>
        <p:nvSpPr>
          <p:cNvPr id="14" name="Text 12"/>
          <p:cNvSpPr/>
          <p:nvPr/>
        </p:nvSpPr>
        <p:spPr>
          <a:xfrm>
            <a:off x="1728216" y="5806440"/>
            <a:ext cx="384048" cy="384048"/>
          </a:xfrm>
          <a:prstGeom prst="rect">
            <a:avLst/>
          </a:prstGeom>
          <a:noFill/>
          <a:ln/>
        </p:spPr>
        <p:txBody>
          <a:bodyPr wrap="square" lIns="0" tIns="0" rIns="0" bIns="0" rtlCol="0" anchor="ctr"/>
          <a:lstStyle/>
          <a:p>
            <a:pPr algn="ctr" indent="0" marL="0">
              <a:buNone/>
            </a:pPr>
            <a:r>
              <a:rPr lang="en-US" sz="1400" b="1" dirty="0">
                <a:solidFill>
                  <a:srgbClr val="7FC9C0"/>
                </a:solidFill>
                <a:latin typeface="Calibri" pitchFamily="34" charset="0"/>
                <a:ea typeface="Calibri" pitchFamily="34" charset="-122"/>
                <a:cs typeface="Calibri" pitchFamily="34" charset="-120"/>
              </a:rPr>
              <a:t>3</a:t>
            </a:r>
            <a:endParaRPr lang="en-US" sz="1400" dirty="0"/>
          </a:p>
        </p:txBody>
      </p:sp>
      <p:sp>
        <p:nvSpPr>
          <p:cNvPr id="15" name="Shape 13"/>
          <p:cNvSpPr/>
          <p:nvPr/>
        </p:nvSpPr>
        <p:spPr>
          <a:xfrm>
            <a:off x="2295144" y="5806440"/>
            <a:ext cx="384048" cy="384048"/>
          </a:xfrm>
          <a:prstGeom prst="ellipse">
            <a:avLst/>
          </a:prstGeom>
          <a:solidFill>
            <a:srgbClr val="02555C"/>
          </a:solidFill>
          <a:ln/>
        </p:spPr>
      </p:sp>
      <p:sp>
        <p:nvSpPr>
          <p:cNvPr id="16" name="Text 14"/>
          <p:cNvSpPr/>
          <p:nvPr/>
        </p:nvSpPr>
        <p:spPr>
          <a:xfrm>
            <a:off x="2295144" y="5806440"/>
            <a:ext cx="384048" cy="384048"/>
          </a:xfrm>
          <a:prstGeom prst="rect">
            <a:avLst/>
          </a:prstGeom>
          <a:noFill/>
          <a:ln/>
        </p:spPr>
        <p:txBody>
          <a:bodyPr wrap="square" lIns="0" tIns="0" rIns="0" bIns="0" rtlCol="0" anchor="ctr"/>
          <a:lstStyle/>
          <a:p>
            <a:pPr algn="ctr" indent="0" marL="0">
              <a:buNone/>
            </a:pPr>
            <a:r>
              <a:rPr lang="en-US" sz="1400" b="1" dirty="0">
                <a:solidFill>
                  <a:srgbClr val="7FC9C0"/>
                </a:solidFill>
                <a:latin typeface="Calibri" pitchFamily="34" charset="0"/>
                <a:ea typeface="Calibri" pitchFamily="34" charset="-122"/>
                <a:cs typeface="Calibri" pitchFamily="34" charset="-120"/>
              </a:rPr>
              <a:t>4</a:t>
            </a:r>
            <a:endParaRPr lang="en-US" sz="1400" dirty="0"/>
          </a:p>
        </p:txBody>
      </p:sp>
      <p:sp>
        <p:nvSpPr>
          <p:cNvPr id="17" name="Shape 15"/>
          <p:cNvSpPr/>
          <p:nvPr/>
        </p:nvSpPr>
        <p:spPr>
          <a:xfrm>
            <a:off x="2862072" y="5806440"/>
            <a:ext cx="384048" cy="384048"/>
          </a:xfrm>
          <a:prstGeom prst="ellipse">
            <a:avLst/>
          </a:prstGeom>
          <a:solidFill>
            <a:srgbClr val="02555C"/>
          </a:solidFill>
          <a:ln/>
        </p:spPr>
      </p:sp>
      <p:sp>
        <p:nvSpPr>
          <p:cNvPr id="18" name="Text 16"/>
          <p:cNvSpPr/>
          <p:nvPr/>
        </p:nvSpPr>
        <p:spPr>
          <a:xfrm>
            <a:off x="2862072" y="5806440"/>
            <a:ext cx="384048" cy="384048"/>
          </a:xfrm>
          <a:prstGeom prst="rect">
            <a:avLst/>
          </a:prstGeom>
          <a:noFill/>
          <a:ln/>
        </p:spPr>
        <p:txBody>
          <a:bodyPr wrap="square" lIns="0" tIns="0" rIns="0" bIns="0" rtlCol="0" anchor="ctr"/>
          <a:lstStyle/>
          <a:p>
            <a:pPr algn="ctr" indent="0" marL="0">
              <a:buNone/>
            </a:pPr>
            <a:r>
              <a:rPr lang="en-US" sz="1400" b="1" dirty="0">
                <a:solidFill>
                  <a:srgbClr val="7FC9C0"/>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502920" y="6245352"/>
            <a:ext cx="1371600" cy="274320"/>
          </a:xfrm>
          <a:prstGeom prst="rect">
            <a:avLst/>
          </a:prstGeom>
          <a:noFill/>
          <a:ln/>
        </p:spPr>
        <p:txBody>
          <a:bodyPr wrap="square" lIns="0" tIns="0" rIns="0" bIns="0" rtlCol="0" anchor="ctr"/>
          <a:lstStyle/>
          <a:p>
            <a:pPr indent="0" marL="0">
              <a:buNone/>
            </a:pPr>
            <a:r>
              <a:rPr lang="en-US" sz="1000" i="1" dirty="0">
                <a:solidFill>
                  <a:srgbClr val="7FC9C0"/>
                </a:solidFill>
                <a:latin typeface="Calibri" pitchFamily="34" charset="0"/>
                <a:ea typeface="Calibri" pitchFamily="34" charset="-122"/>
                <a:cs typeface="Calibri" pitchFamily="34" charset="-120"/>
              </a:rPr>
              <a:t>вы здесь</a:t>
            </a:r>
            <a:endParaRPr lang="en-US" sz="1000" dirty="0"/>
          </a:p>
        </p:txBody>
      </p:sp>
      <p:sp>
        <p:nvSpPr>
          <p:cNvPr id="20" name="Text 18"/>
          <p:cNvSpPr/>
          <p:nvPr/>
        </p:nvSpPr>
        <p:spPr>
          <a:xfrm>
            <a:off x="594360" y="6446520"/>
            <a:ext cx="7315200" cy="274320"/>
          </a:xfrm>
          <a:prstGeom prst="rect">
            <a:avLst/>
          </a:prstGeom>
          <a:noFill/>
          <a:ln/>
        </p:spPr>
        <p:txBody>
          <a:bodyPr wrap="square" lIns="0" tIns="0" rIns="0" bIns="0" rtlCol="0" anchor="ctr"/>
          <a:lstStyle/>
          <a:p>
            <a:pPr indent="0" marL="0">
              <a:buNone/>
            </a:pPr>
            <a:r>
              <a:rPr lang="en-US" sz="1000" dirty="0">
                <a:solidFill>
                  <a:srgbClr val="5FAFA5"/>
                </a:solidFill>
                <a:latin typeface="Calibri" pitchFamily="34" charset="0"/>
                <a:ea typeface="Calibri" pitchFamily="34" charset="-122"/>
                <a:cs typeface="Calibri" pitchFamily="34" charset="-120"/>
              </a:rPr>
              <a:t>28 августа 2026 · RAG-платформа корпоративного знания</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КАРТА ЦИКЛА</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Пять частей одного маршрута</a:t>
            </a:r>
            <a:endParaRPr lang="en-US" sz="2400" dirty="0"/>
          </a:p>
        </p:txBody>
      </p:sp>
      <p:sp>
        <p:nvSpPr>
          <p:cNvPr id="4" name="Text 2"/>
          <p:cNvSpPr/>
          <p:nvPr/>
        </p:nvSpPr>
        <p:spPr>
          <a:xfrm>
            <a:off x="548640" y="1298448"/>
            <a:ext cx="10515600" cy="365760"/>
          </a:xfrm>
          <a:prstGeom prst="rect">
            <a:avLst/>
          </a:prstGeom>
          <a:noFill/>
          <a:ln/>
        </p:spPr>
        <p:txBody>
          <a:bodyPr wrap="square" lIns="0" tIns="0" rIns="0" bIns="0" rtlCol="0" anchor="ctr"/>
          <a:lstStyle/>
          <a:p>
            <a:pPr indent="0" marL="0">
              <a:buNone/>
            </a:pPr>
            <a:r>
              <a:rPr lang="en-US" sz="1300" dirty="0">
                <a:solidFill>
                  <a:srgbClr val="55696B"/>
                </a:solidFill>
                <a:latin typeface="Calibri" pitchFamily="34" charset="0"/>
                <a:ea typeface="Calibri" pitchFamily="34" charset="-122"/>
                <a:cs typeface="Calibri" pitchFamily="34" charset="-120"/>
              </a:rPr>
              <a:t>Каждая следующая часть опирается на предыдущую — по этой карте удобно понимать, где вы сейчас находитесь.</a:t>
            </a:r>
            <a:endParaRPr lang="en-US" sz="1300" dirty="0"/>
          </a:p>
        </p:txBody>
      </p:sp>
      <p:sp>
        <p:nvSpPr>
          <p:cNvPr id="5" name="Shape 3"/>
          <p:cNvSpPr/>
          <p:nvPr/>
        </p:nvSpPr>
        <p:spPr>
          <a:xfrm>
            <a:off x="548640" y="1737360"/>
            <a:ext cx="11091672" cy="786384"/>
          </a:xfrm>
          <a:prstGeom prst="roundRect">
            <a:avLst>
              <a:gd name="adj" fmla="val 10465"/>
            </a:avLst>
          </a:prstGeom>
          <a:solidFill>
            <a:srgbClr val="028090"/>
          </a:solidFill>
          <a:ln/>
          <a:effectLst>
            <a:outerShdw sx="100000" sy="100000" kx="0" ky="0" algn="bl" rotWithShape="0" blurRad="101600" dist="38100" dir="5400000">
              <a:srgbClr val="0F3B3A">
                <a:alpha val="25000"/>
              </a:srgbClr>
            </a:outerShdw>
          </a:effectLst>
        </p:spPr>
      </p:sp>
      <p:sp>
        <p:nvSpPr>
          <p:cNvPr id="6" name="Shape 4"/>
          <p:cNvSpPr/>
          <p:nvPr/>
        </p:nvSpPr>
        <p:spPr>
          <a:xfrm>
            <a:off x="694944" y="1920240"/>
            <a:ext cx="420624" cy="420624"/>
          </a:xfrm>
          <a:prstGeom prst="ellipse">
            <a:avLst/>
          </a:prstGeom>
          <a:solidFill>
            <a:srgbClr val="FFFFFF"/>
          </a:solidFill>
          <a:ln/>
        </p:spPr>
      </p:sp>
      <p:sp>
        <p:nvSpPr>
          <p:cNvPr id="7" name="Text 5"/>
          <p:cNvSpPr/>
          <p:nvPr/>
        </p:nvSpPr>
        <p:spPr>
          <a:xfrm>
            <a:off x="694944" y="1920240"/>
            <a:ext cx="420624" cy="420624"/>
          </a:xfrm>
          <a:prstGeom prst="rect">
            <a:avLst/>
          </a:prstGeom>
          <a:noFill/>
          <a:ln/>
        </p:spPr>
        <p:txBody>
          <a:bodyPr wrap="square" lIns="0" tIns="0" rIns="0" bIns="0" rtlCol="0" anchor="ctr"/>
          <a:lstStyle/>
          <a:p>
            <a:pPr algn="ctr" indent="0" marL="0">
              <a:buNone/>
            </a:pPr>
            <a:r>
              <a:rPr lang="en-US" sz="1600" b="1" dirty="0">
                <a:solidFill>
                  <a:srgbClr val="028090"/>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1737360"/>
            <a:ext cx="8988552" cy="7863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Фундамент: LLM, RAG и векторный поиск</a:t>
            </a:r>
            <a:endParaRPr lang="en-US" sz="1550" dirty="0"/>
          </a:p>
        </p:txBody>
      </p:sp>
      <p:sp>
        <p:nvSpPr>
          <p:cNvPr id="9" name="Shape 7"/>
          <p:cNvSpPr/>
          <p:nvPr/>
        </p:nvSpPr>
        <p:spPr>
          <a:xfrm>
            <a:off x="10222992" y="1965960"/>
            <a:ext cx="1280160" cy="329184"/>
          </a:xfrm>
          <a:prstGeom prst="roundRect">
            <a:avLst>
              <a:gd name="adj" fmla="val 50000"/>
            </a:avLst>
          </a:prstGeom>
          <a:solidFill>
            <a:srgbClr val="02C39A"/>
          </a:solidFill>
          <a:ln/>
        </p:spPr>
      </p:sp>
      <p:sp>
        <p:nvSpPr>
          <p:cNvPr id="10" name="Text 8"/>
          <p:cNvSpPr/>
          <p:nvPr/>
        </p:nvSpPr>
        <p:spPr>
          <a:xfrm>
            <a:off x="10222992" y="1965960"/>
            <a:ext cx="1280160" cy="329184"/>
          </a:xfrm>
          <a:prstGeom prst="rect">
            <a:avLst/>
          </a:prstGeom>
          <a:noFill/>
          <a:ln/>
        </p:spPr>
        <p:txBody>
          <a:bodyPr wrap="square" lIns="0" tIns="0" rIns="0" bIns="0" rtlCol="0" anchor="ctr"/>
          <a:lstStyle/>
          <a:p>
            <a:pPr algn="ctr" indent="0" marL="0">
              <a:buNone/>
            </a:pPr>
            <a:r>
              <a:rPr lang="en-US" sz="1050" b="1" spc="100" kern="0" dirty="0">
                <a:solidFill>
                  <a:srgbClr val="013A40"/>
                </a:solidFill>
                <a:latin typeface="Calibri" pitchFamily="34" charset="0"/>
                <a:ea typeface="Calibri" pitchFamily="34" charset="-122"/>
                <a:cs typeface="Calibri" pitchFamily="34" charset="-120"/>
              </a:rPr>
              <a:t>ТЕКУЩАЯ</a:t>
            </a:r>
            <a:endParaRPr lang="en-US" sz="1050" dirty="0"/>
          </a:p>
        </p:txBody>
      </p:sp>
      <p:sp>
        <p:nvSpPr>
          <p:cNvPr id="11" name="Shape 9"/>
          <p:cNvSpPr/>
          <p:nvPr/>
        </p:nvSpPr>
        <p:spPr>
          <a:xfrm>
            <a:off x="548640" y="2651760"/>
            <a:ext cx="11091672" cy="786384"/>
          </a:xfrm>
          <a:prstGeom prst="roundRect">
            <a:avLst>
              <a:gd name="adj" fmla="val 10465"/>
            </a:avLst>
          </a:prstGeom>
          <a:solidFill>
            <a:srgbClr val="F2FAF9"/>
          </a:solidFill>
          <a:ln/>
        </p:spPr>
      </p:sp>
      <p:sp>
        <p:nvSpPr>
          <p:cNvPr id="12" name="Shape 10"/>
          <p:cNvSpPr/>
          <p:nvPr/>
        </p:nvSpPr>
        <p:spPr>
          <a:xfrm>
            <a:off x="694944" y="2834640"/>
            <a:ext cx="420624" cy="420624"/>
          </a:xfrm>
          <a:prstGeom prst="ellipse">
            <a:avLst/>
          </a:prstGeom>
          <a:solidFill>
            <a:srgbClr val="028090"/>
          </a:solidFill>
          <a:ln/>
        </p:spPr>
      </p:sp>
      <p:sp>
        <p:nvSpPr>
          <p:cNvPr id="13" name="Text 11"/>
          <p:cNvSpPr/>
          <p:nvPr/>
        </p:nvSpPr>
        <p:spPr>
          <a:xfrm>
            <a:off x="694944" y="28346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80160" y="2651760"/>
            <a:ext cx="8988552" cy="786384"/>
          </a:xfrm>
          <a:prstGeom prst="rect">
            <a:avLst/>
          </a:prstGeom>
          <a:noFill/>
          <a:ln/>
        </p:spPr>
        <p:txBody>
          <a:bodyPr wrap="square" lIns="0" tIns="0" rIns="0" bIns="0" rtlCol="0" anchor="ctr"/>
          <a:lstStyle/>
          <a:p>
            <a:pPr indent="0" marL="0">
              <a:buNone/>
            </a:pPr>
            <a:r>
              <a:rPr lang="en-US" sz="1550" dirty="0">
                <a:solidFill>
                  <a:srgbClr val="17282A"/>
                </a:solidFill>
                <a:latin typeface="Calibri" pitchFamily="34" charset="0"/>
                <a:ea typeface="Calibri" pitchFamily="34" charset="-122"/>
                <a:cs typeface="Calibri" pitchFamily="34" charset="-120"/>
              </a:rPr>
              <a:t>Платформа «Камерата»: архитектура и интерфейс</a:t>
            </a:r>
            <a:endParaRPr lang="en-US" sz="1550" dirty="0"/>
          </a:p>
        </p:txBody>
      </p:sp>
      <p:sp>
        <p:nvSpPr>
          <p:cNvPr id="15" name="Shape 13"/>
          <p:cNvSpPr/>
          <p:nvPr/>
        </p:nvSpPr>
        <p:spPr>
          <a:xfrm>
            <a:off x="548640" y="3566160"/>
            <a:ext cx="11091672" cy="786384"/>
          </a:xfrm>
          <a:prstGeom prst="roundRect">
            <a:avLst>
              <a:gd name="adj" fmla="val 10465"/>
            </a:avLst>
          </a:prstGeom>
          <a:solidFill>
            <a:srgbClr val="F2FAF9"/>
          </a:solidFill>
          <a:ln/>
        </p:spPr>
      </p:sp>
      <p:sp>
        <p:nvSpPr>
          <p:cNvPr id="16" name="Shape 14"/>
          <p:cNvSpPr/>
          <p:nvPr/>
        </p:nvSpPr>
        <p:spPr>
          <a:xfrm>
            <a:off x="694944" y="3749040"/>
            <a:ext cx="420624" cy="420624"/>
          </a:xfrm>
          <a:prstGeom prst="ellipse">
            <a:avLst/>
          </a:prstGeom>
          <a:solidFill>
            <a:srgbClr val="028090"/>
          </a:solidFill>
          <a:ln/>
        </p:spPr>
      </p:sp>
      <p:sp>
        <p:nvSpPr>
          <p:cNvPr id="17" name="Text 15"/>
          <p:cNvSpPr/>
          <p:nvPr/>
        </p:nvSpPr>
        <p:spPr>
          <a:xfrm>
            <a:off x="694944" y="37490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80160" y="3566160"/>
            <a:ext cx="8988552" cy="786384"/>
          </a:xfrm>
          <a:prstGeom prst="rect">
            <a:avLst/>
          </a:prstGeom>
          <a:noFill/>
          <a:ln/>
        </p:spPr>
        <p:txBody>
          <a:bodyPr wrap="square" lIns="0" tIns="0" rIns="0" bIns="0" rtlCol="0" anchor="ctr"/>
          <a:lstStyle/>
          <a:p>
            <a:pPr indent="0" marL="0">
              <a:buNone/>
            </a:pPr>
            <a:r>
              <a:rPr lang="en-US" sz="1550" dirty="0">
                <a:solidFill>
                  <a:srgbClr val="17282A"/>
                </a:solidFill>
                <a:latin typeface="Calibri" pitchFamily="34" charset="0"/>
                <a:ea typeface="Calibri" pitchFamily="34" charset="-122"/>
                <a:cs typeface="Calibri" pitchFamily="34" charset="-120"/>
              </a:rPr>
              <a:t>Защита данных: PII Shield и DLP</a:t>
            </a:r>
            <a:endParaRPr lang="en-US" sz="1550" dirty="0"/>
          </a:p>
        </p:txBody>
      </p:sp>
      <p:sp>
        <p:nvSpPr>
          <p:cNvPr id="19" name="Shape 17"/>
          <p:cNvSpPr/>
          <p:nvPr/>
        </p:nvSpPr>
        <p:spPr>
          <a:xfrm>
            <a:off x="548640" y="4480560"/>
            <a:ext cx="11091672" cy="786384"/>
          </a:xfrm>
          <a:prstGeom prst="roundRect">
            <a:avLst>
              <a:gd name="adj" fmla="val 10465"/>
            </a:avLst>
          </a:prstGeom>
          <a:solidFill>
            <a:srgbClr val="F2FAF9"/>
          </a:solidFill>
          <a:ln/>
        </p:spPr>
      </p:sp>
      <p:sp>
        <p:nvSpPr>
          <p:cNvPr id="20" name="Shape 18"/>
          <p:cNvSpPr/>
          <p:nvPr/>
        </p:nvSpPr>
        <p:spPr>
          <a:xfrm>
            <a:off x="694944" y="4663440"/>
            <a:ext cx="420624" cy="420624"/>
          </a:xfrm>
          <a:prstGeom prst="ellipse">
            <a:avLst/>
          </a:prstGeom>
          <a:solidFill>
            <a:srgbClr val="028090"/>
          </a:solidFill>
          <a:ln/>
        </p:spPr>
      </p:sp>
      <p:sp>
        <p:nvSpPr>
          <p:cNvPr id="21" name="Text 19"/>
          <p:cNvSpPr/>
          <p:nvPr/>
        </p:nvSpPr>
        <p:spPr>
          <a:xfrm>
            <a:off x="694944" y="46634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280160" y="4480560"/>
            <a:ext cx="8988552" cy="786384"/>
          </a:xfrm>
          <a:prstGeom prst="rect">
            <a:avLst/>
          </a:prstGeom>
          <a:noFill/>
          <a:ln/>
        </p:spPr>
        <p:txBody>
          <a:bodyPr wrap="square" lIns="0" tIns="0" rIns="0" bIns="0" rtlCol="0" anchor="ctr"/>
          <a:lstStyle/>
          <a:p>
            <a:pPr indent="0" marL="0">
              <a:buNone/>
            </a:pPr>
            <a:r>
              <a:rPr lang="en-US" sz="1550" dirty="0">
                <a:solidFill>
                  <a:srgbClr val="17282A"/>
                </a:solidFill>
                <a:latin typeface="Calibri" pitchFamily="34" charset="0"/>
                <a:ea typeface="Calibri" pitchFamily="34" charset="-122"/>
                <a:cs typeface="Calibri" pitchFamily="34" charset="-120"/>
              </a:rPr>
              <a:t>Домены и доступ</a:t>
            </a:r>
            <a:endParaRPr lang="en-US" sz="1550" dirty="0"/>
          </a:p>
        </p:txBody>
      </p:sp>
      <p:sp>
        <p:nvSpPr>
          <p:cNvPr id="23" name="Shape 21"/>
          <p:cNvSpPr/>
          <p:nvPr/>
        </p:nvSpPr>
        <p:spPr>
          <a:xfrm>
            <a:off x="548640" y="5394960"/>
            <a:ext cx="11091672" cy="786384"/>
          </a:xfrm>
          <a:prstGeom prst="roundRect">
            <a:avLst>
              <a:gd name="adj" fmla="val 10465"/>
            </a:avLst>
          </a:prstGeom>
          <a:solidFill>
            <a:srgbClr val="F2FAF9"/>
          </a:solidFill>
          <a:ln/>
        </p:spPr>
      </p:sp>
      <p:sp>
        <p:nvSpPr>
          <p:cNvPr id="24" name="Shape 22"/>
          <p:cNvSpPr/>
          <p:nvPr/>
        </p:nvSpPr>
        <p:spPr>
          <a:xfrm>
            <a:off x="694944" y="5577840"/>
            <a:ext cx="420624" cy="420624"/>
          </a:xfrm>
          <a:prstGeom prst="ellipse">
            <a:avLst/>
          </a:prstGeom>
          <a:solidFill>
            <a:srgbClr val="028090"/>
          </a:solidFill>
          <a:ln/>
        </p:spPr>
      </p:sp>
      <p:sp>
        <p:nvSpPr>
          <p:cNvPr id="25" name="Text 23"/>
          <p:cNvSpPr/>
          <p:nvPr/>
        </p:nvSpPr>
        <p:spPr>
          <a:xfrm>
            <a:off x="694944" y="55778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4"/>
          <p:cNvSpPr/>
          <p:nvPr/>
        </p:nvSpPr>
        <p:spPr>
          <a:xfrm>
            <a:off x="1280160" y="5394960"/>
            <a:ext cx="8988552" cy="786384"/>
          </a:xfrm>
          <a:prstGeom prst="rect">
            <a:avLst/>
          </a:prstGeom>
          <a:noFill/>
          <a:ln/>
        </p:spPr>
        <p:txBody>
          <a:bodyPr wrap="square" lIns="0" tIns="0" rIns="0" bIns="0" rtlCol="0" anchor="ctr"/>
          <a:lstStyle/>
          <a:p>
            <a:pPr indent="0" marL="0">
              <a:buNone/>
            </a:pPr>
            <a:r>
              <a:rPr lang="en-US" sz="1550" dirty="0">
                <a:solidFill>
                  <a:srgbClr val="17282A"/>
                </a:solidFill>
                <a:latin typeface="Calibri" pitchFamily="34" charset="0"/>
                <a:ea typeface="Calibri" pitchFamily="34" charset="-122"/>
                <a:cs typeface="Calibri" pitchFamily="34" charset="-120"/>
              </a:rPr>
              <a:t>Итог: сильные и слабые стороны платформы</a:t>
            </a:r>
            <a:endParaRPr lang="en-US" sz="1550" dirty="0"/>
          </a:p>
        </p:txBody>
      </p:sp>
      <p:sp>
        <p:nvSpPr>
          <p:cNvPr id="27" name="Text 25"/>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Введение</a:t>
            </a:r>
            <a:endParaRPr lang="en-US" sz="1000" dirty="0"/>
          </a:p>
        </p:txBody>
      </p:sp>
      <p:sp>
        <p:nvSpPr>
          <p:cNvPr id="28" name="Text 26"/>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 / 27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ЗАЧЕМ ЭТО ВСЁ</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Поиск по документам, а не по интернету</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68580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Обычный чат с ИИ (ChatGPT и подобные) обучен на открытых текстах интернета. Он ничего не знает о внутренних регламентах, договорах, CRM-записях и таблицах конкретной компании — потому что их там никогда не было.</a:t>
            </a:r>
            <a:endParaRPr lang="en-US" sz="1400" dirty="0"/>
          </a:p>
        </p:txBody>
      </p:sp>
      <p:sp>
        <p:nvSpPr>
          <p:cNvPr id="7" name="Shape 4"/>
          <p:cNvSpPr/>
          <p:nvPr/>
        </p:nvSpPr>
        <p:spPr>
          <a:xfrm>
            <a:off x="548640" y="2148840"/>
            <a:ext cx="5349240" cy="3840480"/>
          </a:xfrm>
          <a:prstGeom prst="roundRect">
            <a:avLst>
              <a:gd name="adj" fmla="val 2143"/>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350008"/>
            <a:ext cx="548640" cy="548640"/>
          </a:xfrm>
          <a:prstGeom prst="ellipse">
            <a:avLst/>
          </a:prstGeom>
          <a:solidFill>
            <a:srgbClr val="9AA5A5"/>
          </a:solidFill>
          <a:ln/>
        </p:spPr>
      </p:sp>
      <p:pic>
        <p:nvPicPr>
          <p:cNvPr id="9" name="Image 1" descr="preencoded.png">    </p:cNvPr>
          <p:cNvPicPr>
            <a:picLocks noChangeAspect="1"/>
          </p:cNvPicPr>
          <p:nvPr/>
        </p:nvPicPr>
        <p:blipFill>
          <a:blip r:embed="rId2"/>
          <a:stretch>
            <a:fillRect/>
          </a:stretch>
        </p:blipFill>
        <p:spPr>
          <a:xfrm>
            <a:off x="821131" y="2421331"/>
            <a:ext cx="405994" cy="405994"/>
          </a:xfrm>
          <a:prstGeom prst="rect">
            <a:avLst/>
          </a:prstGeom>
        </p:spPr>
      </p:pic>
      <p:sp>
        <p:nvSpPr>
          <p:cNvPr id="10" name="Text 6"/>
          <p:cNvSpPr/>
          <p:nvPr/>
        </p:nvSpPr>
        <p:spPr>
          <a:xfrm>
            <a:off x="1444752" y="2322576"/>
            <a:ext cx="4251960" cy="548640"/>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Обычный ИИ-чат («открытый интернет»)</a:t>
            </a:r>
            <a:endParaRPr lang="en-US" sz="1500" dirty="0"/>
          </a:p>
        </p:txBody>
      </p:sp>
      <p:sp>
        <p:nvSpPr>
          <p:cNvPr id="11" name="Text 7"/>
          <p:cNvSpPr/>
          <p:nvPr/>
        </p:nvSpPr>
        <p:spPr>
          <a:xfrm>
            <a:off x="868680" y="338328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55696B"/>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55696B"/>
                </a:solidFill>
                <a:latin typeface="Calibri" pitchFamily="34" charset="0"/>
                <a:ea typeface="Calibri" pitchFamily="34" charset="-122"/>
                <a:cs typeface="Calibri" pitchFamily="34" charset="-120"/>
              </a:rPr>
              <a:t>Отвечает по знаниям из общедоступных текстов, на которых обучалась модель</a:t>
            </a:r>
            <a:endParaRPr lang="en-US" sz="1250" dirty="0"/>
          </a:p>
        </p:txBody>
      </p:sp>
      <p:sp>
        <p:nvSpPr>
          <p:cNvPr id="12" name="Text 8"/>
          <p:cNvSpPr/>
          <p:nvPr/>
        </p:nvSpPr>
        <p:spPr>
          <a:xfrm>
            <a:off x="868680" y="416052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55696B"/>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55696B"/>
                </a:solidFill>
                <a:latin typeface="Calibri" pitchFamily="34" charset="0"/>
                <a:ea typeface="Calibri" pitchFamily="34" charset="-122"/>
                <a:cs typeface="Calibri" pitchFamily="34" charset="-120"/>
              </a:rPr>
              <a:t>Не видит договоры, регламенты, CRM и таблицы конкретной компании</a:t>
            </a:r>
            <a:endParaRPr lang="en-US" sz="1250" dirty="0"/>
          </a:p>
        </p:txBody>
      </p:sp>
      <p:sp>
        <p:nvSpPr>
          <p:cNvPr id="13" name="Text 9"/>
          <p:cNvSpPr/>
          <p:nvPr/>
        </p:nvSpPr>
        <p:spPr>
          <a:xfrm>
            <a:off x="868680" y="493776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55696B"/>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55696B"/>
                </a:solidFill>
                <a:latin typeface="Calibri" pitchFamily="34" charset="0"/>
                <a:ea typeface="Calibri" pitchFamily="34" charset="-122"/>
                <a:cs typeface="Calibri" pitchFamily="34" charset="-120"/>
              </a:rPr>
              <a:t>Не проверяет, есть ли у спрашивающего право видеть данные — потому что и данных этих у неё нет</a:t>
            </a:r>
            <a:endParaRPr lang="en-US" sz="1250" dirty="0"/>
          </a:p>
        </p:txBody>
      </p:sp>
      <p:sp>
        <p:nvSpPr>
          <p:cNvPr id="14" name="Shape 10"/>
          <p:cNvSpPr/>
          <p:nvPr/>
        </p:nvSpPr>
        <p:spPr>
          <a:xfrm>
            <a:off x="6263640" y="2148840"/>
            <a:ext cx="5349240" cy="3840480"/>
          </a:xfrm>
          <a:prstGeom prst="roundRect">
            <a:avLst>
              <a:gd name="adj" fmla="val 2143"/>
            </a:avLst>
          </a:prstGeom>
          <a:solidFill>
            <a:srgbClr val="E9F6F4"/>
          </a:solidFill>
          <a:ln/>
          <a:effectLst>
            <a:outerShdw sx="100000" sy="100000" kx="0" ky="0" algn="bl" rotWithShape="0" blurRad="76200" dist="25400" dir="5400000">
              <a:srgbClr val="0F3B3A">
                <a:alpha val="18000"/>
              </a:srgbClr>
            </a:outerShdw>
          </a:effectLst>
        </p:spPr>
      </p:sp>
      <p:sp>
        <p:nvSpPr>
          <p:cNvPr id="15" name="Shape 11"/>
          <p:cNvSpPr/>
          <p:nvPr/>
        </p:nvSpPr>
        <p:spPr>
          <a:xfrm>
            <a:off x="6464808" y="2350008"/>
            <a:ext cx="548640" cy="548640"/>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6536131" y="2421331"/>
            <a:ext cx="405994" cy="405994"/>
          </a:xfrm>
          <a:prstGeom prst="rect">
            <a:avLst/>
          </a:prstGeom>
        </p:spPr>
      </p:pic>
      <p:sp>
        <p:nvSpPr>
          <p:cNvPr id="17" name="Text 12"/>
          <p:cNvSpPr/>
          <p:nvPr/>
        </p:nvSpPr>
        <p:spPr>
          <a:xfrm>
            <a:off x="7159752" y="2322576"/>
            <a:ext cx="4251960" cy="548640"/>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Корпоративный RAG-поиск (наши документы)</a:t>
            </a:r>
            <a:endParaRPr lang="en-US" sz="1500" dirty="0"/>
          </a:p>
        </p:txBody>
      </p:sp>
      <p:sp>
        <p:nvSpPr>
          <p:cNvPr id="18" name="Text 13"/>
          <p:cNvSpPr/>
          <p:nvPr/>
        </p:nvSpPr>
        <p:spPr>
          <a:xfrm>
            <a:off x="6583680" y="338328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028090"/>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17282A"/>
                </a:solidFill>
                <a:latin typeface="Calibri" pitchFamily="34" charset="0"/>
                <a:ea typeface="Calibri" pitchFamily="34" charset="-122"/>
                <a:cs typeface="Calibri" pitchFamily="34" charset="-120"/>
              </a:rPr>
              <a:t>Отвечает, опираясь на реально загруженные документы компании — регламенты, договоры, CRM, таблицы</a:t>
            </a:r>
            <a:endParaRPr lang="en-US" sz="1250" dirty="0"/>
          </a:p>
        </p:txBody>
      </p:sp>
      <p:sp>
        <p:nvSpPr>
          <p:cNvPr id="19" name="Text 14"/>
          <p:cNvSpPr/>
          <p:nvPr/>
        </p:nvSpPr>
        <p:spPr>
          <a:xfrm>
            <a:off x="6583680" y="416052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028090"/>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17282A"/>
                </a:solidFill>
                <a:latin typeface="Calibri" pitchFamily="34" charset="0"/>
                <a:ea typeface="Calibri" pitchFamily="34" charset="-122"/>
                <a:cs typeface="Calibri" pitchFamily="34" charset="-120"/>
              </a:rPr>
              <a:t>Перед ответом проверяет права доступа спрашивающего к конкретным документам/строкам/полям</a:t>
            </a:r>
            <a:endParaRPr lang="en-US" sz="1250" dirty="0"/>
          </a:p>
        </p:txBody>
      </p:sp>
      <p:sp>
        <p:nvSpPr>
          <p:cNvPr id="20" name="Text 15"/>
          <p:cNvSpPr/>
          <p:nvPr/>
        </p:nvSpPr>
        <p:spPr>
          <a:xfrm>
            <a:off x="6583680" y="4937760"/>
            <a:ext cx="4709160" cy="731520"/>
          </a:xfrm>
          <a:prstGeom prst="rect">
            <a:avLst/>
          </a:prstGeom>
          <a:noFill/>
          <a:ln/>
        </p:spPr>
        <p:txBody>
          <a:bodyPr wrap="square" lIns="0" tIns="0" rIns="0" bIns="0" rtlCol="0" anchor="t"/>
          <a:lstStyle/>
          <a:p>
            <a:pPr indent="0" marL="0">
              <a:lnSpc>
                <a:spcPct val="115000"/>
              </a:lnSpc>
              <a:buNone/>
            </a:pPr>
            <a:r>
              <a:rPr lang="en-US" sz="1250" b="1" dirty="0">
                <a:solidFill>
                  <a:srgbClr val="028090"/>
                </a:solidFill>
                <a:latin typeface="Calibri" pitchFamily="34" charset="0"/>
                <a:ea typeface="Calibri" pitchFamily="34" charset="-122"/>
                <a:cs typeface="Calibri" pitchFamily="34" charset="-120"/>
              </a:rPr>
              <a:t>— </a:t>
            </a:r>
            <a:pPr indent="0" marL="0">
              <a:lnSpc>
                <a:spcPct val="115000"/>
              </a:lnSpc>
              <a:buNone/>
            </a:pPr>
            <a:r>
              <a:rPr lang="en-US" sz="1250" dirty="0">
                <a:solidFill>
                  <a:srgbClr val="17282A"/>
                </a:solidFill>
                <a:latin typeface="Calibri" pitchFamily="34" charset="0"/>
                <a:ea typeface="Calibri" pitchFamily="34" charset="-122"/>
                <a:cs typeface="Calibri" pitchFamily="34" charset="-120"/>
              </a:rPr>
              <a:t>Указывает источник — из какого документа взят ответ, а не «придумывает из головы»</a:t>
            </a:r>
            <a:endParaRPr lang="en-US" sz="1250" dirty="0"/>
          </a:p>
        </p:txBody>
      </p:sp>
      <p:sp>
        <p:nvSpPr>
          <p:cNvPr id="21" name="Text 1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Постановка задачи</a:t>
            </a:r>
            <a:endParaRPr lang="en-US" sz="1000" dirty="0"/>
          </a:p>
        </p:txBody>
      </p:sp>
      <p:sp>
        <p:nvSpPr>
          <p:cNvPr id="22" name="Text 17"/>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3 / 27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БАЗОВОЕ ПОНЯТИЕ</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Что такое LLM (языковая модель)</a:t>
            </a:r>
            <a:endParaRPr lang="en-US" sz="2400" dirty="0"/>
          </a:p>
        </p:txBody>
      </p:sp>
      <p:sp>
        <p:nvSpPr>
          <p:cNvPr id="4" name="Shape 2"/>
          <p:cNvSpPr/>
          <p:nvPr/>
        </p:nvSpPr>
        <p:spPr>
          <a:xfrm>
            <a:off x="10515600" y="365760"/>
            <a:ext cx="914400" cy="91440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64008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LLM (Large Language Model, «большая языковая модель») — программа, обученная на огромном объёме текста предсказывать наиболее вероятное продолжение — следующее слово (точнее, «токен» — часть слова).</a:t>
            </a:r>
            <a:endParaRPr lang="en-US" sz="1400" dirty="0"/>
          </a:p>
        </p:txBody>
      </p:sp>
      <p:sp>
        <p:nvSpPr>
          <p:cNvPr id="7" name="Shape 4"/>
          <p:cNvSpPr/>
          <p:nvPr/>
        </p:nvSpPr>
        <p:spPr>
          <a:xfrm>
            <a:off x="548640" y="2057400"/>
            <a:ext cx="11091672" cy="1417320"/>
          </a:xfrm>
          <a:prstGeom prst="roundRect">
            <a:avLst>
              <a:gd name="adj" fmla="val 6452"/>
            </a:avLst>
          </a:prstGeom>
          <a:solidFill>
            <a:srgbClr val="F2FAF9"/>
          </a:solidFill>
          <a:ln/>
        </p:spPr>
      </p:sp>
      <p:sp>
        <p:nvSpPr>
          <p:cNvPr id="8" name="Text 5"/>
          <p:cNvSpPr/>
          <p:nvPr/>
        </p:nvSpPr>
        <p:spPr>
          <a:xfrm>
            <a:off x="868680" y="2212848"/>
            <a:ext cx="10424160" cy="320040"/>
          </a:xfrm>
          <a:prstGeom prst="rect">
            <a:avLst/>
          </a:prstGeom>
          <a:noFill/>
          <a:ln/>
        </p:spPr>
        <p:txBody>
          <a:bodyPr wrap="square" lIns="0" tIns="0" rIns="0" bIns="0" rtlCol="0" anchor="ctr"/>
          <a:lstStyle/>
          <a:p>
            <a:pPr indent="0" marL="0">
              <a:buNone/>
            </a:pPr>
            <a:r>
              <a:rPr lang="en-US" sz="1400" b="1" dirty="0">
                <a:solidFill>
                  <a:srgbClr val="17282A"/>
                </a:solidFill>
                <a:latin typeface="Cambria" pitchFamily="34" charset="0"/>
                <a:ea typeface="Cambria" pitchFamily="34" charset="-122"/>
                <a:cs typeface="Cambria" pitchFamily="34" charset="-120"/>
              </a:rPr>
              <a:t>Аналогия: очень мощная «подсказка следующего слова» в телефоне</a:t>
            </a:r>
            <a:endParaRPr lang="en-US" sz="1400" dirty="0"/>
          </a:p>
        </p:txBody>
      </p:sp>
      <p:sp>
        <p:nvSpPr>
          <p:cNvPr id="9" name="Text 6"/>
          <p:cNvSpPr/>
          <p:nvPr/>
        </p:nvSpPr>
        <p:spPr>
          <a:xfrm>
            <a:off x="868680" y="2606040"/>
            <a:ext cx="10424160" cy="457200"/>
          </a:xfrm>
          <a:prstGeom prst="rect">
            <a:avLst/>
          </a:prstGeom>
          <a:noFill/>
          <a:ln/>
        </p:spPr>
        <p:txBody>
          <a:bodyPr wrap="square" lIns="0" tIns="0" rIns="0" bIns="0" rtlCol="0" anchor="ctr"/>
          <a:lstStyle/>
          <a:p>
            <a:pPr indent="0" marL="0">
              <a:buNone/>
            </a:pPr>
            <a:r>
              <a:rPr lang="en-US" sz="1700" dirty="0">
                <a:solidFill>
                  <a:srgbClr val="17282A"/>
                </a:solidFill>
                <a:latin typeface="Calibri" pitchFamily="34" charset="0"/>
                <a:ea typeface="Calibri" pitchFamily="34" charset="-122"/>
                <a:cs typeface="Calibri" pitchFamily="34" charset="-120"/>
              </a:rPr>
              <a:t>«Проценты по кредиту начисляются </a:t>
            </a:r>
            <a:pPr indent="0" marL="0">
              <a:buNone/>
            </a:pPr>
            <a:r>
              <a:rPr lang="en-US" sz="1700" b="1" dirty="0">
                <a:solidFill>
                  <a:srgbClr val="FFFFFF"/>
                </a:solidFill>
                <a:highlight>
                  <a:srgbClr val="028090"/>
                </a:highlight>
                <a:latin typeface="Calibri" pitchFamily="34" charset="0"/>
                <a:ea typeface="Calibri" pitchFamily="34" charset="-122"/>
                <a:cs typeface="Calibri" pitchFamily="34" charset="-120"/>
              </a:rPr>
              <a:t>ежемесячно</a:t>
            </a:r>
            <a:pPr indent="0" marL="0">
              <a:buNone/>
            </a:pPr>
            <a:r>
              <a:rPr lang="en-US" sz="1700" dirty="0">
                <a:solidFill>
                  <a:srgbClr val="17282A"/>
                </a:solidFill>
                <a:latin typeface="Calibri" pitchFamily="34" charset="0"/>
                <a:ea typeface="Calibri" pitchFamily="34" charset="-122"/>
                <a:cs typeface="Calibri" pitchFamily="34" charset="-120"/>
              </a:rPr>
              <a:t>»</a:t>
            </a:r>
            <a:endParaRPr lang="en-US" sz="1700" dirty="0"/>
          </a:p>
        </p:txBody>
      </p:sp>
      <p:sp>
        <p:nvSpPr>
          <p:cNvPr id="10" name="Text 7"/>
          <p:cNvSpPr/>
          <p:nvPr/>
        </p:nvSpPr>
        <p:spPr>
          <a:xfrm>
            <a:off x="868680" y="3063240"/>
            <a:ext cx="10424160" cy="365760"/>
          </a:xfrm>
          <a:prstGeom prst="rect">
            <a:avLst/>
          </a:prstGeom>
          <a:noFill/>
          <a:ln/>
        </p:spPr>
        <p:txBody>
          <a:bodyPr wrap="square" lIns="0" tIns="0" rIns="0" bIns="0" rtlCol="0" anchor="ctr"/>
          <a:lstStyle/>
          <a:p>
            <a:pPr indent="0" marL="0">
              <a:buNone/>
            </a:pPr>
            <a:r>
              <a:rPr lang="en-US" sz="1200" i="1" dirty="0">
                <a:solidFill>
                  <a:srgbClr val="55696B"/>
                </a:solidFill>
                <a:latin typeface="Calibri" pitchFamily="34" charset="0"/>
                <a:ea typeface="Calibri" pitchFamily="34" charset="-122"/>
                <a:cs typeface="Calibri" pitchFamily="34" charset="-120"/>
              </a:rPr>
              <a:t>Модель не «знает истину» — она статистически оценивает, какое слово вероятнее всего следует дальше, опираясь на закономерности из триллионов слов обучающих текстов.</a:t>
            </a:r>
            <a:endParaRPr lang="en-US" sz="1200" dirty="0"/>
          </a:p>
        </p:txBody>
      </p:sp>
      <p:sp>
        <p:nvSpPr>
          <p:cNvPr id="11" name="Text 8"/>
          <p:cNvSpPr/>
          <p:nvPr/>
        </p:nvSpPr>
        <p:spPr>
          <a:xfrm>
            <a:off x="548640" y="3703320"/>
            <a:ext cx="5486400" cy="320040"/>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Что LLM умеет хорошо</a:t>
            </a:r>
            <a:endParaRPr lang="en-US" sz="1500" dirty="0"/>
          </a:p>
        </p:txBody>
      </p:sp>
      <p:sp>
        <p:nvSpPr>
          <p:cNvPr id="12" name="Shape 9"/>
          <p:cNvSpPr/>
          <p:nvPr/>
        </p:nvSpPr>
        <p:spPr>
          <a:xfrm>
            <a:off x="548640" y="4069080"/>
            <a:ext cx="3611880" cy="1691640"/>
          </a:xfrm>
          <a:prstGeom prst="roundRect">
            <a:avLst>
              <a:gd name="adj" fmla="val 4865"/>
            </a:avLst>
          </a:prstGeom>
          <a:solidFill>
            <a:srgbClr val="F2FAF9"/>
          </a:solidFill>
          <a:ln/>
          <a:effectLst>
            <a:outerShdw sx="100000" sy="100000" kx="0" ky="0" algn="bl" rotWithShape="0" blurRad="76200" dist="25400" dir="5400000">
              <a:srgbClr val="0F3B3A">
                <a:alpha val="18000"/>
              </a:srgbClr>
            </a:outerShdw>
          </a:effectLst>
        </p:spPr>
      </p:sp>
      <p:sp>
        <p:nvSpPr>
          <p:cNvPr id="13" name="Shape 10"/>
          <p:cNvSpPr/>
          <p:nvPr/>
        </p:nvSpPr>
        <p:spPr>
          <a:xfrm>
            <a:off x="749808" y="4270248"/>
            <a:ext cx="457200" cy="457200"/>
          </a:xfrm>
          <a:prstGeom prst="ellipse">
            <a:avLst/>
          </a:prstGeom>
          <a:solidFill>
            <a:srgbClr val="00A896"/>
          </a:solidFill>
          <a:ln/>
        </p:spPr>
      </p:sp>
      <p:pic>
        <p:nvPicPr>
          <p:cNvPr id="14" name="Image 1" descr="preencoded.png">    </p:cNvPr>
          <p:cNvPicPr>
            <a:picLocks noChangeAspect="1"/>
          </p:cNvPicPr>
          <p:nvPr/>
        </p:nvPicPr>
        <p:blipFill>
          <a:blip r:embed="rId2"/>
          <a:stretch>
            <a:fillRect/>
          </a:stretch>
        </p:blipFill>
        <p:spPr>
          <a:xfrm>
            <a:off x="809244" y="4329684"/>
            <a:ext cx="338328" cy="338328"/>
          </a:xfrm>
          <a:prstGeom prst="rect">
            <a:avLst/>
          </a:prstGeom>
        </p:spPr>
      </p:pic>
      <p:sp>
        <p:nvSpPr>
          <p:cNvPr id="15" name="Text 11"/>
          <p:cNvSpPr/>
          <p:nvPr/>
        </p:nvSpPr>
        <p:spPr>
          <a:xfrm>
            <a:off x="749808" y="4818888"/>
            <a:ext cx="3209544" cy="74066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Понимать вопрос на естественном языке и связно отвечать</a:t>
            </a:r>
            <a:endParaRPr lang="en-US" sz="1250" dirty="0"/>
          </a:p>
        </p:txBody>
      </p:sp>
      <p:sp>
        <p:nvSpPr>
          <p:cNvPr id="16" name="Shape 12"/>
          <p:cNvSpPr/>
          <p:nvPr/>
        </p:nvSpPr>
        <p:spPr>
          <a:xfrm>
            <a:off x="4288536" y="4069080"/>
            <a:ext cx="3611880" cy="1691640"/>
          </a:xfrm>
          <a:prstGeom prst="roundRect">
            <a:avLst>
              <a:gd name="adj" fmla="val 4865"/>
            </a:avLst>
          </a:prstGeom>
          <a:solidFill>
            <a:srgbClr val="F2FAF9"/>
          </a:solidFill>
          <a:ln/>
          <a:effectLst>
            <a:outerShdw sx="100000" sy="100000" kx="0" ky="0" algn="bl" rotWithShape="0" blurRad="76200" dist="25400" dir="5400000">
              <a:srgbClr val="0F3B3A">
                <a:alpha val="18000"/>
              </a:srgbClr>
            </a:outerShdw>
          </a:effectLst>
        </p:spPr>
      </p:sp>
      <p:sp>
        <p:nvSpPr>
          <p:cNvPr id="17" name="Shape 13"/>
          <p:cNvSpPr/>
          <p:nvPr/>
        </p:nvSpPr>
        <p:spPr>
          <a:xfrm>
            <a:off x="4489704" y="4270248"/>
            <a:ext cx="457200" cy="457200"/>
          </a:xfrm>
          <a:prstGeom prst="ellipse">
            <a:avLst/>
          </a:prstGeom>
          <a:solidFill>
            <a:srgbClr val="00A896"/>
          </a:solidFill>
          <a:ln/>
        </p:spPr>
      </p:sp>
      <p:pic>
        <p:nvPicPr>
          <p:cNvPr id="18" name="Image 2" descr="preencoded.png">    </p:cNvPr>
          <p:cNvPicPr>
            <a:picLocks noChangeAspect="1"/>
          </p:cNvPicPr>
          <p:nvPr/>
        </p:nvPicPr>
        <p:blipFill>
          <a:blip r:embed="rId3"/>
          <a:stretch>
            <a:fillRect/>
          </a:stretch>
        </p:blipFill>
        <p:spPr>
          <a:xfrm>
            <a:off x="4549140" y="4329684"/>
            <a:ext cx="338328" cy="338328"/>
          </a:xfrm>
          <a:prstGeom prst="rect">
            <a:avLst/>
          </a:prstGeom>
        </p:spPr>
      </p:pic>
      <p:sp>
        <p:nvSpPr>
          <p:cNvPr id="19" name="Text 14"/>
          <p:cNvSpPr/>
          <p:nvPr/>
        </p:nvSpPr>
        <p:spPr>
          <a:xfrm>
            <a:off x="4489704" y="4818888"/>
            <a:ext cx="3209544" cy="74066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Обобщать, пересказывать и структурировать переданный ей текст</a:t>
            </a:r>
            <a:endParaRPr lang="en-US" sz="1250" dirty="0"/>
          </a:p>
        </p:txBody>
      </p:sp>
      <p:sp>
        <p:nvSpPr>
          <p:cNvPr id="20" name="Shape 15"/>
          <p:cNvSpPr/>
          <p:nvPr/>
        </p:nvSpPr>
        <p:spPr>
          <a:xfrm>
            <a:off x="8028432" y="4069080"/>
            <a:ext cx="3611880" cy="1691640"/>
          </a:xfrm>
          <a:prstGeom prst="roundRect">
            <a:avLst>
              <a:gd name="adj" fmla="val 4865"/>
            </a:avLst>
          </a:prstGeom>
          <a:solidFill>
            <a:srgbClr val="F2FAF9"/>
          </a:solidFill>
          <a:ln/>
          <a:effectLst>
            <a:outerShdw sx="100000" sy="100000" kx="0" ky="0" algn="bl" rotWithShape="0" blurRad="76200" dist="25400" dir="5400000">
              <a:srgbClr val="0F3B3A">
                <a:alpha val="18000"/>
              </a:srgbClr>
            </a:outerShdw>
          </a:effectLst>
        </p:spPr>
      </p:sp>
      <p:sp>
        <p:nvSpPr>
          <p:cNvPr id="21" name="Shape 16"/>
          <p:cNvSpPr/>
          <p:nvPr/>
        </p:nvSpPr>
        <p:spPr>
          <a:xfrm>
            <a:off x="8229600" y="4270248"/>
            <a:ext cx="457200" cy="457200"/>
          </a:xfrm>
          <a:prstGeom prst="ellipse">
            <a:avLst/>
          </a:prstGeom>
          <a:solidFill>
            <a:srgbClr val="00A896"/>
          </a:solidFill>
          <a:ln/>
        </p:spPr>
      </p:sp>
      <p:pic>
        <p:nvPicPr>
          <p:cNvPr id="22" name="Image 3" descr="preencoded.png">    </p:cNvPr>
          <p:cNvPicPr>
            <a:picLocks noChangeAspect="1"/>
          </p:cNvPicPr>
          <p:nvPr/>
        </p:nvPicPr>
        <p:blipFill>
          <a:blip r:embed="rId4"/>
          <a:stretch>
            <a:fillRect/>
          </a:stretch>
        </p:blipFill>
        <p:spPr>
          <a:xfrm>
            <a:off x="8289036" y="4329684"/>
            <a:ext cx="338328" cy="338328"/>
          </a:xfrm>
          <a:prstGeom prst="rect">
            <a:avLst/>
          </a:prstGeom>
        </p:spPr>
      </p:pic>
      <p:sp>
        <p:nvSpPr>
          <p:cNvPr id="23" name="Text 17"/>
          <p:cNvSpPr/>
          <p:nvPr/>
        </p:nvSpPr>
        <p:spPr>
          <a:xfrm>
            <a:off x="8229600" y="4818888"/>
            <a:ext cx="3209544" cy="74066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Переносить смысл между формулировками — синонимы, перефразирование</a:t>
            </a:r>
            <a:endParaRPr lang="en-US" sz="1250" dirty="0"/>
          </a:p>
        </p:txBody>
      </p:sp>
      <p:sp>
        <p:nvSpPr>
          <p:cNvPr id="24" name="Text 1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Основы LLM</a:t>
            </a:r>
            <a:endParaRPr lang="en-US" sz="1000" dirty="0"/>
          </a:p>
        </p:txBody>
      </p:sp>
      <p:sp>
        <p:nvSpPr>
          <p:cNvPr id="25" name="Text 19"/>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4 / 27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ОБОРОТНАЯ СТОРОНА</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Ограничения «голой» LLM без RAG</a:t>
            </a:r>
            <a:endParaRPr lang="en-US" sz="2400" dirty="0"/>
          </a:p>
        </p:txBody>
      </p:sp>
      <p:sp>
        <p:nvSpPr>
          <p:cNvPr id="4" name="Shape 2"/>
          <p:cNvSpPr/>
          <p:nvPr/>
        </p:nvSpPr>
        <p:spPr>
          <a:xfrm>
            <a:off x="10515600" y="365760"/>
            <a:ext cx="914400" cy="914400"/>
          </a:xfrm>
          <a:prstGeom prst="ellipse">
            <a:avLst/>
          </a:prstGeom>
          <a:solidFill>
            <a:srgbClr val="02555C"/>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55696B"/>
                </a:solidFill>
                <a:latin typeface="Calibri" pitchFamily="34" charset="0"/>
                <a:ea typeface="Calibri" pitchFamily="34" charset="-122"/>
                <a:cs typeface="Calibri" pitchFamily="34" charset="-120"/>
              </a:rPr>
              <a:t>Три системных ограничения любой LLM, если её просто спросить «в лоб», без доступа к документам компании:</a:t>
            </a:r>
            <a:endParaRPr lang="en-US" sz="1350" dirty="0"/>
          </a:p>
        </p:txBody>
      </p:sp>
      <p:sp>
        <p:nvSpPr>
          <p:cNvPr id="7" name="Shape 4"/>
          <p:cNvSpPr/>
          <p:nvPr/>
        </p:nvSpPr>
        <p:spPr>
          <a:xfrm>
            <a:off x="548640" y="1828800"/>
            <a:ext cx="3611880" cy="3520440"/>
          </a:xfrm>
          <a:prstGeom prst="roundRect">
            <a:avLst>
              <a:gd name="adj" fmla="val 2338"/>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029968"/>
            <a:ext cx="566928" cy="566928"/>
          </a:xfrm>
          <a:prstGeom prst="ellipse">
            <a:avLst/>
          </a:prstGeom>
          <a:solidFill>
            <a:srgbClr val="028090"/>
          </a:solidFill>
          <a:ln/>
        </p:spPr>
      </p:sp>
      <p:pic>
        <p:nvPicPr>
          <p:cNvPr id="9" name="Image 1" descr="preencoded.png">    </p:cNvPr>
          <p:cNvPicPr>
            <a:picLocks noChangeAspect="1"/>
          </p:cNvPicPr>
          <p:nvPr/>
        </p:nvPicPr>
        <p:blipFill>
          <a:blip r:embed="rId2"/>
          <a:stretch>
            <a:fillRect/>
          </a:stretch>
        </p:blipFill>
        <p:spPr>
          <a:xfrm>
            <a:off x="823509" y="2103669"/>
            <a:ext cx="419527" cy="419527"/>
          </a:xfrm>
          <a:prstGeom prst="rect">
            <a:avLst/>
          </a:prstGeom>
        </p:spPr>
      </p:pic>
      <p:sp>
        <p:nvSpPr>
          <p:cNvPr id="10" name="Text 6"/>
          <p:cNvSpPr/>
          <p:nvPr/>
        </p:nvSpPr>
        <p:spPr>
          <a:xfrm>
            <a:off x="1463040" y="2002536"/>
            <a:ext cx="2496312" cy="566928"/>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Не знает внутренние документы</a:t>
            </a:r>
            <a:endParaRPr lang="en-US" sz="1500" dirty="0"/>
          </a:p>
        </p:txBody>
      </p:sp>
      <p:sp>
        <p:nvSpPr>
          <p:cNvPr id="11" name="Text 7"/>
          <p:cNvSpPr/>
          <p:nvPr/>
        </p:nvSpPr>
        <p:spPr>
          <a:xfrm>
            <a:off x="749808" y="2688336"/>
            <a:ext cx="3209544" cy="2459736"/>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Регламенты, договоры, CRM-записи и таблицы конкретной компании никогда не входили в её обучающие данные — их просто негде было взять.</a:t>
            </a:r>
            <a:endParaRPr lang="en-US" sz="1250" dirty="0"/>
          </a:p>
        </p:txBody>
      </p:sp>
      <p:sp>
        <p:nvSpPr>
          <p:cNvPr id="12" name="Shape 8"/>
          <p:cNvSpPr/>
          <p:nvPr/>
        </p:nvSpPr>
        <p:spPr>
          <a:xfrm>
            <a:off x="4288536" y="1828800"/>
            <a:ext cx="3611880" cy="3520440"/>
          </a:xfrm>
          <a:prstGeom prst="roundRect">
            <a:avLst>
              <a:gd name="adj" fmla="val 2338"/>
            </a:avLst>
          </a:prstGeom>
          <a:solidFill>
            <a:srgbClr val="F2FAF9"/>
          </a:solidFill>
          <a:ln/>
          <a:effectLst>
            <a:outerShdw sx="100000" sy="100000" kx="0" ky="0" algn="bl" rotWithShape="0" blurRad="76200" dist="25400" dir="5400000">
              <a:srgbClr val="0F3B3A">
                <a:alpha val="18000"/>
              </a:srgbClr>
            </a:outerShdw>
          </a:effectLst>
        </p:spPr>
      </p:sp>
      <p:sp>
        <p:nvSpPr>
          <p:cNvPr id="13" name="Shape 9"/>
          <p:cNvSpPr/>
          <p:nvPr/>
        </p:nvSpPr>
        <p:spPr>
          <a:xfrm>
            <a:off x="4489704" y="2029968"/>
            <a:ext cx="566928" cy="566928"/>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4563405" y="2103669"/>
            <a:ext cx="419527" cy="419527"/>
          </a:xfrm>
          <a:prstGeom prst="rect">
            <a:avLst/>
          </a:prstGeom>
        </p:spPr>
      </p:pic>
      <p:sp>
        <p:nvSpPr>
          <p:cNvPr id="15" name="Text 10"/>
          <p:cNvSpPr/>
          <p:nvPr/>
        </p:nvSpPr>
        <p:spPr>
          <a:xfrm>
            <a:off x="5202936" y="2002536"/>
            <a:ext cx="2496312" cy="566928"/>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«Галлюцинации»</a:t>
            </a:r>
            <a:endParaRPr lang="en-US" sz="1500" dirty="0"/>
          </a:p>
        </p:txBody>
      </p:sp>
      <p:sp>
        <p:nvSpPr>
          <p:cNvPr id="16" name="Text 11"/>
          <p:cNvSpPr/>
          <p:nvPr/>
        </p:nvSpPr>
        <p:spPr>
          <a:xfrm>
            <a:off x="4489704" y="2688336"/>
            <a:ext cx="3209544" cy="2459736"/>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Модель уверенно формулирует ответ, даже когда фактической опоры для него нет — генерирует правдоподобный, но выдуманный текст, не «сообщая», что не уверена.</a:t>
            </a:r>
            <a:endParaRPr lang="en-US" sz="1250" dirty="0"/>
          </a:p>
        </p:txBody>
      </p:sp>
      <p:sp>
        <p:nvSpPr>
          <p:cNvPr id="17" name="Shape 12"/>
          <p:cNvSpPr/>
          <p:nvPr/>
        </p:nvSpPr>
        <p:spPr>
          <a:xfrm>
            <a:off x="8028432" y="1828800"/>
            <a:ext cx="3611880" cy="3520440"/>
          </a:xfrm>
          <a:prstGeom prst="roundRect">
            <a:avLst>
              <a:gd name="adj" fmla="val 2338"/>
            </a:avLst>
          </a:prstGeom>
          <a:solidFill>
            <a:srgbClr val="F2FAF9"/>
          </a:solidFill>
          <a:ln/>
          <a:effectLst>
            <a:outerShdw sx="100000" sy="100000" kx="0" ky="0" algn="bl" rotWithShape="0" blurRad="76200" dist="25400" dir="5400000">
              <a:srgbClr val="0F3B3A">
                <a:alpha val="18000"/>
              </a:srgbClr>
            </a:outerShdw>
          </a:effectLst>
        </p:spPr>
      </p:sp>
      <p:sp>
        <p:nvSpPr>
          <p:cNvPr id="18" name="Shape 13"/>
          <p:cNvSpPr/>
          <p:nvPr/>
        </p:nvSpPr>
        <p:spPr>
          <a:xfrm>
            <a:off x="8229600" y="2029968"/>
            <a:ext cx="566928" cy="566928"/>
          </a:xfrm>
          <a:prstGeom prst="ellipse">
            <a:avLst/>
          </a:prstGeom>
          <a:solidFill>
            <a:srgbClr val="028090"/>
          </a:solidFill>
          <a:ln/>
        </p:spPr>
      </p:sp>
      <p:pic>
        <p:nvPicPr>
          <p:cNvPr id="19" name="Image 3" descr="preencoded.png">    </p:cNvPr>
          <p:cNvPicPr>
            <a:picLocks noChangeAspect="1"/>
          </p:cNvPicPr>
          <p:nvPr/>
        </p:nvPicPr>
        <p:blipFill>
          <a:blip r:embed="rId4"/>
          <a:stretch>
            <a:fillRect/>
          </a:stretch>
        </p:blipFill>
        <p:spPr>
          <a:xfrm>
            <a:off x="8303301" y="2103669"/>
            <a:ext cx="419527" cy="419527"/>
          </a:xfrm>
          <a:prstGeom prst="rect">
            <a:avLst/>
          </a:prstGeom>
        </p:spPr>
      </p:pic>
      <p:sp>
        <p:nvSpPr>
          <p:cNvPr id="20" name="Text 14"/>
          <p:cNvSpPr/>
          <p:nvPr/>
        </p:nvSpPr>
        <p:spPr>
          <a:xfrm>
            <a:off x="8942832" y="2002536"/>
            <a:ext cx="2496312" cy="566928"/>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Знания устаревают (cutoff)</a:t>
            </a:r>
            <a:endParaRPr lang="en-US" sz="1500" dirty="0"/>
          </a:p>
        </p:txBody>
      </p:sp>
      <p:sp>
        <p:nvSpPr>
          <p:cNvPr id="21" name="Text 15"/>
          <p:cNvSpPr/>
          <p:nvPr/>
        </p:nvSpPr>
        <p:spPr>
          <a:xfrm>
            <a:off x="8229600" y="2688336"/>
            <a:ext cx="3209544" cy="2459736"/>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Обучающие данные фиксируются на определённую дату («cutoff»). Всё, что произошло или изменилось позже — новые регламенты, новые цифры — модели неизвестно.</a:t>
            </a:r>
            <a:endParaRPr lang="en-US" sz="1250" dirty="0"/>
          </a:p>
        </p:txBody>
      </p:sp>
      <p:sp>
        <p:nvSpPr>
          <p:cNvPr id="22" name="Shape 16"/>
          <p:cNvSpPr/>
          <p:nvPr/>
        </p:nvSpPr>
        <p:spPr>
          <a:xfrm>
            <a:off x="548640" y="5486400"/>
            <a:ext cx="11091672" cy="594360"/>
          </a:xfrm>
          <a:prstGeom prst="roundRect">
            <a:avLst>
              <a:gd name="adj" fmla="val 13846"/>
            </a:avLst>
          </a:prstGeom>
          <a:solidFill>
            <a:srgbClr val="FDF2E9"/>
          </a:solidFill>
          <a:ln/>
        </p:spPr>
      </p:sp>
      <p:sp>
        <p:nvSpPr>
          <p:cNvPr id="23" name="Text 17"/>
          <p:cNvSpPr/>
          <p:nvPr/>
        </p:nvSpPr>
        <p:spPr>
          <a:xfrm>
            <a:off x="822960" y="5486400"/>
            <a:ext cx="10607040" cy="594360"/>
          </a:xfrm>
          <a:prstGeom prst="rect">
            <a:avLst/>
          </a:prstGeom>
          <a:noFill/>
          <a:ln/>
        </p:spPr>
        <p:txBody>
          <a:bodyPr wrap="square" lIns="0" tIns="0" rIns="0" bIns="0" rtlCol="0" anchor="ctr"/>
          <a:lstStyle/>
          <a:p>
            <a:pPr indent="0" marL="0">
              <a:buNone/>
            </a:pPr>
            <a:r>
              <a:rPr lang="en-US" sz="1250" b="1" dirty="0">
                <a:solidFill>
                  <a:srgbClr val="A85B00"/>
                </a:solidFill>
                <a:latin typeface="Calibri" pitchFamily="34" charset="0"/>
                <a:ea typeface="Calibri" pitchFamily="34" charset="-122"/>
                <a:cs typeface="Calibri" pitchFamily="34" charset="-120"/>
              </a:rPr>
              <a:t>Вывод: этим трём ограничениям не помогает «более умная» модель сама по себе — нужен отдельный механизм подачи ей актуальных, проверенных фактов. Это и есть RAG (следующий слайд).</a:t>
            </a:r>
            <a:endParaRPr lang="en-US" sz="1250" dirty="0"/>
          </a:p>
        </p:txBody>
      </p:sp>
      <p:sp>
        <p:nvSpPr>
          <p:cNvPr id="24" name="Text 1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Основы LLM</a:t>
            </a:r>
            <a:endParaRPr lang="en-US" sz="1000" dirty="0"/>
          </a:p>
        </p:txBody>
      </p:sp>
      <p:sp>
        <p:nvSpPr>
          <p:cNvPr id="25" name="Text 19"/>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5 / 27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РЕШЕНИЕ</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Что такое RAG</a:t>
            </a:r>
            <a:endParaRPr lang="en-US" sz="2400" dirty="0"/>
          </a:p>
        </p:txBody>
      </p:sp>
      <p:sp>
        <p:nvSpPr>
          <p:cNvPr id="4" name="Shape 2"/>
          <p:cNvSpPr/>
          <p:nvPr/>
        </p:nvSpPr>
        <p:spPr>
          <a:xfrm>
            <a:off x="10515600" y="365760"/>
            <a:ext cx="914400" cy="914400"/>
          </a:xfrm>
          <a:prstGeom prst="ellipse">
            <a:avLst/>
          </a:prstGeom>
          <a:solidFill>
            <a:srgbClr val="02C39A"/>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280160"/>
            <a:ext cx="11064240" cy="594360"/>
          </a:xfrm>
          <a:prstGeom prst="rect">
            <a:avLst/>
          </a:prstGeom>
          <a:noFill/>
          <a:ln/>
        </p:spPr>
        <p:txBody>
          <a:bodyPr wrap="square" lIns="0" tIns="0" rIns="0" bIns="0" rtlCol="0" anchor="ctr"/>
          <a:lstStyle/>
          <a:p>
            <a:pPr indent="0" marL="0">
              <a:lnSpc>
                <a:spcPct val="120000"/>
              </a:lnSpc>
              <a:buNone/>
            </a:pPr>
            <a:r>
              <a:rPr lang="en-US" sz="1450" dirty="0">
                <a:solidFill>
                  <a:srgbClr val="17282A"/>
                </a:solidFill>
                <a:latin typeface="Calibri" pitchFamily="34" charset="0"/>
                <a:ea typeface="Calibri" pitchFamily="34" charset="-122"/>
                <a:cs typeface="Calibri" pitchFamily="34" charset="-120"/>
              </a:rPr>
              <a:t>RAG (Retrieval-Augmented Generation) — «генерация, дополненная поиском». Простая идея, которая чинит все три ограничения с прошлого слайда: сначала найди, потом отвечай.</a:t>
            </a:r>
            <a:endParaRPr lang="en-US" sz="1450" dirty="0"/>
          </a:p>
        </p:txBody>
      </p:sp>
      <p:sp>
        <p:nvSpPr>
          <p:cNvPr id="7" name="Shape 4"/>
          <p:cNvSpPr/>
          <p:nvPr/>
        </p:nvSpPr>
        <p:spPr>
          <a:xfrm>
            <a:off x="548640" y="2148840"/>
            <a:ext cx="3108960" cy="1920240"/>
          </a:xfrm>
          <a:prstGeom prst="roundRect">
            <a:avLst>
              <a:gd name="adj" fmla="val 4286"/>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350008"/>
            <a:ext cx="548640" cy="548640"/>
          </a:xfrm>
          <a:prstGeom prst="ellipse">
            <a:avLst/>
          </a:prstGeom>
          <a:solidFill>
            <a:srgbClr val="00A896"/>
          </a:solidFill>
          <a:ln/>
        </p:spPr>
      </p:sp>
      <p:pic>
        <p:nvPicPr>
          <p:cNvPr id="9" name="Image 1" descr="preencoded.png">    </p:cNvPr>
          <p:cNvPicPr>
            <a:picLocks noChangeAspect="1"/>
          </p:cNvPicPr>
          <p:nvPr/>
        </p:nvPicPr>
        <p:blipFill>
          <a:blip r:embed="rId2"/>
          <a:stretch>
            <a:fillRect/>
          </a:stretch>
        </p:blipFill>
        <p:spPr>
          <a:xfrm>
            <a:off x="821131" y="2421331"/>
            <a:ext cx="405994" cy="405994"/>
          </a:xfrm>
          <a:prstGeom prst="rect">
            <a:avLst/>
          </a:prstGeom>
        </p:spPr>
      </p:pic>
      <p:sp>
        <p:nvSpPr>
          <p:cNvPr id="10" name="Text 6"/>
          <p:cNvSpPr/>
          <p:nvPr/>
        </p:nvSpPr>
        <p:spPr>
          <a:xfrm>
            <a:off x="1444752" y="2322576"/>
            <a:ext cx="2011680" cy="54864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1. Сначала найди</a:t>
            </a:r>
            <a:endParaRPr lang="en-US" sz="1400" dirty="0"/>
          </a:p>
        </p:txBody>
      </p:sp>
      <p:sp>
        <p:nvSpPr>
          <p:cNvPr id="11" name="Text 7"/>
          <p:cNvSpPr/>
          <p:nvPr/>
        </p:nvSpPr>
        <p:spPr>
          <a:xfrm>
            <a:off x="749808" y="2990088"/>
            <a:ext cx="2706624" cy="87782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Система ищет в документах компании фрагменты, которые действительно относятся к вопросу.</a:t>
            </a:r>
            <a:endParaRPr lang="en-US" sz="1150" dirty="0"/>
          </a:p>
        </p:txBody>
      </p:sp>
      <p:sp>
        <p:nvSpPr>
          <p:cNvPr id="12" name="Shape 8"/>
          <p:cNvSpPr/>
          <p:nvPr/>
        </p:nvSpPr>
        <p:spPr>
          <a:xfrm>
            <a:off x="7360920" y="2148840"/>
            <a:ext cx="3108960" cy="1920240"/>
          </a:xfrm>
          <a:prstGeom prst="roundRect">
            <a:avLst>
              <a:gd name="adj" fmla="val 4286"/>
            </a:avLst>
          </a:prstGeom>
          <a:solidFill>
            <a:srgbClr val="F2FAF9"/>
          </a:solidFill>
          <a:ln/>
          <a:effectLst>
            <a:outerShdw sx="100000" sy="100000" kx="0" ky="0" algn="bl" rotWithShape="0" blurRad="76200" dist="25400" dir="5400000">
              <a:srgbClr val="0F3B3A">
                <a:alpha val="18000"/>
              </a:srgbClr>
            </a:outerShdw>
          </a:effectLst>
        </p:spPr>
      </p:sp>
      <p:sp>
        <p:nvSpPr>
          <p:cNvPr id="13" name="Shape 9"/>
          <p:cNvSpPr/>
          <p:nvPr/>
        </p:nvSpPr>
        <p:spPr>
          <a:xfrm>
            <a:off x="7562088" y="2350008"/>
            <a:ext cx="548640" cy="548640"/>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7633411" y="2421331"/>
            <a:ext cx="405994" cy="405994"/>
          </a:xfrm>
          <a:prstGeom prst="rect">
            <a:avLst/>
          </a:prstGeom>
        </p:spPr>
      </p:pic>
      <p:sp>
        <p:nvSpPr>
          <p:cNvPr id="15" name="Text 10"/>
          <p:cNvSpPr/>
          <p:nvPr/>
        </p:nvSpPr>
        <p:spPr>
          <a:xfrm>
            <a:off x="8257032" y="2322576"/>
            <a:ext cx="2011680" cy="54864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2. Потом отвечай</a:t>
            </a:r>
            <a:endParaRPr lang="en-US" sz="1400" dirty="0"/>
          </a:p>
        </p:txBody>
      </p:sp>
      <p:sp>
        <p:nvSpPr>
          <p:cNvPr id="16" name="Text 11"/>
          <p:cNvSpPr/>
          <p:nvPr/>
        </p:nvSpPr>
        <p:spPr>
          <a:xfrm>
            <a:off x="7562088" y="2990088"/>
            <a:ext cx="2706624" cy="87782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LLM формирует ответ, опираясь только на найденные фрагменты — а не на общие знания из интернета.</a:t>
            </a:r>
            <a:endParaRPr lang="en-US" sz="1150" dirty="0"/>
          </a:p>
        </p:txBody>
      </p:sp>
      <p:sp>
        <p:nvSpPr>
          <p:cNvPr id="17" name="Shape 12"/>
          <p:cNvSpPr/>
          <p:nvPr/>
        </p:nvSpPr>
        <p:spPr>
          <a:xfrm>
            <a:off x="3749040" y="3108960"/>
            <a:ext cx="594360" cy="9144"/>
          </a:xfrm>
          <a:prstGeom prst="line">
            <a:avLst/>
          </a:prstGeom>
          <a:noFill/>
          <a:ln w="31750">
            <a:solidFill>
              <a:srgbClr val="028090"/>
            </a:solidFill>
            <a:prstDash val="solid"/>
            <a:tailEnd type="triangle"/>
          </a:ln>
        </p:spPr>
      </p:sp>
      <p:sp>
        <p:nvSpPr>
          <p:cNvPr id="18" name="Shape 13"/>
          <p:cNvSpPr/>
          <p:nvPr/>
        </p:nvSpPr>
        <p:spPr>
          <a:xfrm>
            <a:off x="4434840" y="2468880"/>
            <a:ext cx="2148840" cy="1280160"/>
          </a:xfrm>
          <a:prstGeom prst="roundRect">
            <a:avLst>
              <a:gd name="adj" fmla="val 6429"/>
            </a:avLst>
          </a:prstGeom>
          <a:solidFill>
            <a:srgbClr val="013A40"/>
          </a:solidFill>
          <a:ln/>
        </p:spPr>
      </p:sp>
      <p:sp>
        <p:nvSpPr>
          <p:cNvPr id="19" name="Text 14"/>
          <p:cNvSpPr/>
          <p:nvPr/>
        </p:nvSpPr>
        <p:spPr>
          <a:xfrm>
            <a:off x="4480560" y="2468880"/>
            <a:ext cx="2057400" cy="128016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Найденные</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фрагменты</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(контекст)</a:t>
            </a:r>
            <a:endParaRPr lang="en-US" sz="1200" dirty="0"/>
          </a:p>
        </p:txBody>
      </p:sp>
      <p:sp>
        <p:nvSpPr>
          <p:cNvPr id="20" name="Shape 15"/>
          <p:cNvSpPr/>
          <p:nvPr/>
        </p:nvSpPr>
        <p:spPr>
          <a:xfrm>
            <a:off x="6675120" y="3108960"/>
            <a:ext cx="594360" cy="9144"/>
          </a:xfrm>
          <a:prstGeom prst="line">
            <a:avLst/>
          </a:prstGeom>
          <a:noFill/>
          <a:ln w="31750">
            <a:solidFill>
              <a:srgbClr val="028090"/>
            </a:solidFill>
            <a:prstDash val="solid"/>
            <a:tailEnd type="triangle"/>
          </a:ln>
        </p:spPr>
      </p:sp>
      <p:sp>
        <p:nvSpPr>
          <p:cNvPr id="21" name="Shape 16"/>
          <p:cNvSpPr/>
          <p:nvPr/>
        </p:nvSpPr>
        <p:spPr>
          <a:xfrm>
            <a:off x="548640" y="4434840"/>
            <a:ext cx="11091672" cy="1234440"/>
          </a:xfrm>
          <a:prstGeom prst="roundRect">
            <a:avLst>
              <a:gd name="adj" fmla="val 7407"/>
            </a:avLst>
          </a:prstGeom>
          <a:solidFill>
            <a:srgbClr val="E9F6F4"/>
          </a:solidFill>
          <a:ln/>
        </p:spPr>
      </p:sp>
      <p:sp>
        <p:nvSpPr>
          <p:cNvPr id="22" name="Text 17"/>
          <p:cNvSpPr/>
          <p:nvPr/>
        </p:nvSpPr>
        <p:spPr>
          <a:xfrm>
            <a:off x="822960" y="4572000"/>
            <a:ext cx="10607040" cy="292608"/>
          </a:xfrm>
          <a:prstGeom prst="rect">
            <a:avLst/>
          </a:prstGeom>
          <a:noFill/>
          <a:ln/>
        </p:spPr>
        <p:txBody>
          <a:bodyPr wrap="square" lIns="0" tIns="0" rIns="0" bIns="0" rtlCol="0" anchor="ctr"/>
          <a:lstStyle/>
          <a:p>
            <a:pPr indent="0" marL="0">
              <a:buNone/>
            </a:pPr>
            <a:r>
              <a:rPr lang="en-US" sz="1350" b="1" dirty="0">
                <a:solidFill>
                  <a:srgbClr val="028090"/>
                </a:solidFill>
                <a:latin typeface="Cambria" pitchFamily="34" charset="0"/>
                <a:ea typeface="Cambria" pitchFamily="34" charset="-122"/>
                <a:cs typeface="Cambria" pitchFamily="34" charset="-120"/>
              </a:rPr>
              <a:t>Почему это чинит все три ограничения сразу</a:t>
            </a:r>
            <a:endParaRPr lang="en-US" sz="1350" dirty="0"/>
          </a:p>
        </p:txBody>
      </p:sp>
      <p:sp>
        <p:nvSpPr>
          <p:cNvPr id="23" name="Text 18"/>
          <p:cNvSpPr/>
          <p:nvPr/>
        </p:nvSpPr>
        <p:spPr>
          <a:xfrm>
            <a:off x="822960" y="4882896"/>
            <a:ext cx="10607040" cy="731520"/>
          </a:xfrm>
          <a:prstGeom prst="rect">
            <a:avLst/>
          </a:prstGeom>
          <a:noFill/>
          <a:ln/>
        </p:spPr>
        <p:txBody>
          <a:bodyPr wrap="square" lIns="0" tIns="0" rIns="0" bIns="0" rtlCol="0" anchor="ctr"/>
          <a:lstStyle/>
          <a:p>
            <a:pPr indent="0" marL="0">
              <a:lnSpc>
                <a:spcPct val="120000"/>
              </a:lnSpc>
              <a:buNone/>
            </a:pPr>
            <a:r>
              <a:rPr lang="en-US" sz="1250" dirty="0">
                <a:solidFill>
                  <a:srgbClr val="17282A"/>
                </a:solidFill>
                <a:latin typeface="Calibri" pitchFamily="34" charset="0"/>
                <a:ea typeface="Calibri" pitchFamily="34" charset="-122"/>
                <a:cs typeface="Calibri" pitchFamily="34" charset="-120"/>
              </a:rPr>
              <a:t>Внутренние документы — теперь видны (они и есть источник поиска). Галлюцинации — меньше, потому что модель опирается на конкретный текст, а не додумывает. Устаревание — снято, потому что документы можно обновлять в любой момент, без переобучения самой модели.</a:t>
            </a:r>
            <a:endParaRPr lang="en-US" sz="1250" dirty="0"/>
          </a:p>
        </p:txBody>
      </p:sp>
      <p:sp>
        <p:nvSpPr>
          <p:cNvPr id="24" name="Text 1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a:t>
            </a:r>
            <a:endParaRPr lang="en-US" sz="1000" dirty="0"/>
          </a:p>
        </p:txBody>
      </p:sp>
      <p:sp>
        <p:nvSpPr>
          <p:cNvPr id="25" name="Text 20"/>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6 / 27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ОБЩАЯ СХЕМА</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Пайплайн RAG на четырёх шагах</a:t>
            </a:r>
            <a:endParaRPr lang="en-US" sz="2400" dirty="0"/>
          </a:p>
        </p:txBody>
      </p:sp>
      <p:sp>
        <p:nvSpPr>
          <p:cNvPr id="4" name="Text 2"/>
          <p:cNvSpPr/>
          <p:nvPr/>
        </p:nvSpPr>
        <p:spPr>
          <a:xfrm>
            <a:off x="548640" y="1298448"/>
            <a:ext cx="10515600" cy="320040"/>
          </a:xfrm>
          <a:prstGeom prst="rect">
            <a:avLst/>
          </a:prstGeom>
          <a:noFill/>
          <a:ln/>
        </p:spPr>
        <p:txBody>
          <a:bodyPr wrap="square" lIns="0" tIns="0" rIns="0" bIns="0" rtlCol="0" anchor="ctr"/>
          <a:lstStyle/>
          <a:p>
            <a:pPr indent="0" marL="0">
              <a:buNone/>
            </a:pPr>
            <a:r>
              <a:rPr lang="en-US" sz="1300" dirty="0">
                <a:solidFill>
                  <a:srgbClr val="55696B"/>
                </a:solidFill>
                <a:latin typeface="Calibri" pitchFamily="34" charset="0"/>
                <a:ea typeface="Calibri" pitchFamily="34" charset="-122"/>
                <a:cs typeface="Calibri" pitchFamily="34" charset="-120"/>
              </a:rPr>
              <a:t>Прежде чем углубляться в детали (слайды 8–21), — общая картина целиком.</a:t>
            </a:r>
            <a:endParaRPr lang="en-US" sz="1300" dirty="0"/>
          </a:p>
        </p:txBody>
      </p:sp>
      <p:sp>
        <p:nvSpPr>
          <p:cNvPr id="5" name="Shape 3"/>
          <p:cNvSpPr/>
          <p:nvPr/>
        </p:nvSpPr>
        <p:spPr>
          <a:xfrm>
            <a:off x="678028" y="2148840"/>
            <a:ext cx="2331720" cy="2468880"/>
          </a:xfrm>
          <a:prstGeom prst="roundRect">
            <a:avLst>
              <a:gd name="adj" fmla="val 4706"/>
            </a:avLst>
          </a:prstGeom>
          <a:solidFill>
            <a:srgbClr val="F2FAF9"/>
          </a:solidFill>
          <a:ln/>
          <a:effectLst>
            <a:outerShdw sx="100000" sy="100000" kx="0" ky="0" algn="bl" rotWithShape="0" blurRad="76200" dist="25400" dir="5400000">
              <a:srgbClr val="0F3B3A">
                <a:alpha val="18000"/>
              </a:srgbClr>
            </a:outerShdw>
          </a:effectLst>
        </p:spPr>
      </p:sp>
      <p:sp>
        <p:nvSpPr>
          <p:cNvPr id="6" name="Shape 4"/>
          <p:cNvSpPr/>
          <p:nvPr/>
        </p:nvSpPr>
        <p:spPr>
          <a:xfrm>
            <a:off x="1455268" y="2423160"/>
            <a:ext cx="777240" cy="77724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556309" y="2524201"/>
            <a:ext cx="575158" cy="575158"/>
          </a:xfrm>
          <a:prstGeom prst="rect">
            <a:avLst/>
          </a:prstGeom>
        </p:spPr>
      </p:pic>
      <p:sp>
        <p:nvSpPr>
          <p:cNvPr id="8" name="Text 5"/>
          <p:cNvSpPr/>
          <p:nvPr/>
        </p:nvSpPr>
        <p:spPr>
          <a:xfrm>
            <a:off x="678028" y="3383280"/>
            <a:ext cx="2331720" cy="365760"/>
          </a:xfrm>
          <a:prstGeom prst="rect">
            <a:avLst/>
          </a:prstGeom>
          <a:noFill/>
          <a:ln/>
        </p:spPr>
        <p:txBody>
          <a:bodyPr wrap="square" lIns="0" tIns="0" rIns="0" bIns="0" rtlCol="0" anchor="ctr"/>
          <a:lstStyle/>
          <a:p>
            <a:pPr algn="ctr" indent="0" marL="0">
              <a:buNone/>
            </a:pPr>
            <a:r>
              <a:rPr lang="en-US" sz="1600" b="1" dirty="0">
                <a:solidFill>
                  <a:srgbClr val="17282A"/>
                </a:solidFill>
                <a:latin typeface="Cambria" pitchFamily="34" charset="0"/>
                <a:ea typeface="Cambria" pitchFamily="34" charset="-122"/>
                <a:cs typeface="Cambria" pitchFamily="34" charset="-120"/>
              </a:rPr>
              <a:t>Вопрос</a:t>
            </a:r>
            <a:endParaRPr lang="en-US" sz="1600" dirty="0"/>
          </a:p>
        </p:txBody>
      </p:sp>
      <p:sp>
        <p:nvSpPr>
          <p:cNvPr id="9" name="Text 6"/>
          <p:cNvSpPr/>
          <p:nvPr/>
        </p:nvSpPr>
        <p:spPr>
          <a:xfrm>
            <a:off x="769468" y="3794760"/>
            <a:ext cx="2148840" cy="685800"/>
          </a:xfrm>
          <a:prstGeom prst="rect">
            <a:avLst/>
          </a:prstGeom>
          <a:noFill/>
          <a:ln/>
        </p:spPr>
        <p:txBody>
          <a:bodyPr wrap="square" lIns="0" tIns="0" rIns="0" bIns="0" rtlCol="0" anchor="ctr"/>
          <a:lstStyle/>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пользователь</a:t>
            </a:r>
            <a:endParaRPr lang="en-US" sz="1150" dirty="0"/>
          </a:p>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спрашивает</a:t>
            </a:r>
            <a:endParaRPr lang="en-US" sz="1150" dirty="0"/>
          </a:p>
        </p:txBody>
      </p:sp>
      <p:sp>
        <p:nvSpPr>
          <p:cNvPr id="10" name="Shape 7"/>
          <p:cNvSpPr/>
          <p:nvPr/>
        </p:nvSpPr>
        <p:spPr>
          <a:xfrm>
            <a:off x="3064612" y="3383280"/>
            <a:ext cx="393192" cy="9144"/>
          </a:xfrm>
          <a:prstGeom prst="line">
            <a:avLst/>
          </a:prstGeom>
          <a:noFill/>
          <a:ln w="38100">
            <a:solidFill>
              <a:srgbClr val="028090"/>
            </a:solidFill>
            <a:prstDash val="solid"/>
            <a:tailEnd type="triangle"/>
          </a:ln>
        </p:spPr>
      </p:sp>
      <p:sp>
        <p:nvSpPr>
          <p:cNvPr id="11" name="Shape 8"/>
          <p:cNvSpPr/>
          <p:nvPr/>
        </p:nvSpPr>
        <p:spPr>
          <a:xfrm>
            <a:off x="3512668" y="2148840"/>
            <a:ext cx="2331720" cy="2468880"/>
          </a:xfrm>
          <a:prstGeom prst="roundRect">
            <a:avLst>
              <a:gd name="adj" fmla="val 4706"/>
            </a:avLst>
          </a:prstGeom>
          <a:solidFill>
            <a:srgbClr val="F2FAF9"/>
          </a:solidFill>
          <a:ln/>
          <a:effectLst>
            <a:outerShdw sx="100000" sy="100000" kx="0" ky="0" algn="bl" rotWithShape="0" blurRad="76200" dist="25400" dir="5400000">
              <a:srgbClr val="0F3B3A">
                <a:alpha val="18000"/>
              </a:srgbClr>
            </a:outerShdw>
          </a:effectLst>
        </p:spPr>
      </p:sp>
      <p:sp>
        <p:nvSpPr>
          <p:cNvPr id="12" name="Shape 9"/>
          <p:cNvSpPr/>
          <p:nvPr/>
        </p:nvSpPr>
        <p:spPr>
          <a:xfrm>
            <a:off x="4289908" y="2423160"/>
            <a:ext cx="777240" cy="777240"/>
          </a:xfrm>
          <a:prstGeom prst="ellipse">
            <a:avLst/>
          </a:prstGeom>
          <a:solidFill>
            <a:srgbClr val="028090"/>
          </a:solidFill>
          <a:ln/>
        </p:spPr>
      </p:sp>
      <p:pic>
        <p:nvPicPr>
          <p:cNvPr id="13" name="Image 1" descr="preencoded.png">    </p:cNvPr>
          <p:cNvPicPr>
            <a:picLocks noChangeAspect="1"/>
          </p:cNvPicPr>
          <p:nvPr/>
        </p:nvPicPr>
        <p:blipFill>
          <a:blip r:embed="rId2"/>
          <a:stretch>
            <a:fillRect/>
          </a:stretch>
        </p:blipFill>
        <p:spPr>
          <a:xfrm>
            <a:off x="4390949" y="2524201"/>
            <a:ext cx="575158" cy="575158"/>
          </a:xfrm>
          <a:prstGeom prst="rect">
            <a:avLst/>
          </a:prstGeom>
        </p:spPr>
      </p:pic>
      <p:sp>
        <p:nvSpPr>
          <p:cNvPr id="14" name="Text 10"/>
          <p:cNvSpPr/>
          <p:nvPr/>
        </p:nvSpPr>
        <p:spPr>
          <a:xfrm>
            <a:off x="3512668" y="3383280"/>
            <a:ext cx="2331720" cy="365760"/>
          </a:xfrm>
          <a:prstGeom prst="rect">
            <a:avLst/>
          </a:prstGeom>
          <a:noFill/>
          <a:ln/>
        </p:spPr>
        <p:txBody>
          <a:bodyPr wrap="square" lIns="0" tIns="0" rIns="0" bIns="0" rtlCol="0" anchor="ctr"/>
          <a:lstStyle/>
          <a:p>
            <a:pPr algn="ctr" indent="0" marL="0">
              <a:buNone/>
            </a:pPr>
            <a:r>
              <a:rPr lang="en-US" sz="1600" b="1" dirty="0">
                <a:solidFill>
                  <a:srgbClr val="17282A"/>
                </a:solidFill>
                <a:latin typeface="Cambria" pitchFamily="34" charset="0"/>
                <a:ea typeface="Cambria" pitchFamily="34" charset="-122"/>
                <a:cs typeface="Cambria" pitchFamily="34" charset="-120"/>
              </a:rPr>
              <a:t>Поиск</a:t>
            </a:r>
            <a:endParaRPr lang="en-US" sz="1600" dirty="0"/>
          </a:p>
        </p:txBody>
      </p:sp>
      <p:sp>
        <p:nvSpPr>
          <p:cNvPr id="15" name="Text 11"/>
          <p:cNvSpPr/>
          <p:nvPr/>
        </p:nvSpPr>
        <p:spPr>
          <a:xfrm>
            <a:off x="3604108" y="3794760"/>
            <a:ext cx="2148840" cy="685800"/>
          </a:xfrm>
          <a:prstGeom prst="rect">
            <a:avLst/>
          </a:prstGeom>
          <a:noFill/>
          <a:ln/>
        </p:spPr>
        <p:txBody>
          <a:bodyPr wrap="square" lIns="0" tIns="0" rIns="0" bIns="0" rtlCol="0" anchor="ctr"/>
          <a:lstStyle/>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по документам</a:t>
            </a:r>
            <a:endParaRPr lang="en-US" sz="1150" dirty="0"/>
          </a:p>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компании</a:t>
            </a:r>
            <a:endParaRPr lang="en-US" sz="1150" dirty="0"/>
          </a:p>
        </p:txBody>
      </p:sp>
      <p:sp>
        <p:nvSpPr>
          <p:cNvPr id="16" name="Shape 12"/>
          <p:cNvSpPr/>
          <p:nvPr/>
        </p:nvSpPr>
        <p:spPr>
          <a:xfrm>
            <a:off x="5899252" y="3383280"/>
            <a:ext cx="393192" cy="9144"/>
          </a:xfrm>
          <a:prstGeom prst="line">
            <a:avLst/>
          </a:prstGeom>
          <a:noFill/>
          <a:ln w="38100">
            <a:solidFill>
              <a:srgbClr val="028090"/>
            </a:solidFill>
            <a:prstDash val="solid"/>
            <a:tailEnd type="triangle"/>
          </a:ln>
        </p:spPr>
      </p:sp>
      <p:sp>
        <p:nvSpPr>
          <p:cNvPr id="17" name="Shape 13"/>
          <p:cNvSpPr/>
          <p:nvPr/>
        </p:nvSpPr>
        <p:spPr>
          <a:xfrm>
            <a:off x="6347308" y="2148840"/>
            <a:ext cx="2331720" cy="2468880"/>
          </a:xfrm>
          <a:prstGeom prst="roundRect">
            <a:avLst>
              <a:gd name="adj" fmla="val 4706"/>
            </a:avLst>
          </a:prstGeom>
          <a:solidFill>
            <a:srgbClr val="F2FAF9"/>
          </a:solidFill>
          <a:ln/>
          <a:effectLst>
            <a:outerShdw sx="100000" sy="100000" kx="0" ky="0" algn="bl" rotWithShape="0" blurRad="76200" dist="25400" dir="5400000">
              <a:srgbClr val="0F3B3A">
                <a:alpha val="18000"/>
              </a:srgbClr>
            </a:outerShdw>
          </a:effectLst>
        </p:spPr>
      </p:sp>
      <p:sp>
        <p:nvSpPr>
          <p:cNvPr id="18" name="Shape 14"/>
          <p:cNvSpPr/>
          <p:nvPr/>
        </p:nvSpPr>
        <p:spPr>
          <a:xfrm>
            <a:off x="7124548" y="2423160"/>
            <a:ext cx="777240" cy="777240"/>
          </a:xfrm>
          <a:prstGeom prst="ellipse">
            <a:avLst/>
          </a:prstGeom>
          <a:solidFill>
            <a:srgbClr val="028090"/>
          </a:solidFill>
          <a:ln/>
        </p:spPr>
      </p:sp>
      <p:pic>
        <p:nvPicPr>
          <p:cNvPr id="19" name="Image 2" descr="preencoded.png">    </p:cNvPr>
          <p:cNvPicPr>
            <a:picLocks noChangeAspect="1"/>
          </p:cNvPicPr>
          <p:nvPr/>
        </p:nvPicPr>
        <p:blipFill>
          <a:blip r:embed="rId3"/>
          <a:stretch>
            <a:fillRect/>
          </a:stretch>
        </p:blipFill>
        <p:spPr>
          <a:xfrm>
            <a:off x="7225589" y="2524201"/>
            <a:ext cx="575158" cy="575158"/>
          </a:xfrm>
          <a:prstGeom prst="rect">
            <a:avLst/>
          </a:prstGeom>
        </p:spPr>
      </p:pic>
      <p:sp>
        <p:nvSpPr>
          <p:cNvPr id="20" name="Text 15"/>
          <p:cNvSpPr/>
          <p:nvPr/>
        </p:nvSpPr>
        <p:spPr>
          <a:xfrm>
            <a:off x="6347308" y="3383280"/>
            <a:ext cx="2331720" cy="365760"/>
          </a:xfrm>
          <a:prstGeom prst="rect">
            <a:avLst/>
          </a:prstGeom>
          <a:noFill/>
          <a:ln/>
        </p:spPr>
        <p:txBody>
          <a:bodyPr wrap="square" lIns="0" tIns="0" rIns="0" bIns="0" rtlCol="0" anchor="ctr"/>
          <a:lstStyle/>
          <a:p>
            <a:pPr algn="ctr" indent="0" marL="0">
              <a:buNone/>
            </a:pPr>
            <a:r>
              <a:rPr lang="en-US" sz="1600" b="1" dirty="0">
                <a:solidFill>
                  <a:srgbClr val="17282A"/>
                </a:solidFill>
                <a:latin typeface="Cambria" pitchFamily="34" charset="0"/>
                <a:ea typeface="Cambria" pitchFamily="34" charset="-122"/>
                <a:cs typeface="Cambria" pitchFamily="34" charset="-120"/>
              </a:rPr>
              <a:t>Контекст</a:t>
            </a:r>
            <a:endParaRPr lang="en-US" sz="1600" dirty="0"/>
          </a:p>
        </p:txBody>
      </p:sp>
      <p:sp>
        <p:nvSpPr>
          <p:cNvPr id="21" name="Text 16"/>
          <p:cNvSpPr/>
          <p:nvPr/>
        </p:nvSpPr>
        <p:spPr>
          <a:xfrm>
            <a:off x="6438748" y="3794760"/>
            <a:ext cx="2148840" cy="685800"/>
          </a:xfrm>
          <a:prstGeom prst="rect">
            <a:avLst/>
          </a:prstGeom>
          <a:noFill/>
          <a:ln/>
        </p:spPr>
        <p:txBody>
          <a:bodyPr wrap="square" lIns="0" tIns="0" rIns="0" bIns="0" rtlCol="0" anchor="ctr"/>
          <a:lstStyle/>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релевантные</a:t>
            </a:r>
            <a:endParaRPr lang="en-US" sz="1150" dirty="0"/>
          </a:p>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фрагменты</a:t>
            </a:r>
            <a:endParaRPr lang="en-US" sz="1150" dirty="0"/>
          </a:p>
        </p:txBody>
      </p:sp>
      <p:sp>
        <p:nvSpPr>
          <p:cNvPr id="22" name="Shape 17"/>
          <p:cNvSpPr/>
          <p:nvPr/>
        </p:nvSpPr>
        <p:spPr>
          <a:xfrm>
            <a:off x="8733892" y="3383280"/>
            <a:ext cx="393192" cy="9144"/>
          </a:xfrm>
          <a:prstGeom prst="line">
            <a:avLst/>
          </a:prstGeom>
          <a:noFill/>
          <a:ln w="38100">
            <a:solidFill>
              <a:srgbClr val="028090"/>
            </a:solidFill>
            <a:prstDash val="solid"/>
            <a:tailEnd type="triangle"/>
          </a:ln>
        </p:spPr>
      </p:sp>
      <p:sp>
        <p:nvSpPr>
          <p:cNvPr id="23" name="Shape 18"/>
          <p:cNvSpPr/>
          <p:nvPr/>
        </p:nvSpPr>
        <p:spPr>
          <a:xfrm>
            <a:off x="9181948" y="2148840"/>
            <a:ext cx="2331720" cy="2468880"/>
          </a:xfrm>
          <a:prstGeom prst="roundRect">
            <a:avLst>
              <a:gd name="adj" fmla="val 4706"/>
            </a:avLst>
          </a:prstGeom>
          <a:solidFill>
            <a:srgbClr val="F2FAF9"/>
          </a:solidFill>
          <a:ln/>
          <a:effectLst>
            <a:outerShdw sx="100000" sy="100000" kx="0" ky="0" algn="bl" rotWithShape="0" blurRad="76200" dist="25400" dir="5400000">
              <a:srgbClr val="0F3B3A">
                <a:alpha val="18000"/>
              </a:srgbClr>
            </a:outerShdw>
          </a:effectLst>
        </p:spPr>
      </p:sp>
      <p:sp>
        <p:nvSpPr>
          <p:cNvPr id="24" name="Shape 19"/>
          <p:cNvSpPr/>
          <p:nvPr/>
        </p:nvSpPr>
        <p:spPr>
          <a:xfrm>
            <a:off x="9959188" y="2423160"/>
            <a:ext cx="777240" cy="777240"/>
          </a:xfrm>
          <a:prstGeom prst="ellipse">
            <a:avLst/>
          </a:prstGeom>
          <a:solidFill>
            <a:srgbClr val="02C39A"/>
          </a:solidFill>
          <a:ln/>
        </p:spPr>
      </p:sp>
      <p:pic>
        <p:nvPicPr>
          <p:cNvPr id="25" name="Image 3" descr="preencoded.png">    </p:cNvPr>
          <p:cNvPicPr>
            <a:picLocks noChangeAspect="1"/>
          </p:cNvPicPr>
          <p:nvPr/>
        </p:nvPicPr>
        <p:blipFill>
          <a:blip r:embed="rId4"/>
          <a:stretch>
            <a:fillRect/>
          </a:stretch>
        </p:blipFill>
        <p:spPr>
          <a:xfrm>
            <a:off x="10060229" y="2524201"/>
            <a:ext cx="575158" cy="575158"/>
          </a:xfrm>
          <a:prstGeom prst="rect">
            <a:avLst/>
          </a:prstGeom>
        </p:spPr>
      </p:pic>
      <p:sp>
        <p:nvSpPr>
          <p:cNvPr id="26" name="Text 20"/>
          <p:cNvSpPr/>
          <p:nvPr/>
        </p:nvSpPr>
        <p:spPr>
          <a:xfrm>
            <a:off x="9181948" y="3383280"/>
            <a:ext cx="2331720" cy="365760"/>
          </a:xfrm>
          <a:prstGeom prst="rect">
            <a:avLst/>
          </a:prstGeom>
          <a:noFill/>
          <a:ln/>
        </p:spPr>
        <p:txBody>
          <a:bodyPr wrap="square" lIns="0" tIns="0" rIns="0" bIns="0" rtlCol="0" anchor="ctr"/>
          <a:lstStyle/>
          <a:p>
            <a:pPr algn="ctr" indent="0" marL="0">
              <a:buNone/>
            </a:pPr>
            <a:r>
              <a:rPr lang="en-US" sz="1600" b="1" dirty="0">
                <a:solidFill>
                  <a:srgbClr val="17282A"/>
                </a:solidFill>
                <a:latin typeface="Cambria" pitchFamily="34" charset="0"/>
                <a:ea typeface="Cambria" pitchFamily="34" charset="-122"/>
                <a:cs typeface="Cambria" pitchFamily="34" charset="-120"/>
              </a:rPr>
              <a:t>Ответ</a:t>
            </a:r>
            <a:endParaRPr lang="en-US" sz="1600" dirty="0"/>
          </a:p>
        </p:txBody>
      </p:sp>
      <p:sp>
        <p:nvSpPr>
          <p:cNvPr id="27" name="Text 21"/>
          <p:cNvSpPr/>
          <p:nvPr/>
        </p:nvSpPr>
        <p:spPr>
          <a:xfrm>
            <a:off x="9273388" y="3794760"/>
            <a:ext cx="2148840" cy="685800"/>
          </a:xfrm>
          <a:prstGeom prst="rect">
            <a:avLst/>
          </a:prstGeom>
          <a:noFill/>
          <a:ln/>
        </p:spPr>
        <p:txBody>
          <a:bodyPr wrap="square" lIns="0" tIns="0" rIns="0" bIns="0" rtlCol="0" anchor="ctr"/>
          <a:lstStyle/>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LLM отвечает</a:t>
            </a:r>
            <a:endParaRPr lang="en-US" sz="1150" dirty="0"/>
          </a:p>
          <a:p>
            <a:pPr algn="ctr" indent="0" marL="0">
              <a:lnSpc>
                <a:spcPct val="110000"/>
              </a:lnSpc>
              <a:buNone/>
            </a:pPr>
            <a:r>
              <a:rPr lang="en-US" sz="1150" dirty="0">
                <a:solidFill>
                  <a:srgbClr val="55696B"/>
                </a:solidFill>
                <a:latin typeface="Calibri" pitchFamily="34" charset="0"/>
                <a:ea typeface="Calibri" pitchFamily="34" charset="-122"/>
                <a:cs typeface="Calibri" pitchFamily="34" charset="-120"/>
              </a:rPr>
              <a:t>со ссылкой</a:t>
            </a:r>
            <a:endParaRPr lang="en-US" sz="1150" dirty="0"/>
          </a:p>
        </p:txBody>
      </p:sp>
      <p:sp>
        <p:nvSpPr>
          <p:cNvPr id="28" name="Shape 22"/>
          <p:cNvSpPr/>
          <p:nvPr/>
        </p:nvSpPr>
        <p:spPr>
          <a:xfrm>
            <a:off x="678028" y="4937760"/>
            <a:ext cx="10835640" cy="914400"/>
          </a:xfrm>
          <a:prstGeom prst="roundRect">
            <a:avLst>
              <a:gd name="adj" fmla="val 9000"/>
            </a:avLst>
          </a:prstGeom>
          <a:solidFill>
            <a:srgbClr val="013A40"/>
          </a:solidFill>
          <a:ln/>
        </p:spPr>
      </p:sp>
      <p:sp>
        <p:nvSpPr>
          <p:cNvPr id="29" name="Text 23"/>
          <p:cNvSpPr/>
          <p:nvPr/>
        </p:nvSpPr>
        <p:spPr>
          <a:xfrm>
            <a:off x="952348" y="4937760"/>
            <a:ext cx="10287000" cy="91440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Внутри шага «Поиск» скрыто ещё 6 под-шагов (чанкинг, эмбеддинги, векторная база, гибридный поиск, top-K, реранкинг, судья) плюс проверки доступа и маскирование — им посвящена вся оставшаяся часть этой презентации.</a:t>
            </a:r>
            <a:endParaRPr lang="en-US" sz="1250" dirty="0"/>
          </a:p>
        </p:txBody>
      </p:sp>
      <p:sp>
        <p:nvSpPr>
          <p:cNvPr id="30" name="Text 2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Схема</a:t>
            </a:r>
            <a:endParaRPr lang="en-US" sz="1000" dirty="0"/>
          </a:p>
        </p:txBody>
      </p:sp>
      <p:sp>
        <p:nvSpPr>
          <p:cNvPr id="31" name="Text 25"/>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7 / 27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ПОДГОТОВКА (ШАГ 1)</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Чанкинг: зачем текст режут на фрагменты</a:t>
            </a:r>
            <a:endParaRPr lang="en-US" sz="2400" dirty="0"/>
          </a:p>
        </p:txBody>
      </p:sp>
      <p:sp>
        <p:nvSpPr>
          <p:cNvPr id="4" name="Shape 2"/>
          <p:cNvSpPr/>
          <p:nvPr/>
        </p:nvSpPr>
        <p:spPr>
          <a:xfrm>
            <a:off x="548640" y="1188720"/>
            <a:ext cx="1828800" cy="329184"/>
          </a:xfrm>
          <a:prstGeom prst="roundRect">
            <a:avLst>
              <a:gd name="adj" fmla="val 50000"/>
            </a:avLst>
          </a:prstGeom>
          <a:solidFill>
            <a:srgbClr val="028090"/>
          </a:solidFill>
          <a:ln/>
        </p:spPr>
      </p:sp>
      <p:sp>
        <p:nvSpPr>
          <p:cNvPr id="5" name="Text 3"/>
          <p:cNvSpPr/>
          <p:nvPr/>
        </p:nvSpPr>
        <p:spPr>
          <a:xfrm>
            <a:off x="548640" y="1188720"/>
            <a:ext cx="18288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1 · ЧАНКИНГ</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Shape 5"/>
          <p:cNvSpPr/>
          <p:nvPr/>
        </p:nvSpPr>
        <p:spPr>
          <a:xfrm>
            <a:off x="548640" y="1691640"/>
            <a:ext cx="11091672" cy="1417320"/>
          </a:xfrm>
          <a:prstGeom prst="roundRect">
            <a:avLst>
              <a:gd name="adj" fmla="val 6452"/>
            </a:avLst>
          </a:prstGeom>
          <a:solidFill>
            <a:srgbClr val="F2FAF9"/>
          </a:solidFill>
          <a:ln/>
        </p:spPr>
      </p:sp>
      <p:sp>
        <p:nvSpPr>
          <p:cNvPr id="9" name="Shape 6"/>
          <p:cNvSpPr/>
          <p:nvPr/>
        </p:nvSpPr>
        <p:spPr>
          <a:xfrm>
            <a:off x="822960" y="1920240"/>
            <a:ext cx="914400" cy="914400"/>
          </a:xfrm>
          <a:prstGeom prst="ellipse">
            <a:avLst/>
          </a:prstGeom>
          <a:solidFill>
            <a:srgbClr val="5C7A7C"/>
          </a:solidFill>
          <a:ln/>
        </p:spPr>
      </p:sp>
      <p:pic>
        <p:nvPicPr>
          <p:cNvPr id="10" name="Image 1" descr="preencoded.png">    </p:cNvPr>
          <p:cNvPicPr>
            <a:picLocks noChangeAspect="1"/>
          </p:cNvPicPr>
          <p:nvPr/>
        </p:nvPicPr>
        <p:blipFill>
          <a:blip r:embed="rId2"/>
          <a:stretch>
            <a:fillRect/>
          </a:stretch>
        </p:blipFill>
        <p:spPr>
          <a:xfrm>
            <a:off x="941832" y="2039112"/>
            <a:ext cx="676656" cy="676656"/>
          </a:xfrm>
          <a:prstGeom prst="rect">
            <a:avLst/>
          </a:prstGeom>
        </p:spPr>
      </p:pic>
      <p:sp>
        <p:nvSpPr>
          <p:cNvPr id="11" name="Text 7"/>
          <p:cNvSpPr/>
          <p:nvPr/>
        </p:nvSpPr>
        <p:spPr>
          <a:xfrm>
            <a:off x="502920" y="2852928"/>
            <a:ext cx="1005840" cy="457200"/>
          </a:xfrm>
          <a:prstGeom prst="rect">
            <a:avLst/>
          </a:prstGeom>
          <a:noFill/>
          <a:ln/>
        </p:spPr>
        <p:txBody>
          <a:bodyPr wrap="square" lIns="0" tIns="0" rIns="0" bIns="0" rtlCol="0" anchor="ctr"/>
          <a:lstStyle/>
          <a:p>
            <a:pPr algn="ctr" indent="0" marL="0">
              <a:lnSpc>
                <a:spcPct val="100000"/>
              </a:lnSpc>
              <a:buNone/>
            </a:pPr>
            <a:r>
              <a:rPr lang="en-US" sz="950" dirty="0">
                <a:solidFill>
                  <a:srgbClr val="55696B"/>
                </a:solidFill>
                <a:latin typeface="Calibri" pitchFamily="34" charset="0"/>
                <a:ea typeface="Calibri" pitchFamily="34" charset="-122"/>
                <a:cs typeface="Calibri" pitchFamily="34" charset="-120"/>
              </a:rPr>
              <a:t>Документ</a:t>
            </a:r>
            <a:endParaRPr lang="en-US" sz="950" dirty="0"/>
          </a:p>
          <a:p>
            <a:pPr algn="ctr" indent="0" marL="0">
              <a:lnSpc>
                <a:spcPct val="100000"/>
              </a:lnSpc>
              <a:buNone/>
            </a:pPr>
            <a:r>
              <a:rPr lang="en-US" sz="950" dirty="0">
                <a:solidFill>
                  <a:srgbClr val="55696B"/>
                </a:solidFill>
                <a:latin typeface="Calibri" pitchFamily="34" charset="0"/>
                <a:ea typeface="Calibri" pitchFamily="34" charset="-122"/>
                <a:cs typeface="Calibri" pitchFamily="34" charset="-120"/>
              </a:rPr>
              <a:t>(50+ страниц)</a:t>
            </a:r>
            <a:endParaRPr lang="en-US" sz="950" dirty="0"/>
          </a:p>
        </p:txBody>
      </p:sp>
      <p:sp>
        <p:nvSpPr>
          <p:cNvPr id="12" name="Shape 8"/>
          <p:cNvSpPr/>
          <p:nvPr/>
        </p:nvSpPr>
        <p:spPr>
          <a:xfrm>
            <a:off x="1920240" y="2377440"/>
            <a:ext cx="594360" cy="9144"/>
          </a:xfrm>
          <a:prstGeom prst="line">
            <a:avLst/>
          </a:prstGeom>
          <a:noFill/>
          <a:ln w="38100">
            <a:solidFill>
              <a:srgbClr val="028090"/>
            </a:solidFill>
            <a:prstDash val="solid"/>
            <a:tailEnd type="triangle"/>
          </a:ln>
        </p:spPr>
      </p:sp>
      <p:sp>
        <p:nvSpPr>
          <p:cNvPr id="13" name="Shape 9"/>
          <p:cNvSpPr/>
          <p:nvPr/>
        </p:nvSpPr>
        <p:spPr>
          <a:xfrm>
            <a:off x="2697480" y="1965960"/>
            <a:ext cx="1417320" cy="868680"/>
          </a:xfrm>
          <a:prstGeom prst="roundRect">
            <a:avLst>
              <a:gd name="adj" fmla="val 6316"/>
            </a:avLst>
          </a:prstGeom>
          <a:solidFill>
            <a:srgbClr val="FFFFFF"/>
          </a:solidFill>
          <a:ln w="12700">
            <a:solidFill>
              <a:srgbClr val="028090"/>
            </a:solidFill>
            <a:prstDash val="solid"/>
          </a:ln>
        </p:spPr>
      </p:sp>
      <p:sp>
        <p:nvSpPr>
          <p:cNvPr id="14" name="Text 10"/>
          <p:cNvSpPr/>
          <p:nvPr/>
        </p:nvSpPr>
        <p:spPr>
          <a:xfrm>
            <a:off x="2697480" y="1965960"/>
            <a:ext cx="1417320" cy="86868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Чанк 1</a:t>
            </a:r>
            <a:endParaRPr lang="en-US" sz="1100" dirty="0"/>
          </a:p>
        </p:txBody>
      </p:sp>
      <p:sp>
        <p:nvSpPr>
          <p:cNvPr id="15" name="Shape 11"/>
          <p:cNvSpPr/>
          <p:nvPr/>
        </p:nvSpPr>
        <p:spPr>
          <a:xfrm>
            <a:off x="4279392" y="1965960"/>
            <a:ext cx="1417320" cy="868680"/>
          </a:xfrm>
          <a:prstGeom prst="roundRect">
            <a:avLst>
              <a:gd name="adj" fmla="val 6316"/>
            </a:avLst>
          </a:prstGeom>
          <a:solidFill>
            <a:srgbClr val="FFFFFF"/>
          </a:solidFill>
          <a:ln w="12700">
            <a:solidFill>
              <a:srgbClr val="028090"/>
            </a:solidFill>
            <a:prstDash val="solid"/>
          </a:ln>
        </p:spPr>
      </p:sp>
      <p:sp>
        <p:nvSpPr>
          <p:cNvPr id="16" name="Text 12"/>
          <p:cNvSpPr/>
          <p:nvPr/>
        </p:nvSpPr>
        <p:spPr>
          <a:xfrm>
            <a:off x="4279392" y="1965960"/>
            <a:ext cx="1417320" cy="86868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Чанк 2</a:t>
            </a:r>
            <a:endParaRPr lang="en-US" sz="1100" dirty="0"/>
          </a:p>
        </p:txBody>
      </p:sp>
      <p:sp>
        <p:nvSpPr>
          <p:cNvPr id="17" name="Shape 13"/>
          <p:cNvSpPr/>
          <p:nvPr/>
        </p:nvSpPr>
        <p:spPr>
          <a:xfrm>
            <a:off x="5861304" y="1965960"/>
            <a:ext cx="1417320" cy="868680"/>
          </a:xfrm>
          <a:prstGeom prst="roundRect">
            <a:avLst>
              <a:gd name="adj" fmla="val 6316"/>
            </a:avLst>
          </a:prstGeom>
          <a:solidFill>
            <a:srgbClr val="02C39A"/>
          </a:solidFill>
          <a:ln w="12700">
            <a:solidFill>
              <a:srgbClr val="028090"/>
            </a:solidFill>
            <a:prstDash val="solid"/>
          </a:ln>
        </p:spPr>
      </p:sp>
      <p:sp>
        <p:nvSpPr>
          <p:cNvPr id="18" name="Text 14"/>
          <p:cNvSpPr/>
          <p:nvPr/>
        </p:nvSpPr>
        <p:spPr>
          <a:xfrm>
            <a:off x="5861304" y="1965960"/>
            <a:ext cx="1417320" cy="868680"/>
          </a:xfrm>
          <a:prstGeom prst="rect">
            <a:avLst/>
          </a:prstGeom>
          <a:noFill/>
          <a:ln/>
        </p:spPr>
        <p:txBody>
          <a:bodyPr wrap="square" lIns="0" tIns="0" rIns="0" bIns="0" rtlCol="0" anchor="ctr"/>
          <a:lstStyle/>
          <a:p>
            <a:pPr algn="ctr" indent="0" marL="0">
              <a:buNone/>
            </a:pPr>
            <a:r>
              <a:rPr lang="en-US" sz="1100" b="1" dirty="0">
                <a:solidFill>
                  <a:srgbClr val="013A40"/>
                </a:solidFill>
                <a:latin typeface="Calibri" pitchFamily="34" charset="0"/>
                <a:ea typeface="Calibri" pitchFamily="34" charset="-122"/>
                <a:cs typeface="Calibri" pitchFamily="34" charset="-120"/>
              </a:rPr>
              <a:t>Чанк 3</a:t>
            </a:r>
            <a:endParaRPr lang="en-US" sz="1100" dirty="0"/>
          </a:p>
        </p:txBody>
      </p:sp>
      <p:sp>
        <p:nvSpPr>
          <p:cNvPr id="19" name="Shape 15"/>
          <p:cNvSpPr/>
          <p:nvPr/>
        </p:nvSpPr>
        <p:spPr>
          <a:xfrm>
            <a:off x="7443216" y="1965960"/>
            <a:ext cx="1417320" cy="868680"/>
          </a:xfrm>
          <a:prstGeom prst="roundRect">
            <a:avLst>
              <a:gd name="adj" fmla="val 6316"/>
            </a:avLst>
          </a:prstGeom>
          <a:solidFill>
            <a:srgbClr val="FFFFFF"/>
          </a:solidFill>
          <a:ln w="12700">
            <a:solidFill>
              <a:srgbClr val="028090"/>
            </a:solidFill>
            <a:prstDash val="solid"/>
          </a:ln>
        </p:spPr>
      </p:sp>
      <p:sp>
        <p:nvSpPr>
          <p:cNvPr id="20" name="Text 16"/>
          <p:cNvSpPr/>
          <p:nvPr/>
        </p:nvSpPr>
        <p:spPr>
          <a:xfrm>
            <a:off x="7443216" y="1965960"/>
            <a:ext cx="1417320" cy="86868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Чанк 4</a:t>
            </a:r>
            <a:endParaRPr lang="en-US" sz="1100" dirty="0"/>
          </a:p>
        </p:txBody>
      </p:sp>
      <p:sp>
        <p:nvSpPr>
          <p:cNvPr id="21" name="Shape 17"/>
          <p:cNvSpPr/>
          <p:nvPr/>
        </p:nvSpPr>
        <p:spPr>
          <a:xfrm>
            <a:off x="9025128" y="1965960"/>
            <a:ext cx="1417320" cy="868680"/>
          </a:xfrm>
          <a:prstGeom prst="roundRect">
            <a:avLst>
              <a:gd name="adj" fmla="val 6316"/>
            </a:avLst>
          </a:prstGeom>
          <a:solidFill>
            <a:srgbClr val="FFFFFF"/>
          </a:solidFill>
          <a:ln w="12700">
            <a:solidFill>
              <a:srgbClr val="028090"/>
            </a:solidFill>
            <a:prstDash val="solid"/>
          </a:ln>
        </p:spPr>
      </p:sp>
      <p:sp>
        <p:nvSpPr>
          <p:cNvPr id="22" name="Text 18"/>
          <p:cNvSpPr/>
          <p:nvPr/>
        </p:nvSpPr>
        <p:spPr>
          <a:xfrm>
            <a:off x="9025128" y="1965960"/>
            <a:ext cx="1417320" cy="86868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Чанк 5</a:t>
            </a:r>
            <a:endParaRPr lang="en-US" sz="1100" dirty="0"/>
          </a:p>
        </p:txBody>
      </p:sp>
      <p:sp>
        <p:nvSpPr>
          <p:cNvPr id="23" name="Text 19"/>
          <p:cNvSpPr/>
          <p:nvPr/>
        </p:nvSpPr>
        <p:spPr>
          <a:xfrm>
            <a:off x="5404104" y="2880360"/>
            <a:ext cx="2286000" cy="457200"/>
          </a:xfrm>
          <a:prstGeom prst="rect">
            <a:avLst/>
          </a:prstGeom>
          <a:noFill/>
          <a:ln/>
        </p:spPr>
        <p:txBody>
          <a:bodyPr wrap="square" lIns="0" tIns="0" rIns="0" bIns="0" rtlCol="0" anchor="ctr"/>
          <a:lstStyle/>
          <a:p>
            <a:pPr algn="ctr" indent="0" marL="0">
              <a:lnSpc>
                <a:spcPct val="100000"/>
              </a:lnSpc>
              <a:buNone/>
            </a:pPr>
            <a:r>
              <a:rPr lang="en-US" sz="950" i="1" dirty="0">
                <a:solidFill>
                  <a:srgbClr val="028090"/>
                </a:solidFill>
                <a:latin typeface="Calibri" pitchFamily="34" charset="0"/>
                <a:ea typeface="Calibri" pitchFamily="34" charset="-122"/>
                <a:cs typeface="Calibri" pitchFamily="34" charset="-120"/>
              </a:rPr>
              <a:t>«Риск-профили клиентов»</a:t>
            </a:r>
            <a:endParaRPr lang="en-US" sz="950" dirty="0"/>
          </a:p>
          <a:p>
            <a:pPr algn="ctr" indent="0" marL="0">
              <a:lnSpc>
                <a:spcPct val="100000"/>
              </a:lnSpc>
              <a:buNone/>
            </a:pPr>
            <a:r>
              <a:rPr lang="en-US" sz="950" i="1" dirty="0">
                <a:solidFill>
                  <a:srgbClr val="028090"/>
                </a:solidFill>
                <a:latin typeface="Calibri" pitchFamily="34" charset="0"/>
                <a:ea typeface="Calibri" pitchFamily="34" charset="-122"/>
                <a:cs typeface="Calibri" pitchFamily="34" charset="-120"/>
              </a:rPr>
              <a:t>(пример из реального разбора)</a:t>
            </a:r>
            <a:endParaRPr lang="en-US" sz="950" dirty="0"/>
          </a:p>
        </p:txBody>
      </p:sp>
      <p:sp>
        <p:nvSpPr>
          <p:cNvPr id="24" name="Shape 20"/>
          <p:cNvSpPr/>
          <p:nvPr/>
        </p:nvSpPr>
        <p:spPr>
          <a:xfrm>
            <a:off x="548640" y="3337560"/>
            <a:ext cx="5440680" cy="2514600"/>
          </a:xfrm>
          <a:prstGeom prst="roundRect">
            <a:avLst>
              <a:gd name="adj" fmla="val 3273"/>
            </a:avLst>
          </a:prstGeom>
          <a:solidFill>
            <a:srgbClr val="F2FAF9"/>
          </a:solidFill>
          <a:ln/>
          <a:effectLst>
            <a:outerShdw sx="100000" sy="100000" kx="0" ky="0" algn="bl" rotWithShape="0" blurRad="76200" dist="25400" dir="5400000">
              <a:srgbClr val="0F3B3A">
                <a:alpha val="18000"/>
              </a:srgbClr>
            </a:outerShdw>
          </a:effectLst>
        </p:spPr>
      </p:sp>
      <p:sp>
        <p:nvSpPr>
          <p:cNvPr id="25" name="Shape 21"/>
          <p:cNvSpPr/>
          <p:nvPr/>
        </p:nvSpPr>
        <p:spPr>
          <a:xfrm>
            <a:off x="749808" y="3538728"/>
            <a:ext cx="502920" cy="502920"/>
          </a:xfrm>
          <a:prstGeom prst="ellipse">
            <a:avLst/>
          </a:prstGeom>
          <a:solidFill>
            <a:srgbClr val="028090"/>
          </a:solidFill>
          <a:ln/>
        </p:spPr>
      </p:sp>
      <p:pic>
        <p:nvPicPr>
          <p:cNvPr id="26" name="Image 2" descr="preencoded.png">    </p:cNvPr>
          <p:cNvPicPr>
            <a:picLocks noChangeAspect="1"/>
          </p:cNvPicPr>
          <p:nvPr/>
        </p:nvPicPr>
        <p:blipFill>
          <a:blip r:embed="rId3"/>
          <a:stretch>
            <a:fillRect/>
          </a:stretch>
        </p:blipFill>
        <p:spPr>
          <a:xfrm>
            <a:off x="815188" y="3604108"/>
            <a:ext cx="372161" cy="372161"/>
          </a:xfrm>
          <a:prstGeom prst="rect">
            <a:avLst/>
          </a:prstGeom>
        </p:spPr>
      </p:pic>
      <p:sp>
        <p:nvSpPr>
          <p:cNvPr id="27" name="Text 22"/>
          <p:cNvSpPr/>
          <p:nvPr/>
        </p:nvSpPr>
        <p:spPr>
          <a:xfrm>
            <a:off x="1399032" y="3511296"/>
            <a:ext cx="4389120"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Почему не индексировать документ целиком?</a:t>
            </a:r>
            <a:endParaRPr lang="en-US" sz="1400" dirty="0"/>
          </a:p>
        </p:txBody>
      </p:sp>
      <p:sp>
        <p:nvSpPr>
          <p:cNvPr id="28" name="Text 23"/>
          <p:cNvSpPr/>
          <p:nvPr/>
        </p:nvSpPr>
        <p:spPr>
          <a:xfrm>
            <a:off x="749808" y="4133088"/>
            <a:ext cx="5038344" cy="151790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Модель не может держать в контексте весь договор на 50 страниц при каждом вопросе — это дорого, медленно и «размывает» релевантность: чем длиннее текст в контексте, тем труднее модели выделить в нём именно нужную мысль.</a:t>
            </a:r>
            <a:endParaRPr lang="en-US" sz="1200" dirty="0"/>
          </a:p>
        </p:txBody>
      </p:sp>
      <p:sp>
        <p:nvSpPr>
          <p:cNvPr id="29" name="Shape 24"/>
          <p:cNvSpPr/>
          <p:nvPr/>
        </p:nvSpPr>
        <p:spPr>
          <a:xfrm>
            <a:off x="6172200" y="3337560"/>
            <a:ext cx="5468112" cy="2514600"/>
          </a:xfrm>
          <a:prstGeom prst="roundRect">
            <a:avLst>
              <a:gd name="adj" fmla="val 3273"/>
            </a:avLst>
          </a:prstGeom>
          <a:solidFill>
            <a:srgbClr val="F2FAF9"/>
          </a:solidFill>
          <a:ln/>
          <a:effectLst>
            <a:outerShdw sx="100000" sy="100000" kx="0" ky="0" algn="bl" rotWithShape="0" blurRad="76200" dist="25400" dir="5400000">
              <a:srgbClr val="0F3B3A">
                <a:alpha val="18000"/>
              </a:srgbClr>
            </a:outerShdw>
          </a:effectLst>
        </p:spPr>
      </p:sp>
      <p:sp>
        <p:nvSpPr>
          <p:cNvPr id="30" name="Shape 25"/>
          <p:cNvSpPr/>
          <p:nvPr/>
        </p:nvSpPr>
        <p:spPr>
          <a:xfrm>
            <a:off x="6373368" y="3538728"/>
            <a:ext cx="502920" cy="502920"/>
          </a:xfrm>
          <a:prstGeom prst="ellipse">
            <a:avLst/>
          </a:prstGeom>
          <a:solidFill>
            <a:srgbClr val="02C39A"/>
          </a:solidFill>
          <a:ln/>
        </p:spPr>
      </p:sp>
      <p:pic>
        <p:nvPicPr>
          <p:cNvPr id="31" name="Image 3" descr="preencoded.png">    </p:cNvPr>
          <p:cNvPicPr>
            <a:picLocks noChangeAspect="1"/>
          </p:cNvPicPr>
          <p:nvPr/>
        </p:nvPicPr>
        <p:blipFill>
          <a:blip r:embed="rId4"/>
          <a:stretch>
            <a:fillRect/>
          </a:stretch>
        </p:blipFill>
        <p:spPr>
          <a:xfrm>
            <a:off x="6438748" y="3604108"/>
            <a:ext cx="372161" cy="372161"/>
          </a:xfrm>
          <a:prstGeom prst="rect">
            <a:avLst/>
          </a:prstGeom>
        </p:spPr>
      </p:pic>
      <p:sp>
        <p:nvSpPr>
          <p:cNvPr id="32" name="Text 26"/>
          <p:cNvSpPr/>
          <p:nvPr/>
        </p:nvSpPr>
        <p:spPr>
          <a:xfrm>
            <a:off x="7022592" y="3511296"/>
            <a:ext cx="441655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Что даёт разбивка на фрагменты</a:t>
            </a:r>
            <a:endParaRPr lang="en-US" sz="1400" dirty="0"/>
          </a:p>
        </p:txBody>
      </p:sp>
      <p:sp>
        <p:nvSpPr>
          <p:cNvPr id="33" name="Text 27"/>
          <p:cNvSpPr/>
          <p:nvPr/>
        </p:nvSpPr>
        <p:spPr>
          <a:xfrm>
            <a:off x="6373368" y="4133088"/>
            <a:ext cx="5065776" cy="151790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Каждый чанк — тематически цельный кусок (абзац, пункт, раздел). Система находит именно нужный чанк и подкладывает модели только его — например, конкретный пункт про риск-профиль клиента, а не весь регламент целиком.</a:t>
            </a:r>
            <a:endParaRPr lang="en-US" sz="1200" dirty="0"/>
          </a:p>
        </p:txBody>
      </p:sp>
      <p:sp>
        <p:nvSpPr>
          <p:cNvPr id="34" name="Text 2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Подготовка</a:t>
            </a:r>
            <a:endParaRPr lang="en-US" sz="1000" dirty="0"/>
          </a:p>
        </p:txBody>
      </p:sp>
      <p:sp>
        <p:nvSpPr>
          <p:cNvPr id="35" name="Text 29"/>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8 / 27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ПОДГОТОВКА (ШАГ 2)</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Эмбеддинги: «смысловой слепок» текста</a:t>
            </a:r>
            <a:endParaRPr lang="en-US" sz="2400" dirty="0"/>
          </a:p>
        </p:txBody>
      </p:sp>
      <p:sp>
        <p:nvSpPr>
          <p:cNvPr id="4" name="Shape 2"/>
          <p:cNvSpPr/>
          <p:nvPr/>
        </p:nvSpPr>
        <p:spPr>
          <a:xfrm>
            <a:off x="548640" y="1188720"/>
            <a:ext cx="2148840" cy="329184"/>
          </a:xfrm>
          <a:prstGeom prst="roundRect">
            <a:avLst>
              <a:gd name="adj" fmla="val 50000"/>
            </a:avLst>
          </a:prstGeom>
          <a:solidFill>
            <a:srgbClr val="028090"/>
          </a:solidFill>
          <a:ln/>
        </p:spPr>
      </p:sp>
      <p:sp>
        <p:nvSpPr>
          <p:cNvPr id="5" name="Text 3"/>
          <p:cNvSpPr/>
          <p:nvPr/>
        </p:nvSpPr>
        <p:spPr>
          <a:xfrm>
            <a:off x="548640" y="1188720"/>
            <a:ext cx="21488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2 · ЭМБЕДДИНГИ</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21792"/>
          </a:xfrm>
          <a:prstGeom prst="rect">
            <a:avLst/>
          </a:prstGeom>
          <a:noFill/>
          <a:ln/>
        </p:spPr>
        <p:txBody>
          <a:bodyPr wrap="square" lIns="0" tIns="0" rIns="0" bIns="0" rtlCol="0" anchor="ctr"/>
          <a:lstStyle/>
          <a:p>
            <a:pPr indent="0" marL="0">
              <a:lnSpc>
                <a:spcPct val="118000"/>
              </a:lnSpc>
              <a:buNone/>
            </a:pPr>
            <a:r>
              <a:rPr lang="en-US" sz="1300" dirty="0">
                <a:solidFill>
                  <a:srgbClr val="17282A"/>
                </a:solidFill>
                <a:latin typeface="Calibri" pitchFamily="34" charset="0"/>
                <a:ea typeface="Calibri" pitchFamily="34" charset="-122"/>
                <a:cs typeface="Calibri" pitchFamily="34" charset="-120"/>
              </a:rPr>
              <a:t>Каждый чанк прогоняется через специальную модель-эмбеддер, которая превращает его смысл в вектор — набор чисел. Тексты, близкие по смыслу, получают близко расположенные векторы — даже если слова разные.</a:t>
            </a:r>
            <a:endParaRPr lang="en-US" sz="1300" dirty="0"/>
          </a:p>
        </p:txBody>
      </p:sp>
      <p:sp>
        <p:nvSpPr>
          <p:cNvPr id="9" name="Shape 6"/>
          <p:cNvSpPr/>
          <p:nvPr/>
        </p:nvSpPr>
        <p:spPr>
          <a:xfrm>
            <a:off x="548640" y="2331720"/>
            <a:ext cx="6537960" cy="1737360"/>
          </a:xfrm>
          <a:prstGeom prst="roundRect">
            <a:avLst>
              <a:gd name="adj" fmla="val 5263"/>
            </a:avLst>
          </a:prstGeom>
          <a:solidFill>
            <a:srgbClr val="F2FAF9"/>
          </a:solidFill>
          <a:ln/>
        </p:spPr>
      </p:sp>
      <p:sp>
        <p:nvSpPr>
          <p:cNvPr id="10" name="Text 7"/>
          <p:cNvSpPr/>
          <p:nvPr/>
        </p:nvSpPr>
        <p:spPr>
          <a:xfrm>
            <a:off x="822960" y="2514600"/>
            <a:ext cx="2834640" cy="365760"/>
          </a:xfrm>
          <a:prstGeom prst="rect">
            <a:avLst/>
          </a:prstGeom>
          <a:noFill/>
          <a:ln/>
        </p:spPr>
        <p:txBody>
          <a:bodyPr wrap="square" lIns="0" tIns="0" rIns="0" bIns="0" rtlCol="0" anchor="ctr"/>
          <a:lstStyle/>
          <a:p>
            <a:pPr indent="0" marL="0">
              <a:buNone/>
            </a:pPr>
            <a:r>
              <a:rPr lang="en-US" sz="1300" b="1" dirty="0">
                <a:solidFill>
                  <a:srgbClr val="17282A"/>
                </a:solidFill>
                <a:latin typeface="Calibri" pitchFamily="34" charset="0"/>
                <a:ea typeface="Calibri" pitchFamily="34" charset="-122"/>
                <a:cs typeface="Calibri" pitchFamily="34" charset="-120"/>
              </a:rPr>
              <a:t>«Расторжение договора»</a:t>
            </a:r>
            <a:endParaRPr lang="en-US" sz="1300" dirty="0"/>
          </a:p>
        </p:txBody>
      </p:sp>
      <p:sp>
        <p:nvSpPr>
          <p:cNvPr id="11" name="Text 8"/>
          <p:cNvSpPr/>
          <p:nvPr/>
        </p:nvSpPr>
        <p:spPr>
          <a:xfrm>
            <a:off x="822960" y="2880360"/>
            <a:ext cx="2834640" cy="32004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  [0.12, -0.87, 0.33, …]</a:t>
            </a:r>
            <a:endParaRPr lang="en-US" sz="1150" dirty="0"/>
          </a:p>
        </p:txBody>
      </p:sp>
      <p:sp>
        <p:nvSpPr>
          <p:cNvPr id="12" name="Text 9"/>
          <p:cNvSpPr/>
          <p:nvPr/>
        </p:nvSpPr>
        <p:spPr>
          <a:xfrm>
            <a:off x="3931920" y="2514600"/>
            <a:ext cx="3017520" cy="365760"/>
          </a:xfrm>
          <a:prstGeom prst="rect">
            <a:avLst/>
          </a:prstGeom>
          <a:noFill/>
          <a:ln/>
        </p:spPr>
        <p:txBody>
          <a:bodyPr wrap="square" lIns="0" tIns="0" rIns="0" bIns="0" rtlCol="0" anchor="ctr"/>
          <a:lstStyle/>
          <a:p>
            <a:pPr indent="0" marL="0">
              <a:buNone/>
            </a:pPr>
            <a:r>
              <a:rPr lang="en-US" sz="1300" b="1" dirty="0">
                <a:solidFill>
                  <a:srgbClr val="17282A"/>
                </a:solidFill>
                <a:latin typeface="Calibri" pitchFamily="34" charset="0"/>
                <a:ea typeface="Calibri" pitchFamily="34" charset="-122"/>
                <a:cs typeface="Calibri" pitchFamily="34" charset="-120"/>
              </a:rPr>
              <a:t>«Прекращение сотрудничества»</a:t>
            </a:r>
            <a:endParaRPr lang="en-US" sz="1300" dirty="0"/>
          </a:p>
        </p:txBody>
      </p:sp>
      <p:sp>
        <p:nvSpPr>
          <p:cNvPr id="13" name="Text 10"/>
          <p:cNvSpPr/>
          <p:nvPr/>
        </p:nvSpPr>
        <p:spPr>
          <a:xfrm>
            <a:off x="3931920" y="2880360"/>
            <a:ext cx="3017520" cy="32004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  [0.14, -0.83, 0.31, …]</a:t>
            </a:r>
            <a:endParaRPr lang="en-US" sz="1150" dirty="0"/>
          </a:p>
        </p:txBody>
      </p:sp>
      <p:sp>
        <p:nvSpPr>
          <p:cNvPr id="14" name="Text 11"/>
          <p:cNvSpPr/>
          <p:nvPr/>
        </p:nvSpPr>
        <p:spPr>
          <a:xfrm>
            <a:off x="822960" y="3337560"/>
            <a:ext cx="6035040" cy="658368"/>
          </a:xfrm>
          <a:prstGeom prst="rect">
            <a:avLst/>
          </a:prstGeom>
          <a:noFill/>
          <a:ln/>
        </p:spPr>
        <p:txBody>
          <a:bodyPr wrap="square" lIns="0" tIns="0" rIns="0" bIns="0" rtlCol="0" anchor="ctr"/>
          <a:lstStyle/>
          <a:p>
            <a:pPr indent="0" marL="0">
              <a:lnSpc>
                <a:spcPct val="115000"/>
              </a:lnSpc>
              <a:buNone/>
            </a:pPr>
            <a:r>
              <a:rPr lang="en-US" sz="1100" i="1" dirty="0">
                <a:solidFill>
                  <a:srgbClr val="55696B"/>
                </a:solidFill>
                <a:latin typeface="Calibri" pitchFamily="34" charset="0"/>
                <a:ea typeface="Calibri" pitchFamily="34" charset="-122"/>
                <a:cs typeface="Calibri" pitchFamily="34" charset="-120"/>
              </a:rPr>
              <a:t>Разные слова — но векторы «рядом», потому что смысл почти совпадает. Именно поэтому семантический поиск находит пересказ своими словами, а не только точные совпадения.</a:t>
            </a:r>
            <a:endParaRPr lang="en-US" sz="1100" dirty="0"/>
          </a:p>
        </p:txBody>
      </p:sp>
      <p:sp>
        <p:nvSpPr>
          <p:cNvPr id="15" name="Shape 12"/>
          <p:cNvSpPr/>
          <p:nvPr/>
        </p:nvSpPr>
        <p:spPr>
          <a:xfrm>
            <a:off x="7269480" y="2331720"/>
            <a:ext cx="2148840" cy="1737360"/>
          </a:xfrm>
          <a:prstGeom prst="roundRect">
            <a:avLst>
              <a:gd name="adj" fmla="val 4737"/>
            </a:avLst>
          </a:prstGeom>
          <a:solidFill>
            <a:srgbClr val="013A40"/>
          </a:solidFill>
          <a:ln/>
        </p:spPr>
      </p:sp>
      <p:sp>
        <p:nvSpPr>
          <p:cNvPr id="16" name="Text 13"/>
          <p:cNvSpPr/>
          <p:nvPr/>
        </p:nvSpPr>
        <p:spPr>
          <a:xfrm>
            <a:off x="7406640" y="2423160"/>
            <a:ext cx="1874520" cy="1007669"/>
          </a:xfrm>
          <a:prstGeom prst="rect">
            <a:avLst/>
          </a:prstGeom>
          <a:noFill/>
          <a:ln/>
        </p:spPr>
        <p:txBody>
          <a:bodyPr wrap="square" lIns="0" tIns="0" rIns="0" bIns="0" rtlCol="0" anchor="b"/>
          <a:lstStyle/>
          <a:p>
            <a:pPr algn="ctr" indent="0" marL="0">
              <a:buNone/>
            </a:pPr>
            <a:r>
              <a:rPr lang="en-US" sz="2400" b="1" dirty="0">
                <a:solidFill>
                  <a:srgbClr val="02C39A"/>
                </a:solidFill>
                <a:latin typeface="Cambria" pitchFamily="34" charset="0"/>
                <a:ea typeface="Cambria" pitchFamily="34" charset="-122"/>
                <a:cs typeface="Cambria" pitchFamily="34" charset="-120"/>
              </a:rPr>
              <a:t>bge-m3</a:t>
            </a:r>
            <a:endParaRPr lang="en-US" sz="2400" dirty="0"/>
          </a:p>
        </p:txBody>
      </p:sp>
      <p:sp>
        <p:nvSpPr>
          <p:cNvPr id="17" name="Text 14"/>
          <p:cNvSpPr/>
          <p:nvPr/>
        </p:nvSpPr>
        <p:spPr>
          <a:xfrm>
            <a:off x="7406640" y="3374136"/>
            <a:ext cx="1874520" cy="660197"/>
          </a:xfrm>
          <a:prstGeom prst="rect">
            <a:avLst/>
          </a:prstGeom>
          <a:noFill/>
          <a:ln/>
        </p:spPr>
        <p:txBody>
          <a:bodyPr wrap="square" lIns="0" tIns="0" rIns="0" bIns="0" rtlCol="0" anchor="t"/>
          <a:lstStyle/>
          <a:p>
            <a:pPr algn="ctr" indent="0" marL="0">
              <a:lnSpc>
                <a:spcPct val="105000"/>
              </a:lnSpc>
              <a:buNone/>
            </a:pPr>
            <a:r>
              <a:rPr lang="en-US" sz="1100" dirty="0">
                <a:solidFill>
                  <a:srgbClr val="BFE9E2"/>
                </a:solidFill>
                <a:latin typeface="Calibri" pitchFamily="34" charset="0"/>
                <a:ea typeface="Calibri" pitchFamily="34" charset="-122"/>
                <a:cs typeface="Calibri" pitchFamily="34" charset="-120"/>
              </a:rPr>
              <a:t>модель-эмбеддер</a:t>
            </a:r>
            <a:endParaRPr lang="en-US" sz="1100" dirty="0"/>
          </a:p>
          <a:p>
            <a:pPr algn="ctr" indent="0" marL="0">
              <a:lnSpc>
                <a:spcPct val="105000"/>
              </a:lnSpc>
              <a:buNone/>
            </a:pPr>
            <a:r>
              <a:rPr lang="en-US" sz="1100" dirty="0">
                <a:solidFill>
                  <a:srgbClr val="BFE9E2"/>
                </a:solidFill>
                <a:latin typeface="Calibri" pitchFamily="34" charset="0"/>
                <a:ea typeface="Calibri" pitchFamily="34" charset="-122"/>
                <a:cs typeface="Calibri" pitchFamily="34" charset="-120"/>
              </a:rPr>
              <a:t>в поставке платформы</a:t>
            </a:r>
            <a:endParaRPr lang="en-US" sz="1100" dirty="0"/>
          </a:p>
        </p:txBody>
      </p:sp>
      <p:sp>
        <p:nvSpPr>
          <p:cNvPr id="18" name="Shape 15"/>
          <p:cNvSpPr/>
          <p:nvPr/>
        </p:nvSpPr>
        <p:spPr>
          <a:xfrm>
            <a:off x="9509760" y="2331720"/>
            <a:ext cx="2130552" cy="1737360"/>
          </a:xfrm>
          <a:prstGeom prst="roundRect">
            <a:avLst>
              <a:gd name="adj" fmla="val 4737"/>
            </a:avLst>
          </a:prstGeom>
          <a:solidFill>
            <a:srgbClr val="013A40"/>
          </a:solidFill>
          <a:ln/>
        </p:spPr>
      </p:sp>
      <p:sp>
        <p:nvSpPr>
          <p:cNvPr id="19" name="Text 16"/>
          <p:cNvSpPr/>
          <p:nvPr/>
        </p:nvSpPr>
        <p:spPr>
          <a:xfrm>
            <a:off x="9646920" y="2423160"/>
            <a:ext cx="1856232" cy="1007669"/>
          </a:xfrm>
          <a:prstGeom prst="rect">
            <a:avLst/>
          </a:prstGeom>
          <a:noFill/>
          <a:ln/>
        </p:spPr>
        <p:txBody>
          <a:bodyPr wrap="square" lIns="0" tIns="0" rIns="0" bIns="0" rtlCol="0" anchor="b"/>
          <a:lstStyle/>
          <a:p>
            <a:pPr algn="ctr" indent="0" marL="0">
              <a:buNone/>
            </a:pPr>
            <a:r>
              <a:rPr lang="en-US" sz="2600" b="1" dirty="0">
                <a:solidFill>
                  <a:srgbClr val="02C39A"/>
                </a:solidFill>
                <a:latin typeface="Cambria" pitchFamily="34" charset="0"/>
                <a:ea typeface="Cambria" pitchFamily="34" charset="-122"/>
                <a:cs typeface="Cambria" pitchFamily="34" charset="-120"/>
              </a:rPr>
              <a:t>CPU</a:t>
            </a:r>
            <a:endParaRPr lang="en-US" sz="2600" dirty="0"/>
          </a:p>
        </p:txBody>
      </p:sp>
      <p:sp>
        <p:nvSpPr>
          <p:cNvPr id="20" name="Text 17"/>
          <p:cNvSpPr/>
          <p:nvPr/>
        </p:nvSpPr>
        <p:spPr>
          <a:xfrm>
            <a:off x="9646920" y="3374136"/>
            <a:ext cx="1856232" cy="660197"/>
          </a:xfrm>
          <a:prstGeom prst="rect">
            <a:avLst/>
          </a:prstGeom>
          <a:noFill/>
          <a:ln/>
        </p:spPr>
        <p:txBody>
          <a:bodyPr wrap="square" lIns="0" tIns="0" rIns="0" bIns="0" rtlCol="0" anchor="t"/>
          <a:lstStyle/>
          <a:p>
            <a:pPr algn="ctr" indent="0" marL="0">
              <a:lnSpc>
                <a:spcPct val="105000"/>
              </a:lnSpc>
              <a:buNone/>
            </a:pPr>
            <a:r>
              <a:rPr lang="en-US" sz="1100" dirty="0">
                <a:solidFill>
                  <a:srgbClr val="BFE9E2"/>
                </a:solidFill>
                <a:latin typeface="Calibri" pitchFamily="34" charset="0"/>
                <a:ea typeface="Calibri" pitchFamily="34" charset="-122"/>
                <a:cs typeface="Calibri" pitchFamily="34" charset="-120"/>
              </a:rPr>
              <a:t>работает без GPU —</a:t>
            </a:r>
            <a:endParaRPr lang="en-US" sz="1100" dirty="0"/>
          </a:p>
          <a:p>
            <a:pPr algn="ctr" indent="0" marL="0">
              <a:lnSpc>
                <a:spcPct val="105000"/>
              </a:lnSpc>
              <a:buNone/>
            </a:pPr>
            <a:r>
              <a:rPr lang="en-US" sz="1100" dirty="0">
                <a:solidFill>
                  <a:srgbClr val="BFE9E2"/>
                </a:solidFill>
                <a:latin typeface="Calibri" pitchFamily="34" charset="0"/>
                <a:ea typeface="Calibri" pitchFamily="34" charset="-122"/>
                <a:cs typeface="Calibri" pitchFamily="34" charset="-120"/>
              </a:rPr>
              <a:t>видеокарта не нужна</a:t>
            </a:r>
            <a:endParaRPr lang="en-US" sz="1100" dirty="0"/>
          </a:p>
        </p:txBody>
      </p:sp>
      <p:sp>
        <p:nvSpPr>
          <p:cNvPr id="21" name="Shape 18"/>
          <p:cNvSpPr/>
          <p:nvPr/>
        </p:nvSpPr>
        <p:spPr>
          <a:xfrm>
            <a:off x="548640" y="4251960"/>
            <a:ext cx="11091672" cy="1600200"/>
          </a:xfrm>
          <a:prstGeom prst="roundRect">
            <a:avLst>
              <a:gd name="adj" fmla="val 5143"/>
            </a:avLst>
          </a:prstGeom>
          <a:solidFill>
            <a:srgbClr val="F2FAF9"/>
          </a:solidFill>
          <a:ln/>
          <a:effectLst>
            <a:outerShdw sx="100000" sy="100000" kx="0" ky="0" algn="bl" rotWithShape="0" blurRad="76200" dist="25400" dir="5400000">
              <a:srgbClr val="0F3B3A">
                <a:alpha val="18000"/>
              </a:srgbClr>
            </a:outerShdw>
          </a:effectLst>
        </p:spPr>
      </p:sp>
      <p:sp>
        <p:nvSpPr>
          <p:cNvPr id="22" name="Shape 19"/>
          <p:cNvSpPr/>
          <p:nvPr/>
        </p:nvSpPr>
        <p:spPr>
          <a:xfrm>
            <a:off x="749808" y="4453128"/>
            <a:ext cx="502920" cy="502920"/>
          </a:xfrm>
          <a:prstGeom prst="ellipse">
            <a:avLst/>
          </a:prstGeom>
          <a:solidFill>
            <a:srgbClr val="02C39A"/>
          </a:solidFill>
          <a:ln/>
        </p:spPr>
      </p:sp>
      <p:pic>
        <p:nvPicPr>
          <p:cNvPr id="23" name="Image 1" descr="preencoded.png">    </p:cNvPr>
          <p:cNvPicPr>
            <a:picLocks noChangeAspect="1"/>
          </p:cNvPicPr>
          <p:nvPr/>
        </p:nvPicPr>
        <p:blipFill>
          <a:blip r:embed="rId2"/>
          <a:stretch>
            <a:fillRect/>
          </a:stretch>
        </p:blipFill>
        <p:spPr>
          <a:xfrm>
            <a:off x="815188" y="4518508"/>
            <a:ext cx="372161" cy="372161"/>
          </a:xfrm>
          <a:prstGeom prst="rect">
            <a:avLst/>
          </a:prstGeom>
        </p:spPr>
      </p:pic>
      <p:sp>
        <p:nvSpPr>
          <p:cNvPr id="24" name="Text 20"/>
          <p:cNvSpPr/>
          <p:nvPr/>
        </p:nvSpPr>
        <p:spPr>
          <a:xfrm>
            <a:off x="1399032" y="4425696"/>
            <a:ext cx="1004011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Почему важен факт «работает на CPU»</a:t>
            </a:r>
            <a:endParaRPr lang="en-US" sz="1400" dirty="0"/>
          </a:p>
        </p:txBody>
      </p:sp>
      <p:sp>
        <p:nvSpPr>
          <p:cNvPr id="25" name="Text 21"/>
          <p:cNvSpPr/>
          <p:nvPr/>
        </p:nvSpPr>
        <p:spPr>
          <a:xfrm>
            <a:off x="749808" y="5047488"/>
            <a:ext cx="10689336" cy="60350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Векторизация (построение эмбеддингов) — одна из немногих ML-задач в пайплайне, для которой не нужна дорогая видеокарта: модель bge-m3 (568 млн параметров, ~1,1 ГБ весов) обрабатывает документы на обычных процессорных мощностях. Это снижает стоимость инфраструктуры платформы по сравнению с инфраструктурой под саму LLM, для которой GPU обычно требуется.</a:t>
            </a:r>
            <a:endParaRPr lang="en-US" sz="1200" dirty="0"/>
          </a:p>
        </p:txBody>
      </p:sp>
      <p:sp>
        <p:nvSpPr>
          <p:cNvPr id="26" name="Text 22"/>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Подготовка</a:t>
            </a:r>
            <a:endParaRPr lang="en-US" sz="1000" dirty="0"/>
          </a:p>
        </p:txBody>
      </p:sp>
      <p:sp>
        <p:nvSpPr>
          <p:cNvPr id="27" name="Text 23"/>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9 / 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КАК ЭТО РАБОТАЕТ</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Как сравнивают векторы: cosine-близость</a:t>
            </a:r>
            <a:endParaRPr lang="en-US" sz="2400" dirty="0"/>
          </a:p>
        </p:txBody>
      </p:sp>
      <p:sp>
        <p:nvSpPr>
          <p:cNvPr id="4" name="Shape 2"/>
          <p:cNvSpPr/>
          <p:nvPr/>
        </p:nvSpPr>
        <p:spPr>
          <a:xfrm>
            <a:off x="548640" y="1188720"/>
            <a:ext cx="1691640" cy="329184"/>
          </a:xfrm>
          <a:prstGeom prst="roundRect">
            <a:avLst>
              <a:gd name="adj" fmla="val 50000"/>
            </a:avLst>
          </a:prstGeom>
          <a:solidFill>
            <a:srgbClr val="00A896"/>
          </a:solidFill>
          <a:ln/>
        </p:spPr>
      </p:sp>
      <p:sp>
        <p:nvSpPr>
          <p:cNvPr id="5" name="Text 3"/>
          <p:cNvSpPr/>
          <p:nvPr/>
        </p:nvSpPr>
        <p:spPr>
          <a:xfrm>
            <a:off x="548640" y="1188720"/>
            <a:ext cx="1691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2 · ДЕТАЛИ</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40080"/>
          </a:xfrm>
          <a:prstGeom prst="rect">
            <a:avLst/>
          </a:prstGeom>
          <a:noFill/>
          <a:ln/>
        </p:spPr>
        <p:txBody>
          <a:bodyPr wrap="square" lIns="0" tIns="0" rIns="0" bIns="0" rtlCol="0" anchor="ctr"/>
          <a:lstStyle/>
          <a:p>
            <a:pPr indent="0" marL="0">
              <a:lnSpc>
                <a:spcPct val="118000"/>
              </a:lnSpc>
              <a:buNone/>
            </a:pPr>
            <a:r>
              <a:rPr lang="en-US" sz="1300" dirty="0">
                <a:solidFill>
                  <a:srgbClr val="17282A"/>
                </a:solidFill>
                <a:latin typeface="Calibri" pitchFamily="34" charset="0"/>
                <a:ea typeface="Calibri" pitchFamily="34" charset="-122"/>
                <a:cs typeface="Calibri" pitchFamily="34" charset="-120"/>
              </a:rPr>
              <a:t>Чтобы найти «похожие по смыслу» фрагменты, систему нужно уметь сравнивать два вектора и получать число «насколько они близки». Стандартный способ — cosine-близость (косинусное сходство): угол между двумя векторами.</a:t>
            </a:r>
            <a:endParaRPr lang="en-US" sz="1300" dirty="0"/>
          </a:p>
        </p:txBody>
      </p:sp>
      <p:sp>
        <p:nvSpPr>
          <p:cNvPr id="9" name="Shape 6"/>
          <p:cNvSpPr/>
          <p:nvPr/>
        </p:nvSpPr>
        <p:spPr>
          <a:xfrm>
            <a:off x="548640" y="2377440"/>
            <a:ext cx="5394960" cy="3520440"/>
          </a:xfrm>
          <a:prstGeom prst="roundRect">
            <a:avLst>
              <a:gd name="adj" fmla="val 2597"/>
            </a:avLst>
          </a:prstGeom>
          <a:solidFill>
            <a:srgbClr val="F2FAF9"/>
          </a:solidFill>
          <a:ln/>
        </p:spPr>
      </p:sp>
      <p:sp>
        <p:nvSpPr>
          <p:cNvPr id="10" name="Shape 7"/>
          <p:cNvSpPr/>
          <p:nvPr/>
        </p:nvSpPr>
        <p:spPr>
          <a:xfrm>
            <a:off x="1234440" y="5074920"/>
            <a:ext cx="3931920" cy="0"/>
          </a:xfrm>
          <a:prstGeom prst="line">
            <a:avLst/>
          </a:prstGeom>
          <a:noFill/>
          <a:ln w="12700">
            <a:solidFill>
              <a:srgbClr val="C6DAD7"/>
            </a:solidFill>
            <a:prstDash val="solid"/>
          </a:ln>
        </p:spPr>
      </p:sp>
      <p:sp>
        <p:nvSpPr>
          <p:cNvPr id="11" name="Shape 8"/>
          <p:cNvSpPr/>
          <p:nvPr/>
        </p:nvSpPr>
        <p:spPr>
          <a:xfrm>
            <a:off x="1234440" y="2606040"/>
            <a:ext cx="0" cy="2468880"/>
          </a:xfrm>
          <a:prstGeom prst="line">
            <a:avLst/>
          </a:prstGeom>
          <a:noFill/>
          <a:ln w="12700">
            <a:solidFill>
              <a:srgbClr val="C6DAD7"/>
            </a:solidFill>
            <a:prstDash val="solid"/>
          </a:ln>
        </p:spPr>
      </p:sp>
      <p:sp>
        <p:nvSpPr>
          <p:cNvPr id="12" name="Shape 9"/>
          <p:cNvSpPr/>
          <p:nvPr/>
        </p:nvSpPr>
        <p:spPr>
          <a:xfrm flipV="1">
            <a:off x="1234440" y="3337560"/>
            <a:ext cx="3429000" cy="1737360"/>
          </a:xfrm>
          <a:prstGeom prst="line">
            <a:avLst/>
          </a:prstGeom>
          <a:noFill/>
          <a:ln w="34925">
            <a:solidFill>
              <a:srgbClr val="028090"/>
            </a:solidFill>
            <a:prstDash val="solid"/>
            <a:tailEnd type="triangle"/>
          </a:ln>
        </p:spPr>
      </p:sp>
      <p:sp>
        <p:nvSpPr>
          <p:cNvPr id="13" name="Shape 10"/>
          <p:cNvSpPr/>
          <p:nvPr/>
        </p:nvSpPr>
        <p:spPr>
          <a:xfrm flipV="1">
            <a:off x="1234440" y="2926080"/>
            <a:ext cx="2331720" cy="2148840"/>
          </a:xfrm>
          <a:prstGeom prst="line">
            <a:avLst/>
          </a:prstGeom>
          <a:noFill/>
          <a:ln w="34925">
            <a:solidFill>
              <a:srgbClr val="02C39A"/>
            </a:solidFill>
            <a:prstDash val="solid"/>
            <a:tailEnd type="triangle"/>
          </a:ln>
        </p:spPr>
      </p:sp>
      <p:sp>
        <p:nvSpPr>
          <p:cNvPr id="14" name="Text 11"/>
          <p:cNvSpPr/>
          <p:nvPr/>
        </p:nvSpPr>
        <p:spPr>
          <a:xfrm>
            <a:off x="4736592" y="3200400"/>
            <a:ext cx="118872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Вопрос</a:t>
            </a:r>
            <a:endParaRPr lang="en-US" sz="1100" dirty="0"/>
          </a:p>
        </p:txBody>
      </p:sp>
      <p:sp>
        <p:nvSpPr>
          <p:cNvPr id="15" name="Text 12"/>
          <p:cNvSpPr/>
          <p:nvPr/>
        </p:nvSpPr>
        <p:spPr>
          <a:xfrm>
            <a:off x="2148840" y="2487168"/>
            <a:ext cx="2103120" cy="411480"/>
          </a:xfrm>
          <a:prstGeom prst="rect">
            <a:avLst/>
          </a:prstGeom>
          <a:noFill/>
          <a:ln/>
        </p:spPr>
        <p:txBody>
          <a:bodyPr wrap="square" lIns="0" tIns="0" rIns="0" bIns="0" rtlCol="0" anchor="ctr"/>
          <a:lstStyle/>
          <a:p>
            <a:pPr indent="0" marL="0">
              <a:lnSpc>
                <a:spcPct val="105000"/>
              </a:lnSpc>
              <a:buNone/>
            </a:pPr>
            <a:r>
              <a:rPr lang="en-US" sz="1000" b="1" dirty="0">
                <a:solidFill>
                  <a:srgbClr val="02C39A"/>
                </a:solidFill>
                <a:latin typeface="Calibri" pitchFamily="34" charset="0"/>
                <a:ea typeface="Calibri" pitchFamily="34" charset="-122"/>
                <a:cs typeface="Calibri" pitchFamily="34" charset="-120"/>
              </a:rPr>
              <a:t>Похожий чанк</a:t>
            </a:r>
            <a:endParaRPr lang="en-US" sz="1000" dirty="0"/>
          </a:p>
          <a:p>
            <a:pPr indent="0" marL="0">
              <a:lnSpc>
                <a:spcPct val="105000"/>
              </a:lnSpc>
              <a:buNone/>
            </a:pPr>
            <a:r>
              <a:rPr lang="en-US" sz="1000" b="1" dirty="0">
                <a:solidFill>
                  <a:srgbClr val="02C39A"/>
                </a:solidFill>
                <a:latin typeface="Calibri" pitchFamily="34" charset="0"/>
                <a:ea typeface="Calibri" pitchFamily="34" charset="-122"/>
                <a:cs typeface="Calibri" pitchFamily="34" charset="-120"/>
              </a:rPr>
              <a:t>(малый угол → близко)</a:t>
            </a:r>
            <a:endParaRPr lang="en-US" sz="1000" dirty="0"/>
          </a:p>
        </p:txBody>
      </p:sp>
      <p:sp>
        <p:nvSpPr>
          <p:cNvPr id="16" name="Text 13"/>
          <p:cNvSpPr/>
          <p:nvPr/>
        </p:nvSpPr>
        <p:spPr>
          <a:xfrm>
            <a:off x="868680" y="5349240"/>
            <a:ext cx="4754880" cy="502920"/>
          </a:xfrm>
          <a:prstGeom prst="rect">
            <a:avLst/>
          </a:prstGeom>
          <a:noFill/>
          <a:ln/>
        </p:spPr>
        <p:txBody>
          <a:bodyPr wrap="square" lIns="0" tIns="0" rIns="0" bIns="0" rtlCol="0" anchor="ctr"/>
          <a:lstStyle/>
          <a:p>
            <a:pPr indent="0" marL="0">
              <a:lnSpc>
                <a:spcPct val="112000"/>
              </a:lnSpc>
              <a:buNone/>
            </a:pPr>
            <a:r>
              <a:rPr lang="en-US" sz="1100" i="1" dirty="0">
                <a:solidFill>
                  <a:srgbClr val="55696B"/>
                </a:solidFill>
                <a:latin typeface="Calibri" pitchFamily="34" charset="0"/>
                <a:ea typeface="Calibri" pitchFamily="34" charset="-122"/>
                <a:cs typeface="Calibri" pitchFamily="34" charset="-120"/>
              </a:rPr>
              <a:t>Малый угол между векторами ⇒ высокая cosine-близость (значение около 1) ⇒ фрагмент считается релевантным вопросу.</a:t>
            </a:r>
            <a:endParaRPr lang="en-US" sz="1100" dirty="0"/>
          </a:p>
        </p:txBody>
      </p:sp>
      <p:sp>
        <p:nvSpPr>
          <p:cNvPr id="17" name="Shape 14"/>
          <p:cNvSpPr/>
          <p:nvPr/>
        </p:nvSpPr>
        <p:spPr>
          <a:xfrm>
            <a:off x="6172200" y="2377440"/>
            <a:ext cx="5468112" cy="1645920"/>
          </a:xfrm>
          <a:prstGeom prst="roundRect">
            <a:avLst>
              <a:gd name="adj" fmla="val 5000"/>
            </a:avLst>
          </a:prstGeom>
          <a:solidFill>
            <a:srgbClr val="F2FAF9"/>
          </a:solidFill>
          <a:ln/>
          <a:effectLst>
            <a:outerShdw sx="100000" sy="100000" kx="0" ky="0" algn="bl" rotWithShape="0" blurRad="76200" dist="25400" dir="5400000">
              <a:srgbClr val="0F3B3A">
                <a:alpha val="18000"/>
              </a:srgbClr>
            </a:outerShdw>
          </a:effectLst>
        </p:spPr>
      </p:sp>
      <p:sp>
        <p:nvSpPr>
          <p:cNvPr id="18" name="Shape 15"/>
          <p:cNvSpPr/>
          <p:nvPr/>
        </p:nvSpPr>
        <p:spPr>
          <a:xfrm>
            <a:off x="6373368" y="2578608"/>
            <a:ext cx="502920" cy="502920"/>
          </a:xfrm>
          <a:prstGeom prst="ellipse">
            <a:avLst/>
          </a:prstGeom>
          <a:solidFill>
            <a:srgbClr val="028090"/>
          </a:solidFill>
          <a:ln/>
        </p:spPr>
      </p:sp>
      <p:pic>
        <p:nvPicPr>
          <p:cNvPr id="19" name="Image 1" descr="preencoded.png">    </p:cNvPr>
          <p:cNvPicPr>
            <a:picLocks noChangeAspect="1"/>
          </p:cNvPicPr>
          <p:nvPr/>
        </p:nvPicPr>
        <p:blipFill>
          <a:blip r:embed="rId2"/>
          <a:stretch>
            <a:fillRect/>
          </a:stretch>
        </p:blipFill>
        <p:spPr>
          <a:xfrm>
            <a:off x="6438748" y="2643988"/>
            <a:ext cx="372161" cy="372161"/>
          </a:xfrm>
          <a:prstGeom prst="rect">
            <a:avLst/>
          </a:prstGeom>
        </p:spPr>
      </p:pic>
      <p:sp>
        <p:nvSpPr>
          <p:cNvPr id="20" name="Text 16"/>
          <p:cNvSpPr/>
          <p:nvPr/>
        </p:nvSpPr>
        <p:spPr>
          <a:xfrm>
            <a:off x="7022592" y="2551176"/>
            <a:ext cx="441655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Шкала простыми словами</a:t>
            </a:r>
            <a:endParaRPr lang="en-US" sz="1400" dirty="0"/>
          </a:p>
        </p:txBody>
      </p:sp>
      <p:sp>
        <p:nvSpPr>
          <p:cNvPr id="21" name="Text 17"/>
          <p:cNvSpPr/>
          <p:nvPr/>
        </p:nvSpPr>
        <p:spPr>
          <a:xfrm>
            <a:off x="6373368" y="3172968"/>
            <a:ext cx="5065776" cy="64922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 1 — тексты почти об одном и том же. ≈ 0 — темы не связаны. ≈ −1 — векторы «противоположны» (на практике для текстов встречается редко). Векторная база сравнивает вопрос со всеми чанками именно так и сортирует по этой близости.</a:t>
            </a:r>
            <a:endParaRPr lang="en-US" sz="1200" dirty="0"/>
          </a:p>
        </p:txBody>
      </p:sp>
      <p:sp>
        <p:nvSpPr>
          <p:cNvPr id="22" name="Shape 18"/>
          <p:cNvSpPr/>
          <p:nvPr/>
        </p:nvSpPr>
        <p:spPr>
          <a:xfrm>
            <a:off x="6172200" y="4160520"/>
            <a:ext cx="5468112" cy="1737360"/>
          </a:xfrm>
          <a:prstGeom prst="roundRect">
            <a:avLst>
              <a:gd name="adj" fmla="val 4737"/>
            </a:avLst>
          </a:prstGeom>
          <a:solidFill>
            <a:srgbClr val="F2FAF9"/>
          </a:solidFill>
          <a:ln/>
          <a:effectLst>
            <a:outerShdw sx="100000" sy="100000" kx="0" ky="0" algn="bl" rotWithShape="0" blurRad="76200" dist="25400" dir="5400000">
              <a:srgbClr val="0F3B3A">
                <a:alpha val="18000"/>
              </a:srgbClr>
            </a:outerShdw>
          </a:effectLst>
        </p:spPr>
      </p:sp>
      <p:sp>
        <p:nvSpPr>
          <p:cNvPr id="23" name="Shape 19"/>
          <p:cNvSpPr/>
          <p:nvPr/>
        </p:nvSpPr>
        <p:spPr>
          <a:xfrm>
            <a:off x="6373368" y="4361688"/>
            <a:ext cx="502920" cy="502920"/>
          </a:xfrm>
          <a:prstGeom prst="ellipse">
            <a:avLst/>
          </a:prstGeom>
          <a:solidFill>
            <a:srgbClr val="02C39A"/>
          </a:solidFill>
          <a:ln/>
        </p:spPr>
      </p:sp>
      <p:pic>
        <p:nvPicPr>
          <p:cNvPr id="24" name="Image 2" descr="preencoded.png">    </p:cNvPr>
          <p:cNvPicPr>
            <a:picLocks noChangeAspect="1"/>
          </p:cNvPicPr>
          <p:nvPr/>
        </p:nvPicPr>
        <p:blipFill>
          <a:blip r:embed="rId3"/>
          <a:stretch>
            <a:fillRect/>
          </a:stretch>
        </p:blipFill>
        <p:spPr>
          <a:xfrm>
            <a:off x="6438748" y="4427068"/>
            <a:ext cx="372161" cy="372161"/>
          </a:xfrm>
          <a:prstGeom prst="rect">
            <a:avLst/>
          </a:prstGeom>
        </p:spPr>
      </p:pic>
      <p:sp>
        <p:nvSpPr>
          <p:cNvPr id="25" name="Text 20"/>
          <p:cNvSpPr/>
          <p:nvPr/>
        </p:nvSpPr>
        <p:spPr>
          <a:xfrm>
            <a:off x="7022592" y="4334256"/>
            <a:ext cx="441655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Зачем это знать не техническому пользователю</a:t>
            </a:r>
            <a:endParaRPr lang="en-US" sz="1400" dirty="0"/>
          </a:p>
        </p:txBody>
      </p:sp>
      <p:sp>
        <p:nvSpPr>
          <p:cNvPr id="26" name="Text 21"/>
          <p:cNvSpPr/>
          <p:nvPr/>
        </p:nvSpPr>
        <p:spPr>
          <a:xfrm>
            <a:off x="6373368" y="4956048"/>
            <a:ext cx="5065776" cy="74066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Термин «cosine-близость» — то самое число, которое стоит за словом «уверенность» (confidence) в интерфейсе платформы, включая пороги реплана (например, 0.35 и 0.60) — они разбираются в частях 2 и далее цикла.</a:t>
            </a:r>
            <a:endParaRPr lang="en-US" sz="1200" dirty="0"/>
          </a:p>
        </p:txBody>
      </p:sp>
      <p:sp>
        <p:nvSpPr>
          <p:cNvPr id="27" name="Text 22"/>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Подготовка</a:t>
            </a:r>
            <a:endParaRPr lang="en-US" sz="1000" dirty="0"/>
          </a:p>
        </p:txBody>
      </p:sp>
      <p:sp>
        <p:nvSpPr>
          <p:cNvPr id="28" name="Text 23"/>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10 / 27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ХРАНЕНИЕ (ШАГ 3)</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Векторная база данных: зачем Qdrant</a:t>
            </a:r>
            <a:endParaRPr lang="en-US" sz="2400" dirty="0"/>
          </a:p>
        </p:txBody>
      </p:sp>
      <p:sp>
        <p:nvSpPr>
          <p:cNvPr id="4" name="Shape 2"/>
          <p:cNvSpPr/>
          <p:nvPr/>
        </p:nvSpPr>
        <p:spPr>
          <a:xfrm>
            <a:off x="548640" y="1188720"/>
            <a:ext cx="2331720" cy="329184"/>
          </a:xfrm>
          <a:prstGeom prst="roundRect">
            <a:avLst>
              <a:gd name="adj" fmla="val 50000"/>
            </a:avLst>
          </a:prstGeom>
          <a:solidFill>
            <a:srgbClr val="028090"/>
          </a:solidFill>
          <a:ln/>
        </p:spPr>
      </p:sp>
      <p:sp>
        <p:nvSpPr>
          <p:cNvPr id="5" name="Text 3"/>
          <p:cNvSpPr/>
          <p:nvPr/>
        </p:nvSpPr>
        <p:spPr>
          <a:xfrm>
            <a:off x="548640" y="1188720"/>
            <a:ext cx="233172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3 · ВЕКТОРНАЯ БАЗА</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40080"/>
          </a:xfrm>
          <a:prstGeom prst="rect">
            <a:avLst/>
          </a:prstGeom>
          <a:noFill/>
          <a:ln/>
        </p:spPr>
        <p:txBody>
          <a:bodyPr wrap="square" lIns="0" tIns="0" rIns="0" bIns="0" rtlCol="0" anchor="ctr"/>
          <a:lstStyle/>
          <a:p>
            <a:pPr indent="0" marL="0">
              <a:lnSpc>
                <a:spcPct val="118000"/>
              </a:lnSpc>
              <a:buNone/>
            </a:pPr>
            <a:r>
              <a:rPr lang="en-US" sz="1300" dirty="0">
                <a:solidFill>
                  <a:srgbClr val="17282A"/>
                </a:solidFill>
                <a:latin typeface="Calibri" pitchFamily="34" charset="0"/>
                <a:ea typeface="Calibri" pitchFamily="34" charset="-122"/>
                <a:cs typeface="Calibri" pitchFamily="34" charset="-120"/>
              </a:rPr>
              <a:t>Все векторы (эмбеддинги) вместе со ссылкой на исходный документ сохраняются в отдельное хранилище, заточенное именно под поиск ближайших по смыслу векторов среди миллионов записей — векторную базу данных. В проекте это Qdrant.</a:t>
            </a:r>
            <a:endParaRPr lang="en-US" sz="1300" dirty="0"/>
          </a:p>
        </p:txBody>
      </p:sp>
      <p:sp>
        <p:nvSpPr>
          <p:cNvPr id="9" name="Shape 6"/>
          <p:cNvSpPr/>
          <p:nvPr/>
        </p:nvSpPr>
        <p:spPr>
          <a:xfrm>
            <a:off x="548640" y="2423160"/>
            <a:ext cx="5440680" cy="2148840"/>
          </a:xfrm>
          <a:prstGeom prst="roundRect">
            <a:avLst>
              <a:gd name="adj" fmla="val 3830"/>
            </a:avLst>
          </a:prstGeom>
          <a:solidFill>
            <a:srgbClr val="F2FAF9"/>
          </a:solidFill>
          <a:ln/>
          <a:effectLst>
            <a:outerShdw sx="100000" sy="100000" kx="0" ky="0" algn="bl" rotWithShape="0" blurRad="76200" dist="25400" dir="5400000">
              <a:srgbClr val="0F3B3A">
                <a:alpha val="18000"/>
              </a:srgbClr>
            </a:outerShdw>
          </a:effectLst>
        </p:spPr>
      </p:sp>
      <p:sp>
        <p:nvSpPr>
          <p:cNvPr id="10" name="Shape 7"/>
          <p:cNvSpPr/>
          <p:nvPr/>
        </p:nvSpPr>
        <p:spPr>
          <a:xfrm>
            <a:off x="749808" y="2624328"/>
            <a:ext cx="502920" cy="502920"/>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815188" y="2689708"/>
            <a:ext cx="372161" cy="372161"/>
          </a:xfrm>
          <a:prstGeom prst="rect">
            <a:avLst/>
          </a:prstGeom>
        </p:spPr>
      </p:pic>
      <p:sp>
        <p:nvSpPr>
          <p:cNvPr id="12" name="Text 8"/>
          <p:cNvSpPr/>
          <p:nvPr/>
        </p:nvSpPr>
        <p:spPr>
          <a:xfrm>
            <a:off x="1399032" y="2596896"/>
            <a:ext cx="4389120"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Почему не обычная база данных</a:t>
            </a:r>
            <a:endParaRPr lang="en-US" sz="1400" dirty="0"/>
          </a:p>
        </p:txBody>
      </p:sp>
      <p:sp>
        <p:nvSpPr>
          <p:cNvPr id="13" name="Text 9"/>
          <p:cNvSpPr/>
          <p:nvPr/>
        </p:nvSpPr>
        <p:spPr>
          <a:xfrm>
            <a:off x="749808" y="3218688"/>
            <a:ext cx="5038344" cy="115214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Обычные базы (реляционные, документные) оптимизированы под точные совпадения и фильтры. Поиск «какие из миллиона векторов ближе всего к этому» — отдельная вычислительная задача: обычная БД будет либо перебирать всё подряд, либо не справится на нужном масштабе и скорости.</a:t>
            </a:r>
            <a:endParaRPr lang="en-US" sz="1150" dirty="0"/>
          </a:p>
        </p:txBody>
      </p:sp>
      <p:sp>
        <p:nvSpPr>
          <p:cNvPr id="14" name="Shape 10"/>
          <p:cNvSpPr/>
          <p:nvPr/>
        </p:nvSpPr>
        <p:spPr>
          <a:xfrm>
            <a:off x="6172200" y="2423160"/>
            <a:ext cx="5468112" cy="2148840"/>
          </a:xfrm>
          <a:prstGeom prst="roundRect">
            <a:avLst>
              <a:gd name="adj" fmla="val 3830"/>
            </a:avLst>
          </a:prstGeom>
          <a:solidFill>
            <a:srgbClr val="F2FAF9"/>
          </a:solidFill>
          <a:ln/>
          <a:effectLst>
            <a:outerShdw sx="100000" sy="100000" kx="0" ky="0" algn="bl" rotWithShape="0" blurRad="76200" dist="25400" dir="5400000">
              <a:srgbClr val="0F3B3A">
                <a:alpha val="18000"/>
              </a:srgbClr>
            </a:outerShdw>
          </a:effectLst>
        </p:spPr>
      </p:sp>
      <p:sp>
        <p:nvSpPr>
          <p:cNvPr id="15" name="Shape 11"/>
          <p:cNvSpPr/>
          <p:nvPr/>
        </p:nvSpPr>
        <p:spPr>
          <a:xfrm>
            <a:off x="6373368" y="2624328"/>
            <a:ext cx="502920" cy="502920"/>
          </a:xfrm>
          <a:prstGeom prst="ellipse">
            <a:avLst/>
          </a:prstGeom>
          <a:solidFill>
            <a:srgbClr val="02C39A"/>
          </a:solidFill>
          <a:ln/>
        </p:spPr>
      </p:sp>
      <p:pic>
        <p:nvPicPr>
          <p:cNvPr id="16" name="Image 2" descr="preencoded.png">    </p:cNvPr>
          <p:cNvPicPr>
            <a:picLocks noChangeAspect="1"/>
          </p:cNvPicPr>
          <p:nvPr/>
        </p:nvPicPr>
        <p:blipFill>
          <a:blip r:embed="rId3"/>
          <a:stretch>
            <a:fillRect/>
          </a:stretch>
        </p:blipFill>
        <p:spPr>
          <a:xfrm>
            <a:off x="6438748" y="2689708"/>
            <a:ext cx="372161" cy="372161"/>
          </a:xfrm>
          <a:prstGeom prst="rect">
            <a:avLst/>
          </a:prstGeom>
        </p:spPr>
      </p:pic>
      <p:sp>
        <p:nvSpPr>
          <p:cNvPr id="17" name="Text 12"/>
          <p:cNvSpPr/>
          <p:nvPr/>
        </p:nvSpPr>
        <p:spPr>
          <a:xfrm>
            <a:off x="7022592" y="2596896"/>
            <a:ext cx="441655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Что именно хранится</a:t>
            </a:r>
            <a:endParaRPr lang="en-US" sz="1400" dirty="0"/>
          </a:p>
        </p:txBody>
      </p:sp>
      <p:sp>
        <p:nvSpPr>
          <p:cNvPr id="18" name="Text 13"/>
          <p:cNvSpPr/>
          <p:nvPr/>
        </p:nvSpPr>
        <p:spPr>
          <a:xfrm>
            <a:off x="6373368" y="3218688"/>
            <a:ext cx="5065776" cy="115214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Не только сам вектор, но и метаданные — ссылка на исходный документ/чанк, а иногда домен/коллекцию. Именно эта ссылка позволяет агенту в ответе указать «источник: такой-то файл», а не просто выдать текст без опоры.</a:t>
            </a:r>
            <a:endParaRPr lang="en-US" sz="1150" dirty="0"/>
          </a:p>
        </p:txBody>
      </p:sp>
      <p:sp>
        <p:nvSpPr>
          <p:cNvPr id="19" name="Shape 14"/>
          <p:cNvSpPr/>
          <p:nvPr/>
        </p:nvSpPr>
        <p:spPr>
          <a:xfrm>
            <a:off x="548640" y="4709160"/>
            <a:ext cx="11091672" cy="1371600"/>
          </a:xfrm>
          <a:prstGeom prst="roundRect">
            <a:avLst>
              <a:gd name="adj" fmla="val 6667"/>
            </a:avLst>
          </a:prstGeom>
          <a:solidFill>
            <a:srgbClr val="013A40"/>
          </a:solidFill>
          <a:ln/>
        </p:spPr>
      </p:sp>
      <p:sp>
        <p:nvSpPr>
          <p:cNvPr id="20" name="Text 15"/>
          <p:cNvSpPr/>
          <p:nvPr/>
        </p:nvSpPr>
        <p:spPr>
          <a:xfrm>
            <a:off x="868680" y="4864608"/>
            <a:ext cx="2743200" cy="274320"/>
          </a:xfrm>
          <a:prstGeom prst="rect">
            <a:avLst/>
          </a:prstGeom>
          <a:noFill/>
          <a:ln/>
        </p:spPr>
        <p:txBody>
          <a:bodyPr wrap="square" lIns="0" tIns="0" rIns="0" bIns="0" rtlCol="0" anchor="ctr"/>
          <a:lstStyle/>
          <a:p>
            <a:pPr indent="0" marL="0">
              <a:buNone/>
            </a:pPr>
            <a:r>
              <a:rPr lang="en-US" sz="1350" b="1" dirty="0">
                <a:solidFill>
                  <a:srgbClr val="02C39A"/>
                </a:solidFill>
                <a:latin typeface="Cambria" pitchFamily="34" charset="0"/>
                <a:ea typeface="Cambria" pitchFamily="34" charset="-122"/>
                <a:cs typeface="Cambria" pitchFamily="34" charset="-120"/>
              </a:rPr>
              <a:t>Аналогия</a:t>
            </a:r>
            <a:endParaRPr lang="en-US" sz="1350" dirty="0"/>
          </a:p>
        </p:txBody>
      </p:sp>
      <p:sp>
        <p:nvSpPr>
          <p:cNvPr id="21" name="Text 16"/>
          <p:cNvSpPr/>
          <p:nvPr/>
        </p:nvSpPr>
        <p:spPr>
          <a:xfrm>
            <a:off x="868680" y="5157216"/>
            <a:ext cx="10424160" cy="841248"/>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Векторная база — как отдельный, специализированный поисковик внутри платформы, работающий «по смыслу», в то время как обычный поиск по словам (см. следующий слайд) остаётся отдельным, более привычным механизмом — как Ctrl+F. Платформа использует оба одновременно.</a:t>
            </a:r>
            <a:endParaRPr lang="en-US" sz="1250" dirty="0"/>
          </a:p>
        </p:txBody>
      </p:sp>
      <p:sp>
        <p:nvSpPr>
          <p:cNvPr id="22" name="Text 17"/>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Подготовка</a:t>
            </a:r>
            <a:endParaRPr lang="en-US" sz="1000" dirty="0"/>
          </a:p>
        </p:txBody>
      </p:sp>
      <p:sp>
        <p:nvSpPr>
          <p:cNvPr id="23" name="Text 18"/>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11 / 27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ВИДЫ ПОИСКА (ШАГ 4, Ч.1)</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Лексический поиск vs семантический поиск</a:t>
            </a:r>
            <a:endParaRPr lang="en-US" sz="2400" dirty="0"/>
          </a:p>
        </p:txBody>
      </p:sp>
      <p:sp>
        <p:nvSpPr>
          <p:cNvPr id="4" name="Shape 2"/>
          <p:cNvSpPr/>
          <p:nvPr/>
        </p:nvSpPr>
        <p:spPr>
          <a:xfrm>
            <a:off x="548640" y="1188720"/>
            <a:ext cx="2286000" cy="329184"/>
          </a:xfrm>
          <a:prstGeom prst="roundRect">
            <a:avLst>
              <a:gd name="adj" fmla="val 50000"/>
            </a:avLst>
          </a:prstGeom>
          <a:solidFill>
            <a:srgbClr val="028090"/>
          </a:solidFill>
          <a:ln/>
        </p:spPr>
      </p:sp>
      <p:sp>
        <p:nvSpPr>
          <p:cNvPr id="5" name="Text 3"/>
          <p:cNvSpPr/>
          <p:nvPr/>
        </p:nvSpPr>
        <p:spPr>
          <a:xfrm>
            <a:off x="548640" y="1188720"/>
            <a:ext cx="22860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4 · ВИДЫ ПОИСКА</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Shape 5"/>
          <p:cNvSpPr/>
          <p:nvPr/>
        </p:nvSpPr>
        <p:spPr>
          <a:xfrm>
            <a:off x="548640" y="1691640"/>
            <a:ext cx="5440680" cy="3794760"/>
          </a:xfrm>
          <a:prstGeom prst="roundRect">
            <a:avLst>
              <a:gd name="adj" fmla="val 2169"/>
            </a:avLst>
          </a:prstGeom>
          <a:solidFill>
            <a:srgbClr val="F2FAF9"/>
          </a:solidFill>
          <a:ln/>
          <a:effectLst>
            <a:outerShdw sx="100000" sy="100000" kx="0" ky="0" algn="bl" rotWithShape="0" blurRad="76200" dist="25400" dir="5400000">
              <a:srgbClr val="0F3B3A">
                <a:alpha val="18000"/>
              </a:srgbClr>
            </a:outerShdw>
          </a:effectLst>
        </p:spPr>
      </p:sp>
      <p:sp>
        <p:nvSpPr>
          <p:cNvPr id="9" name="Shape 6"/>
          <p:cNvSpPr/>
          <p:nvPr/>
        </p:nvSpPr>
        <p:spPr>
          <a:xfrm>
            <a:off x="749808" y="1892808"/>
            <a:ext cx="548640" cy="548640"/>
          </a:xfrm>
          <a:prstGeom prst="ellipse">
            <a:avLst/>
          </a:prstGeom>
          <a:solidFill>
            <a:srgbClr val="5C7A7C"/>
          </a:solidFill>
          <a:ln/>
        </p:spPr>
      </p:sp>
      <p:pic>
        <p:nvPicPr>
          <p:cNvPr id="10" name="Image 1" descr="preencoded.png">    </p:cNvPr>
          <p:cNvPicPr>
            <a:picLocks noChangeAspect="1"/>
          </p:cNvPicPr>
          <p:nvPr/>
        </p:nvPicPr>
        <p:blipFill>
          <a:blip r:embed="rId2"/>
          <a:stretch>
            <a:fillRect/>
          </a:stretch>
        </p:blipFill>
        <p:spPr>
          <a:xfrm>
            <a:off x="821131" y="1964131"/>
            <a:ext cx="405994" cy="405994"/>
          </a:xfrm>
          <a:prstGeom prst="rect">
            <a:avLst/>
          </a:prstGeom>
        </p:spPr>
      </p:pic>
      <p:sp>
        <p:nvSpPr>
          <p:cNvPr id="11" name="Text 7"/>
          <p:cNvSpPr/>
          <p:nvPr/>
        </p:nvSpPr>
        <p:spPr>
          <a:xfrm>
            <a:off x="1444752" y="1865376"/>
            <a:ext cx="4343400" cy="548640"/>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Лексический поиск (по словам)</a:t>
            </a:r>
            <a:endParaRPr lang="en-US" sz="1500" dirty="0"/>
          </a:p>
        </p:txBody>
      </p:sp>
      <p:sp>
        <p:nvSpPr>
          <p:cNvPr id="12" name="Text 8"/>
          <p:cNvSpPr/>
          <p:nvPr/>
        </p:nvSpPr>
        <p:spPr>
          <a:xfrm>
            <a:off x="749808" y="2532888"/>
            <a:ext cx="5038344" cy="275234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Ищет точные (или близкие по написанию) совпадения слов — «как Ctrl+F», но по всей базе документов. Быстрый, предсказуемый, отлично находит точные термины, коды, номера договоров, ФИО, ИНН — то, что должно совпасть буква в букву.</a:t>
            </a:r>
            <a:endParaRPr lang="en-US" sz="1250" dirty="0"/>
          </a:p>
        </p:txBody>
      </p:sp>
      <p:sp>
        <p:nvSpPr>
          <p:cNvPr id="13" name="Shape 9"/>
          <p:cNvSpPr/>
          <p:nvPr/>
        </p:nvSpPr>
        <p:spPr>
          <a:xfrm>
            <a:off x="6172200" y="1691640"/>
            <a:ext cx="5440680" cy="3794760"/>
          </a:xfrm>
          <a:prstGeom prst="roundRect">
            <a:avLst>
              <a:gd name="adj" fmla="val 2169"/>
            </a:avLst>
          </a:prstGeom>
          <a:solidFill>
            <a:srgbClr val="F2FAF9"/>
          </a:solidFill>
          <a:ln/>
          <a:effectLst>
            <a:outerShdw sx="100000" sy="100000" kx="0" ky="0" algn="bl" rotWithShape="0" blurRad="76200" dist="25400" dir="5400000">
              <a:srgbClr val="0F3B3A">
                <a:alpha val="18000"/>
              </a:srgbClr>
            </a:outerShdw>
          </a:effectLst>
        </p:spPr>
      </p:sp>
      <p:sp>
        <p:nvSpPr>
          <p:cNvPr id="14" name="Shape 10"/>
          <p:cNvSpPr/>
          <p:nvPr/>
        </p:nvSpPr>
        <p:spPr>
          <a:xfrm>
            <a:off x="6373368" y="1892808"/>
            <a:ext cx="548640" cy="548640"/>
          </a:xfrm>
          <a:prstGeom prst="ellipse">
            <a:avLst/>
          </a:prstGeom>
          <a:solidFill>
            <a:srgbClr val="028090"/>
          </a:solidFill>
          <a:ln/>
        </p:spPr>
      </p:sp>
      <p:pic>
        <p:nvPicPr>
          <p:cNvPr id="15" name="Image 2" descr="preencoded.png">    </p:cNvPr>
          <p:cNvPicPr>
            <a:picLocks noChangeAspect="1"/>
          </p:cNvPicPr>
          <p:nvPr/>
        </p:nvPicPr>
        <p:blipFill>
          <a:blip r:embed="rId3"/>
          <a:stretch>
            <a:fillRect/>
          </a:stretch>
        </p:blipFill>
        <p:spPr>
          <a:xfrm>
            <a:off x="6444691" y="1964131"/>
            <a:ext cx="405994" cy="405994"/>
          </a:xfrm>
          <a:prstGeom prst="rect">
            <a:avLst/>
          </a:prstGeom>
        </p:spPr>
      </p:pic>
      <p:sp>
        <p:nvSpPr>
          <p:cNvPr id="16" name="Text 11"/>
          <p:cNvSpPr/>
          <p:nvPr/>
        </p:nvSpPr>
        <p:spPr>
          <a:xfrm>
            <a:off x="7068312" y="1865376"/>
            <a:ext cx="4343400" cy="548640"/>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Семантический поиск (по смыслу/вектору)</a:t>
            </a:r>
            <a:endParaRPr lang="en-US" sz="1500" dirty="0"/>
          </a:p>
        </p:txBody>
      </p:sp>
      <p:sp>
        <p:nvSpPr>
          <p:cNvPr id="17" name="Text 12"/>
          <p:cNvSpPr/>
          <p:nvPr/>
        </p:nvSpPr>
        <p:spPr>
          <a:xfrm>
            <a:off x="6373368" y="2532888"/>
            <a:ext cx="5038344" cy="275234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Сравнивает эмбеддинги (векторы) вопроса и чанков через cosine-близость (слайд 10). Находит по смыслу, даже если слова другие — «расторжение» и «прекращение сотрудничества» окажутся рядом, хотя ни одного общего слова у них нет.</a:t>
            </a:r>
            <a:endParaRPr lang="en-US" sz="1250" dirty="0"/>
          </a:p>
        </p:txBody>
      </p:sp>
      <p:sp>
        <p:nvSpPr>
          <p:cNvPr id="18" name="Shape 13"/>
          <p:cNvSpPr/>
          <p:nvPr/>
        </p:nvSpPr>
        <p:spPr>
          <a:xfrm>
            <a:off x="548640" y="5623560"/>
            <a:ext cx="11091672" cy="685800"/>
          </a:xfrm>
          <a:prstGeom prst="roundRect">
            <a:avLst>
              <a:gd name="adj" fmla="val 12000"/>
            </a:avLst>
          </a:prstGeom>
          <a:solidFill>
            <a:srgbClr val="FDF2E9"/>
          </a:solidFill>
          <a:ln/>
        </p:spPr>
      </p:sp>
      <p:sp>
        <p:nvSpPr>
          <p:cNvPr id="19" name="Text 14"/>
          <p:cNvSpPr/>
          <p:nvPr/>
        </p:nvSpPr>
        <p:spPr>
          <a:xfrm>
            <a:off x="822960" y="5623560"/>
            <a:ext cx="10607040" cy="685800"/>
          </a:xfrm>
          <a:prstGeom prst="rect">
            <a:avLst/>
          </a:prstGeom>
          <a:noFill/>
          <a:ln/>
        </p:spPr>
        <p:txBody>
          <a:bodyPr wrap="square" lIns="0" tIns="0" rIns="0" bIns="0" rtlCol="0" anchor="ctr"/>
          <a:lstStyle/>
          <a:p>
            <a:pPr indent="0" marL="0">
              <a:lnSpc>
                <a:spcPct val="112000"/>
              </a:lnSpc>
              <a:buNone/>
            </a:pPr>
            <a:r>
              <a:rPr lang="en-US" sz="1150" b="1" dirty="0">
                <a:solidFill>
                  <a:srgbClr val="A85B00"/>
                </a:solidFill>
                <a:latin typeface="Calibri" pitchFamily="34" charset="0"/>
                <a:ea typeface="Calibri" pitchFamily="34" charset="-122"/>
                <a:cs typeface="Calibri" pitchFamily="34" charset="-120"/>
              </a:rPr>
              <a:t>У каждого способа — свой класс промахов: лексический поиск не найдёт пересказ своими словами; семантический иногда «размывает» точное совпадение точного кода или номера. Поэтому платформа использует оба сразу — гибридный поиск (следующий слайд).</a:t>
            </a:r>
            <a:endParaRPr lang="en-US" sz="1150" dirty="0"/>
          </a:p>
        </p:txBody>
      </p:sp>
      <p:sp>
        <p:nvSpPr>
          <p:cNvPr id="20" name="Text 15"/>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Поиск</a:t>
            </a:r>
            <a:endParaRPr lang="en-US" sz="1000" dirty="0"/>
          </a:p>
        </p:txBody>
      </p:sp>
      <p:sp>
        <p:nvSpPr>
          <p:cNvPr id="21" name="Text 16"/>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12 / 27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ВИДЫ ПОИСКА (ШАГ 4, Ч.2)</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Гибридный поиск: лучшее из двух миров</a:t>
            </a:r>
            <a:endParaRPr lang="en-US" sz="2400" dirty="0"/>
          </a:p>
        </p:txBody>
      </p:sp>
      <p:sp>
        <p:nvSpPr>
          <p:cNvPr id="4" name="Shape 2"/>
          <p:cNvSpPr/>
          <p:nvPr/>
        </p:nvSpPr>
        <p:spPr>
          <a:xfrm>
            <a:off x="548640" y="1188720"/>
            <a:ext cx="2514600" cy="329184"/>
          </a:xfrm>
          <a:prstGeom prst="roundRect">
            <a:avLst>
              <a:gd name="adj" fmla="val 50000"/>
            </a:avLst>
          </a:prstGeom>
          <a:solidFill>
            <a:srgbClr val="028090"/>
          </a:solidFill>
          <a:ln/>
        </p:spPr>
      </p:sp>
      <p:sp>
        <p:nvSpPr>
          <p:cNvPr id="5" name="Text 3"/>
          <p:cNvSpPr/>
          <p:nvPr/>
        </p:nvSpPr>
        <p:spPr>
          <a:xfrm>
            <a:off x="548640" y="1188720"/>
            <a:ext cx="25146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4 · ГИБРИДНЫЙ ПОИСК</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85800"/>
          </a:xfrm>
          <a:prstGeom prst="rect">
            <a:avLst/>
          </a:prstGeom>
          <a:noFill/>
          <a:ln/>
        </p:spPr>
        <p:txBody>
          <a:bodyPr wrap="square" lIns="0" tIns="0" rIns="0" bIns="0" rtlCol="0" anchor="ctr"/>
          <a:lstStyle/>
          <a:p>
            <a:pPr indent="0" marL="0">
              <a:lnSpc>
                <a:spcPct val="118000"/>
              </a:lnSpc>
              <a:buNone/>
            </a:pPr>
            <a:r>
              <a:rPr lang="en-US" sz="1300" dirty="0">
                <a:solidFill>
                  <a:srgbClr val="17282A"/>
                </a:solidFill>
                <a:latin typeface="Calibri" pitchFamily="34" charset="0"/>
                <a:ea typeface="Calibri" pitchFamily="34" charset="-122"/>
                <a:cs typeface="Calibri" pitchFamily="34" charset="-120"/>
              </a:rPr>
              <a:t>Гибридный поиск комбинирует результаты лексического и семантического поиска в одну общую оценку релевантности, с более высоким весом на семантической (векторной, «плотной» / dense) составляющей — типично около 0.7 против 0.3 у лексической.</a:t>
            </a:r>
            <a:endParaRPr lang="en-US" sz="1300" dirty="0"/>
          </a:p>
        </p:txBody>
      </p:sp>
      <p:sp>
        <p:nvSpPr>
          <p:cNvPr id="9" name="Shape 6"/>
          <p:cNvSpPr/>
          <p:nvPr/>
        </p:nvSpPr>
        <p:spPr>
          <a:xfrm>
            <a:off x="548640" y="2423160"/>
            <a:ext cx="11091672" cy="777240"/>
          </a:xfrm>
          <a:prstGeom prst="roundRect">
            <a:avLst>
              <a:gd name="adj" fmla="val 14118"/>
            </a:avLst>
          </a:prstGeom>
          <a:solidFill>
            <a:srgbClr val="E4E4E4"/>
          </a:solidFill>
          <a:ln/>
        </p:spPr>
      </p:sp>
      <p:sp>
        <p:nvSpPr>
          <p:cNvPr id="10" name="Shape 7"/>
          <p:cNvSpPr/>
          <p:nvPr/>
        </p:nvSpPr>
        <p:spPr>
          <a:xfrm>
            <a:off x="548640" y="2423160"/>
            <a:ext cx="7764170" cy="777240"/>
          </a:xfrm>
          <a:prstGeom prst="roundRect">
            <a:avLst>
              <a:gd name="adj" fmla="val 14118"/>
            </a:avLst>
          </a:prstGeom>
          <a:solidFill>
            <a:srgbClr val="028090"/>
          </a:solidFill>
          <a:ln/>
        </p:spPr>
      </p:sp>
      <p:sp>
        <p:nvSpPr>
          <p:cNvPr id="11" name="Text 8"/>
          <p:cNvSpPr/>
          <p:nvPr/>
        </p:nvSpPr>
        <p:spPr>
          <a:xfrm>
            <a:off x="822960" y="2423160"/>
            <a:ext cx="721553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Семантический (плотный / dense) поиск  ·  вес ≈ 0.7</a:t>
            </a:r>
            <a:endParaRPr lang="en-US" sz="1300" dirty="0"/>
          </a:p>
        </p:txBody>
      </p:sp>
      <p:sp>
        <p:nvSpPr>
          <p:cNvPr id="12" name="Text 9"/>
          <p:cNvSpPr/>
          <p:nvPr/>
        </p:nvSpPr>
        <p:spPr>
          <a:xfrm>
            <a:off x="8404250" y="2423160"/>
            <a:ext cx="3144622" cy="777240"/>
          </a:xfrm>
          <a:prstGeom prst="rect">
            <a:avLst/>
          </a:prstGeom>
          <a:noFill/>
          <a:ln/>
        </p:spPr>
        <p:txBody>
          <a:bodyPr wrap="square" lIns="0" tIns="0" rIns="0" bIns="0" rtlCol="0" anchor="ctr"/>
          <a:lstStyle/>
          <a:p>
            <a:pPr algn="ctr" indent="0" marL="0">
              <a:lnSpc>
                <a:spcPct val="100000"/>
              </a:lnSpc>
              <a:buNone/>
            </a:pPr>
            <a:r>
              <a:rPr lang="en-US" sz="1200" b="1" dirty="0">
                <a:solidFill>
                  <a:srgbClr val="555555"/>
                </a:solidFill>
                <a:latin typeface="Calibri" pitchFamily="34" charset="0"/>
                <a:ea typeface="Calibri" pitchFamily="34" charset="-122"/>
                <a:cs typeface="Calibri" pitchFamily="34" charset="-120"/>
              </a:rPr>
              <a:t>Лексический</a:t>
            </a:r>
            <a:endParaRPr lang="en-US" sz="1200" dirty="0"/>
          </a:p>
          <a:p>
            <a:pPr algn="ctr" indent="0" marL="0">
              <a:lnSpc>
                <a:spcPct val="100000"/>
              </a:lnSpc>
              <a:buNone/>
            </a:pPr>
            <a:r>
              <a:rPr lang="en-US" sz="1200" b="1" dirty="0">
                <a:solidFill>
                  <a:srgbClr val="555555"/>
                </a:solidFill>
                <a:latin typeface="Calibri" pitchFamily="34" charset="0"/>
                <a:ea typeface="Calibri" pitchFamily="34" charset="-122"/>
                <a:cs typeface="Calibri" pitchFamily="34" charset="-120"/>
              </a:rPr>
              <a:t>≈ 0.3</a:t>
            </a:r>
            <a:endParaRPr lang="en-US" sz="1200" dirty="0"/>
          </a:p>
        </p:txBody>
      </p:sp>
      <p:sp>
        <p:nvSpPr>
          <p:cNvPr id="13" name="Shape 10"/>
          <p:cNvSpPr/>
          <p:nvPr/>
        </p:nvSpPr>
        <p:spPr>
          <a:xfrm>
            <a:off x="548640" y="3429000"/>
            <a:ext cx="11091672" cy="2423160"/>
          </a:xfrm>
          <a:prstGeom prst="roundRect">
            <a:avLst>
              <a:gd name="adj" fmla="val 3396"/>
            </a:avLst>
          </a:prstGeom>
          <a:solidFill>
            <a:srgbClr val="F2FAF9"/>
          </a:solidFill>
          <a:ln/>
          <a:effectLst>
            <a:outerShdw sx="100000" sy="100000" kx="0" ky="0" algn="bl" rotWithShape="0" blurRad="76200" dist="25400" dir="5400000">
              <a:srgbClr val="0F3B3A">
                <a:alpha val="18000"/>
              </a:srgbClr>
            </a:outerShdw>
          </a:effectLst>
        </p:spPr>
      </p:sp>
      <p:sp>
        <p:nvSpPr>
          <p:cNvPr id="14" name="Shape 11"/>
          <p:cNvSpPr/>
          <p:nvPr/>
        </p:nvSpPr>
        <p:spPr>
          <a:xfrm>
            <a:off x="749808" y="3630168"/>
            <a:ext cx="548640" cy="548640"/>
          </a:xfrm>
          <a:prstGeom prst="ellipse">
            <a:avLst/>
          </a:prstGeom>
          <a:solidFill>
            <a:srgbClr val="02C39A"/>
          </a:solidFill>
          <a:ln/>
        </p:spPr>
      </p:sp>
      <p:pic>
        <p:nvPicPr>
          <p:cNvPr id="15" name="Image 1" descr="preencoded.png">    </p:cNvPr>
          <p:cNvPicPr>
            <a:picLocks noChangeAspect="1"/>
          </p:cNvPicPr>
          <p:nvPr/>
        </p:nvPicPr>
        <p:blipFill>
          <a:blip r:embed="rId2"/>
          <a:stretch>
            <a:fillRect/>
          </a:stretch>
        </p:blipFill>
        <p:spPr>
          <a:xfrm>
            <a:off x="821131" y="3701491"/>
            <a:ext cx="405994" cy="405994"/>
          </a:xfrm>
          <a:prstGeom prst="rect">
            <a:avLst/>
          </a:prstGeom>
        </p:spPr>
      </p:pic>
      <p:sp>
        <p:nvSpPr>
          <p:cNvPr id="16" name="Text 12"/>
          <p:cNvSpPr/>
          <p:nvPr/>
        </p:nvSpPr>
        <p:spPr>
          <a:xfrm>
            <a:off x="1444752" y="3602736"/>
            <a:ext cx="9994392" cy="548640"/>
          </a:xfrm>
          <a:prstGeom prst="rect">
            <a:avLst/>
          </a:prstGeom>
          <a:noFill/>
          <a:ln/>
        </p:spPr>
        <p:txBody>
          <a:bodyPr wrap="square" lIns="0" tIns="0" rIns="0" bIns="0" rtlCol="0" anchor="ctr"/>
          <a:lstStyle/>
          <a:p>
            <a:pPr algn="l" indent="0" marL="0">
              <a:buNone/>
            </a:pPr>
            <a:r>
              <a:rPr lang="en-US" sz="1500" b="1" dirty="0">
                <a:solidFill>
                  <a:srgbClr val="17282A"/>
                </a:solidFill>
                <a:latin typeface="Cambria" pitchFamily="34" charset="0"/>
                <a:ea typeface="Cambria" pitchFamily="34" charset="-122"/>
                <a:cs typeface="Cambria" pitchFamily="34" charset="-120"/>
              </a:rPr>
              <a:t>Пример: почему это важно на практике</a:t>
            </a:r>
            <a:endParaRPr lang="en-US" sz="1500" dirty="0"/>
          </a:p>
        </p:txBody>
      </p:sp>
      <p:sp>
        <p:nvSpPr>
          <p:cNvPr id="17" name="Text 13"/>
          <p:cNvSpPr/>
          <p:nvPr/>
        </p:nvSpPr>
        <p:spPr>
          <a:xfrm>
            <a:off x="749808" y="4270248"/>
            <a:ext cx="10689336" cy="138074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Сотрудник спрашивает: «какие санкции грозят за позднюю сдачу отчёта?» — а в регламенте написано «неустойка за нарушение сроков предоставления документов». Ни одного общего слова с вопросом нет — лексический поиск, скорее всего, эту связь не увидит. Но по смыслу это один и тот же вопрос, поэтому семантическая (векторная) составляющая находит нужный фрагмент — а более высокий вес именно на ней в общей формуле означает, что итоговое ранжирование чаще отдаёт приоритет такому «пересказу своими словами», чем формальному совпадению. Лексическая часть при этом не убирается совсем — она по‑прежнему подстраховывает на точных кодах, номерах и терминах, которые обязаны совпасть буквально.</a:t>
            </a:r>
            <a:endParaRPr lang="en-US" sz="1250" dirty="0"/>
          </a:p>
        </p:txBody>
      </p:sp>
      <p:sp>
        <p:nvSpPr>
          <p:cNvPr id="18" name="Text 1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Поиск</a:t>
            </a:r>
            <a:endParaRPr lang="en-US" sz="1000" dirty="0"/>
          </a:p>
        </p:txBody>
      </p:sp>
      <p:sp>
        <p:nvSpPr>
          <p:cNvPr id="19" name="Text 15"/>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13 / 27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ОТБОР (ШАГ 5)</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top-K: почему не вся база целиком</a:t>
            </a:r>
            <a:endParaRPr lang="en-US" sz="2400" dirty="0"/>
          </a:p>
        </p:txBody>
      </p:sp>
      <p:sp>
        <p:nvSpPr>
          <p:cNvPr id="4" name="Shape 2"/>
          <p:cNvSpPr/>
          <p:nvPr/>
        </p:nvSpPr>
        <p:spPr>
          <a:xfrm>
            <a:off x="548640" y="1188720"/>
            <a:ext cx="1554480" cy="329184"/>
          </a:xfrm>
          <a:prstGeom prst="roundRect">
            <a:avLst>
              <a:gd name="adj" fmla="val 50000"/>
            </a:avLst>
          </a:prstGeom>
          <a:solidFill>
            <a:srgbClr val="028090"/>
          </a:solidFill>
          <a:ln/>
        </p:spPr>
      </p:sp>
      <p:sp>
        <p:nvSpPr>
          <p:cNvPr id="5" name="Text 3"/>
          <p:cNvSpPr/>
          <p:nvPr/>
        </p:nvSpPr>
        <p:spPr>
          <a:xfrm>
            <a:off x="548640" y="118872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5 · TOP-K</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502920"/>
          </a:xfrm>
          <a:prstGeom prst="rect">
            <a:avLst/>
          </a:prstGeom>
          <a:noFill/>
          <a:ln/>
        </p:spPr>
        <p:txBody>
          <a:bodyPr wrap="square" lIns="0" tIns="0" rIns="0" bIns="0" rtlCol="0" anchor="ctr"/>
          <a:lstStyle/>
          <a:p>
            <a:pPr indent="0" marL="0">
              <a:lnSpc>
                <a:spcPct val="118000"/>
              </a:lnSpc>
              <a:buNone/>
            </a:pPr>
            <a:r>
              <a:rPr lang="en-US" sz="1350" dirty="0">
                <a:solidFill>
                  <a:srgbClr val="17282A"/>
                </a:solidFill>
                <a:latin typeface="Calibri" pitchFamily="34" charset="0"/>
                <a:ea typeface="Calibri" pitchFamily="34" charset="-122"/>
                <a:cs typeface="Calibri" pitchFamily="34" charset="-120"/>
              </a:rPr>
              <a:t>Гибридный поиск оценивает и ранжирует все чанки базы. Но в модель отправляют не всё подряд, а только top-K — обычно около 5 самых релевантных.</a:t>
            </a:r>
            <a:endParaRPr lang="en-US" sz="1350" dirty="0"/>
          </a:p>
        </p:txBody>
      </p:sp>
      <p:sp>
        <p:nvSpPr>
          <p:cNvPr id="9" name="Shape 6"/>
          <p:cNvSpPr/>
          <p:nvPr/>
        </p:nvSpPr>
        <p:spPr>
          <a:xfrm>
            <a:off x="548640" y="2286000"/>
            <a:ext cx="6492240" cy="384048"/>
          </a:xfrm>
          <a:prstGeom prst="roundRect">
            <a:avLst>
              <a:gd name="adj" fmla="val 14286"/>
            </a:avLst>
          </a:prstGeom>
          <a:solidFill>
            <a:srgbClr val="E9F6F4"/>
          </a:solidFill>
          <a:ln/>
        </p:spPr>
      </p:sp>
      <p:sp>
        <p:nvSpPr>
          <p:cNvPr id="10" name="Text 7"/>
          <p:cNvSpPr/>
          <p:nvPr/>
        </p:nvSpPr>
        <p:spPr>
          <a:xfrm>
            <a:off x="640080" y="2286000"/>
            <a:ext cx="457200" cy="38404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#1</a:t>
            </a:r>
            <a:endParaRPr lang="en-US" sz="1150" dirty="0"/>
          </a:p>
        </p:txBody>
      </p:sp>
      <p:sp>
        <p:nvSpPr>
          <p:cNvPr id="11" name="Text 8"/>
          <p:cNvSpPr/>
          <p:nvPr/>
        </p:nvSpPr>
        <p:spPr>
          <a:xfrm>
            <a:off x="1143000" y="2286000"/>
            <a:ext cx="5029200" cy="384048"/>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Чанк, оценка релевантности 0.91</a:t>
            </a:r>
            <a:endParaRPr lang="en-US" sz="1150" dirty="0"/>
          </a:p>
        </p:txBody>
      </p:sp>
      <p:sp>
        <p:nvSpPr>
          <p:cNvPr id="12" name="Text 9"/>
          <p:cNvSpPr/>
          <p:nvPr/>
        </p:nvSpPr>
        <p:spPr>
          <a:xfrm>
            <a:off x="5852160" y="2286000"/>
            <a:ext cx="1097280" cy="384048"/>
          </a:xfrm>
          <a:prstGeom prst="rect">
            <a:avLst/>
          </a:prstGeom>
          <a:noFill/>
          <a:ln/>
        </p:spPr>
        <p:txBody>
          <a:bodyPr wrap="square" lIns="0" tIns="0" rIns="0" bIns="0" rtlCol="0" anchor="ctr"/>
          <a:lstStyle/>
          <a:p>
            <a:pPr algn="r" indent="0" marL="0">
              <a:buNone/>
            </a:pPr>
            <a:r>
              <a:rPr lang="en-US" sz="1050" b="1" dirty="0">
                <a:solidFill>
                  <a:srgbClr val="02C39A"/>
                </a:solidFill>
                <a:latin typeface="Calibri" pitchFamily="34" charset="0"/>
                <a:ea typeface="Calibri" pitchFamily="34" charset="-122"/>
                <a:cs typeface="Calibri" pitchFamily="34" charset="-120"/>
              </a:rPr>
              <a:t>→ в модель</a:t>
            </a:r>
            <a:endParaRPr lang="en-US" sz="1050" dirty="0"/>
          </a:p>
        </p:txBody>
      </p:sp>
      <p:sp>
        <p:nvSpPr>
          <p:cNvPr id="13" name="Shape 10"/>
          <p:cNvSpPr/>
          <p:nvPr/>
        </p:nvSpPr>
        <p:spPr>
          <a:xfrm>
            <a:off x="548640" y="2724912"/>
            <a:ext cx="6492240" cy="384048"/>
          </a:xfrm>
          <a:prstGeom prst="roundRect">
            <a:avLst>
              <a:gd name="adj" fmla="val 14286"/>
            </a:avLst>
          </a:prstGeom>
          <a:solidFill>
            <a:srgbClr val="E9F6F4"/>
          </a:solidFill>
          <a:ln/>
        </p:spPr>
      </p:sp>
      <p:sp>
        <p:nvSpPr>
          <p:cNvPr id="14" name="Text 11"/>
          <p:cNvSpPr/>
          <p:nvPr/>
        </p:nvSpPr>
        <p:spPr>
          <a:xfrm>
            <a:off x="640080" y="2724912"/>
            <a:ext cx="457200" cy="38404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#2</a:t>
            </a:r>
            <a:endParaRPr lang="en-US" sz="1150" dirty="0"/>
          </a:p>
        </p:txBody>
      </p:sp>
      <p:sp>
        <p:nvSpPr>
          <p:cNvPr id="15" name="Text 12"/>
          <p:cNvSpPr/>
          <p:nvPr/>
        </p:nvSpPr>
        <p:spPr>
          <a:xfrm>
            <a:off x="1143000" y="2724912"/>
            <a:ext cx="5029200" cy="384048"/>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Чанк, оценка релевантности 0.82</a:t>
            </a:r>
            <a:endParaRPr lang="en-US" sz="1150" dirty="0"/>
          </a:p>
        </p:txBody>
      </p:sp>
      <p:sp>
        <p:nvSpPr>
          <p:cNvPr id="16" name="Text 13"/>
          <p:cNvSpPr/>
          <p:nvPr/>
        </p:nvSpPr>
        <p:spPr>
          <a:xfrm>
            <a:off x="5852160" y="2724912"/>
            <a:ext cx="1097280" cy="384048"/>
          </a:xfrm>
          <a:prstGeom prst="rect">
            <a:avLst/>
          </a:prstGeom>
          <a:noFill/>
          <a:ln/>
        </p:spPr>
        <p:txBody>
          <a:bodyPr wrap="square" lIns="0" tIns="0" rIns="0" bIns="0" rtlCol="0" anchor="ctr"/>
          <a:lstStyle/>
          <a:p>
            <a:pPr algn="r" indent="0" marL="0">
              <a:buNone/>
            </a:pPr>
            <a:r>
              <a:rPr lang="en-US" sz="1050" b="1" dirty="0">
                <a:solidFill>
                  <a:srgbClr val="02C39A"/>
                </a:solidFill>
                <a:latin typeface="Calibri" pitchFamily="34" charset="0"/>
                <a:ea typeface="Calibri" pitchFamily="34" charset="-122"/>
                <a:cs typeface="Calibri" pitchFamily="34" charset="-120"/>
              </a:rPr>
              <a:t>→ в модель</a:t>
            </a:r>
            <a:endParaRPr lang="en-US" sz="1050" dirty="0"/>
          </a:p>
        </p:txBody>
      </p:sp>
      <p:sp>
        <p:nvSpPr>
          <p:cNvPr id="17" name="Shape 14"/>
          <p:cNvSpPr/>
          <p:nvPr/>
        </p:nvSpPr>
        <p:spPr>
          <a:xfrm>
            <a:off x="548640" y="3163824"/>
            <a:ext cx="6492240" cy="384048"/>
          </a:xfrm>
          <a:prstGeom prst="roundRect">
            <a:avLst>
              <a:gd name="adj" fmla="val 14286"/>
            </a:avLst>
          </a:prstGeom>
          <a:solidFill>
            <a:srgbClr val="E9F6F4"/>
          </a:solidFill>
          <a:ln/>
        </p:spPr>
      </p:sp>
      <p:sp>
        <p:nvSpPr>
          <p:cNvPr id="18" name="Text 15"/>
          <p:cNvSpPr/>
          <p:nvPr/>
        </p:nvSpPr>
        <p:spPr>
          <a:xfrm>
            <a:off x="640080" y="3163824"/>
            <a:ext cx="457200" cy="38404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#3</a:t>
            </a:r>
            <a:endParaRPr lang="en-US" sz="1150" dirty="0"/>
          </a:p>
        </p:txBody>
      </p:sp>
      <p:sp>
        <p:nvSpPr>
          <p:cNvPr id="19" name="Text 16"/>
          <p:cNvSpPr/>
          <p:nvPr/>
        </p:nvSpPr>
        <p:spPr>
          <a:xfrm>
            <a:off x="1143000" y="3163824"/>
            <a:ext cx="5029200" cy="384048"/>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Чанк, оценка релевантности 0.73</a:t>
            </a:r>
            <a:endParaRPr lang="en-US" sz="1150" dirty="0"/>
          </a:p>
        </p:txBody>
      </p:sp>
      <p:sp>
        <p:nvSpPr>
          <p:cNvPr id="20" name="Text 17"/>
          <p:cNvSpPr/>
          <p:nvPr/>
        </p:nvSpPr>
        <p:spPr>
          <a:xfrm>
            <a:off x="5852160" y="3163824"/>
            <a:ext cx="1097280" cy="384048"/>
          </a:xfrm>
          <a:prstGeom prst="rect">
            <a:avLst/>
          </a:prstGeom>
          <a:noFill/>
          <a:ln/>
        </p:spPr>
        <p:txBody>
          <a:bodyPr wrap="square" lIns="0" tIns="0" rIns="0" bIns="0" rtlCol="0" anchor="ctr"/>
          <a:lstStyle/>
          <a:p>
            <a:pPr algn="r" indent="0" marL="0">
              <a:buNone/>
            </a:pPr>
            <a:r>
              <a:rPr lang="en-US" sz="1050" b="1" dirty="0">
                <a:solidFill>
                  <a:srgbClr val="02C39A"/>
                </a:solidFill>
                <a:latin typeface="Calibri" pitchFamily="34" charset="0"/>
                <a:ea typeface="Calibri" pitchFamily="34" charset="-122"/>
                <a:cs typeface="Calibri" pitchFamily="34" charset="-120"/>
              </a:rPr>
              <a:t>→ в модель</a:t>
            </a:r>
            <a:endParaRPr lang="en-US" sz="1050" dirty="0"/>
          </a:p>
        </p:txBody>
      </p:sp>
      <p:sp>
        <p:nvSpPr>
          <p:cNvPr id="21" name="Shape 18"/>
          <p:cNvSpPr/>
          <p:nvPr/>
        </p:nvSpPr>
        <p:spPr>
          <a:xfrm>
            <a:off x="548640" y="3602736"/>
            <a:ext cx="6492240" cy="384048"/>
          </a:xfrm>
          <a:prstGeom prst="roundRect">
            <a:avLst>
              <a:gd name="adj" fmla="val 14286"/>
            </a:avLst>
          </a:prstGeom>
          <a:solidFill>
            <a:srgbClr val="E9F6F4"/>
          </a:solidFill>
          <a:ln/>
        </p:spPr>
      </p:sp>
      <p:sp>
        <p:nvSpPr>
          <p:cNvPr id="22" name="Text 19"/>
          <p:cNvSpPr/>
          <p:nvPr/>
        </p:nvSpPr>
        <p:spPr>
          <a:xfrm>
            <a:off x="640080" y="3602736"/>
            <a:ext cx="457200" cy="38404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#4</a:t>
            </a:r>
            <a:endParaRPr lang="en-US" sz="1150" dirty="0"/>
          </a:p>
        </p:txBody>
      </p:sp>
      <p:sp>
        <p:nvSpPr>
          <p:cNvPr id="23" name="Text 20"/>
          <p:cNvSpPr/>
          <p:nvPr/>
        </p:nvSpPr>
        <p:spPr>
          <a:xfrm>
            <a:off x="1143000" y="3602736"/>
            <a:ext cx="5029200" cy="384048"/>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Чанк, оценка релевантности 0.64</a:t>
            </a:r>
            <a:endParaRPr lang="en-US" sz="1150" dirty="0"/>
          </a:p>
        </p:txBody>
      </p:sp>
      <p:sp>
        <p:nvSpPr>
          <p:cNvPr id="24" name="Text 21"/>
          <p:cNvSpPr/>
          <p:nvPr/>
        </p:nvSpPr>
        <p:spPr>
          <a:xfrm>
            <a:off x="5852160" y="3602736"/>
            <a:ext cx="1097280" cy="384048"/>
          </a:xfrm>
          <a:prstGeom prst="rect">
            <a:avLst/>
          </a:prstGeom>
          <a:noFill/>
          <a:ln/>
        </p:spPr>
        <p:txBody>
          <a:bodyPr wrap="square" lIns="0" tIns="0" rIns="0" bIns="0" rtlCol="0" anchor="ctr"/>
          <a:lstStyle/>
          <a:p>
            <a:pPr algn="r" indent="0" marL="0">
              <a:buNone/>
            </a:pPr>
            <a:r>
              <a:rPr lang="en-US" sz="1050" b="1" dirty="0">
                <a:solidFill>
                  <a:srgbClr val="02C39A"/>
                </a:solidFill>
                <a:latin typeface="Calibri" pitchFamily="34" charset="0"/>
                <a:ea typeface="Calibri" pitchFamily="34" charset="-122"/>
                <a:cs typeface="Calibri" pitchFamily="34" charset="-120"/>
              </a:rPr>
              <a:t>→ в модель</a:t>
            </a:r>
            <a:endParaRPr lang="en-US" sz="1050" dirty="0"/>
          </a:p>
        </p:txBody>
      </p:sp>
      <p:sp>
        <p:nvSpPr>
          <p:cNvPr id="25" name="Shape 22"/>
          <p:cNvSpPr/>
          <p:nvPr/>
        </p:nvSpPr>
        <p:spPr>
          <a:xfrm>
            <a:off x="548640" y="4041648"/>
            <a:ext cx="6492240" cy="384048"/>
          </a:xfrm>
          <a:prstGeom prst="roundRect">
            <a:avLst>
              <a:gd name="adj" fmla="val 14286"/>
            </a:avLst>
          </a:prstGeom>
          <a:solidFill>
            <a:srgbClr val="E9F6F4"/>
          </a:solidFill>
          <a:ln/>
        </p:spPr>
      </p:sp>
      <p:sp>
        <p:nvSpPr>
          <p:cNvPr id="26" name="Text 23"/>
          <p:cNvSpPr/>
          <p:nvPr/>
        </p:nvSpPr>
        <p:spPr>
          <a:xfrm>
            <a:off x="640080" y="4041648"/>
            <a:ext cx="457200" cy="38404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#5</a:t>
            </a:r>
            <a:endParaRPr lang="en-US" sz="1150" dirty="0"/>
          </a:p>
        </p:txBody>
      </p:sp>
      <p:sp>
        <p:nvSpPr>
          <p:cNvPr id="27" name="Text 24"/>
          <p:cNvSpPr/>
          <p:nvPr/>
        </p:nvSpPr>
        <p:spPr>
          <a:xfrm>
            <a:off x="1143000" y="4041648"/>
            <a:ext cx="5029200" cy="384048"/>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Чанк, оценка релевантности 0.55</a:t>
            </a:r>
            <a:endParaRPr lang="en-US" sz="1150" dirty="0"/>
          </a:p>
        </p:txBody>
      </p:sp>
      <p:sp>
        <p:nvSpPr>
          <p:cNvPr id="28" name="Text 25"/>
          <p:cNvSpPr/>
          <p:nvPr/>
        </p:nvSpPr>
        <p:spPr>
          <a:xfrm>
            <a:off x="5852160" y="4041648"/>
            <a:ext cx="1097280" cy="384048"/>
          </a:xfrm>
          <a:prstGeom prst="rect">
            <a:avLst/>
          </a:prstGeom>
          <a:noFill/>
          <a:ln/>
        </p:spPr>
        <p:txBody>
          <a:bodyPr wrap="square" lIns="0" tIns="0" rIns="0" bIns="0" rtlCol="0" anchor="ctr"/>
          <a:lstStyle/>
          <a:p>
            <a:pPr algn="r" indent="0" marL="0">
              <a:buNone/>
            </a:pPr>
            <a:r>
              <a:rPr lang="en-US" sz="1050" b="1" dirty="0">
                <a:solidFill>
                  <a:srgbClr val="02C39A"/>
                </a:solidFill>
                <a:latin typeface="Calibri" pitchFamily="34" charset="0"/>
                <a:ea typeface="Calibri" pitchFamily="34" charset="-122"/>
                <a:cs typeface="Calibri" pitchFamily="34" charset="-120"/>
              </a:rPr>
              <a:t>→ в модель</a:t>
            </a:r>
            <a:endParaRPr lang="en-US" sz="1050" dirty="0"/>
          </a:p>
        </p:txBody>
      </p:sp>
      <p:sp>
        <p:nvSpPr>
          <p:cNvPr id="29" name="Shape 26"/>
          <p:cNvSpPr/>
          <p:nvPr/>
        </p:nvSpPr>
        <p:spPr>
          <a:xfrm>
            <a:off x="548640" y="4791456"/>
            <a:ext cx="6492240" cy="384048"/>
          </a:xfrm>
          <a:prstGeom prst="roundRect">
            <a:avLst>
              <a:gd name="adj" fmla="val 14286"/>
            </a:avLst>
          </a:prstGeom>
          <a:solidFill>
            <a:srgbClr val="F0F0F0"/>
          </a:solidFill>
          <a:ln/>
        </p:spPr>
      </p:sp>
      <p:sp>
        <p:nvSpPr>
          <p:cNvPr id="30" name="Text 27"/>
          <p:cNvSpPr/>
          <p:nvPr/>
        </p:nvSpPr>
        <p:spPr>
          <a:xfrm>
            <a:off x="640080" y="4791456"/>
            <a:ext cx="457200" cy="384048"/>
          </a:xfrm>
          <a:prstGeom prst="rect">
            <a:avLst/>
          </a:prstGeom>
          <a:noFill/>
          <a:ln/>
        </p:spPr>
        <p:txBody>
          <a:bodyPr wrap="square" lIns="0" tIns="0" rIns="0" bIns="0" rtlCol="0" anchor="ctr"/>
          <a:lstStyle/>
          <a:p>
            <a:pPr indent="0" marL="0">
              <a:buNone/>
            </a:pPr>
            <a:r>
              <a:rPr lang="en-US" sz="1150" b="1" dirty="0">
                <a:solidFill>
                  <a:srgbClr val="999999"/>
                </a:solidFill>
                <a:latin typeface="Calibri" pitchFamily="34" charset="0"/>
                <a:ea typeface="Calibri" pitchFamily="34" charset="-122"/>
                <a:cs typeface="Calibri" pitchFamily="34" charset="-120"/>
              </a:rPr>
              <a:t>#6</a:t>
            </a:r>
            <a:endParaRPr lang="en-US" sz="1150" dirty="0"/>
          </a:p>
        </p:txBody>
      </p:sp>
      <p:sp>
        <p:nvSpPr>
          <p:cNvPr id="31" name="Text 28"/>
          <p:cNvSpPr/>
          <p:nvPr/>
        </p:nvSpPr>
        <p:spPr>
          <a:xfrm>
            <a:off x="1143000" y="4791456"/>
            <a:ext cx="5029200" cy="384048"/>
          </a:xfrm>
          <a:prstGeom prst="rect">
            <a:avLst/>
          </a:prstGeom>
          <a:noFill/>
          <a:ln/>
        </p:spPr>
        <p:txBody>
          <a:bodyPr wrap="square" lIns="0" tIns="0" rIns="0" bIns="0" rtlCol="0" anchor="ctr"/>
          <a:lstStyle/>
          <a:p>
            <a:pPr indent="0" marL="0">
              <a:buNone/>
            </a:pPr>
            <a:r>
              <a:rPr lang="en-US" sz="1150" dirty="0">
                <a:solidFill>
                  <a:srgbClr val="999999"/>
                </a:solidFill>
                <a:latin typeface="Calibri" pitchFamily="34" charset="0"/>
                <a:ea typeface="Calibri" pitchFamily="34" charset="-122"/>
                <a:cs typeface="Calibri" pitchFamily="34" charset="-120"/>
              </a:rPr>
              <a:t>Чанк, оценка релевантности 0.46</a:t>
            </a:r>
            <a:endParaRPr lang="en-US" sz="1150" dirty="0"/>
          </a:p>
        </p:txBody>
      </p:sp>
      <p:sp>
        <p:nvSpPr>
          <p:cNvPr id="32" name="Shape 29"/>
          <p:cNvSpPr/>
          <p:nvPr/>
        </p:nvSpPr>
        <p:spPr>
          <a:xfrm>
            <a:off x="548640" y="5230368"/>
            <a:ext cx="6492240" cy="384048"/>
          </a:xfrm>
          <a:prstGeom prst="roundRect">
            <a:avLst>
              <a:gd name="adj" fmla="val 14286"/>
            </a:avLst>
          </a:prstGeom>
          <a:solidFill>
            <a:srgbClr val="F0F0F0"/>
          </a:solidFill>
          <a:ln/>
        </p:spPr>
      </p:sp>
      <p:sp>
        <p:nvSpPr>
          <p:cNvPr id="33" name="Text 30"/>
          <p:cNvSpPr/>
          <p:nvPr/>
        </p:nvSpPr>
        <p:spPr>
          <a:xfrm>
            <a:off x="640080" y="5230368"/>
            <a:ext cx="457200" cy="384048"/>
          </a:xfrm>
          <a:prstGeom prst="rect">
            <a:avLst/>
          </a:prstGeom>
          <a:noFill/>
          <a:ln/>
        </p:spPr>
        <p:txBody>
          <a:bodyPr wrap="square" lIns="0" tIns="0" rIns="0" bIns="0" rtlCol="0" anchor="ctr"/>
          <a:lstStyle/>
          <a:p>
            <a:pPr indent="0" marL="0">
              <a:buNone/>
            </a:pPr>
            <a:r>
              <a:rPr lang="en-US" sz="1150" b="1" dirty="0">
                <a:solidFill>
                  <a:srgbClr val="999999"/>
                </a:solidFill>
                <a:latin typeface="Calibri" pitchFamily="34" charset="0"/>
                <a:ea typeface="Calibri" pitchFamily="34" charset="-122"/>
                <a:cs typeface="Calibri" pitchFamily="34" charset="-120"/>
              </a:rPr>
              <a:t>#7</a:t>
            </a:r>
            <a:endParaRPr lang="en-US" sz="1150" dirty="0"/>
          </a:p>
        </p:txBody>
      </p:sp>
      <p:sp>
        <p:nvSpPr>
          <p:cNvPr id="34" name="Text 31"/>
          <p:cNvSpPr/>
          <p:nvPr/>
        </p:nvSpPr>
        <p:spPr>
          <a:xfrm>
            <a:off x="1143000" y="5230368"/>
            <a:ext cx="5029200" cy="384048"/>
          </a:xfrm>
          <a:prstGeom prst="rect">
            <a:avLst/>
          </a:prstGeom>
          <a:noFill/>
          <a:ln/>
        </p:spPr>
        <p:txBody>
          <a:bodyPr wrap="square" lIns="0" tIns="0" rIns="0" bIns="0" rtlCol="0" anchor="ctr"/>
          <a:lstStyle/>
          <a:p>
            <a:pPr indent="0" marL="0">
              <a:buNone/>
            </a:pPr>
            <a:r>
              <a:rPr lang="en-US" sz="1150" dirty="0">
                <a:solidFill>
                  <a:srgbClr val="999999"/>
                </a:solidFill>
                <a:latin typeface="Calibri" pitchFamily="34" charset="0"/>
                <a:ea typeface="Calibri" pitchFamily="34" charset="-122"/>
                <a:cs typeface="Calibri" pitchFamily="34" charset="-120"/>
              </a:rPr>
              <a:t>Чанк, оценка релевантности 0.37</a:t>
            </a:r>
            <a:endParaRPr lang="en-US" sz="1150" dirty="0"/>
          </a:p>
        </p:txBody>
      </p:sp>
      <p:sp>
        <p:nvSpPr>
          <p:cNvPr id="35" name="Shape 32"/>
          <p:cNvSpPr/>
          <p:nvPr/>
        </p:nvSpPr>
        <p:spPr>
          <a:xfrm>
            <a:off x="548640" y="5669280"/>
            <a:ext cx="6492240" cy="384048"/>
          </a:xfrm>
          <a:prstGeom prst="roundRect">
            <a:avLst>
              <a:gd name="adj" fmla="val 14286"/>
            </a:avLst>
          </a:prstGeom>
          <a:solidFill>
            <a:srgbClr val="F0F0F0"/>
          </a:solidFill>
          <a:ln/>
        </p:spPr>
      </p:sp>
      <p:sp>
        <p:nvSpPr>
          <p:cNvPr id="36" name="Text 33"/>
          <p:cNvSpPr/>
          <p:nvPr/>
        </p:nvSpPr>
        <p:spPr>
          <a:xfrm>
            <a:off x="640080" y="5669280"/>
            <a:ext cx="457200" cy="384048"/>
          </a:xfrm>
          <a:prstGeom prst="rect">
            <a:avLst/>
          </a:prstGeom>
          <a:noFill/>
          <a:ln/>
        </p:spPr>
        <p:txBody>
          <a:bodyPr wrap="square" lIns="0" tIns="0" rIns="0" bIns="0" rtlCol="0" anchor="ctr"/>
          <a:lstStyle/>
          <a:p>
            <a:pPr indent="0" marL="0">
              <a:buNone/>
            </a:pPr>
            <a:r>
              <a:rPr lang="en-US" sz="1150" b="1" dirty="0">
                <a:solidFill>
                  <a:srgbClr val="999999"/>
                </a:solidFill>
                <a:latin typeface="Calibri" pitchFamily="34" charset="0"/>
                <a:ea typeface="Calibri" pitchFamily="34" charset="-122"/>
                <a:cs typeface="Calibri" pitchFamily="34" charset="-120"/>
              </a:rPr>
              <a:t>#8</a:t>
            </a:r>
            <a:endParaRPr lang="en-US" sz="1150" dirty="0"/>
          </a:p>
        </p:txBody>
      </p:sp>
      <p:sp>
        <p:nvSpPr>
          <p:cNvPr id="37" name="Text 34"/>
          <p:cNvSpPr/>
          <p:nvPr/>
        </p:nvSpPr>
        <p:spPr>
          <a:xfrm>
            <a:off x="1143000" y="5669280"/>
            <a:ext cx="5029200" cy="384048"/>
          </a:xfrm>
          <a:prstGeom prst="rect">
            <a:avLst/>
          </a:prstGeom>
          <a:noFill/>
          <a:ln/>
        </p:spPr>
        <p:txBody>
          <a:bodyPr wrap="square" lIns="0" tIns="0" rIns="0" bIns="0" rtlCol="0" anchor="ctr"/>
          <a:lstStyle/>
          <a:p>
            <a:pPr indent="0" marL="0">
              <a:buNone/>
            </a:pPr>
            <a:r>
              <a:rPr lang="en-US" sz="1150" dirty="0">
                <a:solidFill>
                  <a:srgbClr val="999999"/>
                </a:solidFill>
                <a:latin typeface="Calibri" pitchFamily="34" charset="0"/>
                <a:ea typeface="Calibri" pitchFamily="34" charset="-122"/>
                <a:cs typeface="Calibri" pitchFamily="34" charset="-120"/>
              </a:rPr>
              <a:t>Чанк, оценка релевантности 0.28</a:t>
            </a:r>
            <a:endParaRPr lang="en-US" sz="1150" dirty="0"/>
          </a:p>
        </p:txBody>
      </p:sp>
      <p:sp>
        <p:nvSpPr>
          <p:cNvPr id="38" name="Shape 35"/>
          <p:cNvSpPr/>
          <p:nvPr/>
        </p:nvSpPr>
        <p:spPr>
          <a:xfrm>
            <a:off x="502920" y="4507992"/>
            <a:ext cx="6583680" cy="0"/>
          </a:xfrm>
          <a:prstGeom prst="line">
            <a:avLst/>
          </a:prstGeom>
          <a:noFill/>
          <a:ln w="19050">
            <a:solidFill>
              <a:srgbClr val="028090"/>
            </a:solidFill>
            <a:prstDash val="dash"/>
          </a:ln>
        </p:spPr>
      </p:sp>
      <p:sp>
        <p:nvSpPr>
          <p:cNvPr id="39" name="Text 36"/>
          <p:cNvSpPr/>
          <p:nvPr/>
        </p:nvSpPr>
        <p:spPr>
          <a:xfrm>
            <a:off x="548640" y="4535424"/>
            <a:ext cx="6492240" cy="237744"/>
          </a:xfrm>
          <a:prstGeom prst="rect">
            <a:avLst/>
          </a:prstGeom>
          <a:noFill/>
          <a:ln/>
        </p:spPr>
        <p:txBody>
          <a:bodyPr wrap="square" lIns="0" tIns="0" rIns="0" bIns="0" rtlCol="0" anchor="ctr"/>
          <a:lstStyle/>
          <a:p>
            <a:pPr indent="0" marL="0">
              <a:buNone/>
            </a:pPr>
            <a:r>
              <a:rPr lang="en-US" sz="1000" i="1" dirty="0">
                <a:solidFill>
                  <a:srgbClr val="028090"/>
                </a:solidFill>
                <a:latin typeface="Calibri" pitchFamily="34" charset="0"/>
                <a:ea typeface="Calibri" pitchFamily="34" charset="-122"/>
                <a:cs typeface="Calibri" pitchFamily="34" charset="-120"/>
              </a:rPr>
              <a:t>top-K = 5 — граница отсечения</a:t>
            </a:r>
            <a:endParaRPr lang="en-US" sz="1000" dirty="0"/>
          </a:p>
        </p:txBody>
      </p:sp>
      <p:sp>
        <p:nvSpPr>
          <p:cNvPr id="40" name="Shape 37"/>
          <p:cNvSpPr/>
          <p:nvPr/>
        </p:nvSpPr>
        <p:spPr>
          <a:xfrm>
            <a:off x="7269480" y="2286000"/>
            <a:ext cx="4370832" cy="3703320"/>
          </a:xfrm>
          <a:prstGeom prst="roundRect">
            <a:avLst>
              <a:gd name="adj" fmla="val 2222"/>
            </a:avLst>
          </a:prstGeom>
          <a:solidFill>
            <a:srgbClr val="F2FAF9"/>
          </a:solidFill>
          <a:ln/>
          <a:effectLst>
            <a:outerShdw sx="100000" sy="100000" kx="0" ky="0" algn="bl" rotWithShape="0" blurRad="76200" dist="25400" dir="5400000">
              <a:srgbClr val="0F3B3A">
                <a:alpha val="18000"/>
              </a:srgbClr>
            </a:outerShdw>
          </a:effectLst>
        </p:spPr>
      </p:sp>
      <p:sp>
        <p:nvSpPr>
          <p:cNvPr id="41" name="Shape 38"/>
          <p:cNvSpPr/>
          <p:nvPr/>
        </p:nvSpPr>
        <p:spPr>
          <a:xfrm>
            <a:off x="7470648" y="2487168"/>
            <a:ext cx="502920" cy="502920"/>
          </a:xfrm>
          <a:prstGeom prst="ellipse">
            <a:avLst/>
          </a:prstGeom>
          <a:solidFill>
            <a:srgbClr val="02C39A"/>
          </a:solidFill>
          <a:ln/>
        </p:spPr>
      </p:sp>
      <p:pic>
        <p:nvPicPr>
          <p:cNvPr id="42" name="Image 1" descr="preencoded.png">    </p:cNvPr>
          <p:cNvPicPr>
            <a:picLocks noChangeAspect="1"/>
          </p:cNvPicPr>
          <p:nvPr/>
        </p:nvPicPr>
        <p:blipFill>
          <a:blip r:embed="rId2"/>
          <a:stretch>
            <a:fillRect/>
          </a:stretch>
        </p:blipFill>
        <p:spPr>
          <a:xfrm>
            <a:off x="7536028" y="2552548"/>
            <a:ext cx="372161" cy="372161"/>
          </a:xfrm>
          <a:prstGeom prst="rect">
            <a:avLst/>
          </a:prstGeom>
        </p:spPr>
      </p:pic>
      <p:sp>
        <p:nvSpPr>
          <p:cNvPr id="43" name="Text 39"/>
          <p:cNvSpPr/>
          <p:nvPr/>
        </p:nvSpPr>
        <p:spPr>
          <a:xfrm>
            <a:off x="8119872" y="2459736"/>
            <a:ext cx="331927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Аналогия: первая страница поиска</a:t>
            </a:r>
            <a:endParaRPr lang="en-US" sz="1400" dirty="0"/>
          </a:p>
        </p:txBody>
      </p:sp>
      <p:sp>
        <p:nvSpPr>
          <p:cNvPr id="44" name="Text 40"/>
          <p:cNvSpPr/>
          <p:nvPr/>
        </p:nvSpPr>
        <p:spPr>
          <a:xfrm>
            <a:off x="7470648" y="3081528"/>
            <a:ext cx="3968496" cy="270662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Как в обычном поисковике: вы видите первые 5–10 ссылок, а не все миллионы страниц, где встречается ваш запрос. Модели точно так же не имеет смысла показывать все более-менее похожие чанки — лишний, менее релевантный контекст только «размывает» внимание модели и увеличивает шанс, что она зацепится не за тот фрагмент.</a:t>
            </a:r>
            <a:endParaRPr lang="en-US" sz="1200" dirty="0"/>
          </a:p>
        </p:txBody>
      </p:sp>
      <p:sp>
        <p:nvSpPr>
          <p:cNvPr id="45" name="Text 41"/>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Поиск</a:t>
            </a:r>
            <a:endParaRPr lang="en-US" sz="1000" dirty="0"/>
          </a:p>
        </p:txBody>
      </p:sp>
      <p:sp>
        <p:nvSpPr>
          <p:cNvPr id="46" name="Text 42"/>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14 / 27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УТОЧНЕНИЕ (ШАГ 6)</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Реранкинг: второй, более точный проход</a:t>
            </a:r>
            <a:endParaRPr lang="en-US" sz="2400" dirty="0"/>
          </a:p>
        </p:txBody>
      </p:sp>
      <p:sp>
        <p:nvSpPr>
          <p:cNvPr id="4" name="Shape 2"/>
          <p:cNvSpPr/>
          <p:nvPr/>
        </p:nvSpPr>
        <p:spPr>
          <a:xfrm>
            <a:off x="548640" y="1188720"/>
            <a:ext cx="1965960" cy="329184"/>
          </a:xfrm>
          <a:prstGeom prst="roundRect">
            <a:avLst>
              <a:gd name="adj" fmla="val 50000"/>
            </a:avLst>
          </a:prstGeom>
          <a:solidFill>
            <a:srgbClr val="028090"/>
          </a:solidFill>
          <a:ln/>
        </p:spPr>
      </p:sp>
      <p:sp>
        <p:nvSpPr>
          <p:cNvPr id="5" name="Text 3"/>
          <p:cNvSpPr/>
          <p:nvPr/>
        </p:nvSpPr>
        <p:spPr>
          <a:xfrm>
            <a:off x="548640" y="1188720"/>
            <a:ext cx="19659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6 · РЕРАНКИНГ</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21792"/>
          </a:xfrm>
          <a:prstGeom prst="rect">
            <a:avLst/>
          </a:prstGeom>
          <a:noFill/>
          <a:ln/>
        </p:spPr>
        <p:txBody>
          <a:bodyPr wrap="square" lIns="0" tIns="0" rIns="0" bIns="0" rtlCol="0" anchor="ctr"/>
          <a:lstStyle/>
          <a:p>
            <a:pPr indent="0" marL="0">
              <a:lnSpc>
                <a:spcPct val="118000"/>
              </a:lnSpc>
              <a:buNone/>
            </a:pPr>
            <a:r>
              <a:rPr lang="en-US" sz="1350" dirty="0">
                <a:solidFill>
                  <a:srgbClr val="17282A"/>
                </a:solidFill>
                <a:latin typeface="Calibri" pitchFamily="34" charset="0"/>
                <a:ea typeface="Calibri" pitchFamily="34" charset="-122"/>
                <a:cs typeface="Calibri" pitchFamily="34" charset="-120"/>
              </a:rPr>
              <a:t>top-K кандидатов проходят второй, отдельный проход — реранкинг: более точная, но и более медленная модель заново оценивает пару «вопрос + чанк» и уточняет порядок.</a:t>
            </a:r>
            <a:endParaRPr lang="en-US" sz="1350" dirty="0"/>
          </a:p>
        </p:txBody>
      </p:sp>
      <p:sp>
        <p:nvSpPr>
          <p:cNvPr id="9" name="Shape 6"/>
          <p:cNvSpPr/>
          <p:nvPr/>
        </p:nvSpPr>
        <p:spPr>
          <a:xfrm>
            <a:off x="548640" y="2377440"/>
            <a:ext cx="3429000" cy="1417320"/>
          </a:xfrm>
          <a:prstGeom prst="roundRect">
            <a:avLst>
              <a:gd name="adj" fmla="val 5806"/>
            </a:avLst>
          </a:prstGeom>
          <a:solidFill>
            <a:srgbClr val="F2FAF9"/>
          </a:solidFill>
          <a:ln/>
          <a:effectLst>
            <a:outerShdw sx="100000" sy="100000" kx="0" ky="0" algn="bl" rotWithShape="0" blurRad="76200" dist="25400" dir="5400000">
              <a:srgbClr val="0F3B3A">
                <a:alpha val="18000"/>
              </a:srgbClr>
            </a:outerShdw>
          </a:effectLst>
        </p:spPr>
      </p:sp>
      <p:sp>
        <p:nvSpPr>
          <p:cNvPr id="10" name="Shape 7"/>
          <p:cNvSpPr/>
          <p:nvPr/>
        </p:nvSpPr>
        <p:spPr>
          <a:xfrm>
            <a:off x="749808" y="2578608"/>
            <a:ext cx="502920" cy="502920"/>
          </a:xfrm>
          <a:prstGeom prst="ellipse">
            <a:avLst/>
          </a:prstGeom>
          <a:solidFill>
            <a:srgbClr val="5C7A7C"/>
          </a:solidFill>
          <a:ln/>
        </p:spPr>
      </p:sp>
      <p:pic>
        <p:nvPicPr>
          <p:cNvPr id="11" name="Image 1" descr="preencoded.png">    </p:cNvPr>
          <p:cNvPicPr>
            <a:picLocks noChangeAspect="1"/>
          </p:cNvPicPr>
          <p:nvPr/>
        </p:nvPicPr>
        <p:blipFill>
          <a:blip r:embed="rId2"/>
          <a:stretch>
            <a:fillRect/>
          </a:stretch>
        </p:blipFill>
        <p:spPr>
          <a:xfrm>
            <a:off x="815188" y="2643988"/>
            <a:ext cx="372161" cy="372161"/>
          </a:xfrm>
          <a:prstGeom prst="rect">
            <a:avLst/>
          </a:prstGeom>
        </p:spPr>
      </p:pic>
      <p:sp>
        <p:nvSpPr>
          <p:cNvPr id="12" name="Text 8"/>
          <p:cNvSpPr/>
          <p:nvPr/>
        </p:nvSpPr>
        <p:spPr>
          <a:xfrm>
            <a:off x="1399032" y="2551176"/>
            <a:ext cx="2377440"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Этап 1</a:t>
            </a:r>
            <a:endParaRPr lang="en-US" sz="1350" dirty="0"/>
          </a:p>
        </p:txBody>
      </p:sp>
      <p:sp>
        <p:nvSpPr>
          <p:cNvPr id="13" name="Text 9"/>
          <p:cNvSpPr/>
          <p:nvPr/>
        </p:nvSpPr>
        <p:spPr>
          <a:xfrm>
            <a:off x="749808" y="3172968"/>
            <a:ext cx="3026664" cy="42062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Гибридный поиск по всей базе: быстро, но грубее по точности</a:t>
            </a:r>
            <a:endParaRPr lang="en-US" sz="1150" dirty="0"/>
          </a:p>
        </p:txBody>
      </p:sp>
      <p:sp>
        <p:nvSpPr>
          <p:cNvPr id="14" name="Shape 10"/>
          <p:cNvSpPr/>
          <p:nvPr/>
        </p:nvSpPr>
        <p:spPr>
          <a:xfrm>
            <a:off x="4041648" y="3081528"/>
            <a:ext cx="329184" cy="9144"/>
          </a:xfrm>
          <a:prstGeom prst="line">
            <a:avLst/>
          </a:prstGeom>
          <a:noFill/>
          <a:ln w="31750">
            <a:solidFill>
              <a:srgbClr val="028090"/>
            </a:solidFill>
            <a:prstDash val="solid"/>
            <a:tailEnd type="triangle"/>
          </a:ln>
        </p:spPr>
      </p:sp>
      <p:sp>
        <p:nvSpPr>
          <p:cNvPr id="15" name="Shape 11"/>
          <p:cNvSpPr/>
          <p:nvPr/>
        </p:nvSpPr>
        <p:spPr>
          <a:xfrm>
            <a:off x="4434840" y="2377440"/>
            <a:ext cx="3429000" cy="1417320"/>
          </a:xfrm>
          <a:prstGeom prst="roundRect">
            <a:avLst>
              <a:gd name="adj" fmla="val 5806"/>
            </a:avLst>
          </a:prstGeom>
          <a:solidFill>
            <a:srgbClr val="F2FAF9"/>
          </a:solidFill>
          <a:ln/>
          <a:effectLst>
            <a:outerShdw sx="100000" sy="100000" kx="0" ky="0" algn="bl" rotWithShape="0" blurRad="76200" dist="25400" dir="5400000">
              <a:srgbClr val="0F3B3A">
                <a:alpha val="18000"/>
              </a:srgbClr>
            </a:outerShdw>
          </a:effectLst>
        </p:spPr>
      </p:sp>
      <p:sp>
        <p:nvSpPr>
          <p:cNvPr id="16" name="Shape 12"/>
          <p:cNvSpPr/>
          <p:nvPr/>
        </p:nvSpPr>
        <p:spPr>
          <a:xfrm>
            <a:off x="4636008" y="2578608"/>
            <a:ext cx="502920" cy="502920"/>
          </a:xfrm>
          <a:prstGeom prst="ellipse">
            <a:avLst/>
          </a:prstGeom>
          <a:solidFill>
            <a:srgbClr val="028090"/>
          </a:solidFill>
          <a:ln/>
        </p:spPr>
      </p:sp>
      <p:pic>
        <p:nvPicPr>
          <p:cNvPr id="17" name="Image 2" descr="preencoded.png">    </p:cNvPr>
          <p:cNvPicPr>
            <a:picLocks noChangeAspect="1"/>
          </p:cNvPicPr>
          <p:nvPr/>
        </p:nvPicPr>
        <p:blipFill>
          <a:blip r:embed="rId3"/>
          <a:stretch>
            <a:fillRect/>
          </a:stretch>
        </p:blipFill>
        <p:spPr>
          <a:xfrm>
            <a:off x="4701388" y="2643988"/>
            <a:ext cx="372161" cy="372161"/>
          </a:xfrm>
          <a:prstGeom prst="rect">
            <a:avLst/>
          </a:prstGeom>
        </p:spPr>
      </p:pic>
      <p:sp>
        <p:nvSpPr>
          <p:cNvPr id="18" name="Text 13"/>
          <p:cNvSpPr/>
          <p:nvPr/>
        </p:nvSpPr>
        <p:spPr>
          <a:xfrm>
            <a:off x="5285232" y="2551176"/>
            <a:ext cx="2377440"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top-K ≈ 5–50</a:t>
            </a:r>
            <a:endParaRPr lang="en-US" sz="1350" dirty="0"/>
          </a:p>
        </p:txBody>
      </p:sp>
      <p:sp>
        <p:nvSpPr>
          <p:cNvPr id="19" name="Text 14"/>
          <p:cNvSpPr/>
          <p:nvPr/>
        </p:nvSpPr>
        <p:spPr>
          <a:xfrm>
            <a:off x="4636008" y="3172968"/>
            <a:ext cx="3026664" cy="42062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Кандидаты, прошедшие первичный отбор</a:t>
            </a:r>
            <a:endParaRPr lang="en-US" sz="1150" dirty="0"/>
          </a:p>
        </p:txBody>
      </p:sp>
      <p:sp>
        <p:nvSpPr>
          <p:cNvPr id="20" name="Shape 15"/>
          <p:cNvSpPr/>
          <p:nvPr/>
        </p:nvSpPr>
        <p:spPr>
          <a:xfrm>
            <a:off x="7927848" y="3081528"/>
            <a:ext cx="329184" cy="9144"/>
          </a:xfrm>
          <a:prstGeom prst="line">
            <a:avLst/>
          </a:prstGeom>
          <a:noFill/>
          <a:ln w="31750">
            <a:solidFill>
              <a:srgbClr val="028090"/>
            </a:solidFill>
            <a:prstDash val="solid"/>
            <a:tailEnd type="triangle"/>
          </a:ln>
        </p:spPr>
      </p:sp>
      <p:sp>
        <p:nvSpPr>
          <p:cNvPr id="21" name="Shape 16"/>
          <p:cNvSpPr/>
          <p:nvPr/>
        </p:nvSpPr>
        <p:spPr>
          <a:xfrm>
            <a:off x="8321040" y="2377440"/>
            <a:ext cx="3319272" cy="1417320"/>
          </a:xfrm>
          <a:prstGeom prst="roundRect">
            <a:avLst>
              <a:gd name="adj" fmla="val 5806"/>
            </a:avLst>
          </a:prstGeom>
          <a:solidFill>
            <a:srgbClr val="F2FAF9"/>
          </a:solidFill>
          <a:ln/>
          <a:effectLst>
            <a:outerShdw sx="100000" sy="100000" kx="0" ky="0" algn="bl" rotWithShape="0" blurRad="76200" dist="25400" dir="5400000">
              <a:srgbClr val="0F3B3A">
                <a:alpha val="18000"/>
              </a:srgbClr>
            </a:outerShdw>
          </a:effectLst>
        </p:spPr>
      </p:sp>
      <p:sp>
        <p:nvSpPr>
          <p:cNvPr id="22" name="Shape 17"/>
          <p:cNvSpPr/>
          <p:nvPr/>
        </p:nvSpPr>
        <p:spPr>
          <a:xfrm>
            <a:off x="8522208" y="2578608"/>
            <a:ext cx="502920" cy="502920"/>
          </a:xfrm>
          <a:prstGeom prst="ellipse">
            <a:avLst/>
          </a:prstGeom>
          <a:solidFill>
            <a:srgbClr val="02C39A"/>
          </a:solidFill>
          <a:ln/>
        </p:spPr>
      </p:sp>
      <p:pic>
        <p:nvPicPr>
          <p:cNvPr id="23" name="Image 3" descr="preencoded.png">    </p:cNvPr>
          <p:cNvPicPr>
            <a:picLocks noChangeAspect="1"/>
          </p:cNvPicPr>
          <p:nvPr/>
        </p:nvPicPr>
        <p:blipFill>
          <a:blip r:embed="rId4"/>
          <a:stretch>
            <a:fillRect/>
          </a:stretch>
        </p:blipFill>
        <p:spPr>
          <a:xfrm>
            <a:off x="8587588" y="2643988"/>
            <a:ext cx="372161" cy="372161"/>
          </a:xfrm>
          <a:prstGeom prst="rect">
            <a:avLst/>
          </a:prstGeom>
        </p:spPr>
      </p:pic>
      <p:sp>
        <p:nvSpPr>
          <p:cNvPr id="24" name="Text 18"/>
          <p:cNvSpPr/>
          <p:nvPr/>
        </p:nvSpPr>
        <p:spPr>
          <a:xfrm>
            <a:off x="9171432" y="2551176"/>
            <a:ext cx="2267712"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Этап 2 · Реранкер</a:t>
            </a:r>
            <a:endParaRPr lang="en-US" sz="1350" dirty="0"/>
          </a:p>
        </p:txBody>
      </p:sp>
      <p:sp>
        <p:nvSpPr>
          <p:cNvPr id="25" name="Text 19"/>
          <p:cNvSpPr/>
          <p:nvPr/>
        </p:nvSpPr>
        <p:spPr>
          <a:xfrm>
            <a:off x="8522208" y="3172968"/>
            <a:ext cx="2916936" cy="42062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Медленнее, но точнее пересчитывает релевантность именно этих кандидатов</a:t>
            </a:r>
            <a:endParaRPr lang="en-US" sz="1150" dirty="0"/>
          </a:p>
        </p:txBody>
      </p:sp>
      <p:sp>
        <p:nvSpPr>
          <p:cNvPr id="26" name="Shape 20"/>
          <p:cNvSpPr/>
          <p:nvPr/>
        </p:nvSpPr>
        <p:spPr>
          <a:xfrm>
            <a:off x="548640" y="3977640"/>
            <a:ext cx="11091672" cy="1874520"/>
          </a:xfrm>
          <a:prstGeom prst="roundRect">
            <a:avLst>
              <a:gd name="adj" fmla="val 4390"/>
            </a:avLst>
          </a:prstGeom>
          <a:solidFill>
            <a:srgbClr val="F2FAF9"/>
          </a:solidFill>
          <a:ln/>
          <a:effectLst>
            <a:outerShdw sx="100000" sy="100000" kx="0" ky="0" algn="bl" rotWithShape="0" blurRad="76200" dist="25400" dir="5400000">
              <a:srgbClr val="0F3B3A">
                <a:alpha val="18000"/>
              </a:srgbClr>
            </a:outerShdw>
          </a:effectLst>
        </p:spPr>
      </p:sp>
      <p:sp>
        <p:nvSpPr>
          <p:cNvPr id="27" name="Shape 21"/>
          <p:cNvSpPr/>
          <p:nvPr/>
        </p:nvSpPr>
        <p:spPr>
          <a:xfrm>
            <a:off x="749808" y="4178808"/>
            <a:ext cx="502920" cy="502920"/>
          </a:xfrm>
          <a:prstGeom prst="ellipse">
            <a:avLst/>
          </a:prstGeom>
          <a:solidFill>
            <a:srgbClr val="00A896"/>
          </a:solidFill>
          <a:ln/>
        </p:spPr>
      </p:sp>
      <p:pic>
        <p:nvPicPr>
          <p:cNvPr id="28" name="Image 4" descr="preencoded.png">    </p:cNvPr>
          <p:cNvPicPr>
            <a:picLocks noChangeAspect="1"/>
          </p:cNvPicPr>
          <p:nvPr/>
        </p:nvPicPr>
        <p:blipFill>
          <a:blip r:embed="rId5"/>
          <a:stretch>
            <a:fillRect/>
          </a:stretch>
        </p:blipFill>
        <p:spPr>
          <a:xfrm>
            <a:off x="815188" y="4244188"/>
            <a:ext cx="372161" cy="372161"/>
          </a:xfrm>
          <a:prstGeom prst="rect">
            <a:avLst/>
          </a:prstGeom>
        </p:spPr>
      </p:pic>
      <p:sp>
        <p:nvSpPr>
          <p:cNvPr id="29" name="Text 22"/>
          <p:cNvSpPr/>
          <p:nvPr/>
        </p:nvSpPr>
        <p:spPr>
          <a:xfrm>
            <a:off x="1399032" y="4151376"/>
            <a:ext cx="1004011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Почему нельзя сразу применить точную модель ко всей базе</a:t>
            </a:r>
            <a:endParaRPr lang="en-US" sz="1400" dirty="0"/>
          </a:p>
        </p:txBody>
      </p:sp>
      <p:sp>
        <p:nvSpPr>
          <p:cNvPr id="30" name="Text 23"/>
          <p:cNvSpPr/>
          <p:nvPr/>
        </p:nvSpPr>
        <p:spPr>
          <a:xfrm>
            <a:off x="749808" y="4773168"/>
            <a:ext cx="10689336" cy="87782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Реранкер — модель типа cross-encoder (например, cross-encoder/mmarco-mMiniLMv2-L12-H384-v1 в актуальной конфигурации платформы): она смотрит на вопрос и чанк одновременно и потому точнее, но и намного медленнее обычного векторного поиска. Прогнать её по всей базе документов — слишком дорого по времени; зато прогнать по уже отобранным top-K кандидатам — быстро и заметно повышает итоговую точность порядка выдачи.</a:t>
            </a:r>
            <a:endParaRPr lang="en-US" sz="1200" dirty="0"/>
          </a:p>
        </p:txBody>
      </p:sp>
      <p:sp>
        <p:nvSpPr>
          <p:cNvPr id="31" name="Text 2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Уточнение</a:t>
            </a:r>
            <a:endParaRPr lang="en-US" sz="1000" dirty="0"/>
          </a:p>
        </p:txBody>
      </p:sp>
      <p:sp>
        <p:nvSpPr>
          <p:cNvPr id="32" name="Text 25"/>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15 / 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ВНУТРИ ПОИСКА · ПРОВЕРКА (ШАГ 7)</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LLM-судья: перепроверка спорных случаев</a:t>
            </a:r>
            <a:endParaRPr lang="en-US" sz="2400" dirty="0"/>
          </a:p>
        </p:txBody>
      </p:sp>
      <p:sp>
        <p:nvSpPr>
          <p:cNvPr id="4" name="Shape 2"/>
          <p:cNvSpPr/>
          <p:nvPr/>
        </p:nvSpPr>
        <p:spPr>
          <a:xfrm>
            <a:off x="548640" y="1188720"/>
            <a:ext cx="1965960" cy="329184"/>
          </a:xfrm>
          <a:prstGeom prst="roundRect">
            <a:avLst>
              <a:gd name="adj" fmla="val 50000"/>
            </a:avLst>
          </a:prstGeom>
          <a:solidFill>
            <a:srgbClr val="028090"/>
          </a:solidFill>
          <a:ln/>
        </p:spPr>
      </p:sp>
      <p:sp>
        <p:nvSpPr>
          <p:cNvPr id="5" name="Text 3"/>
          <p:cNvSpPr/>
          <p:nvPr/>
        </p:nvSpPr>
        <p:spPr>
          <a:xfrm>
            <a:off x="548640" y="1188720"/>
            <a:ext cx="19659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ШАГ 7 · LLM-СУДЬЯ</a:t>
            </a:r>
            <a:endParaRPr lang="en-US" sz="1100" dirty="0"/>
          </a:p>
        </p:txBody>
      </p:sp>
      <p:sp>
        <p:nvSpPr>
          <p:cNvPr id="6" name="Shape 4"/>
          <p:cNvSpPr/>
          <p:nvPr/>
        </p:nvSpPr>
        <p:spPr>
          <a:xfrm>
            <a:off x="10515600" y="365760"/>
            <a:ext cx="914400" cy="91440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8" name="Text 5"/>
          <p:cNvSpPr/>
          <p:nvPr/>
        </p:nvSpPr>
        <p:spPr>
          <a:xfrm>
            <a:off x="548640" y="1627632"/>
            <a:ext cx="11064240" cy="685800"/>
          </a:xfrm>
          <a:prstGeom prst="rect">
            <a:avLst/>
          </a:prstGeom>
          <a:noFill/>
          <a:ln/>
        </p:spPr>
        <p:txBody>
          <a:bodyPr wrap="square" lIns="0" tIns="0" rIns="0" bIns="0" rtlCol="0" anchor="ctr"/>
          <a:lstStyle/>
          <a:p>
            <a:pPr indent="0" marL="0">
              <a:lnSpc>
                <a:spcPct val="118000"/>
              </a:lnSpc>
              <a:buNone/>
            </a:pPr>
            <a:r>
              <a:rPr lang="en-US" sz="1300" dirty="0">
                <a:solidFill>
                  <a:srgbClr val="17282A"/>
                </a:solidFill>
                <a:latin typeface="Calibri" pitchFamily="34" charset="0"/>
                <a:ea typeface="Calibri" pitchFamily="34" charset="-122"/>
                <a:cs typeface="Calibri" pitchFamily="34" charset="-120"/>
              </a:rPr>
              <a:t>Не все случаи однозначны: иногда оценка уверенности найденного фрагмента попадает в «серую зону» — не явный провал, но и не явное попадание. Для таких случаев можно (опционально) подключить ещё одну проверку — отдельную LLM в роли судьи.</a:t>
            </a:r>
            <a:endParaRPr lang="en-US" sz="1300" dirty="0"/>
          </a:p>
        </p:txBody>
      </p:sp>
      <p:sp>
        <p:nvSpPr>
          <p:cNvPr id="9" name="Shape 6"/>
          <p:cNvSpPr/>
          <p:nvPr/>
        </p:nvSpPr>
        <p:spPr>
          <a:xfrm>
            <a:off x="548640" y="2468880"/>
            <a:ext cx="3882085" cy="822960"/>
          </a:xfrm>
          <a:prstGeom prst="roundRect">
            <a:avLst/>
          </a:prstGeom>
          <a:solidFill>
            <a:srgbClr val="D9534F"/>
          </a:solidFill>
          <a:ln/>
        </p:spPr>
      </p:sp>
      <p:sp>
        <p:nvSpPr>
          <p:cNvPr id="10" name="Shape 7"/>
          <p:cNvSpPr/>
          <p:nvPr/>
        </p:nvSpPr>
        <p:spPr>
          <a:xfrm>
            <a:off x="4430725" y="2468880"/>
            <a:ext cx="2772918" cy="822960"/>
          </a:xfrm>
          <a:prstGeom prst="rect">
            <a:avLst/>
          </a:prstGeom>
          <a:solidFill>
            <a:srgbClr val="E8A33D"/>
          </a:solidFill>
          <a:ln/>
        </p:spPr>
      </p:sp>
      <p:sp>
        <p:nvSpPr>
          <p:cNvPr id="11" name="Shape 8"/>
          <p:cNvSpPr/>
          <p:nvPr/>
        </p:nvSpPr>
        <p:spPr>
          <a:xfrm>
            <a:off x="7203643" y="2468880"/>
            <a:ext cx="4436669" cy="822960"/>
          </a:xfrm>
          <a:prstGeom prst="roundRect">
            <a:avLst/>
          </a:prstGeom>
          <a:solidFill>
            <a:srgbClr val="02C39A"/>
          </a:solidFill>
          <a:ln/>
        </p:spPr>
      </p:sp>
      <p:sp>
        <p:nvSpPr>
          <p:cNvPr id="12" name="Text 9"/>
          <p:cNvSpPr/>
          <p:nvPr/>
        </p:nvSpPr>
        <p:spPr>
          <a:xfrm>
            <a:off x="640080" y="2468880"/>
            <a:ext cx="3699205" cy="822960"/>
          </a:xfrm>
          <a:prstGeom prst="rect">
            <a:avLst/>
          </a:prstGeom>
          <a:noFill/>
          <a:ln/>
        </p:spPr>
        <p:txBody>
          <a:bodyPr wrap="square" lIns="0" tIns="0" rIns="0" bIns="0" rtlCol="0" anchor="ctr"/>
          <a:lstStyle/>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0 — 0.35</a:t>
            </a:r>
            <a:endParaRPr lang="en-US" sz="1050" dirty="0"/>
          </a:p>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«не нашлось» → реплан (повторный поиск в другом источнике)</a:t>
            </a:r>
            <a:endParaRPr lang="en-US" sz="1050" dirty="0"/>
          </a:p>
        </p:txBody>
      </p:sp>
      <p:sp>
        <p:nvSpPr>
          <p:cNvPr id="13" name="Text 10"/>
          <p:cNvSpPr/>
          <p:nvPr/>
        </p:nvSpPr>
        <p:spPr>
          <a:xfrm>
            <a:off x="4522165" y="2468880"/>
            <a:ext cx="2590038" cy="822960"/>
          </a:xfrm>
          <a:prstGeom prst="rect">
            <a:avLst/>
          </a:prstGeom>
          <a:noFill/>
          <a:ln/>
        </p:spPr>
        <p:txBody>
          <a:bodyPr wrap="square" lIns="0" tIns="0" rIns="0" bIns="0" rtlCol="0" anchor="ctr"/>
          <a:lstStyle/>
          <a:p>
            <a:pPr indent="0" marL="0">
              <a:lnSpc>
                <a:spcPct val="105000"/>
              </a:lnSpc>
              <a:buNone/>
            </a:pPr>
            <a:r>
              <a:rPr lang="en-US" sz="1050" b="1" dirty="0">
                <a:solidFill>
                  <a:srgbClr val="013A40"/>
                </a:solidFill>
                <a:latin typeface="Calibri" pitchFamily="34" charset="0"/>
                <a:ea typeface="Calibri" pitchFamily="34" charset="-122"/>
                <a:cs typeface="Calibri" pitchFamily="34" charset="-120"/>
              </a:rPr>
              <a:t>0.35 — 0.60</a:t>
            </a:r>
            <a:endParaRPr lang="en-US" sz="1050" dirty="0"/>
          </a:p>
          <a:p>
            <a:pPr indent="0" marL="0">
              <a:lnSpc>
                <a:spcPct val="105000"/>
              </a:lnSpc>
              <a:buNone/>
            </a:pPr>
            <a:r>
              <a:rPr lang="en-US" sz="1050" b="1" dirty="0">
                <a:solidFill>
                  <a:srgbClr val="013A40"/>
                </a:solidFill>
                <a:latin typeface="Calibri" pitchFamily="34" charset="0"/>
                <a:ea typeface="Calibri" pitchFamily="34" charset="-122"/>
                <a:cs typeface="Calibri" pitchFamily="34" charset="-120"/>
              </a:rPr>
              <a:t>«серая зона» → LLM-судья</a:t>
            </a:r>
            <a:endParaRPr lang="en-US" sz="1050" dirty="0"/>
          </a:p>
        </p:txBody>
      </p:sp>
      <p:sp>
        <p:nvSpPr>
          <p:cNvPr id="14" name="Text 11"/>
          <p:cNvSpPr/>
          <p:nvPr/>
        </p:nvSpPr>
        <p:spPr>
          <a:xfrm>
            <a:off x="7295083" y="2468880"/>
            <a:ext cx="4253789" cy="822960"/>
          </a:xfrm>
          <a:prstGeom prst="rect">
            <a:avLst/>
          </a:prstGeom>
          <a:noFill/>
          <a:ln/>
        </p:spPr>
        <p:txBody>
          <a:bodyPr wrap="square" lIns="0" tIns="0" rIns="0" bIns="0" rtlCol="0" anchor="ctr"/>
          <a:lstStyle/>
          <a:p>
            <a:pPr indent="0" marL="0">
              <a:lnSpc>
                <a:spcPct val="105000"/>
              </a:lnSpc>
              <a:buNone/>
            </a:pPr>
            <a:r>
              <a:rPr lang="en-US" sz="1050" b="1" dirty="0">
                <a:solidFill>
                  <a:srgbClr val="013A40"/>
                </a:solidFill>
                <a:latin typeface="Calibri" pitchFamily="34" charset="0"/>
                <a:ea typeface="Calibri" pitchFamily="34" charset="-122"/>
                <a:cs typeface="Calibri" pitchFamily="34" charset="-120"/>
              </a:rPr>
              <a:t>0.60 — 1.0</a:t>
            </a:r>
            <a:endParaRPr lang="en-US" sz="1050" dirty="0"/>
          </a:p>
          <a:p>
            <a:pPr indent="0" marL="0">
              <a:lnSpc>
                <a:spcPct val="105000"/>
              </a:lnSpc>
              <a:buNone/>
            </a:pPr>
            <a:r>
              <a:rPr lang="en-US" sz="1050" b="1" dirty="0">
                <a:solidFill>
                  <a:srgbClr val="013A40"/>
                </a:solidFill>
                <a:latin typeface="Calibri" pitchFamily="34" charset="0"/>
                <a:ea typeface="Calibri" pitchFamily="34" charset="-122"/>
                <a:cs typeface="Calibri" pitchFamily="34" charset="-120"/>
              </a:rPr>
              <a:t>«явно нашлось» → используется как есть</a:t>
            </a:r>
            <a:endParaRPr lang="en-US" sz="1050" dirty="0"/>
          </a:p>
        </p:txBody>
      </p:sp>
      <p:sp>
        <p:nvSpPr>
          <p:cNvPr id="15" name="Shape 12"/>
          <p:cNvSpPr/>
          <p:nvPr/>
        </p:nvSpPr>
        <p:spPr>
          <a:xfrm>
            <a:off x="548640" y="3611880"/>
            <a:ext cx="5440680" cy="2240280"/>
          </a:xfrm>
          <a:prstGeom prst="roundRect">
            <a:avLst>
              <a:gd name="adj" fmla="val 3673"/>
            </a:avLst>
          </a:prstGeom>
          <a:solidFill>
            <a:srgbClr val="F2FAF9"/>
          </a:solidFill>
          <a:ln/>
          <a:effectLst>
            <a:outerShdw sx="100000" sy="100000" kx="0" ky="0" algn="bl" rotWithShape="0" blurRad="76200" dist="25400" dir="5400000">
              <a:srgbClr val="0F3B3A">
                <a:alpha val="18000"/>
              </a:srgbClr>
            </a:outerShdw>
          </a:effectLst>
        </p:spPr>
      </p:sp>
      <p:sp>
        <p:nvSpPr>
          <p:cNvPr id="16" name="Shape 13"/>
          <p:cNvSpPr/>
          <p:nvPr/>
        </p:nvSpPr>
        <p:spPr>
          <a:xfrm>
            <a:off x="749808" y="3813048"/>
            <a:ext cx="502920" cy="502920"/>
          </a:xfrm>
          <a:prstGeom prst="ellipse">
            <a:avLst/>
          </a:prstGeom>
          <a:solidFill>
            <a:srgbClr val="028090"/>
          </a:solidFill>
          <a:ln/>
        </p:spPr>
      </p:sp>
      <p:pic>
        <p:nvPicPr>
          <p:cNvPr id="17" name="Image 1" descr="preencoded.png">    </p:cNvPr>
          <p:cNvPicPr>
            <a:picLocks noChangeAspect="1"/>
          </p:cNvPicPr>
          <p:nvPr/>
        </p:nvPicPr>
        <p:blipFill>
          <a:blip r:embed="rId2"/>
          <a:stretch>
            <a:fillRect/>
          </a:stretch>
        </p:blipFill>
        <p:spPr>
          <a:xfrm>
            <a:off x="815188" y="3878428"/>
            <a:ext cx="372161" cy="372161"/>
          </a:xfrm>
          <a:prstGeom prst="rect">
            <a:avLst/>
          </a:prstGeom>
        </p:spPr>
      </p:pic>
      <p:sp>
        <p:nvSpPr>
          <p:cNvPr id="18" name="Text 14"/>
          <p:cNvSpPr/>
          <p:nvPr/>
        </p:nvSpPr>
        <p:spPr>
          <a:xfrm>
            <a:off x="1399032" y="3785616"/>
            <a:ext cx="4389120" cy="502920"/>
          </a:xfrm>
          <a:prstGeom prst="rect">
            <a:avLst/>
          </a:prstGeom>
          <a:noFill/>
          <a:ln/>
        </p:spPr>
        <p:txBody>
          <a:bodyPr wrap="square" lIns="0" tIns="0" rIns="0" bIns="0" rtlCol="0" anchor="ctr"/>
          <a:lstStyle/>
          <a:p>
            <a:pPr algn="l" indent="0" marL="0">
              <a:buNone/>
            </a:pPr>
            <a:r>
              <a:rPr lang="en-US" sz="1450" b="1" dirty="0">
                <a:solidFill>
                  <a:srgbClr val="17282A"/>
                </a:solidFill>
                <a:latin typeface="Cambria" pitchFamily="34" charset="0"/>
                <a:ea typeface="Cambria" pitchFamily="34" charset="-122"/>
                <a:cs typeface="Cambria" pitchFamily="34" charset="-120"/>
              </a:rPr>
              <a:t>Что делает судья</a:t>
            </a:r>
            <a:endParaRPr lang="en-US" sz="1450" dirty="0"/>
          </a:p>
        </p:txBody>
      </p:sp>
      <p:sp>
        <p:nvSpPr>
          <p:cNvPr id="19" name="Text 15"/>
          <p:cNvSpPr/>
          <p:nvPr/>
        </p:nvSpPr>
        <p:spPr>
          <a:xfrm>
            <a:off x="749808" y="4407408"/>
            <a:ext cx="5038344" cy="124358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Отдельный вызов LLM, который получает вопрос и найденный фрагмент и явно проверяет: действительно ли этот фрагмент отвечает на вопрос? Если нет — запускается повторный поиск (реплан), прежде чем система сдастся и ответит «не нашлось».</a:t>
            </a:r>
            <a:endParaRPr lang="en-US" sz="1250" dirty="0"/>
          </a:p>
        </p:txBody>
      </p:sp>
      <p:sp>
        <p:nvSpPr>
          <p:cNvPr id="20" name="Shape 16"/>
          <p:cNvSpPr/>
          <p:nvPr/>
        </p:nvSpPr>
        <p:spPr>
          <a:xfrm>
            <a:off x="6172200" y="3611880"/>
            <a:ext cx="5468112" cy="2240280"/>
          </a:xfrm>
          <a:prstGeom prst="roundRect">
            <a:avLst>
              <a:gd name="adj" fmla="val 3673"/>
            </a:avLst>
          </a:prstGeom>
          <a:solidFill>
            <a:srgbClr val="F2FAF9"/>
          </a:solidFill>
          <a:ln/>
          <a:effectLst>
            <a:outerShdw sx="100000" sy="100000" kx="0" ky="0" algn="bl" rotWithShape="0" blurRad="76200" dist="25400" dir="5400000">
              <a:srgbClr val="0F3B3A">
                <a:alpha val="18000"/>
              </a:srgbClr>
            </a:outerShdw>
          </a:effectLst>
        </p:spPr>
      </p:sp>
      <p:sp>
        <p:nvSpPr>
          <p:cNvPr id="21" name="Shape 17"/>
          <p:cNvSpPr/>
          <p:nvPr/>
        </p:nvSpPr>
        <p:spPr>
          <a:xfrm>
            <a:off x="6373368" y="3813048"/>
            <a:ext cx="502920" cy="502920"/>
          </a:xfrm>
          <a:prstGeom prst="ellipse">
            <a:avLst/>
          </a:prstGeom>
          <a:solidFill>
            <a:srgbClr val="00A896"/>
          </a:solidFill>
          <a:ln/>
        </p:spPr>
      </p:sp>
      <p:pic>
        <p:nvPicPr>
          <p:cNvPr id="22" name="Image 2" descr="preencoded.png">    </p:cNvPr>
          <p:cNvPicPr>
            <a:picLocks noChangeAspect="1"/>
          </p:cNvPicPr>
          <p:nvPr/>
        </p:nvPicPr>
        <p:blipFill>
          <a:blip r:embed="rId3"/>
          <a:stretch>
            <a:fillRect/>
          </a:stretch>
        </p:blipFill>
        <p:spPr>
          <a:xfrm>
            <a:off x="6438748" y="3878428"/>
            <a:ext cx="372161" cy="372161"/>
          </a:xfrm>
          <a:prstGeom prst="rect">
            <a:avLst/>
          </a:prstGeom>
        </p:spPr>
      </p:pic>
      <p:sp>
        <p:nvSpPr>
          <p:cNvPr id="23" name="Text 18"/>
          <p:cNvSpPr/>
          <p:nvPr/>
        </p:nvSpPr>
        <p:spPr>
          <a:xfrm>
            <a:off x="7022592" y="3785616"/>
            <a:ext cx="4416552" cy="502920"/>
          </a:xfrm>
          <a:prstGeom prst="rect">
            <a:avLst/>
          </a:prstGeom>
          <a:noFill/>
          <a:ln/>
        </p:spPr>
        <p:txBody>
          <a:bodyPr wrap="square" lIns="0" tIns="0" rIns="0" bIns="0" rtlCol="0" anchor="ctr"/>
          <a:lstStyle/>
          <a:p>
            <a:pPr algn="l" indent="0" marL="0">
              <a:buNone/>
            </a:pPr>
            <a:r>
              <a:rPr lang="en-US" sz="1450" b="1" dirty="0">
                <a:solidFill>
                  <a:srgbClr val="17282A"/>
                </a:solidFill>
                <a:latin typeface="Cambria" pitchFamily="34" charset="0"/>
                <a:ea typeface="Cambria" pitchFamily="34" charset="-122"/>
                <a:cs typeface="Cambria" pitchFamily="34" charset="-120"/>
              </a:rPr>
              <a:t>Почему это не включено всегда</a:t>
            </a:r>
            <a:endParaRPr lang="en-US" sz="1450" dirty="0"/>
          </a:p>
        </p:txBody>
      </p:sp>
      <p:sp>
        <p:nvSpPr>
          <p:cNvPr id="24" name="Text 19"/>
          <p:cNvSpPr/>
          <p:nvPr/>
        </p:nvSpPr>
        <p:spPr>
          <a:xfrm>
            <a:off x="6373368" y="4407408"/>
            <a:ext cx="5065776" cy="1243584"/>
          </a:xfrm>
          <a:prstGeom prst="rect">
            <a:avLst/>
          </a:prstGeom>
          <a:noFill/>
          <a:ln/>
        </p:spPr>
        <p:txBody>
          <a:bodyPr wrap="square" lIns="0" tIns="0" rIns="0" bIns="0" rtlCol="0" anchor="t"/>
          <a:lstStyle/>
          <a:p>
            <a:pPr algn="l" indent="0" marL="0">
              <a:lnSpc>
                <a:spcPct val="112000"/>
              </a:lnSpc>
              <a:buNone/>
            </a:pPr>
            <a:r>
              <a:rPr lang="en-US" sz="1250" dirty="0">
                <a:solidFill>
                  <a:srgbClr val="55696B"/>
                </a:solidFill>
                <a:latin typeface="Calibri" pitchFamily="34" charset="0"/>
                <a:ea typeface="Calibri" pitchFamily="34" charset="-122"/>
                <a:cs typeface="Calibri" pitchFamily="34" charset="-120"/>
              </a:rPr>
              <a:t>Дополнительный вызов LLM — это время и стоимость. Поэтому судья подключается только к пограничным, спорным случаям («серая зона»), а не к каждому запросу — баланс между качеством и скоростью/стоимостью ответа.</a:t>
            </a:r>
            <a:endParaRPr lang="en-US" sz="1250" dirty="0"/>
          </a:p>
        </p:txBody>
      </p:sp>
      <p:sp>
        <p:nvSpPr>
          <p:cNvPr id="25" name="Text 2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RAG · Проверка</a:t>
            </a:r>
            <a:endParaRPr lang="en-US" sz="1000" dirty="0"/>
          </a:p>
        </p:txBody>
      </p:sp>
      <p:sp>
        <p:nvSpPr>
          <p:cNvPr id="26" name="Text 21"/>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16 / 27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ЗАЩИТА ДАННЫХ · ДОСТУП</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Контроль доступа — до поиска, а не после</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50292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Ещё до того, как что-либо из найденного попадёт в дальнейшую обработку, система проверяет права пользователя на конкретный документ, строку и поле.</a:t>
            </a:r>
            <a:endParaRPr lang="en-US" sz="1400" dirty="0"/>
          </a:p>
        </p:txBody>
      </p:sp>
      <p:sp>
        <p:nvSpPr>
          <p:cNvPr id="7" name="Shape 4"/>
          <p:cNvSpPr/>
          <p:nvPr/>
        </p:nvSpPr>
        <p:spPr>
          <a:xfrm>
            <a:off x="548640" y="1965960"/>
            <a:ext cx="5440680" cy="1965960"/>
          </a:xfrm>
          <a:prstGeom prst="roundRect">
            <a:avLst>
              <a:gd name="adj" fmla="val 4186"/>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167128"/>
            <a:ext cx="502920" cy="502920"/>
          </a:xfrm>
          <a:prstGeom prst="ellipse">
            <a:avLst/>
          </a:prstGeom>
          <a:solidFill>
            <a:srgbClr val="C0504D"/>
          </a:solidFill>
          <a:ln/>
        </p:spPr>
      </p:sp>
      <p:pic>
        <p:nvPicPr>
          <p:cNvPr id="9" name="Image 1" descr="preencoded.png">    </p:cNvPr>
          <p:cNvPicPr>
            <a:picLocks noChangeAspect="1"/>
          </p:cNvPicPr>
          <p:nvPr/>
        </p:nvPicPr>
        <p:blipFill>
          <a:blip r:embed="rId2"/>
          <a:stretch>
            <a:fillRect/>
          </a:stretch>
        </p:blipFill>
        <p:spPr>
          <a:xfrm>
            <a:off x="815188" y="2232508"/>
            <a:ext cx="372161" cy="372161"/>
          </a:xfrm>
          <a:prstGeom prst="rect">
            <a:avLst/>
          </a:prstGeom>
        </p:spPr>
      </p:pic>
      <p:sp>
        <p:nvSpPr>
          <p:cNvPr id="10" name="Text 6"/>
          <p:cNvSpPr/>
          <p:nvPr/>
        </p:nvSpPr>
        <p:spPr>
          <a:xfrm>
            <a:off x="1399032" y="2139696"/>
            <a:ext cx="4389120" cy="502920"/>
          </a:xfrm>
          <a:prstGeom prst="rect">
            <a:avLst/>
          </a:prstGeom>
          <a:noFill/>
          <a:ln/>
        </p:spPr>
        <p:txBody>
          <a:bodyPr wrap="square" lIns="0" tIns="0" rIns="0" bIns="0" rtlCol="0" anchor="ctr"/>
          <a:lstStyle/>
          <a:p>
            <a:pPr algn="l" indent="0" marL="0">
              <a:buNone/>
            </a:pPr>
            <a:r>
              <a:rPr lang="en-US" sz="1450" b="1" dirty="0">
                <a:solidFill>
                  <a:srgbClr val="17282A"/>
                </a:solidFill>
                <a:latin typeface="Cambria" pitchFamily="34" charset="0"/>
                <a:ea typeface="Cambria" pitchFamily="34" charset="-122"/>
                <a:cs typeface="Cambria" pitchFamily="34" charset="-120"/>
              </a:rPr>
              <a:t>Неверный порядок (риск)</a:t>
            </a:r>
            <a:endParaRPr lang="en-US" sz="1450" dirty="0"/>
          </a:p>
        </p:txBody>
      </p:sp>
      <p:sp>
        <p:nvSpPr>
          <p:cNvPr id="11" name="Text 7"/>
          <p:cNvSpPr/>
          <p:nvPr/>
        </p:nvSpPr>
        <p:spPr>
          <a:xfrm>
            <a:off x="749808" y="2761488"/>
            <a:ext cx="5038344" cy="96926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Сначала найти самые релевантные фрагменты по всей базе, потом проверить права — и «обезличенно» показать, что запись вообще существует. Сам факт существования записи уже может быть нарушением доступа.</a:t>
            </a:r>
            <a:endParaRPr lang="en-US" sz="1200" dirty="0"/>
          </a:p>
        </p:txBody>
      </p:sp>
      <p:sp>
        <p:nvSpPr>
          <p:cNvPr id="12" name="Shape 8"/>
          <p:cNvSpPr/>
          <p:nvPr/>
        </p:nvSpPr>
        <p:spPr>
          <a:xfrm>
            <a:off x="6172200" y="1965960"/>
            <a:ext cx="5468112" cy="1965960"/>
          </a:xfrm>
          <a:prstGeom prst="roundRect">
            <a:avLst>
              <a:gd name="adj" fmla="val 4186"/>
            </a:avLst>
          </a:prstGeom>
          <a:solidFill>
            <a:srgbClr val="F2FAF9"/>
          </a:solidFill>
          <a:ln/>
          <a:effectLst>
            <a:outerShdw sx="100000" sy="100000" kx="0" ky="0" algn="bl" rotWithShape="0" blurRad="76200" dist="25400" dir="5400000">
              <a:srgbClr val="0F3B3A">
                <a:alpha val="18000"/>
              </a:srgbClr>
            </a:outerShdw>
          </a:effectLst>
        </p:spPr>
      </p:sp>
      <p:sp>
        <p:nvSpPr>
          <p:cNvPr id="13" name="Shape 9"/>
          <p:cNvSpPr/>
          <p:nvPr/>
        </p:nvSpPr>
        <p:spPr>
          <a:xfrm>
            <a:off x="6373368" y="2167128"/>
            <a:ext cx="502920" cy="502920"/>
          </a:xfrm>
          <a:prstGeom prst="ellipse">
            <a:avLst/>
          </a:prstGeom>
          <a:solidFill>
            <a:srgbClr val="02C39A"/>
          </a:solidFill>
          <a:ln/>
        </p:spPr>
      </p:sp>
      <p:pic>
        <p:nvPicPr>
          <p:cNvPr id="14" name="Image 2" descr="preencoded.png">    </p:cNvPr>
          <p:cNvPicPr>
            <a:picLocks noChangeAspect="1"/>
          </p:cNvPicPr>
          <p:nvPr/>
        </p:nvPicPr>
        <p:blipFill>
          <a:blip r:embed="rId3"/>
          <a:stretch>
            <a:fillRect/>
          </a:stretch>
        </p:blipFill>
        <p:spPr>
          <a:xfrm>
            <a:off x="6438748" y="2232508"/>
            <a:ext cx="372161" cy="372161"/>
          </a:xfrm>
          <a:prstGeom prst="rect">
            <a:avLst/>
          </a:prstGeom>
        </p:spPr>
      </p:pic>
      <p:sp>
        <p:nvSpPr>
          <p:cNvPr id="15" name="Text 10"/>
          <p:cNvSpPr/>
          <p:nvPr/>
        </p:nvSpPr>
        <p:spPr>
          <a:xfrm>
            <a:off x="7022592" y="2139696"/>
            <a:ext cx="4416552" cy="502920"/>
          </a:xfrm>
          <a:prstGeom prst="rect">
            <a:avLst/>
          </a:prstGeom>
          <a:noFill/>
          <a:ln/>
        </p:spPr>
        <p:txBody>
          <a:bodyPr wrap="square" lIns="0" tIns="0" rIns="0" bIns="0" rtlCol="0" anchor="ctr"/>
          <a:lstStyle/>
          <a:p>
            <a:pPr algn="l" indent="0" marL="0">
              <a:buNone/>
            </a:pPr>
            <a:r>
              <a:rPr lang="en-US" sz="1450" b="1" dirty="0">
                <a:solidFill>
                  <a:srgbClr val="17282A"/>
                </a:solidFill>
                <a:latin typeface="Cambria" pitchFamily="34" charset="0"/>
                <a:ea typeface="Cambria" pitchFamily="34" charset="-122"/>
                <a:cs typeface="Cambria" pitchFamily="34" charset="-120"/>
              </a:rPr>
              <a:t>Как устроено в проекте</a:t>
            </a:r>
            <a:endParaRPr lang="en-US" sz="1450" dirty="0"/>
          </a:p>
        </p:txBody>
      </p:sp>
      <p:sp>
        <p:nvSpPr>
          <p:cNvPr id="16" name="Text 11"/>
          <p:cNvSpPr/>
          <p:nvPr/>
        </p:nvSpPr>
        <p:spPr>
          <a:xfrm>
            <a:off x="6373368" y="2761488"/>
            <a:ext cx="5065776" cy="96926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Права на источники/объекты/строки определяются раньше обработки данных. Если прав нет — фрагмент не попадает в дальнейшую обработку вообще, независимо от того, насколько хорошо он подходит по смыслу.</a:t>
            </a:r>
            <a:endParaRPr lang="en-US" sz="1200" dirty="0"/>
          </a:p>
        </p:txBody>
      </p:sp>
      <p:sp>
        <p:nvSpPr>
          <p:cNvPr id="17" name="Shape 12"/>
          <p:cNvSpPr/>
          <p:nvPr/>
        </p:nvSpPr>
        <p:spPr>
          <a:xfrm>
            <a:off x="548640" y="4160520"/>
            <a:ext cx="11091672" cy="1691640"/>
          </a:xfrm>
          <a:prstGeom prst="roundRect">
            <a:avLst>
              <a:gd name="adj" fmla="val 5405"/>
            </a:avLst>
          </a:prstGeom>
          <a:solidFill>
            <a:srgbClr val="013A40"/>
          </a:solidFill>
          <a:ln/>
        </p:spPr>
      </p:sp>
      <p:sp>
        <p:nvSpPr>
          <p:cNvPr id="18" name="Text 13"/>
          <p:cNvSpPr/>
          <p:nvPr/>
        </p:nvSpPr>
        <p:spPr>
          <a:xfrm>
            <a:off x="868680" y="4315968"/>
            <a:ext cx="3657600" cy="274320"/>
          </a:xfrm>
          <a:prstGeom prst="rect">
            <a:avLst/>
          </a:prstGeom>
          <a:noFill/>
          <a:ln/>
        </p:spPr>
        <p:txBody>
          <a:bodyPr wrap="square" lIns="0" tIns="0" rIns="0" bIns="0" rtlCol="0" anchor="ctr"/>
          <a:lstStyle/>
          <a:p>
            <a:pPr indent="0" marL="0">
              <a:buNone/>
            </a:pPr>
            <a:r>
              <a:rPr lang="en-US" sz="1350" b="1" dirty="0">
                <a:solidFill>
                  <a:srgbClr val="02C39A"/>
                </a:solidFill>
                <a:latin typeface="Cambria" pitchFamily="34" charset="0"/>
                <a:ea typeface="Cambria" pitchFamily="34" charset="-122"/>
                <a:cs typeface="Cambria" pitchFamily="34" charset="-120"/>
              </a:rPr>
              <a:t>Ключевой принцип</a:t>
            </a:r>
            <a:endParaRPr lang="en-US" sz="1350" dirty="0"/>
          </a:p>
        </p:txBody>
      </p:sp>
      <p:sp>
        <p:nvSpPr>
          <p:cNvPr id="19" name="Text 14"/>
          <p:cNvSpPr/>
          <p:nvPr/>
        </p:nvSpPr>
        <p:spPr>
          <a:xfrm>
            <a:off x="868680" y="4617720"/>
            <a:ext cx="10424160" cy="11887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«Обезличенный ответ о записи, доступа к которой у пользователя нет, тоже является нарушением». Трёхуровневая модель доступа: предметные области → строки (row-level, по атрибутам вроде подразделения/региона) → поля (маскирование). Подробный разбор механизма — в части 4 цикла («Домены и доступ»).</a:t>
            </a:r>
            <a:endParaRPr lang="en-US" sz="1250" dirty="0"/>
          </a:p>
        </p:txBody>
      </p:sp>
      <p:sp>
        <p:nvSpPr>
          <p:cNvPr id="20" name="Text 15"/>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Защита данных</a:t>
            </a:r>
            <a:endParaRPr lang="en-US" sz="1000" dirty="0"/>
          </a:p>
        </p:txBody>
      </p:sp>
      <p:sp>
        <p:nvSpPr>
          <p:cNvPr id="21" name="Text 16"/>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17 / 27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ЗАЩИТА ДАННЫХ · МАСКИРОВАНИЕ</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Маскирование: когда оно обязательно</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621792"/>
          </a:xfrm>
          <a:prstGeom prst="rect">
            <a:avLst/>
          </a:prstGeom>
          <a:noFill/>
          <a:ln/>
        </p:spPr>
        <p:txBody>
          <a:bodyPr wrap="square" lIns="0" tIns="0" rIns="0" bIns="0" rtlCol="0" anchor="ctr"/>
          <a:lstStyle/>
          <a:p>
            <a:pPr indent="0" marL="0">
              <a:lnSpc>
                <a:spcPct val="118000"/>
              </a:lnSpc>
              <a:buNone/>
            </a:pPr>
            <a:r>
              <a:rPr lang="en-US" sz="1350" dirty="0">
                <a:solidFill>
                  <a:srgbClr val="17282A"/>
                </a:solidFill>
                <a:latin typeface="Calibri" pitchFamily="34" charset="0"/>
                <a:ea typeface="Calibri" pitchFamily="34" charset="-122"/>
                <a:cs typeface="Calibri" pitchFamily="34" charset="-120"/>
              </a:rPr>
              <a:t>Если ответ формирует внешняя (облачная) LLM — например, модель напрямую из интернета — персональные данные и коммерческая тайна обязательно заменяются метками перед отправкой за периметр компании.</a:t>
            </a:r>
            <a:endParaRPr lang="en-US" sz="1350" dirty="0"/>
          </a:p>
        </p:txBody>
      </p:sp>
      <p:sp>
        <p:nvSpPr>
          <p:cNvPr id="7" name="Shape 4"/>
          <p:cNvSpPr/>
          <p:nvPr/>
        </p:nvSpPr>
        <p:spPr>
          <a:xfrm>
            <a:off x="548640" y="2011680"/>
            <a:ext cx="5440680" cy="2011680"/>
          </a:xfrm>
          <a:prstGeom prst="roundRect">
            <a:avLst>
              <a:gd name="adj" fmla="val 4091"/>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212848"/>
            <a:ext cx="502920" cy="502920"/>
          </a:xfrm>
          <a:prstGeom prst="ellipse">
            <a:avLst/>
          </a:prstGeom>
          <a:solidFill>
            <a:srgbClr val="028090"/>
          </a:solidFill>
          <a:ln/>
        </p:spPr>
      </p:sp>
      <p:pic>
        <p:nvPicPr>
          <p:cNvPr id="9" name="Image 1" descr="preencoded.png">    </p:cNvPr>
          <p:cNvPicPr>
            <a:picLocks noChangeAspect="1"/>
          </p:cNvPicPr>
          <p:nvPr/>
        </p:nvPicPr>
        <p:blipFill>
          <a:blip r:embed="rId2"/>
          <a:stretch>
            <a:fillRect/>
          </a:stretch>
        </p:blipFill>
        <p:spPr>
          <a:xfrm>
            <a:off x="815188" y="2278228"/>
            <a:ext cx="372161" cy="372161"/>
          </a:xfrm>
          <a:prstGeom prst="rect">
            <a:avLst/>
          </a:prstGeom>
        </p:spPr>
      </p:pic>
      <p:sp>
        <p:nvSpPr>
          <p:cNvPr id="10" name="Text 6"/>
          <p:cNvSpPr/>
          <p:nvPr/>
        </p:nvSpPr>
        <p:spPr>
          <a:xfrm>
            <a:off x="1399032" y="2185416"/>
            <a:ext cx="4389120"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Внешняя (облачная) модель — обязательно</a:t>
            </a:r>
            <a:endParaRPr lang="en-US" sz="1400" dirty="0"/>
          </a:p>
        </p:txBody>
      </p:sp>
      <p:sp>
        <p:nvSpPr>
          <p:cNvPr id="11" name="Text 7"/>
          <p:cNvSpPr/>
          <p:nvPr/>
        </p:nvSpPr>
        <p:spPr>
          <a:xfrm>
            <a:off x="749808" y="2807208"/>
            <a:ext cx="5038344" cy="101498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Запрос уходит за периметр компании к сторонней модели (например, OpenAI, Anthropic). Перед отправкой ФИО, телефоны, номера счетов, ИНН и подобное заменяются на метки вида [PERSON_1], [INN_1].</a:t>
            </a:r>
            <a:endParaRPr lang="en-US" sz="1200" dirty="0"/>
          </a:p>
        </p:txBody>
      </p:sp>
      <p:sp>
        <p:nvSpPr>
          <p:cNvPr id="12" name="Shape 8"/>
          <p:cNvSpPr/>
          <p:nvPr/>
        </p:nvSpPr>
        <p:spPr>
          <a:xfrm>
            <a:off x="6172200" y="2011680"/>
            <a:ext cx="5468112" cy="2011680"/>
          </a:xfrm>
          <a:prstGeom prst="roundRect">
            <a:avLst>
              <a:gd name="adj" fmla="val 4091"/>
            </a:avLst>
          </a:prstGeom>
          <a:solidFill>
            <a:srgbClr val="F2FAF9"/>
          </a:solidFill>
          <a:ln/>
          <a:effectLst>
            <a:outerShdw sx="100000" sy="100000" kx="0" ky="0" algn="bl" rotWithShape="0" blurRad="76200" dist="25400" dir="5400000">
              <a:srgbClr val="0F3B3A">
                <a:alpha val="18000"/>
              </a:srgbClr>
            </a:outerShdw>
          </a:effectLst>
        </p:spPr>
      </p:sp>
      <p:sp>
        <p:nvSpPr>
          <p:cNvPr id="13" name="Shape 9"/>
          <p:cNvSpPr/>
          <p:nvPr/>
        </p:nvSpPr>
        <p:spPr>
          <a:xfrm>
            <a:off x="6373368" y="2212848"/>
            <a:ext cx="502920" cy="502920"/>
          </a:xfrm>
          <a:prstGeom prst="ellipse">
            <a:avLst/>
          </a:prstGeom>
          <a:solidFill>
            <a:srgbClr val="02C39A"/>
          </a:solidFill>
          <a:ln/>
        </p:spPr>
      </p:sp>
      <p:pic>
        <p:nvPicPr>
          <p:cNvPr id="14" name="Image 2" descr="preencoded.png">    </p:cNvPr>
          <p:cNvPicPr>
            <a:picLocks noChangeAspect="1"/>
          </p:cNvPicPr>
          <p:nvPr/>
        </p:nvPicPr>
        <p:blipFill>
          <a:blip r:embed="rId3"/>
          <a:stretch>
            <a:fillRect/>
          </a:stretch>
        </p:blipFill>
        <p:spPr>
          <a:xfrm>
            <a:off x="6438748" y="2278228"/>
            <a:ext cx="372161" cy="372161"/>
          </a:xfrm>
          <a:prstGeom prst="rect">
            <a:avLst/>
          </a:prstGeom>
        </p:spPr>
      </p:pic>
      <p:sp>
        <p:nvSpPr>
          <p:cNvPr id="15" name="Text 10"/>
          <p:cNvSpPr/>
          <p:nvPr/>
        </p:nvSpPr>
        <p:spPr>
          <a:xfrm>
            <a:off x="7022592" y="2185416"/>
            <a:ext cx="441655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Полностью локальная модель — необязательно</a:t>
            </a:r>
            <a:endParaRPr lang="en-US" sz="1400" dirty="0"/>
          </a:p>
        </p:txBody>
      </p:sp>
      <p:sp>
        <p:nvSpPr>
          <p:cNvPr id="16" name="Text 11"/>
          <p:cNvSpPr/>
          <p:nvPr/>
        </p:nvSpPr>
        <p:spPr>
          <a:xfrm>
            <a:off x="6373368" y="2807208"/>
            <a:ext cx="5065776" cy="101498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Если модель размещена внутри периметра компании и данные никуда не уходят, маскирование можно отключить политикой — но по умолчанию для внешнего провайдера отключить его нельзя.</a:t>
            </a:r>
            <a:endParaRPr lang="en-US" sz="1200" dirty="0"/>
          </a:p>
        </p:txBody>
      </p:sp>
      <p:sp>
        <p:nvSpPr>
          <p:cNvPr id="17" name="Shape 12"/>
          <p:cNvSpPr/>
          <p:nvPr/>
        </p:nvSpPr>
        <p:spPr>
          <a:xfrm>
            <a:off x="548640" y="4206240"/>
            <a:ext cx="11091672" cy="1783080"/>
          </a:xfrm>
          <a:prstGeom prst="roundRect">
            <a:avLst>
              <a:gd name="adj" fmla="val 5128"/>
            </a:avLst>
          </a:prstGeom>
          <a:solidFill>
            <a:srgbClr val="F2FAF9"/>
          </a:solidFill>
          <a:ln/>
        </p:spPr>
      </p:sp>
      <p:sp>
        <p:nvSpPr>
          <p:cNvPr id="18" name="Text 13"/>
          <p:cNvSpPr/>
          <p:nvPr/>
        </p:nvSpPr>
        <p:spPr>
          <a:xfrm>
            <a:off x="822960" y="4343400"/>
            <a:ext cx="2743200" cy="274320"/>
          </a:xfrm>
          <a:prstGeom prst="rect">
            <a:avLst/>
          </a:prstGeom>
          <a:noFill/>
          <a:ln/>
        </p:spPr>
        <p:txBody>
          <a:bodyPr wrap="square" lIns="0" tIns="0" rIns="0" bIns="0" rtlCol="0" anchor="ctr"/>
          <a:lstStyle/>
          <a:p>
            <a:pPr indent="0" marL="0">
              <a:buNone/>
            </a:pPr>
            <a:r>
              <a:rPr lang="en-US" sz="1300" b="1" dirty="0">
                <a:solidFill>
                  <a:srgbClr val="028090"/>
                </a:solidFill>
                <a:latin typeface="Cambria" pitchFamily="34" charset="0"/>
                <a:ea typeface="Cambria" pitchFamily="34" charset="-122"/>
                <a:cs typeface="Cambria" pitchFamily="34" charset="-120"/>
              </a:rPr>
              <a:t>Пример</a:t>
            </a:r>
            <a:endParaRPr lang="en-US" sz="1300" dirty="0"/>
          </a:p>
        </p:txBody>
      </p:sp>
      <p:sp>
        <p:nvSpPr>
          <p:cNvPr id="19" name="Text 14"/>
          <p:cNvSpPr/>
          <p:nvPr/>
        </p:nvSpPr>
        <p:spPr>
          <a:xfrm>
            <a:off x="822960" y="4645152"/>
            <a:ext cx="10424160" cy="411480"/>
          </a:xfrm>
          <a:prstGeom prst="rect">
            <a:avLst/>
          </a:prstGeom>
          <a:noFill/>
          <a:ln/>
        </p:spPr>
        <p:txBody>
          <a:bodyPr wrap="square" lIns="0" tIns="0" rIns="0" bIns="0" rtlCol="0" anchor="ctr"/>
          <a:lstStyle/>
          <a:p>
            <a:pPr indent="0" marL="0">
              <a:buNone/>
            </a:pPr>
            <a:r>
              <a:rPr lang="en-US" sz="1200" dirty="0">
                <a:solidFill>
                  <a:srgbClr val="17282A"/>
                </a:solidFill>
                <a:latin typeface="Courier New" pitchFamily="34" charset="0"/>
                <a:ea typeface="Courier New" pitchFamily="34" charset="-122"/>
                <a:cs typeface="Courier New" pitchFamily="34" charset="-120"/>
              </a:rPr>
              <a:t>До: «Клиент Иванов И.И., ИНН 770912345678, просрочил платёж по договору»</a:t>
            </a:r>
            <a:endParaRPr lang="en-US" sz="1200" dirty="0"/>
          </a:p>
        </p:txBody>
      </p:sp>
      <p:sp>
        <p:nvSpPr>
          <p:cNvPr id="20" name="Text 15"/>
          <p:cNvSpPr/>
          <p:nvPr/>
        </p:nvSpPr>
        <p:spPr>
          <a:xfrm>
            <a:off x="822960" y="5102352"/>
            <a:ext cx="10424160" cy="41148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После: «Клиент [PERSON_1], ИНН [INN_1], просрочил платёж по договору»</a:t>
            </a:r>
            <a:endParaRPr lang="en-US" sz="1200" dirty="0"/>
          </a:p>
        </p:txBody>
      </p:sp>
      <p:sp>
        <p:nvSpPr>
          <p:cNvPr id="21" name="Text 1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Защита данных</a:t>
            </a:r>
            <a:endParaRPr lang="en-US" sz="1000" dirty="0"/>
          </a:p>
        </p:txBody>
      </p:sp>
      <p:sp>
        <p:nvSpPr>
          <p:cNvPr id="22" name="Text 17"/>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18 / 27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ЗАЩИТА ДАННЫХ · ТАБЛИЦА СООТВЕТСТВИЯ</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Метка ↔ значение: не покидает периметр</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54864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Когда значение заменяется меткой ([PERSON_1], [INN_1] и т. п.), сама подстановка запоминается — но не там, куда уходит запрос, а в отдельной таблице внутри контура компании.</a:t>
            </a:r>
            <a:endParaRPr lang="en-US" sz="1400" dirty="0"/>
          </a:p>
        </p:txBody>
      </p:sp>
      <p:sp>
        <p:nvSpPr>
          <p:cNvPr id="7" name="Shape 4"/>
          <p:cNvSpPr/>
          <p:nvPr/>
        </p:nvSpPr>
        <p:spPr>
          <a:xfrm>
            <a:off x="548640" y="1965960"/>
            <a:ext cx="6583680" cy="2834640"/>
          </a:xfrm>
          <a:prstGeom prst="roundRect">
            <a:avLst>
              <a:gd name="adj" fmla="val 3226"/>
            </a:avLst>
          </a:prstGeom>
          <a:solidFill>
            <a:srgbClr val="F2FAF9"/>
          </a:solidFill>
          <a:ln w="19050">
            <a:solidFill>
              <a:srgbClr val="028090"/>
            </a:solidFill>
            <a:prstDash val="dash"/>
          </a:ln>
        </p:spPr>
      </p:sp>
      <p:sp>
        <p:nvSpPr>
          <p:cNvPr id="8" name="Text 5"/>
          <p:cNvSpPr/>
          <p:nvPr/>
        </p:nvSpPr>
        <p:spPr>
          <a:xfrm>
            <a:off x="777240" y="2084832"/>
            <a:ext cx="457200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ПЕРИМЕТР КОМПАНИИ</a:t>
            </a:r>
            <a:endParaRPr lang="en-US" sz="1050" dirty="0"/>
          </a:p>
        </p:txBody>
      </p:sp>
      <p:sp>
        <p:nvSpPr>
          <p:cNvPr id="9" name="Shape 6"/>
          <p:cNvSpPr/>
          <p:nvPr/>
        </p:nvSpPr>
        <p:spPr>
          <a:xfrm>
            <a:off x="868680" y="2468880"/>
            <a:ext cx="685800" cy="685800"/>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957834" y="2558034"/>
            <a:ext cx="507492" cy="507492"/>
          </a:xfrm>
          <a:prstGeom prst="rect">
            <a:avLst/>
          </a:prstGeom>
        </p:spPr>
      </p:pic>
      <p:sp>
        <p:nvSpPr>
          <p:cNvPr id="11" name="Text 7"/>
          <p:cNvSpPr/>
          <p:nvPr/>
        </p:nvSpPr>
        <p:spPr>
          <a:xfrm>
            <a:off x="1691640" y="2542032"/>
            <a:ext cx="5120640" cy="548640"/>
          </a:xfrm>
          <a:prstGeom prst="rect">
            <a:avLst/>
          </a:prstGeom>
          <a:noFill/>
          <a:ln/>
        </p:spPr>
        <p:txBody>
          <a:bodyPr wrap="square" lIns="0" tIns="0" rIns="0" bIns="0" rtlCol="0" anchor="ctr"/>
          <a:lstStyle/>
          <a:p>
            <a:pPr indent="0" marL="0">
              <a:lnSpc>
                <a:spcPct val="110000"/>
              </a:lnSpc>
              <a:buNone/>
            </a:pPr>
            <a:r>
              <a:rPr lang="en-US" sz="1150" b="1" dirty="0">
                <a:solidFill>
                  <a:srgbClr val="17282A"/>
                </a:solidFill>
                <a:latin typeface="Courier New" pitchFamily="34" charset="0"/>
                <a:ea typeface="Courier New" pitchFamily="34" charset="-122"/>
                <a:cs typeface="Courier New" pitchFamily="34" charset="-120"/>
              </a:rPr>
              <a:t>Таблица соответствий</a:t>
            </a:r>
            <a:endParaRPr lang="en-US" sz="1150" dirty="0"/>
          </a:p>
          <a:p>
            <a:pPr indent="0" marL="0">
              <a:lnSpc>
                <a:spcPct val="110000"/>
              </a:lnSpc>
              <a:buNone/>
            </a:pPr>
            <a:r>
              <a:rPr lang="en-US" sz="1150" b="1" dirty="0">
                <a:solidFill>
                  <a:srgbClr val="17282A"/>
                </a:solidFill>
                <a:latin typeface="Courier New" pitchFamily="34" charset="0"/>
                <a:ea typeface="Courier New" pitchFamily="34" charset="-122"/>
                <a:cs typeface="Courier New" pitchFamily="34" charset="-120"/>
              </a:rPr>
              <a:t>[INN_1] → 770912345678</a:t>
            </a:r>
            <a:endParaRPr lang="en-US" sz="1150" dirty="0"/>
          </a:p>
        </p:txBody>
      </p:sp>
      <p:sp>
        <p:nvSpPr>
          <p:cNvPr id="12" name="Shape 8"/>
          <p:cNvSpPr/>
          <p:nvPr/>
        </p:nvSpPr>
        <p:spPr>
          <a:xfrm>
            <a:off x="868680" y="3291840"/>
            <a:ext cx="365760" cy="365760"/>
          </a:xfrm>
          <a:prstGeom prst="ellipse">
            <a:avLst/>
          </a:prstGeom>
          <a:solidFill>
            <a:srgbClr val="02C39A"/>
          </a:solidFill>
          <a:ln/>
        </p:spPr>
      </p:sp>
      <p:pic>
        <p:nvPicPr>
          <p:cNvPr id="13" name="Image 2" descr="preencoded.png">    </p:cNvPr>
          <p:cNvPicPr>
            <a:picLocks noChangeAspect="1"/>
          </p:cNvPicPr>
          <p:nvPr/>
        </p:nvPicPr>
        <p:blipFill>
          <a:blip r:embed="rId3"/>
          <a:stretch>
            <a:fillRect/>
          </a:stretch>
        </p:blipFill>
        <p:spPr>
          <a:xfrm>
            <a:off x="916229" y="3339389"/>
            <a:ext cx="270662" cy="270662"/>
          </a:xfrm>
          <a:prstGeom prst="rect">
            <a:avLst/>
          </a:prstGeom>
        </p:spPr>
      </p:pic>
      <p:sp>
        <p:nvSpPr>
          <p:cNvPr id="14" name="Text 9"/>
          <p:cNvSpPr/>
          <p:nvPr/>
        </p:nvSpPr>
        <p:spPr>
          <a:xfrm>
            <a:off x="1371600" y="3291840"/>
            <a:ext cx="5394960" cy="365760"/>
          </a:xfrm>
          <a:prstGeom prst="rect">
            <a:avLst/>
          </a:prstGeom>
          <a:noFill/>
          <a:ln/>
        </p:spPr>
        <p:txBody>
          <a:bodyPr wrap="square" lIns="0" tIns="0" rIns="0" bIns="0" rtlCol="0" anchor="ctr"/>
          <a:lstStyle/>
          <a:p>
            <a:pPr indent="0" marL="0">
              <a:buNone/>
            </a:pPr>
            <a:r>
              <a:rPr lang="en-US" sz="1250" dirty="0">
                <a:solidFill>
                  <a:srgbClr val="17282A"/>
                </a:solidFill>
                <a:latin typeface="Calibri" pitchFamily="34" charset="0"/>
                <a:ea typeface="Calibri" pitchFamily="34" charset="-122"/>
                <a:cs typeface="Calibri" pitchFamily="34" charset="-120"/>
              </a:rPr>
              <a:t>TTL 60 минут по умолчанию</a:t>
            </a:r>
            <a:endParaRPr lang="en-US" sz="1250" dirty="0"/>
          </a:p>
        </p:txBody>
      </p:sp>
      <p:sp>
        <p:nvSpPr>
          <p:cNvPr id="15" name="Shape 10"/>
          <p:cNvSpPr/>
          <p:nvPr/>
        </p:nvSpPr>
        <p:spPr>
          <a:xfrm>
            <a:off x="868680" y="3794760"/>
            <a:ext cx="365760" cy="365760"/>
          </a:xfrm>
          <a:prstGeom prst="ellipse">
            <a:avLst/>
          </a:prstGeom>
          <a:solidFill>
            <a:srgbClr val="02C39A"/>
          </a:solidFill>
          <a:ln/>
        </p:spPr>
      </p:sp>
      <p:pic>
        <p:nvPicPr>
          <p:cNvPr id="16" name="Image 3" descr="preencoded.png">    </p:cNvPr>
          <p:cNvPicPr>
            <a:picLocks noChangeAspect="1"/>
          </p:cNvPicPr>
          <p:nvPr/>
        </p:nvPicPr>
        <p:blipFill>
          <a:blip r:embed="rId4"/>
          <a:stretch>
            <a:fillRect/>
          </a:stretch>
        </p:blipFill>
        <p:spPr>
          <a:xfrm>
            <a:off x="916229" y="3842309"/>
            <a:ext cx="270662" cy="270662"/>
          </a:xfrm>
          <a:prstGeom prst="rect">
            <a:avLst/>
          </a:prstGeom>
        </p:spPr>
      </p:pic>
      <p:sp>
        <p:nvSpPr>
          <p:cNvPr id="17" name="Text 11"/>
          <p:cNvSpPr/>
          <p:nvPr/>
        </p:nvSpPr>
        <p:spPr>
          <a:xfrm>
            <a:off x="1371600" y="3794760"/>
            <a:ext cx="5394960" cy="365760"/>
          </a:xfrm>
          <a:prstGeom prst="rect">
            <a:avLst/>
          </a:prstGeom>
          <a:noFill/>
          <a:ln/>
        </p:spPr>
        <p:txBody>
          <a:bodyPr wrap="square" lIns="0" tIns="0" rIns="0" bIns="0" rtlCol="0" anchor="ctr"/>
          <a:lstStyle/>
          <a:p>
            <a:pPr indent="0" marL="0">
              <a:buNone/>
            </a:pPr>
            <a:r>
              <a:rPr lang="en-US" sz="1250" dirty="0">
                <a:solidFill>
                  <a:srgbClr val="17282A"/>
                </a:solidFill>
                <a:latin typeface="Calibri" pitchFamily="34" charset="0"/>
                <a:ea typeface="Calibri" pitchFamily="34" charset="-122"/>
                <a:cs typeface="Calibri" pitchFamily="34" charset="-120"/>
              </a:rPr>
              <a:t>Привязана к сессии пользователя</a:t>
            </a:r>
            <a:endParaRPr lang="en-US" sz="1250" dirty="0"/>
          </a:p>
        </p:txBody>
      </p:sp>
      <p:sp>
        <p:nvSpPr>
          <p:cNvPr id="18" name="Shape 12"/>
          <p:cNvSpPr/>
          <p:nvPr/>
        </p:nvSpPr>
        <p:spPr>
          <a:xfrm>
            <a:off x="868680" y="4297680"/>
            <a:ext cx="365760" cy="365760"/>
          </a:xfrm>
          <a:prstGeom prst="ellipse">
            <a:avLst/>
          </a:prstGeom>
          <a:solidFill>
            <a:srgbClr val="02C39A"/>
          </a:solidFill>
          <a:ln/>
        </p:spPr>
      </p:sp>
      <p:pic>
        <p:nvPicPr>
          <p:cNvPr id="19" name="Image 4" descr="preencoded.png">    </p:cNvPr>
          <p:cNvPicPr>
            <a:picLocks noChangeAspect="1"/>
          </p:cNvPicPr>
          <p:nvPr/>
        </p:nvPicPr>
        <p:blipFill>
          <a:blip r:embed="rId5"/>
          <a:stretch>
            <a:fillRect/>
          </a:stretch>
        </p:blipFill>
        <p:spPr>
          <a:xfrm>
            <a:off x="916229" y="4345229"/>
            <a:ext cx="270662" cy="270662"/>
          </a:xfrm>
          <a:prstGeom prst="rect">
            <a:avLst/>
          </a:prstGeom>
        </p:spPr>
      </p:pic>
      <p:sp>
        <p:nvSpPr>
          <p:cNvPr id="20" name="Text 13"/>
          <p:cNvSpPr/>
          <p:nvPr/>
        </p:nvSpPr>
        <p:spPr>
          <a:xfrm>
            <a:off x="1371600" y="4297680"/>
            <a:ext cx="5394960" cy="365760"/>
          </a:xfrm>
          <a:prstGeom prst="rect">
            <a:avLst/>
          </a:prstGeom>
          <a:noFill/>
          <a:ln/>
        </p:spPr>
        <p:txBody>
          <a:bodyPr wrap="square" lIns="0" tIns="0" rIns="0" bIns="0" rtlCol="0" anchor="ctr"/>
          <a:lstStyle/>
          <a:p>
            <a:pPr indent="0" marL="0">
              <a:buNone/>
            </a:pPr>
            <a:r>
              <a:rPr lang="en-US" sz="1250" dirty="0">
                <a:solidFill>
                  <a:srgbClr val="17282A"/>
                </a:solidFill>
                <a:latin typeface="Calibri" pitchFamily="34" charset="0"/>
                <a:ea typeface="Calibri" pitchFamily="34" charset="-122"/>
                <a:cs typeface="Calibri" pitchFamily="34" charset="-120"/>
              </a:rPr>
              <a:t>Никогда не передаётся модели</a:t>
            </a:r>
            <a:endParaRPr lang="en-US" sz="1250" dirty="0"/>
          </a:p>
        </p:txBody>
      </p:sp>
      <p:sp>
        <p:nvSpPr>
          <p:cNvPr id="21" name="Shape 14"/>
          <p:cNvSpPr/>
          <p:nvPr/>
        </p:nvSpPr>
        <p:spPr>
          <a:xfrm>
            <a:off x="7452360" y="1965960"/>
            <a:ext cx="4187952" cy="2834640"/>
          </a:xfrm>
          <a:prstGeom prst="roundRect">
            <a:avLst>
              <a:gd name="adj" fmla="val 3226"/>
            </a:avLst>
          </a:prstGeom>
          <a:solidFill>
            <a:srgbClr val="013A40"/>
          </a:solidFill>
          <a:ln/>
        </p:spPr>
      </p:sp>
      <p:sp>
        <p:nvSpPr>
          <p:cNvPr id="22" name="Text 15"/>
          <p:cNvSpPr/>
          <p:nvPr/>
        </p:nvSpPr>
        <p:spPr>
          <a:xfrm>
            <a:off x="7680960" y="2103120"/>
            <a:ext cx="3749040" cy="274320"/>
          </a:xfrm>
          <a:prstGeom prst="rect">
            <a:avLst/>
          </a:prstGeom>
          <a:noFill/>
          <a:ln/>
        </p:spPr>
        <p:txBody>
          <a:bodyPr wrap="square" lIns="0" tIns="0" rIns="0" bIns="0" rtlCol="0" anchor="ctr"/>
          <a:lstStyle/>
          <a:p>
            <a:pPr indent="0" marL="0">
              <a:buNone/>
            </a:pPr>
            <a:r>
              <a:rPr lang="en-US" sz="1000" b="1" spc="100" kern="0" dirty="0">
                <a:solidFill>
                  <a:srgbClr val="7FC9C0"/>
                </a:solidFill>
                <a:latin typeface="Calibri" pitchFamily="34" charset="0"/>
                <a:ea typeface="Calibri" pitchFamily="34" charset="-122"/>
                <a:cs typeface="Calibri" pitchFamily="34" charset="-120"/>
              </a:rPr>
              <a:t>ВНЕШНЯЯ LLM ВИДИТ ТОЛЬКО</a:t>
            </a:r>
            <a:endParaRPr lang="en-US" sz="1000" dirty="0"/>
          </a:p>
        </p:txBody>
      </p:sp>
      <p:sp>
        <p:nvSpPr>
          <p:cNvPr id="23" name="Shape 16"/>
          <p:cNvSpPr/>
          <p:nvPr/>
        </p:nvSpPr>
        <p:spPr>
          <a:xfrm>
            <a:off x="7680960" y="2450592"/>
            <a:ext cx="640080" cy="640080"/>
          </a:xfrm>
          <a:prstGeom prst="ellipse">
            <a:avLst/>
          </a:prstGeom>
          <a:solidFill>
            <a:srgbClr val="02C39A"/>
          </a:solidFill>
          <a:ln/>
        </p:spPr>
      </p:sp>
      <p:pic>
        <p:nvPicPr>
          <p:cNvPr id="24" name="Image 5" descr="preencoded.png">    </p:cNvPr>
          <p:cNvPicPr>
            <a:picLocks noChangeAspect="1"/>
          </p:cNvPicPr>
          <p:nvPr/>
        </p:nvPicPr>
        <p:blipFill>
          <a:blip r:embed="rId6"/>
          <a:stretch>
            <a:fillRect/>
          </a:stretch>
        </p:blipFill>
        <p:spPr>
          <a:xfrm>
            <a:off x="7764170" y="2533802"/>
            <a:ext cx="473659" cy="473659"/>
          </a:xfrm>
          <a:prstGeom prst="rect">
            <a:avLst/>
          </a:prstGeom>
        </p:spPr>
      </p:pic>
      <p:sp>
        <p:nvSpPr>
          <p:cNvPr id="25" name="Text 17"/>
          <p:cNvSpPr/>
          <p:nvPr/>
        </p:nvSpPr>
        <p:spPr>
          <a:xfrm>
            <a:off x="8458200" y="2542032"/>
            <a:ext cx="3017520" cy="54864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Courier New" pitchFamily="34" charset="0"/>
                <a:ea typeface="Courier New" pitchFamily="34" charset="-122"/>
                <a:cs typeface="Courier New" pitchFamily="34" charset="-120"/>
              </a:rPr>
              <a:t>«Клиент [PERSON_1],</a:t>
            </a:r>
            <a:endParaRPr lang="en-US" sz="1200" dirty="0"/>
          </a:p>
          <a:p>
            <a:pPr indent="0" marL="0">
              <a:lnSpc>
                <a:spcPct val="110000"/>
              </a:lnSpc>
              <a:buNone/>
            </a:pPr>
            <a:r>
              <a:rPr lang="en-US" sz="1200" b="1" dirty="0">
                <a:solidFill>
                  <a:srgbClr val="FFFFFF"/>
                </a:solidFill>
                <a:latin typeface="Courier New" pitchFamily="34" charset="0"/>
                <a:ea typeface="Courier New" pitchFamily="34" charset="-122"/>
                <a:cs typeface="Courier New" pitchFamily="34" charset="-120"/>
              </a:rPr>
              <a:t>ИНН [INN_1]…»</a:t>
            </a:r>
            <a:endParaRPr lang="en-US" sz="1200" dirty="0"/>
          </a:p>
        </p:txBody>
      </p:sp>
      <p:sp>
        <p:nvSpPr>
          <p:cNvPr id="26" name="Text 18"/>
          <p:cNvSpPr/>
          <p:nvPr/>
        </p:nvSpPr>
        <p:spPr>
          <a:xfrm>
            <a:off x="7680960" y="3291840"/>
            <a:ext cx="3749040" cy="1188720"/>
          </a:xfrm>
          <a:prstGeom prst="rect">
            <a:avLst/>
          </a:prstGeom>
          <a:noFill/>
          <a:ln/>
        </p:spPr>
        <p:txBody>
          <a:bodyPr wrap="square" lIns="0" tIns="0" rIns="0" bIns="0" rtlCol="0" anchor="ctr"/>
          <a:lstStyle/>
          <a:p>
            <a:pPr indent="0" marL="0">
              <a:lnSpc>
                <a:spcPct val="120000"/>
              </a:lnSpc>
              <a:buNone/>
            </a:pPr>
            <a:r>
              <a:rPr lang="en-US" sz="1150" dirty="0">
                <a:solidFill>
                  <a:srgbClr val="BFE9E2"/>
                </a:solidFill>
                <a:latin typeface="Calibri" pitchFamily="34" charset="0"/>
                <a:ea typeface="Calibri" pitchFamily="34" charset="-122"/>
                <a:cs typeface="Calibri" pitchFamily="34" charset="-120"/>
              </a:rPr>
              <a:t>Реальные значения остаются внутри — модель формирует ответ, вообще не видя настоящих ФИО, счетов и т. п.</a:t>
            </a:r>
            <a:endParaRPr lang="en-US" sz="1150" dirty="0"/>
          </a:p>
        </p:txBody>
      </p:sp>
      <p:sp>
        <p:nvSpPr>
          <p:cNvPr id="27" name="Shape 19"/>
          <p:cNvSpPr/>
          <p:nvPr/>
        </p:nvSpPr>
        <p:spPr>
          <a:xfrm>
            <a:off x="7178040" y="3383280"/>
            <a:ext cx="228600" cy="9144"/>
          </a:xfrm>
          <a:prstGeom prst="line">
            <a:avLst/>
          </a:prstGeom>
          <a:noFill/>
          <a:ln w="38100">
            <a:solidFill>
              <a:srgbClr val="028090"/>
            </a:solidFill>
            <a:prstDash val="solid"/>
            <a:tailEnd type="triangle"/>
          </a:ln>
        </p:spPr>
      </p:sp>
      <p:sp>
        <p:nvSpPr>
          <p:cNvPr id="28" name="Shape 20"/>
          <p:cNvSpPr/>
          <p:nvPr/>
        </p:nvSpPr>
        <p:spPr>
          <a:xfrm>
            <a:off x="548640" y="5029200"/>
            <a:ext cx="11091672" cy="1051560"/>
          </a:xfrm>
          <a:prstGeom prst="roundRect">
            <a:avLst>
              <a:gd name="adj" fmla="val 7826"/>
            </a:avLst>
          </a:prstGeom>
          <a:solidFill>
            <a:srgbClr val="F2FAF9"/>
          </a:solidFill>
          <a:ln/>
          <a:effectLst>
            <a:outerShdw sx="100000" sy="100000" kx="0" ky="0" algn="bl" rotWithShape="0" blurRad="76200" dist="25400" dir="5400000">
              <a:srgbClr val="0F3B3A">
                <a:alpha val="18000"/>
              </a:srgbClr>
            </a:outerShdw>
          </a:effectLst>
        </p:spPr>
      </p:sp>
      <p:sp>
        <p:nvSpPr>
          <p:cNvPr id="29" name="Shape 21"/>
          <p:cNvSpPr/>
          <p:nvPr/>
        </p:nvSpPr>
        <p:spPr>
          <a:xfrm>
            <a:off x="749808" y="5230368"/>
            <a:ext cx="457200" cy="457200"/>
          </a:xfrm>
          <a:prstGeom prst="ellipse">
            <a:avLst/>
          </a:prstGeom>
          <a:solidFill>
            <a:srgbClr val="02555C"/>
          </a:solidFill>
          <a:ln/>
        </p:spPr>
      </p:sp>
      <p:pic>
        <p:nvPicPr>
          <p:cNvPr id="30" name="Image 6" descr="preencoded.png">    </p:cNvPr>
          <p:cNvPicPr>
            <a:picLocks noChangeAspect="1"/>
          </p:cNvPicPr>
          <p:nvPr/>
        </p:nvPicPr>
        <p:blipFill>
          <a:blip r:embed="rId7"/>
          <a:stretch>
            <a:fillRect/>
          </a:stretch>
        </p:blipFill>
        <p:spPr>
          <a:xfrm>
            <a:off x="809244" y="5289804"/>
            <a:ext cx="338328" cy="338328"/>
          </a:xfrm>
          <a:prstGeom prst="rect">
            <a:avLst/>
          </a:prstGeom>
        </p:spPr>
      </p:pic>
      <p:sp>
        <p:nvSpPr>
          <p:cNvPr id="31" name="Text 22"/>
          <p:cNvSpPr/>
          <p:nvPr/>
        </p:nvSpPr>
        <p:spPr>
          <a:xfrm>
            <a:off x="1353312" y="5202936"/>
            <a:ext cx="10085832" cy="45720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Fail-closed по умолчанию</a:t>
            </a:r>
            <a:endParaRPr lang="en-US" sz="1350" dirty="0"/>
          </a:p>
        </p:txBody>
      </p:sp>
      <p:sp>
        <p:nvSpPr>
          <p:cNvPr id="32" name="Text 23"/>
          <p:cNvSpPr/>
          <p:nvPr/>
        </p:nvSpPr>
        <p:spPr>
          <a:xfrm>
            <a:off x="749808" y="5779008"/>
            <a:ext cx="10689336" cy="10058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Если хранилище таблицы соответствий недоступно при старте — компонент не запускается вовсе, без тихого отката в менее защищённый режим работы.</a:t>
            </a:r>
            <a:endParaRPr lang="en-US" sz="1150" dirty="0"/>
          </a:p>
        </p:txBody>
      </p:sp>
      <p:sp>
        <p:nvSpPr>
          <p:cNvPr id="33" name="Text 2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Защита данных</a:t>
            </a:r>
            <a:endParaRPr lang="en-US" sz="1000" dirty="0"/>
          </a:p>
        </p:txBody>
      </p:sp>
      <p:sp>
        <p:nvSpPr>
          <p:cNvPr id="34" name="Text 25"/>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19 / 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ОТВЕТ</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Генерация ответа и цитирование источников</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64008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LLM получает вопрос и найденные (уже проверенные на доступ и, если нужно, обезличенные) фрагменты и формирует связный ответ, прямо указывая, из каких документов он его составил.</a:t>
            </a:r>
            <a:endParaRPr lang="en-US" sz="1400" dirty="0"/>
          </a:p>
        </p:txBody>
      </p:sp>
      <p:sp>
        <p:nvSpPr>
          <p:cNvPr id="7" name="Shape 4"/>
          <p:cNvSpPr/>
          <p:nvPr/>
        </p:nvSpPr>
        <p:spPr>
          <a:xfrm>
            <a:off x="548640" y="2057400"/>
            <a:ext cx="6583680" cy="3429000"/>
          </a:xfrm>
          <a:prstGeom prst="roundRect">
            <a:avLst>
              <a:gd name="adj" fmla="val 3200"/>
            </a:avLst>
          </a:prstGeom>
          <a:solidFill>
            <a:srgbClr val="F2FAF9"/>
          </a:solidFill>
          <a:ln/>
        </p:spPr>
      </p:sp>
      <p:sp>
        <p:nvSpPr>
          <p:cNvPr id="8" name="Text 5"/>
          <p:cNvSpPr/>
          <p:nvPr/>
        </p:nvSpPr>
        <p:spPr>
          <a:xfrm>
            <a:off x="822960" y="2240280"/>
            <a:ext cx="6035040" cy="457200"/>
          </a:xfrm>
          <a:prstGeom prst="rect">
            <a:avLst/>
          </a:prstGeom>
          <a:noFill/>
          <a:ln/>
        </p:spPr>
        <p:txBody>
          <a:bodyPr wrap="square" lIns="0" tIns="0" rIns="0" bIns="0" rtlCol="0" anchor="ctr"/>
          <a:lstStyle/>
          <a:p>
            <a:pPr indent="0" marL="0">
              <a:buNone/>
            </a:pPr>
            <a:r>
              <a:rPr lang="en-US" sz="1250" i="1" dirty="0">
                <a:solidFill>
                  <a:srgbClr val="55696B"/>
                </a:solidFill>
                <a:latin typeface="Calibri" pitchFamily="34" charset="0"/>
                <a:ea typeface="Calibri" pitchFamily="34" charset="-122"/>
                <a:cs typeface="Calibri" pitchFamily="34" charset="-120"/>
              </a:rPr>
              <a:t>Вопрос: какие штрафы грозят за просрочку по договору?</a:t>
            </a:r>
            <a:endParaRPr lang="en-US" sz="1250" dirty="0"/>
          </a:p>
        </p:txBody>
      </p:sp>
      <p:sp>
        <p:nvSpPr>
          <p:cNvPr id="9" name="Text 6"/>
          <p:cNvSpPr/>
          <p:nvPr/>
        </p:nvSpPr>
        <p:spPr>
          <a:xfrm>
            <a:off x="822960" y="2743200"/>
            <a:ext cx="6035040" cy="1188720"/>
          </a:xfrm>
          <a:prstGeom prst="rect">
            <a:avLst/>
          </a:prstGeom>
          <a:noFill/>
          <a:ln/>
        </p:spPr>
        <p:txBody>
          <a:bodyPr wrap="square" lIns="0" tIns="0" rIns="0" bIns="0" rtlCol="0" anchor="ctr"/>
          <a:lstStyle/>
          <a:p>
            <a:pPr indent="0" marL="0">
              <a:lnSpc>
                <a:spcPct val="120000"/>
              </a:lnSpc>
              <a:buNone/>
            </a:pPr>
            <a:r>
              <a:rPr lang="en-US" sz="1300" dirty="0">
                <a:solidFill>
                  <a:srgbClr val="17282A"/>
                </a:solidFill>
                <a:latin typeface="Calibri" pitchFamily="34" charset="0"/>
                <a:ea typeface="Calibri" pitchFamily="34" charset="-122"/>
                <a:cs typeface="Calibri" pitchFamily="34" charset="-120"/>
              </a:rPr>
              <a:t>За просрочку исполнения обязательств по договору предусмотрена неустойка в размере 0,1% от суммы задолженности за каждый день просрочки (п. 4.2 регламента). При превышении 30 дней применяются дополнительные меры согласно разделу 5.</a:t>
            </a:r>
            <a:endParaRPr lang="en-US" sz="1300" dirty="0"/>
          </a:p>
        </p:txBody>
      </p:sp>
      <p:sp>
        <p:nvSpPr>
          <p:cNvPr id="10" name="Shape 7"/>
          <p:cNvSpPr/>
          <p:nvPr/>
        </p:nvSpPr>
        <p:spPr>
          <a:xfrm>
            <a:off x="822960" y="4069080"/>
            <a:ext cx="6035040" cy="1188720"/>
          </a:xfrm>
          <a:prstGeom prst="roundRect">
            <a:avLst>
              <a:gd name="adj" fmla="val 6154"/>
            </a:avLst>
          </a:prstGeom>
          <a:solidFill>
            <a:srgbClr val="FFFFFF"/>
          </a:solidFill>
          <a:ln w="12700">
            <a:solidFill>
              <a:srgbClr val="D3E8E5"/>
            </a:solidFill>
            <a:prstDash val="solid"/>
          </a:ln>
        </p:spPr>
      </p:sp>
      <p:sp>
        <p:nvSpPr>
          <p:cNvPr id="11" name="Text 8"/>
          <p:cNvSpPr/>
          <p:nvPr/>
        </p:nvSpPr>
        <p:spPr>
          <a:xfrm>
            <a:off x="1005840" y="4160520"/>
            <a:ext cx="548640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Источники:</a:t>
            </a:r>
            <a:endParaRPr lang="en-US" sz="1100" dirty="0"/>
          </a:p>
        </p:txBody>
      </p:sp>
      <p:sp>
        <p:nvSpPr>
          <p:cNvPr id="12" name="Text 9"/>
          <p:cNvSpPr/>
          <p:nvPr/>
        </p:nvSpPr>
        <p:spPr>
          <a:xfrm>
            <a:off x="1005840" y="4434840"/>
            <a:ext cx="5486400" cy="731520"/>
          </a:xfrm>
          <a:prstGeom prst="rect">
            <a:avLst/>
          </a:prstGeom>
          <a:noFill/>
          <a:ln/>
        </p:spPr>
        <p:txBody>
          <a:bodyPr wrap="square" lIns="0" tIns="0" rIns="0" bIns="0" rtlCol="0" anchor="ctr"/>
          <a:lstStyle/>
          <a:p>
            <a:pPr indent="0" marL="0">
              <a:lnSpc>
                <a:spcPct val="120000"/>
              </a:lnSpc>
              <a:buNone/>
            </a:pPr>
            <a:r>
              <a:rPr lang="en-US" sz="1150" dirty="0">
                <a:solidFill>
                  <a:srgbClr val="17282A"/>
                </a:solidFill>
                <a:latin typeface="Calibri" pitchFamily="34" charset="0"/>
                <a:ea typeface="Calibri" pitchFamily="34" charset="-122"/>
                <a:cs typeface="Calibri" pitchFamily="34" charset="-120"/>
              </a:rPr>
              <a:t>• regl_dogovory_2026.pdf, раздел 4.2</a:t>
            </a:r>
            <a:endParaRPr lang="en-US" sz="1150" dirty="0"/>
          </a:p>
          <a:p>
            <a:pPr indent="0" marL="0">
              <a:lnSpc>
                <a:spcPct val="120000"/>
              </a:lnSpc>
              <a:buNone/>
            </a:pPr>
            <a:r>
              <a:rPr lang="en-US" sz="1150" dirty="0">
                <a:solidFill>
                  <a:srgbClr val="17282A"/>
                </a:solidFill>
                <a:latin typeface="Calibri" pitchFamily="34" charset="0"/>
                <a:ea typeface="Calibri" pitchFamily="34" charset="-122"/>
                <a:cs typeface="Calibri" pitchFamily="34" charset="-120"/>
              </a:rPr>
              <a:t>• regl_dogovory_2026.pdf, раздел 5</a:t>
            </a:r>
            <a:endParaRPr lang="en-US" sz="1150" dirty="0"/>
          </a:p>
        </p:txBody>
      </p:sp>
      <p:sp>
        <p:nvSpPr>
          <p:cNvPr id="13" name="Shape 10"/>
          <p:cNvSpPr/>
          <p:nvPr/>
        </p:nvSpPr>
        <p:spPr>
          <a:xfrm>
            <a:off x="7269480" y="2057400"/>
            <a:ext cx="4370832" cy="3429000"/>
          </a:xfrm>
          <a:prstGeom prst="roundRect">
            <a:avLst>
              <a:gd name="adj" fmla="val 2400"/>
            </a:avLst>
          </a:prstGeom>
          <a:solidFill>
            <a:srgbClr val="F2FAF9"/>
          </a:solidFill>
          <a:ln/>
          <a:effectLst>
            <a:outerShdw sx="100000" sy="100000" kx="0" ky="0" algn="bl" rotWithShape="0" blurRad="76200" dist="25400" dir="5400000">
              <a:srgbClr val="0F3B3A">
                <a:alpha val="18000"/>
              </a:srgbClr>
            </a:outerShdw>
          </a:effectLst>
        </p:spPr>
      </p:sp>
      <p:sp>
        <p:nvSpPr>
          <p:cNvPr id="14" name="Shape 11"/>
          <p:cNvSpPr/>
          <p:nvPr/>
        </p:nvSpPr>
        <p:spPr>
          <a:xfrm>
            <a:off x="7470648" y="2258568"/>
            <a:ext cx="502920" cy="502920"/>
          </a:xfrm>
          <a:prstGeom prst="ellipse">
            <a:avLst/>
          </a:prstGeom>
          <a:solidFill>
            <a:srgbClr val="02C39A"/>
          </a:solidFill>
          <a:ln/>
        </p:spPr>
      </p:sp>
      <p:pic>
        <p:nvPicPr>
          <p:cNvPr id="15" name="Image 1" descr="preencoded.png">    </p:cNvPr>
          <p:cNvPicPr>
            <a:picLocks noChangeAspect="1"/>
          </p:cNvPicPr>
          <p:nvPr/>
        </p:nvPicPr>
        <p:blipFill>
          <a:blip r:embed="rId2"/>
          <a:stretch>
            <a:fillRect/>
          </a:stretch>
        </p:blipFill>
        <p:spPr>
          <a:xfrm>
            <a:off x="7536028" y="2323948"/>
            <a:ext cx="372161" cy="372161"/>
          </a:xfrm>
          <a:prstGeom prst="rect">
            <a:avLst/>
          </a:prstGeom>
        </p:spPr>
      </p:pic>
      <p:sp>
        <p:nvSpPr>
          <p:cNvPr id="16" name="Text 12"/>
          <p:cNvSpPr/>
          <p:nvPr/>
        </p:nvSpPr>
        <p:spPr>
          <a:xfrm>
            <a:off x="8119872" y="2231136"/>
            <a:ext cx="3319272" cy="502920"/>
          </a:xfrm>
          <a:prstGeom prst="rect">
            <a:avLst/>
          </a:prstGeom>
          <a:noFill/>
          <a:ln/>
        </p:spPr>
        <p:txBody>
          <a:bodyPr wrap="square" lIns="0" tIns="0" rIns="0" bIns="0" rtlCol="0" anchor="ctr"/>
          <a:lstStyle/>
          <a:p>
            <a:pPr algn="l" indent="0" marL="0">
              <a:buNone/>
            </a:pPr>
            <a:r>
              <a:rPr lang="en-US" sz="1400" b="1" dirty="0">
                <a:solidFill>
                  <a:srgbClr val="17282A"/>
                </a:solidFill>
                <a:latin typeface="Cambria" pitchFamily="34" charset="0"/>
                <a:ea typeface="Cambria" pitchFamily="34" charset="-122"/>
                <a:cs typeface="Cambria" pitchFamily="34" charset="-120"/>
              </a:rPr>
              <a:t>Почему цитирование источника — не косметика</a:t>
            </a:r>
            <a:endParaRPr lang="en-US" sz="1400" dirty="0"/>
          </a:p>
        </p:txBody>
      </p:sp>
      <p:sp>
        <p:nvSpPr>
          <p:cNvPr id="17" name="Text 13"/>
          <p:cNvSpPr/>
          <p:nvPr/>
        </p:nvSpPr>
        <p:spPr>
          <a:xfrm>
            <a:off x="7470648" y="2852928"/>
            <a:ext cx="3968496" cy="2432304"/>
          </a:xfrm>
          <a:prstGeom prst="rect">
            <a:avLst/>
          </a:prstGeom>
          <a:noFill/>
          <a:ln/>
        </p:spPr>
        <p:txBody>
          <a:bodyPr wrap="square" lIns="0" tIns="0" rIns="0" bIns="0" rtlCol="0" anchor="t"/>
          <a:lstStyle/>
          <a:p>
            <a:pPr algn="l" indent="0" marL="0">
              <a:lnSpc>
                <a:spcPct val="112000"/>
              </a:lnSpc>
              <a:buNone/>
            </a:pPr>
            <a:r>
              <a:rPr lang="en-US" sz="1200" dirty="0">
                <a:solidFill>
                  <a:srgbClr val="55696B"/>
                </a:solidFill>
                <a:latin typeface="Calibri" pitchFamily="34" charset="0"/>
                <a:ea typeface="Calibri" pitchFamily="34" charset="-122"/>
                <a:cs typeface="Calibri" pitchFamily="34" charset="-120"/>
              </a:rPr>
              <a:t>Ссылка на конкретный файл/раздел — это прямое доказательство того, что ответ действительно взят из документа компании, а не сгенерирован «из головы» модели. Это же позволяет пользователю быстро перепроверить ответ вручную, если требуется.</a:t>
            </a:r>
            <a:endParaRPr lang="en-US" sz="1200" dirty="0"/>
          </a:p>
        </p:txBody>
      </p:sp>
      <p:sp>
        <p:nvSpPr>
          <p:cNvPr id="18" name="Text 1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Ответ</a:t>
            </a:r>
            <a:endParaRPr lang="en-US" sz="1000" dirty="0"/>
          </a:p>
        </p:txBody>
      </p:sp>
      <p:sp>
        <p:nvSpPr>
          <p:cNvPr id="19" name="Text 15"/>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20 / 27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ЖУРНАЛИРОВАНИЕ</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Журнал: только маскированный текст</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685800"/>
          </a:xfrm>
          <a:prstGeom prst="rect">
            <a:avLst/>
          </a:prstGeom>
          <a:noFill/>
          <a:ln/>
        </p:spPr>
        <p:txBody>
          <a:bodyPr wrap="square" lIns="0" tIns="0" rIns="0" bIns="0" rtlCol="0" anchor="ctr"/>
          <a:lstStyle/>
          <a:p>
            <a:pPr indent="0" marL="0">
              <a:lnSpc>
                <a:spcPct val="120000"/>
              </a:lnSpc>
              <a:buNone/>
            </a:pPr>
            <a:r>
              <a:rPr lang="en-US" sz="1350" dirty="0">
                <a:solidFill>
                  <a:srgbClr val="17282A"/>
                </a:solidFill>
                <a:latin typeface="Calibri" pitchFamily="34" charset="0"/>
                <a:ea typeface="Calibri" pitchFamily="34" charset="-122"/>
                <a:cs typeface="Calibri" pitchFamily="34" charset="-120"/>
              </a:rPr>
              <a:t>Каждое обращение фиксируется: кто спросил, что нашли, что скрыли, какая модель отвечала. Но сами секретные значения в журнал по умолчанию не пишутся — только обезличенный текст и категории найденных сущностей.</a:t>
            </a:r>
            <a:endParaRPr lang="en-US" sz="1350" dirty="0"/>
          </a:p>
        </p:txBody>
      </p:sp>
      <p:sp>
        <p:nvSpPr>
          <p:cNvPr id="7" name="Shape 4"/>
          <p:cNvSpPr/>
          <p:nvPr/>
        </p:nvSpPr>
        <p:spPr>
          <a:xfrm>
            <a:off x="548640" y="2103120"/>
            <a:ext cx="3611880" cy="1965960"/>
          </a:xfrm>
          <a:prstGeom prst="roundRect">
            <a:avLst>
              <a:gd name="adj" fmla="val 4186"/>
            </a:avLst>
          </a:prstGeom>
          <a:solidFill>
            <a:srgbClr val="F2FAF9"/>
          </a:solidFill>
          <a:ln/>
          <a:effectLst>
            <a:outerShdw sx="100000" sy="100000" kx="0" ky="0" algn="bl" rotWithShape="0" blurRad="76200" dist="25400" dir="5400000">
              <a:srgbClr val="0F3B3A">
                <a:alpha val="18000"/>
              </a:srgbClr>
            </a:outerShdw>
          </a:effectLst>
        </p:spPr>
      </p:sp>
      <p:sp>
        <p:nvSpPr>
          <p:cNvPr id="8" name="Shape 5"/>
          <p:cNvSpPr/>
          <p:nvPr/>
        </p:nvSpPr>
        <p:spPr>
          <a:xfrm>
            <a:off x="749808" y="2304288"/>
            <a:ext cx="502920" cy="502920"/>
          </a:xfrm>
          <a:prstGeom prst="ellipse">
            <a:avLst/>
          </a:prstGeom>
          <a:solidFill>
            <a:srgbClr val="028090"/>
          </a:solidFill>
          <a:ln/>
        </p:spPr>
      </p:sp>
      <p:pic>
        <p:nvPicPr>
          <p:cNvPr id="9" name="Image 1" descr="preencoded.png">    </p:cNvPr>
          <p:cNvPicPr>
            <a:picLocks noChangeAspect="1"/>
          </p:cNvPicPr>
          <p:nvPr/>
        </p:nvPicPr>
        <p:blipFill>
          <a:blip r:embed="rId2"/>
          <a:stretch>
            <a:fillRect/>
          </a:stretch>
        </p:blipFill>
        <p:spPr>
          <a:xfrm>
            <a:off x="815188" y="2369668"/>
            <a:ext cx="372161" cy="372161"/>
          </a:xfrm>
          <a:prstGeom prst="rect">
            <a:avLst/>
          </a:prstGeom>
        </p:spPr>
      </p:pic>
      <p:sp>
        <p:nvSpPr>
          <p:cNvPr id="10" name="Text 6"/>
          <p:cNvSpPr/>
          <p:nvPr/>
        </p:nvSpPr>
        <p:spPr>
          <a:xfrm>
            <a:off x="1399032" y="2276856"/>
            <a:ext cx="2560320"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Кто и что спросил</a:t>
            </a:r>
            <a:endParaRPr lang="en-US" sz="1350" dirty="0"/>
          </a:p>
        </p:txBody>
      </p:sp>
      <p:sp>
        <p:nvSpPr>
          <p:cNvPr id="11" name="Text 7"/>
          <p:cNvSpPr/>
          <p:nvPr/>
        </p:nvSpPr>
        <p:spPr>
          <a:xfrm>
            <a:off x="749808" y="2898648"/>
            <a:ext cx="3209544" cy="96926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Пользователь, вопрос, время обращения</a:t>
            </a:r>
            <a:endParaRPr lang="en-US" sz="1150" dirty="0"/>
          </a:p>
        </p:txBody>
      </p:sp>
      <p:sp>
        <p:nvSpPr>
          <p:cNvPr id="12" name="Shape 8"/>
          <p:cNvSpPr/>
          <p:nvPr/>
        </p:nvSpPr>
        <p:spPr>
          <a:xfrm>
            <a:off x="4288536" y="2103120"/>
            <a:ext cx="3611880" cy="1965960"/>
          </a:xfrm>
          <a:prstGeom prst="roundRect">
            <a:avLst>
              <a:gd name="adj" fmla="val 4186"/>
            </a:avLst>
          </a:prstGeom>
          <a:solidFill>
            <a:srgbClr val="F2FAF9"/>
          </a:solidFill>
          <a:ln/>
          <a:effectLst>
            <a:outerShdw sx="100000" sy="100000" kx="0" ky="0" algn="bl" rotWithShape="0" blurRad="76200" dist="25400" dir="5400000">
              <a:srgbClr val="0F3B3A">
                <a:alpha val="18000"/>
              </a:srgbClr>
            </a:outerShdw>
          </a:effectLst>
        </p:spPr>
      </p:sp>
      <p:sp>
        <p:nvSpPr>
          <p:cNvPr id="13" name="Shape 9"/>
          <p:cNvSpPr/>
          <p:nvPr/>
        </p:nvSpPr>
        <p:spPr>
          <a:xfrm>
            <a:off x="4489704" y="2304288"/>
            <a:ext cx="502920" cy="502920"/>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4555084" y="2369668"/>
            <a:ext cx="372161" cy="372161"/>
          </a:xfrm>
          <a:prstGeom prst="rect">
            <a:avLst/>
          </a:prstGeom>
        </p:spPr>
      </p:pic>
      <p:sp>
        <p:nvSpPr>
          <p:cNvPr id="15" name="Text 10"/>
          <p:cNvSpPr/>
          <p:nvPr/>
        </p:nvSpPr>
        <p:spPr>
          <a:xfrm>
            <a:off x="5138928" y="2276856"/>
            <a:ext cx="2560320"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Что скрыли</a:t>
            </a:r>
            <a:endParaRPr lang="en-US" sz="1350" dirty="0"/>
          </a:p>
        </p:txBody>
      </p:sp>
      <p:sp>
        <p:nvSpPr>
          <p:cNvPr id="16" name="Text 11"/>
          <p:cNvSpPr/>
          <p:nvPr/>
        </p:nvSpPr>
        <p:spPr>
          <a:xfrm>
            <a:off x="4489704" y="2898648"/>
            <a:ext cx="3209544" cy="96926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Обезличенный текст + категории найденных сущностей (например, «ФИО», «ИНН») — без самих значений</a:t>
            </a:r>
            <a:endParaRPr lang="en-US" sz="1150" dirty="0"/>
          </a:p>
        </p:txBody>
      </p:sp>
      <p:sp>
        <p:nvSpPr>
          <p:cNvPr id="17" name="Shape 12"/>
          <p:cNvSpPr/>
          <p:nvPr/>
        </p:nvSpPr>
        <p:spPr>
          <a:xfrm>
            <a:off x="8028432" y="2103120"/>
            <a:ext cx="3611880" cy="1965960"/>
          </a:xfrm>
          <a:prstGeom prst="roundRect">
            <a:avLst>
              <a:gd name="adj" fmla="val 4186"/>
            </a:avLst>
          </a:prstGeom>
          <a:solidFill>
            <a:srgbClr val="F2FAF9"/>
          </a:solidFill>
          <a:ln/>
          <a:effectLst>
            <a:outerShdw sx="100000" sy="100000" kx="0" ky="0" algn="bl" rotWithShape="0" blurRad="76200" dist="25400" dir="5400000">
              <a:srgbClr val="0F3B3A">
                <a:alpha val="18000"/>
              </a:srgbClr>
            </a:outerShdw>
          </a:effectLst>
        </p:spPr>
      </p:sp>
      <p:sp>
        <p:nvSpPr>
          <p:cNvPr id="18" name="Shape 13"/>
          <p:cNvSpPr/>
          <p:nvPr/>
        </p:nvSpPr>
        <p:spPr>
          <a:xfrm>
            <a:off x="8229600" y="2304288"/>
            <a:ext cx="502920" cy="502920"/>
          </a:xfrm>
          <a:prstGeom prst="ellipse">
            <a:avLst/>
          </a:prstGeom>
          <a:solidFill>
            <a:srgbClr val="028090"/>
          </a:solidFill>
          <a:ln/>
        </p:spPr>
      </p:sp>
      <p:pic>
        <p:nvPicPr>
          <p:cNvPr id="19" name="Image 3" descr="preencoded.png">    </p:cNvPr>
          <p:cNvPicPr>
            <a:picLocks noChangeAspect="1"/>
          </p:cNvPicPr>
          <p:nvPr/>
        </p:nvPicPr>
        <p:blipFill>
          <a:blip r:embed="rId4"/>
          <a:stretch>
            <a:fillRect/>
          </a:stretch>
        </p:blipFill>
        <p:spPr>
          <a:xfrm>
            <a:off x="8294980" y="2369668"/>
            <a:ext cx="372161" cy="372161"/>
          </a:xfrm>
          <a:prstGeom prst="rect">
            <a:avLst/>
          </a:prstGeom>
        </p:spPr>
      </p:pic>
      <p:sp>
        <p:nvSpPr>
          <p:cNvPr id="20" name="Text 14"/>
          <p:cNvSpPr/>
          <p:nvPr/>
        </p:nvSpPr>
        <p:spPr>
          <a:xfrm>
            <a:off x="8878824" y="2276856"/>
            <a:ext cx="2560320" cy="502920"/>
          </a:xfrm>
          <a:prstGeom prst="rect">
            <a:avLst/>
          </a:prstGeom>
          <a:noFill/>
          <a:ln/>
        </p:spPr>
        <p:txBody>
          <a:bodyPr wrap="square" lIns="0" tIns="0" rIns="0" bIns="0" rtlCol="0" anchor="ctr"/>
          <a:lstStyle/>
          <a:p>
            <a:pPr algn="l" indent="0" marL="0">
              <a:buNone/>
            </a:pPr>
            <a:r>
              <a:rPr lang="en-US" sz="1350" b="1" dirty="0">
                <a:solidFill>
                  <a:srgbClr val="17282A"/>
                </a:solidFill>
                <a:latin typeface="Cambria" pitchFamily="34" charset="0"/>
                <a:ea typeface="Cambria" pitchFamily="34" charset="-122"/>
                <a:cs typeface="Cambria" pitchFamily="34" charset="-120"/>
              </a:rPr>
              <a:t>Какая модель отвечала</a:t>
            </a:r>
            <a:endParaRPr lang="en-US" sz="1350" dirty="0"/>
          </a:p>
        </p:txBody>
      </p:sp>
      <p:sp>
        <p:nvSpPr>
          <p:cNvPr id="21" name="Text 15"/>
          <p:cNvSpPr/>
          <p:nvPr/>
        </p:nvSpPr>
        <p:spPr>
          <a:xfrm>
            <a:off x="8229600" y="2898648"/>
            <a:ext cx="3209544" cy="969264"/>
          </a:xfrm>
          <a:prstGeom prst="rect">
            <a:avLst/>
          </a:prstGeom>
          <a:noFill/>
          <a:ln/>
        </p:spPr>
        <p:txBody>
          <a:bodyPr wrap="square" lIns="0" tIns="0" rIns="0" bIns="0" rtlCol="0" anchor="t"/>
          <a:lstStyle/>
          <a:p>
            <a:pPr algn="l" indent="0" marL="0">
              <a:lnSpc>
                <a:spcPct val="112000"/>
              </a:lnSpc>
              <a:buNone/>
            </a:pPr>
            <a:r>
              <a:rPr lang="en-US" sz="1150" dirty="0">
                <a:solidFill>
                  <a:srgbClr val="55696B"/>
                </a:solidFill>
                <a:latin typeface="Calibri" pitchFamily="34" charset="0"/>
                <a:ea typeface="Calibri" pitchFamily="34" charset="-122"/>
                <a:cs typeface="Calibri" pitchFamily="34" charset="-120"/>
              </a:rPr>
              <a:t>Провайдер и модель, обработавшая запрос — для последующего аудита</a:t>
            </a:r>
            <a:endParaRPr lang="en-US" sz="1150" dirty="0"/>
          </a:p>
        </p:txBody>
      </p:sp>
      <p:sp>
        <p:nvSpPr>
          <p:cNvPr id="22" name="Shape 16"/>
          <p:cNvSpPr/>
          <p:nvPr/>
        </p:nvSpPr>
        <p:spPr>
          <a:xfrm>
            <a:off x="548640" y="4251960"/>
            <a:ext cx="11091672" cy="1234440"/>
          </a:xfrm>
          <a:prstGeom prst="roundRect">
            <a:avLst>
              <a:gd name="adj" fmla="val 7407"/>
            </a:avLst>
          </a:prstGeom>
          <a:solidFill>
            <a:srgbClr val="013A40"/>
          </a:solidFill>
          <a:ln/>
        </p:spPr>
      </p:sp>
      <p:sp>
        <p:nvSpPr>
          <p:cNvPr id="23" name="Text 17"/>
          <p:cNvSpPr/>
          <p:nvPr/>
        </p:nvSpPr>
        <p:spPr>
          <a:xfrm>
            <a:off x="868680" y="4389120"/>
            <a:ext cx="5486400" cy="292608"/>
          </a:xfrm>
          <a:prstGeom prst="rect">
            <a:avLst/>
          </a:prstGeom>
          <a:noFill/>
          <a:ln/>
        </p:spPr>
        <p:txBody>
          <a:bodyPr wrap="square" lIns="0" tIns="0" rIns="0" bIns="0" rtlCol="0" anchor="ctr"/>
          <a:lstStyle/>
          <a:p>
            <a:pPr indent="0" marL="0">
              <a:buNone/>
            </a:pPr>
            <a:r>
              <a:rPr lang="en-US" sz="1350" b="1" dirty="0">
                <a:solidFill>
                  <a:srgbClr val="02C39A"/>
                </a:solidFill>
                <a:latin typeface="Cambria" pitchFamily="34" charset="0"/>
                <a:ea typeface="Cambria" pitchFamily="34" charset="-122"/>
                <a:cs typeface="Cambria" pitchFamily="34" charset="-120"/>
              </a:rPr>
              <a:t>Зачем прятать значения даже в журнале</a:t>
            </a:r>
            <a:endParaRPr lang="en-US" sz="1350" dirty="0"/>
          </a:p>
        </p:txBody>
      </p:sp>
      <p:sp>
        <p:nvSpPr>
          <p:cNvPr id="24" name="Text 18"/>
          <p:cNvSpPr/>
          <p:nvPr/>
        </p:nvSpPr>
        <p:spPr>
          <a:xfrm>
            <a:off x="868680" y="4690872"/>
            <a:ext cx="10424160" cy="77724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Журнал аудита сам по себе не должен становиться новым источником утечки: если бы в него писались реальные ФИО, номера счетов и другие значения, компрометация журнала была бы равносильна компрометации исходных документов. По умолчанию — только маскированный текст (append-only, режим «только добавление»); отдельный полностью зашифрованный режим с сырыми значениями включается явно и имеет собственный срок хранения.</a:t>
            </a:r>
            <a:endParaRPr lang="en-US" sz="1150" dirty="0"/>
          </a:p>
        </p:txBody>
      </p:sp>
      <p:sp>
        <p:nvSpPr>
          <p:cNvPr id="25" name="Text 1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Журналирование</a:t>
            </a:r>
            <a:endParaRPr lang="en-US" sz="1000" dirty="0"/>
          </a:p>
        </p:txBody>
      </p:sp>
      <p:sp>
        <p:nvSpPr>
          <p:cNvPr id="26" name="Text 20"/>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21 / 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ИТОГОВАЯ СХЕМА</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Весь пайплайн целиком</a:t>
            </a:r>
            <a:endParaRPr lang="en-US" sz="2400" dirty="0"/>
          </a:p>
        </p:txBody>
      </p:sp>
      <p:sp>
        <p:nvSpPr>
          <p:cNvPr id="4" name="Shape 2"/>
          <p:cNvSpPr/>
          <p:nvPr/>
        </p:nvSpPr>
        <p:spPr>
          <a:xfrm>
            <a:off x="10515600" y="292608"/>
            <a:ext cx="777240" cy="77724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16641" y="393649"/>
            <a:ext cx="575158" cy="575158"/>
          </a:xfrm>
          <a:prstGeom prst="rect">
            <a:avLst/>
          </a:prstGeom>
        </p:spPr>
      </p:pic>
      <p:sp>
        <p:nvSpPr>
          <p:cNvPr id="6" name="Shape 3"/>
          <p:cNvSpPr/>
          <p:nvPr/>
        </p:nvSpPr>
        <p:spPr>
          <a:xfrm>
            <a:off x="548640" y="14173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7" name="Shape 4"/>
          <p:cNvSpPr/>
          <p:nvPr/>
        </p:nvSpPr>
        <p:spPr>
          <a:xfrm>
            <a:off x="1284732" y="1536192"/>
            <a:ext cx="502920" cy="502920"/>
          </a:xfrm>
          <a:prstGeom prst="ellipse">
            <a:avLst/>
          </a:prstGeom>
          <a:solidFill>
            <a:srgbClr val="028090"/>
          </a:solidFill>
          <a:ln/>
        </p:spPr>
      </p:sp>
      <p:pic>
        <p:nvPicPr>
          <p:cNvPr id="8" name="Image 1" descr="preencoded.png">    </p:cNvPr>
          <p:cNvPicPr>
            <a:picLocks noChangeAspect="1"/>
          </p:cNvPicPr>
          <p:nvPr/>
        </p:nvPicPr>
        <p:blipFill>
          <a:blip r:embed="rId2"/>
          <a:stretch>
            <a:fillRect/>
          </a:stretch>
        </p:blipFill>
        <p:spPr>
          <a:xfrm>
            <a:off x="1350112" y="1601572"/>
            <a:ext cx="372161" cy="372161"/>
          </a:xfrm>
          <a:prstGeom prst="rect">
            <a:avLst/>
          </a:prstGeom>
        </p:spPr>
      </p:pic>
      <p:sp>
        <p:nvSpPr>
          <p:cNvPr id="9" name="Text 5"/>
          <p:cNvSpPr/>
          <p:nvPr/>
        </p:nvSpPr>
        <p:spPr>
          <a:xfrm>
            <a:off x="594360" y="21031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Вопрос</a:t>
            </a:r>
            <a:endParaRPr lang="en-US" sz="1050" dirty="0"/>
          </a:p>
        </p:txBody>
      </p:sp>
      <p:sp>
        <p:nvSpPr>
          <p:cNvPr id="10" name="Shape 6"/>
          <p:cNvSpPr/>
          <p:nvPr/>
        </p:nvSpPr>
        <p:spPr>
          <a:xfrm>
            <a:off x="2551176" y="2034540"/>
            <a:ext cx="164592" cy="9144"/>
          </a:xfrm>
          <a:prstGeom prst="line">
            <a:avLst/>
          </a:prstGeom>
          <a:noFill/>
          <a:ln w="28575">
            <a:solidFill>
              <a:srgbClr val="028090"/>
            </a:solidFill>
            <a:prstDash val="solid"/>
            <a:tailEnd type="triangle"/>
          </a:ln>
        </p:spPr>
      </p:sp>
      <p:sp>
        <p:nvSpPr>
          <p:cNvPr id="11" name="Shape 7"/>
          <p:cNvSpPr/>
          <p:nvPr/>
        </p:nvSpPr>
        <p:spPr>
          <a:xfrm>
            <a:off x="2743200" y="14173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12" name="Shape 8"/>
          <p:cNvSpPr/>
          <p:nvPr/>
        </p:nvSpPr>
        <p:spPr>
          <a:xfrm>
            <a:off x="3479292" y="1536192"/>
            <a:ext cx="502920" cy="502920"/>
          </a:xfrm>
          <a:prstGeom prst="ellipse">
            <a:avLst/>
          </a:prstGeom>
          <a:solidFill>
            <a:srgbClr val="02555C"/>
          </a:solidFill>
          <a:ln/>
        </p:spPr>
      </p:sp>
      <p:pic>
        <p:nvPicPr>
          <p:cNvPr id="13" name="Image 2" descr="preencoded.png">    </p:cNvPr>
          <p:cNvPicPr>
            <a:picLocks noChangeAspect="1"/>
          </p:cNvPicPr>
          <p:nvPr/>
        </p:nvPicPr>
        <p:blipFill>
          <a:blip r:embed="rId3"/>
          <a:stretch>
            <a:fillRect/>
          </a:stretch>
        </p:blipFill>
        <p:spPr>
          <a:xfrm>
            <a:off x="3544672" y="1601572"/>
            <a:ext cx="372161" cy="372161"/>
          </a:xfrm>
          <a:prstGeom prst="rect">
            <a:avLst/>
          </a:prstGeom>
        </p:spPr>
      </p:pic>
      <p:sp>
        <p:nvSpPr>
          <p:cNvPr id="14" name="Text 9"/>
          <p:cNvSpPr/>
          <p:nvPr/>
        </p:nvSpPr>
        <p:spPr>
          <a:xfrm>
            <a:off x="2788920" y="21031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Проверка</a:t>
            </a:r>
            <a:endParaRPr lang="en-US" sz="1050" dirty="0"/>
          </a:p>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доступа</a:t>
            </a:r>
            <a:endParaRPr lang="en-US" sz="1050" dirty="0"/>
          </a:p>
        </p:txBody>
      </p:sp>
      <p:sp>
        <p:nvSpPr>
          <p:cNvPr id="15" name="Shape 10"/>
          <p:cNvSpPr/>
          <p:nvPr/>
        </p:nvSpPr>
        <p:spPr>
          <a:xfrm>
            <a:off x="4745736" y="2034540"/>
            <a:ext cx="164592" cy="9144"/>
          </a:xfrm>
          <a:prstGeom prst="line">
            <a:avLst/>
          </a:prstGeom>
          <a:noFill/>
          <a:ln w="28575">
            <a:solidFill>
              <a:srgbClr val="028090"/>
            </a:solidFill>
            <a:prstDash val="solid"/>
            <a:tailEnd type="triangle"/>
          </a:ln>
        </p:spPr>
      </p:sp>
      <p:sp>
        <p:nvSpPr>
          <p:cNvPr id="16" name="Shape 11"/>
          <p:cNvSpPr/>
          <p:nvPr/>
        </p:nvSpPr>
        <p:spPr>
          <a:xfrm>
            <a:off x="4937760" y="14173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17" name="Shape 12"/>
          <p:cNvSpPr/>
          <p:nvPr/>
        </p:nvSpPr>
        <p:spPr>
          <a:xfrm>
            <a:off x="5673852" y="1536192"/>
            <a:ext cx="502920" cy="502920"/>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5739232" y="1601572"/>
            <a:ext cx="372161" cy="372161"/>
          </a:xfrm>
          <a:prstGeom prst="rect">
            <a:avLst/>
          </a:prstGeom>
        </p:spPr>
      </p:pic>
      <p:sp>
        <p:nvSpPr>
          <p:cNvPr id="19" name="Text 13"/>
          <p:cNvSpPr/>
          <p:nvPr/>
        </p:nvSpPr>
        <p:spPr>
          <a:xfrm>
            <a:off x="4983480" y="21031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Гибридный</a:t>
            </a:r>
            <a:endParaRPr lang="en-US" sz="1050" dirty="0"/>
          </a:p>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поиск</a:t>
            </a:r>
            <a:endParaRPr lang="en-US" sz="1050" dirty="0"/>
          </a:p>
        </p:txBody>
      </p:sp>
      <p:sp>
        <p:nvSpPr>
          <p:cNvPr id="20" name="Shape 14"/>
          <p:cNvSpPr/>
          <p:nvPr/>
        </p:nvSpPr>
        <p:spPr>
          <a:xfrm>
            <a:off x="6940296" y="2034540"/>
            <a:ext cx="164592" cy="9144"/>
          </a:xfrm>
          <a:prstGeom prst="line">
            <a:avLst/>
          </a:prstGeom>
          <a:noFill/>
          <a:ln w="28575">
            <a:solidFill>
              <a:srgbClr val="028090"/>
            </a:solidFill>
            <a:prstDash val="solid"/>
            <a:tailEnd type="triangle"/>
          </a:ln>
        </p:spPr>
      </p:sp>
      <p:sp>
        <p:nvSpPr>
          <p:cNvPr id="21" name="Shape 15"/>
          <p:cNvSpPr/>
          <p:nvPr/>
        </p:nvSpPr>
        <p:spPr>
          <a:xfrm>
            <a:off x="7132320" y="14173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22" name="Shape 16"/>
          <p:cNvSpPr/>
          <p:nvPr/>
        </p:nvSpPr>
        <p:spPr>
          <a:xfrm>
            <a:off x="7868412" y="1536192"/>
            <a:ext cx="502920" cy="502920"/>
          </a:xfrm>
          <a:prstGeom prst="ellipse">
            <a:avLst/>
          </a:prstGeom>
          <a:solidFill>
            <a:srgbClr val="028090"/>
          </a:solidFill>
          <a:ln/>
        </p:spPr>
      </p:sp>
      <p:pic>
        <p:nvPicPr>
          <p:cNvPr id="23" name="Image 4" descr="preencoded.png">    </p:cNvPr>
          <p:cNvPicPr>
            <a:picLocks noChangeAspect="1"/>
          </p:cNvPicPr>
          <p:nvPr/>
        </p:nvPicPr>
        <p:blipFill>
          <a:blip r:embed="rId5"/>
          <a:stretch>
            <a:fillRect/>
          </a:stretch>
        </p:blipFill>
        <p:spPr>
          <a:xfrm>
            <a:off x="7933792" y="1601572"/>
            <a:ext cx="372161" cy="372161"/>
          </a:xfrm>
          <a:prstGeom prst="rect">
            <a:avLst/>
          </a:prstGeom>
        </p:spPr>
      </p:pic>
      <p:sp>
        <p:nvSpPr>
          <p:cNvPr id="24" name="Text 17"/>
          <p:cNvSpPr/>
          <p:nvPr/>
        </p:nvSpPr>
        <p:spPr>
          <a:xfrm>
            <a:off x="7178040" y="21031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top-K</a:t>
            </a:r>
            <a:endParaRPr lang="en-US" sz="1050" dirty="0"/>
          </a:p>
        </p:txBody>
      </p:sp>
      <p:sp>
        <p:nvSpPr>
          <p:cNvPr id="25" name="Shape 18"/>
          <p:cNvSpPr/>
          <p:nvPr/>
        </p:nvSpPr>
        <p:spPr>
          <a:xfrm>
            <a:off x="9134856" y="2034540"/>
            <a:ext cx="164592" cy="9144"/>
          </a:xfrm>
          <a:prstGeom prst="line">
            <a:avLst/>
          </a:prstGeom>
          <a:noFill/>
          <a:ln w="28575">
            <a:solidFill>
              <a:srgbClr val="028090"/>
            </a:solidFill>
            <a:prstDash val="solid"/>
            <a:tailEnd type="triangle"/>
          </a:ln>
        </p:spPr>
      </p:sp>
      <p:sp>
        <p:nvSpPr>
          <p:cNvPr id="26" name="Shape 19"/>
          <p:cNvSpPr/>
          <p:nvPr/>
        </p:nvSpPr>
        <p:spPr>
          <a:xfrm>
            <a:off x="9326880" y="14173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27" name="Shape 20"/>
          <p:cNvSpPr/>
          <p:nvPr/>
        </p:nvSpPr>
        <p:spPr>
          <a:xfrm>
            <a:off x="10062972" y="1536192"/>
            <a:ext cx="502920" cy="502920"/>
          </a:xfrm>
          <a:prstGeom prst="ellipse">
            <a:avLst/>
          </a:prstGeom>
          <a:solidFill>
            <a:srgbClr val="028090"/>
          </a:solidFill>
          <a:ln/>
        </p:spPr>
      </p:sp>
      <p:pic>
        <p:nvPicPr>
          <p:cNvPr id="28" name="Image 5" descr="preencoded.png">    </p:cNvPr>
          <p:cNvPicPr>
            <a:picLocks noChangeAspect="1"/>
          </p:cNvPicPr>
          <p:nvPr/>
        </p:nvPicPr>
        <p:blipFill>
          <a:blip r:embed="rId6"/>
          <a:stretch>
            <a:fillRect/>
          </a:stretch>
        </p:blipFill>
        <p:spPr>
          <a:xfrm>
            <a:off x="10128352" y="1601572"/>
            <a:ext cx="372161" cy="372161"/>
          </a:xfrm>
          <a:prstGeom prst="rect">
            <a:avLst/>
          </a:prstGeom>
        </p:spPr>
      </p:pic>
      <p:sp>
        <p:nvSpPr>
          <p:cNvPr id="29" name="Text 21"/>
          <p:cNvSpPr/>
          <p:nvPr/>
        </p:nvSpPr>
        <p:spPr>
          <a:xfrm>
            <a:off x="9372600" y="21031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Реранкинг</a:t>
            </a:r>
            <a:endParaRPr lang="en-US" sz="1050" dirty="0"/>
          </a:p>
        </p:txBody>
      </p:sp>
      <p:sp>
        <p:nvSpPr>
          <p:cNvPr id="30" name="Shape 22"/>
          <p:cNvSpPr/>
          <p:nvPr/>
        </p:nvSpPr>
        <p:spPr>
          <a:xfrm>
            <a:off x="548640" y="32461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31" name="Shape 23"/>
          <p:cNvSpPr/>
          <p:nvPr/>
        </p:nvSpPr>
        <p:spPr>
          <a:xfrm>
            <a:off x="1284732" y="3364992"/>
            <a:ext cx="502920" cy="502920"/>
          </a:xfrm>
          <a:prstGeom prst="ellipse">
            <a:avLst/>
          </a:prstGeom>
          <a:solidFill>
            <a:srgbClr val="028090"/>
          </a:solidFill>
          <a:ln/>
        </p:spPr>
      </p:sp>
      <p:pic>
        <p:nvPicPr>
          <p:cNvPr id="32" name="Image 6" descr="preencoded.png">    </p:cNvPr>
          <p:cNvPicPr>
            <a:picLocks noChangeAspect="1"/>
          </p:cNvPicPr>
          <p:nvPr/>
        </p:nvPicPr>
        <p:blipFill>
          <a:blip r:embed="rId7"/>
          <a:stretch>
            <a:fillRect/>
          </a:stretch>
        </p:blipFill>
        <p:spPr>
          <a:xfrm>
            <a:off x="1350112" y="3430372"/>
            <a:ext cx="372161" cy="372161"/>
          </a:xfrm>
          <a:prstGeom prst="rect">
            <a:avLst/>
          </a:prstGeom>
        </p:spPr>
      </p:pic>
      <p:sp>
        <p:nvSpPr>
          <p:cNvPr id="33" name="Text 24"/>
          <p:cNvSpPr/>
          <p:nvPr/>
        </p:nvSpPr>
        <p:spPr>
          <a:xfrm>
            <a:off x="594360" y="39319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LLM-судья</a:t>
            </a:r>
            <a:endParaRPr lang="en-US" sz="1050" dirty="0"/>
          </a:p>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(спорные)</a:t>
            </a:r>
            <a:endParaRPr lang="en-US" sz="1050" dirty="0"/>
          </a:p>
        </p:txBody>
      </p:sp>
      <p:sp>
        <p:nvSpPr>
          <p:cNvPr id="34" name="Shape 25"/>
          <p:cNvSpPr/>
          <p:nvPr/>
        </p:nvSpPr>
        <p:spPr>
          <a:xfrm>
            <a:off x="2551176" y="3863340"/>
            <a:ext cx="164592" cy="9144"/>
          </a:xfrm>
          <a:prstGeom prst="line">
            <a:avLst/>
          </a:prstGeom>
          <a:noFill/>
          <a:ln w="28575">
            <a:solidFill>
              <a:srgbClr val="028090"/>
            </a:solidFill>
            <a:prstDash val="solid"/>
            <a:tailEnd type="triangle"/>
          </a:ln>
        </p:spPr>
      </p:sp>
      <p:sp>
        <p:nvSpPr>
          <p:cNvPr id="35" name="Shape 26"/>
          <p:cNvSpPr/>
          <p:nvPr/>
        </p:nvSpPr>
        <p:spPr>
          <a:xfrm>
            <a:off x="2743200" y="32461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36" name="Shape 27"/>
          <p:cNvSpPr/>
          <p:nvPr/>
        </p:nvSpPr>
        <p:spPr>
          <a:xfrm>
            <a:off x="3479292" y="3364992"/>
            <a:ext cx="502920" cy="502920"/>
          </a:xfrm>
          <a:prstGeom prst="ellipse">
            <a:avLst/>
          </a:prstGeom>
          <a:solidFill>
            <a:srgbClr val="02555C"/>
          </a:solidFill>
          <a:ln/>
        </p:spPr>
      </p:sp>
      <p:pic>
        <p:nvPicPr>
          <p:cNvPr id="37" name="Image 7" descr="preencoded.png">    </p:cNvPr>
          <p:cNvPicPr>
            <a:picLocks noChangeAspect="1"/>
          </p:cNvPicPr>
          <p:nvPr/>
        </p:nvPicPr>
        <p:blipFill>
          <a:blip r:embed="rId8"/>
          <a:stretch>
            <a:fillRect/>
          </a:stretch>
        </p:blipFill>
        <p:spPr>
          <a:xfrm>
            <a:off x="3544672" y="3430372"/>
            <a:ext cx="372161" cy="372161"/>
          </a:xfrm>
          <a:prstGeom prst="rect">
            <a:avLst/>
          </a:prstGeom>
        </p:spPr>
      </p:pic>
      <p:sp>
        <p:nvSpPr>
          <p:cNvPr id="38" name="Text 28"/>
          <p:cNvSpPr/>
          <p:nvPr/>
        </p:nvSpPr>
        <p:spPr>
          <a:xfrm>
            <a:off x="2788920" y="39319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Маскирование</a:t>
            </a:r>
            <a:endParaRPr lang="en-US" sz="1050" dirty="0"/>
          </a:p>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(если внешняя)</a:t>
            </a:r>
            <a:endParaRPr lang="en-US" sz="1050" dirty="0"/>
          </a:p>
        </p:txBody>
      </p:sp>
      <p:sp>
        <p:nvSpPr>
          <p:cNvPr id="39" name="Shape 29"/>
          <p:cNvSpPr/>
          <p:nvPr/>
        </p:nvSpPr>
        <p:spPr>
          <a:xfrm>
            <a:off x="4745736" y="3863340"/>
            <a:ext cx="164592" cy="9144"/>
          </a:xfrm>
          <a:prstGeom prst="line">
            <a:avLst/>
          </a:prstGeom>
          <a:noFill/>
          <a:ln w="28575">
            <a:solidFill>
              <a:srgbClr val="028090"/>
            </a:solidFill>
            <a:prstDash val="solid"/>
            <a:tailEnd type="triangle"/>
          </a:ln>
        </p:spPr>
      </p:sp>
      <p:sp>
        <p:nvSpPr>
          <p:cNvPr id="40" name="Shape 30"/>
          <p:cNvSpPr/>
          <p:nvPr/>
        </p:nvSpPr>
        <p:spPr>
          <a:xfrm>
            <a:off x="4937760" y="32461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41" name="Shape 31"/>
          <p:cNvSpPr/>
          <p:nvPr/>
        </p:nvSpPr>
        <p:spPr>
          <a:xfrm>
            <a:off x="5673852" y="3364992"/>
            <a:ext cx="502920" cy="502920"/>
          </a:xfrm>
          <a:prstGeom prst="ellipse">
            <a:avLst/>
          </a:prstGeom>
          <a:solidFill>
            <a:srgbClr val="02C39A"/>
          </a:solidFill>
          <a:ln/>
        </p:spPr>
      </p:sp>
      <p:pic>
        <p:nvPicPr>
          <p:cNvPr id="42" name="Image 8" descr="preencoded.png">    </p:cNvPr>
          <p:cNvPicPr>
            <a:picLocks noChangeAspect="1"/>
          </p:cNvPicPr>
          <p:nvPr/>
        </p:nvPicPr>
        <p:blipFill>
          <a:blip r:embed="rId9"/>
          <a:stretch>
            <a:fillRect/>
          </a:stretch>
        </p:blipFill>
        <p:spPr>
          <a:xfrm>
            <a:off x="5739232" y="3430372"/>
            <a:ext cx="372161" cy="372161"/>
          </a:xfrm>
          <a:prstGeom prst="rect">
            <a:avLst/>
          </a:prstGeom>
        </p:spPr>
      </p:pic>
      <p:sp>
        <p:nvSpPr>
          <p:cNvPr id="43" name="Text 32"/>
          <p:cNvSpPr/>
          <p:nvPr/>
        </p:nvSpPr>
        <p:spPr>
          <a:xfrm>
            <a:off x="4983480" y="39319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Ответ LLM</a:t>
            </a:r>
            <a:endParaRPr lang="en-US" sz="1050" dirty="0"/>
          </a:p>
        </p:txBody>
      </p:sp>
      <p:sp>
        <p:nvSpPr>
          <p:cNvPr id="44" name="Shape 33"/>
          <p:cNvSpPr/>
          <p:nvPr/>
        </p:nvSpPr>
        <p:spPr>
          <a:xfrm>
            <a:off x="6940296" y="3863340"/>
            <a:ext cx="164592" cy="9144"/>
          </a:xfrm>
          <a:prstGeom prst="line">
            <a:avLst/>
          </a:prstGeom>
          <a:noFill/>
          <a:ln w="28575">
            <a:solidFill>
              <a:srgbClr val="028090"/>
            </a:solidFill>
            <a:prstDash val="solid"/>
            <a:tailEnd type="triangle"/>
          </a:ln>
        </p:spPr>
      </p:sp>
      <p:sp>
        <p:nvSpPr>
          <p:cNvPr id="45" name="Shape 34"/>
          <p:cNvSpPr/>
          <p:nvPr/>
        </p:nvSpPr>
        <p:spPr>
          <a:xfrm>
            <a:off x="7132320" y="32461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46" name="Shape 35"/>
          <p:cNvSpPr/>
          <p:nvPr/>
        </p:nvSpPr>
        <p:spPr>
          <a:xfrm>
            <a:off x="7868412" y="3364992"/>
            <a:ext cx="502920" cy="502920"/>
          </a:xfrm>
          <a:prstGeom prst="ellipse">
            <a:avLst/>
          </a:prstGeom>
          <a:solidFill>
            <a:srgbClr val="028090"/>
          </a:solidFill>
          <a:ln/>
        </p:spPr>
      </p:sp>
      <p:pic>
        <p:nvPicPr>
          <p:cNvPr id="47" name="Image 9" descr="preencoded.png">    </p:cNvPr>
          <p:cNvPicPr>
            <a:picLocks noChangeAspect="1"/>
          </p:cNvPicPr>
          <p:nvPr/>
        </p:nvPicPr>
        <p:blipFill>
          <a:blip r:embed="rId10"/>
          <a:stretch>
            <a:fillRect/>
          </a:stretch>
        </p:blipFill>
        <p:spPr>
          <a:xfrm>
            <a:off x="7933792" y="3430372"/>
            <a:ext cx="372161" cy="372161"/>
          </a:xfrm>
          <a:prstGeom prst="rect">
            <a:avLst/>
          </a:prstGeom>
        </p:spPr>
      </p:pic>
      <p:sp>
        <p:nvSpPr>
          <p:cNvPr id="48" name="Text 36"/>
          <p:cNvSpPr/>
          <p:nvPr/>
        </p:nvSpPr>
        <p:spPr>
          <a:xfrm>
            <a:off x="7178040" y="39319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Размаски-</a:t>
            </a:r>
            <a:endParaRPr lang="en-US" sz="1050" dirty="0"/>
          </a:p>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рование</a:t>
            </a:r>
            <a:endParaRPr lang="en-US" sz="1050" dirty="0"/>
          </a:p>
        </p:txBody>
      </p:sp>
      <p:sp>
        <p:nvSpPr>
          <p:cNvPr id="49" name="Shape 37"/>
          <p:cNvSpPr/>
          <p:nvPr/>
        </p:nvSpPr>
        <p:spPr>
          <a:xfrm>
            <a:off x="9134856" y="3863340"/>
            <a:ext cx="164592" cy="9144"/>
          </a:xfrm>
          <a:prstGeom prst="line">
            <a:avLst/>
          </a:prstGeom>
          <a:noFill/>
          <a:ln w="28575">
            <a:solidFill>
              <a:srgbClr val="028090"/>
            </a:solidFill>
            <a:prstDash val="solid"/>
            <a:tailEnd type="triangle"/>
          </a:ln>
        </p:spPr>
      </p:sp>
      <p:sp>
        <p:nvSpPr>
          <p:cNvPr id="50" name="Shape 38"/>
          <p:cNvSpPr/>
          <p:nvPr/>
        </p:nvSpPr>
        <p:spPr>
          <a:xfrm>
            <a:off x="9326880" y="3246120"/>
            <a:ext cx="1975104" cy="1234440"/>
          </a:xfrm>
          <a:prstGeom prst="roundRect">
            <a:avLst>
              <a:gd name="adj" fmla="val 6667"/>
            </a:avLst>
          </a:prstGeom>
          <a:solidFill>
            <a:srgbClr val="F2FAF9"/>
          </a:solidFill>
          <a:ln/>
          <a:effectLst>
            <a:outerShdw sx="100000" sy="100000" kx="0" ky="0" algn="bl" rotWithShape="0" blurRad="50800" dist="12700" dir="5400000">
              <a:srgbClr val="0F3B3A">
                <a:alpha val="15000"/>
              </a:srgbClr>
            </a:outerShdw>
          </a:effectLst>
        </p:spPr>
      </p:sp>
      <p:sp>
        <p:nvSpPr>
          <p:cNvPr id="51" name="Shape 39"/>
          <p:cNvSpPr/>
          <p:nvPr/>
        </p:nvSpPr>
        <p:spPr>
          <a:xfrm>
            <a:off x="10062972" y="3364992"/>
            <a:ext cx="502920" cy="502920"/>
          </a:xfrm>
          <a:prstGeom prst="ellipse">
            <a:avLst/>
          </a:prstGeom>
          <a:solidFill>
            <a:srgbClr val="028090"/>
          </a:solidFill>
          <a:ln/>
        </p:spPr>
      </p:sp>
      <p:pic>
        <p:nvPicPr>
          <p:cNvPr id="52" name="Image 10" descr="preencoded.png">    </p:cNvPr>
          <p:cNvPicPr>
            <a:picLocks noChangeAspect="1"/>
          </p:cNvPicPr>
          <p:nvPr/>
        </p:nvPicPr>
        <p:blipFill>
          <a:blip r:embed="rId11"/>
          <a:stretch>
            <a:fillRect/>
          </a:stretch>
        </p:blipFill>
        <p:spPr>
          <a:xfrm>
            <a:off x="10128352" y="3430372"/>
            <a:ext cx="372161" cy="372161"/>
          </a:xfrm>
          <a:prstGeom prst="rect">
            <a:avLst/>
          </a:prstGeom>
        </p:spPr>
      </p:pic>
      <p:sp>
        <p:nvSpPr>
          <p:cNvPr id="53" name="Text 40"/>
          <p:cNvSpPr/>
          <p:nvPr/>
        </p:nvSpPr>
        <p:spPr>
          <a:xfrm>
            <a:off x="9372600" y="3931920"/>
            <a:ext cx="1883664"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17282A"/>
                </a:solidFill>
                <a:latin typeface="Calibri" pitchFamily="34" charset="0"/>
                <a:ea typeface="Calibri" pitchFamily="34" charset="-122"/>
                <a:cs typeface="Calibri" pitchFamily="34" charset="-120"/>
              </a:rPr>
              <a:t>Журнал</a:t>
            </a:r>
            <a:endParaRPr lang="en-US" sz="1050" dirty="0"/>
          </a:p>
        </p:txBody>
      </p:sp>
      <p:sp>
        <p:nvSpPr>
          <p:cNvPr id="54" name="Shape 41"/>
          <p:cNvSpPr/>
          <p:nvPr/>
        </p:nvSpPr>
        <p:spPr>
          <a:xfrm>
            <a:off x="10314432" y="2688336"/>
            <a:ext cx="9144" cy="347472"/>
          </a:xfrm>
          <a:prstGeom prst="line">
            <a:avLst/>
          </a:prstGeom>
          <a:noFill/>
          <a:ln w="28575">
            <a:solidFill>
              <a:srgbClr val="028090"/>
            </a:solidFill>
            <a:prstDash val="solid"/>
            <a:tailEnd type="triangle"/>
          </a:ln>
        </p:spPr>
      </p:sp>
      <p:sp>
        <p:nvSpPr>
          <p:cNvPr id="55" name="Shape 42"/>
          <p:cNvSpPr/>
          <p:nvPr/>
        </p:nvSpPr>
        <p:spPr>
          <a:xfrm>
            <a:off x="1536192" y="3035808"/>
            <a:ext cx="8778240" cy="0"/>
          </a:xfrm>
          <a:prstGeom prst="line">
            <a:avLst/>
          </a:prstGeom>
          <a:noFill/>
          <a:ln w="28575">
            <a:solidFill>
              <a:srgbClr val="028090"/>
            </a:solidFill>
            <a:prstDash val="solid"/>
          </a:ln>
        </p:spPr>
      </p:sp>
      <p:sp>
        <p:nvSpPr>
          <p:cNvPr id="56" name="Shape 43"/>
          <p:cNvSpPr/>
          <p:nvPr/>
        </p:nvSpPr>
        <p:spPr>
          <a:xfrm>
            <a:off x="1536192" y="3035808"/>
            <a:ext cx="9144" cy="173736"/>
          </a:xfrm>
          <a:prstGeom prst="line">
            <a:avLst/>
          </a:prstGeom>
          <a:noFill/>
          <a:ln w="28575">
            <a:solidFill>
              <a:srgbClr val="028090"/>
            </a:solidFill>
            <a:prstDash val="solid"/>
            <a:tailEnd type="triangle"/>
          </a:ln>
        </p:spPr>
      </p:sp>
      <p:sp>
        <p:nvSpPr>
          <p:cNvPr id="57" name="Shape 44"/>
          <p:cNvSpPr/>
          <p:nvPr/>
        </p:nvSpPr>
        <p:spPr>
          <a:xfrm>
            <a:off x="548640" y="4709160"/>
            <a:ext cx="256032" cy="256032"/>
          </a:xfrm>
          <a:prstGeom prst="ellipse">
            <a:avLst/>
          </a:prstGeom>
          <a:solidFill>
            <a:srgbClr val="028090"/>
          </a:solidFill>
          <a:ln/>
        </p:spPr>
      </p:sp>
      <p:sp>
        <p:nvSpPr>
          <p:cNvPr id="58" name="Text 45"/>
          <p:cNvSpPr/>
          <p:nvPr/>
        </p:nvSpPr>
        <p:spPr>
          <a:xfrm>
            <a:off x="896112" y="4681728"/>
            <a:ext cx="3291840" cy="310896"/>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Поиск / RAG-шаги</a:t>
            </a:r>
            <a:endParaRPr lang="en-US" sz="1150" dirty="0"/>
          </a:p>
        </p:txBody>
      </p:sp>
      <p:sp>
        <p:nvSpPr>
          <p:cNvPr id="59" name="Shape 46"/>
          <p:cNvSpPr/>
          <p:nvPr/>
        </p:nvSpPr>
        <p:spPr>
          <a:xfrm>
            <a:off x="4297680" y="4709160"/>
            <a:ext cx="256032" cy="256032"/>
          </a:xfrm>
          <a:prstGeom prst="ellipse">
            <a:avLst/>
          </a:prstGeom>
          <a:solidFill>
            <a:srgbClr val="02555C"/>
          </a:solidFill>
          <a:ln/>
        </p:spPr>
      </p:sp>
      <p:sp>
        <p:nvSpPr>
          <p:cNvPr id="60" name="Text 47"/>
          <p:cNvSpPr/>
          <p:nvPr/>
        </p:nvSpPr>
        <p:spPr>
          <a:xfrm>
            <a:off x="4645152" y="4681728"/>
            <a:ext cx="3291840" cy="310896"/>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Доступ и защита данных</a:t>
            </a:r>
            <a:endParaRPr lang="en-US" sz="1150" dirty="0"/>
          </a:p>
        </p:txBody>
      </p:sp>
      <p:sp>
        <p:nvSpPr>
          <p:cNvPr id="61" name="Shape 48"/>
          <p:cNvSpPr/>
          <p:nvPr/>
        </p:nvSpPr>
        <p:spPr>
          <a:xfrm>
            <a:off x="8046720" y="4709160"/>
            <a:ext cx="256032" cy="256032"/>
          </a:xfrm>
          <a:prstGeom prst="ellipse">
            <a:avLst/>
          </a:prstGeom>
          <a:solidFill>
            <a:srgbClr val="02C39A"/>
          </a:solidFill>
          <a:ln/>
        </p:spPr>
      </p:sp>
      <p:sp>
        <p:nvSpPr>
          <p:cNvPr id="62" name="Text 49"/>
          <p:cNvSpPr/>
          <p:nvPr/>
        </p:nvSpPr>
        <p:spPr>
          <a:xfrm>
            <a:off x="8394192" y="4681728"/>
            <a:ext cx="3291840" cy="310896"/>
          </a:xfrm>
          <a:prstGeom prst="rect">
            <a:avLst/>
          </a:prstGeom>
          <a:noFill/>
          <a:ln/>
        </p:spPr>
        <p:txBody>
          <a:bodyPr wrap="square" lIns="0" tIns="0" rIns="0" bIns="0" rtlCol="0" anchor="ctr"/>
          <a:lstStyle/>
          <a:p>
            <a:pPr indent="0" marL="0">
              <a:buNone/>
            </a:pPr>
            <a:r>
              <a:rPr lang="en-US" sz="1150" dirty="0">
                <a:solidFill>
                  <a:srgbClr val="17282A"/>
                </a:solidFill>
                <a:latin typeface="Calibri" pitchFamily="34" charset="0"/>
                <a:ea typeface="Calibri" pitchFamily="34" charset="-122"/>
                <a:cs typeface="Calibri" pitchFamily="34" charset="-120"/>
              </a:rPr>
              <a:t>Формирование ответа</a:t>
            </a:r>
            <a:endParaRPr lang="en-US" sz="1150" dirty="0"/>
          </a:p>
        </p:txBody>
      </p:sp>
      <p:sp>
        <p:nvSpPr>
          <p:cNvPr id="63" name="Shape 50"/>
          <p:cNvSpPr/>
          <p:nvPr/>
        </p:nvSpPr>
        <p:spPr>
          <a:xfrm>
            <a:off x="548640" y="5166360"/>
            <a:ext cx="11091672" cy="960120"/>
          </a:xfrm>
          <a:prstGeom prst="roundRect">
            <a:avLst>
              <a:gd name="adj" fmla="val 8571"/>
            </a:avLst>
          </a:prstGeom>
          <a:solidFill>
            <a:srgbClr val="013A40"/>
          </a:solidFill>
          <a:ln/>
        </p:spPr>
      </p:sp>
      <p:sp>
        <p:nvSpPr>
          <p:cNvPr id="64" name="Text 51"/>
          <p:cNvSpPr/>
          <p:nvPr/>
        </p:nvSpPr>
        <p:spPr>
          <a:xfrm>
            <a:off x="822960" y="5166360"/>
            <a:ext cx="10607040" cy="960120"/>
          </a:xfrm>
          <a:prstGeom prst="rect">
            <a:avLst/>
          </a:prstGeom>
          <a:noFill/>
          <a:ln/>
        </p:spPr>
        <p:txBody>
          <a:bodyPr wrap="square" lIns="0" tIns="0" rIns="0" bIns="0"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За каждым узлом этой схемы стоит отдельный слайд этой презентации (8–21) — если что-то не вспоминается сразу, к нему легко вернуться. Начиная с части 2 цикла та же схема будет разбираться уже на реальных экранах платформы.</a:t>
            </a:r>
            <a:endParaRPr lang="en-US" sz="1200" dirty="0"/>
          </a:p>
        </p:txBody>
      </p:sp>
      <p:sp>
        <p:nvSpPr>
          <p:cNvPr id="65" name="Text 52"/>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Итоговая схема</a:t>
            </a:r>
            <a:endParaRPr lang="en-US" sz="1000" dirty="0"/>
          </a:p>
        </p:txBody>
      </p:sp>
      <p:sp>
        <p:nvSpPr>
          <p:cNvPr id="66" name="Text 53"/>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22 / 27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СПРАВОЧНИК</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Глоссарий: ключевые термины одним взглядом</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Shape 3"/>
          <p:cNvSpPr/>
          <p:nvPr/>
        </p:nvSpPr>
        <p:spPr>
          <a:xfrm>
            <a:off x="548640" y="1417320"/>
            <a:ext cx="5468112" cy="640080"/>
          </a:xfrm>
          <a:prstGeom prst="roundRect">
            <a:avLst>
              <a:gd name="adj" fmla="val 8571"/>
            </a:avLst>
          </a:prstGeom>
          <a:solidFill>
            <a:srgbClr val="F2FAF9"/>
          </a:solidFill>
          <a:ln/>
        </p:spPr>
      </p:sp>
      <p:sp>
        <p:nvSpPr>
          <p:cNvPr id="7" name="Text 4"/>
          <p:cNvSpPr/>
          <p:nvPr/>
        </p:nvSpPr>
        <p:spPr>
          <a:xfrm>
            <a:off x="685800" y="1417320"/>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RAG</a:t>
            </a:r>
            <a:endParaRPr lang="en-US" sz="1250" dirty="0"/>
          </a:p>
        </p:txBody>
      </p:sp>
      <p:sp>
        <p:nvSpPr>
          <p:cNvPr id="8" name="Text 5"/>
          <p:cNvSpPr/>
          <p:nvPr/>
        </p:nvSpPr>
        <p:spPr>
          <a:xfrm>
            <a:off x="2240280" y="1417320"/>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Retrieval-Augmented Generation — «сначала найди, потом отвечай»</a:t>
            </a:r>
            <a:endParaRPr lang="en-US" sz="1080" dirty="0"/>
          </a:p>
        </p:txBody>
      </p:sp>
      <p:sp>
        <p:nvSpPr>
          <p:cNvPr id="9" name="Shape 6"/>
          <p:cNvSpPr/>
          <p:nvPr/>
        </p:nvSpPr>
        <p:spPr>
          <a:xfrm>
            <a:off x="548640" y="2139696"/>
            <a:ext cx="5468112" cy="640080"/>
          </a:xfrm>
          <a:prstGeom prst="roundRect">
            <a:avLst>
              <a:gd name="adj" fmla="val 8571"/>
            </a:avLst>
          </a:prstGeom>
          <a:solidFill>
            <a:srgbClr val="FFFFFF"/>
          </a:solidFill>
          <a:ln/>
        </p:spPr>
      </p:sp>
      <p:sp>
        <p:nvSpPr>
          <p:cNvPr id="10" name="Text 7"/>
          <p:cNvSpPr/>
          <p:nvPr/>
        </p:nvSpPr>
        <p:spPr>
          <a:xfrm>
            <a:off x="685800" y="2139696"/>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LLM</a:t>
            </a:r>
            <a:endParaRPr lang="en-US" sz="1250" dirty="0"/>
          </a:p>
        </p:txBody>
      </p:sp>
      <p:sp>
        <p:nvSpPr>
          <p:cNvPr id="11" name="Text 8"/>
          <p:cNvSpPr/>
          <p:nvPr/>
        </p:nvSpPr>
        <p:spPr>
          <a:xfrm>
            <a:off x="2240280" y="2139696"/>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Большая языковая модель — предсказывает наиболее вероятное продолжение текста</a:t>
            </a:r>
            <a:endParaRPr lang="en-US" sz="1080" dirty="0"/>
          </a:p>
        </p:txBody>
      </p:sp>
      <p:sp>
        <p:nvSpPr>
          <p:cNvPr id="12" name="Shape 9"/>
          <p:cNvSpPr/>
          <p:nvPr/>
        </p:nvSpPr>
        <p:spPr>
          <a:xfrm>
            <a:off x="548640" y="2862072"/>
            <a:ext cx="5468112" cy="640080"/>
          </a:xfrm>
          <a:prstGeom prst="roundRect">
            <a:avLst>
              <a:gd name="adj" fmla="val 8571"/>
            </a:avLst>
          </a:prstGeom>
          <a:solidFill>
            <a:srgbClr val="F2FAF9"/>
          </a:solidFill>
          <a:ln/>
        </p:spPr>
      </p:sp>
      <p:sp>
        <p:nvSpPr>
          <p:cNvPr id="13" name="Text 10"/>
          <p:cNvSpPr/>
          <p:nvPr/>
        </p:nvSpPr>
        <p:spPr>
          <a:xfrm>
            <a:off x="685800" y="2862072"/>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Эмбеддинг</a:t>
            </a:r>
            <a:endParaRPr lang="en-US" sz="1250" dirty="0"/>
          </a:p>
        </p:txBody>
      </p:sp>
      <p:sp>
        <p:nvSpPr>
          <p:cNvPr id="14" name="Text 11"/>
          <p:cNvSpPr/>
          <p:nvPr/>
        </p:nvSpPr>
        <p:spPr>
          <a:xfrm>
            <a:off x="2240280" y="2862072"/>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Числовое представление смысла текста — вектор</a:t>
            </a:r>
            <a:endParaRPr lang="en-US" sz="1080" dirty="0"/>
          </a:p>
        </p:txBody>
      </p:sp>
      <p:sp>
        <p:nvSpPr>
          <p:cNvPr id="15" name="Shape 12"/>
          <p:cNvSpPr/>
          <p:nvPr/>
        </p:nvSpPr>
        <p:spPr>
          <a:xfrm>
            <a:off x="548640" y="3584448"/>
            <a:ext cx="5468112" cy="640080"/>
          </a:xfrm>
          <a:prstGeom prst="roundRect">
            <a:avLst>
              <a:gd name="adj" fmla="val 8571"/>
            </a:avLst>
          </a:prstGeom>
          <a:solidFill>
            <a:srgbClr val="FFFFFF"/>
          </a:solidFill>
          <a:ln/>
        </p:spPr>
      </p:sp>
      <p:sp>
        <p:nvSpPr>
          <p:cNvPr id="16" name="Text 13"/>
          <p:cNvSpPr/>
          <p:nvPr/>
        </p:nvSpPr>
        <p:spPr>
          <a:xfrm>
            <a:off x="685800" y="3584448"/>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Вектор</a:t>
            </a:r>
            <a:endParaRPr lang="en-US" sz="1250" dirty="0"/>
          </a:p>
        </p:txBody>
      </p:sp>
      <p:sp>
        <p:nvSpPr>
          <p:cNvPr id="17" name="Text 14"/>
          <p:cNvSpPr/>
          <p:nvPr/>
        </p:nvSpPr>
        <p:spPr>
          <a:xfrm>
            <a:off x="2240280" y="3584448"/>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Набор чисел, отражающий смысл фрагмента текста</a:t>
            </a:r>
            <a:endParaRPr lang="en-US" sz="1080" dirty="0"/>
          </a:p>
        </p:txBody>
      </p:sp>
      <p:sp>
        <p:nvSpPr>
          <p:cNvPr id="18" name="Shape 15"/>
          <p:cNvSpPr/>
          <p:nvPr/>
        </p:nvSpPr>
        <p:spPr>
          <a:xfrm>
            <a:off x="548640" y="4306824"/>
            <a:ext cx="5468112" cy="640080"/>
          </a:xfrm>
          <a:prstGeom prst="roundRect">
            <a:avLst>
              <a:gd name="adj" fmla="val 8571"/>
            </a:avLst>
          </a:prstGeom>
          <a:solidFill>
            <a:srgbClr val="F2FAF9"/>
          </a:solidFill>
          <a:ln/>
        </p:spPr>
      </p:sp>
      <p:sp>
        <p:nvSpPr>
          <p:cNvPr id="19" name="Text 16"/>
          <p:cNvSpPr/>
          <p:nvPr/>
        </p:nvSpPr>
        <p:spPr>
          <a:xfrm>
            <a:off x="685800" y="4306824"/>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Чанк</a:t>
            </a:r>
            <a:endParaRPr lang="en-US" sz="1250" dirty="0"/>
          </a:p>
        </p:txBody>
      </p:sp>
      <p:sp>
        <p:nvSpPr>
          <p:cNvPr id="20" name="Text 17"/>
          <p:cNvSpPr/>
          <p:nvPr/>
        </p:nvSpPr>
        <p:spPr>
          <a:xfrm>
            <a:off x="2240280" y="4306824"/>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Небольшой фрагмент документа после разбивки (chunking)</a:t>
            </a:r>
            <a:endParaRPr lang="en-US" sz="1080" dirty="0"/>
          </a:p>
        </p:txBody>
      </p:sp>
      <p:sp>
        <p:nvSpPr>
          <p:cNvPr id="21" name="Shape 18"/>
          <p:cNvSpPr/>
          <p:nvPr/>
        </p:nvSpPr>
        <p:spPr>
          <a:xfrm>
            <a:off x="548640" y="5029200"/>
            <a:ext cx="5468112" cy="640080"/>
          </a:xfrm>
          <a:prstGeom prst="roundRect">
            <a:avLst>
              <a:gd name="adj" fmla="val 8571"/>
            </a:avLst>
          </a:prstGeom>
          <a:solidFill>
            <a:srgbClr val="FFFFFF"/>
          </a:solidFill>
          <a:ln/>
        </p:spPr>
      </p:sp>
      <p:sp>
        <p:nvSpPr>
          <p:cNvPr id="22" name="Text 19"/>
          <p:cNvSpPr/>
          <p:nvPr/>
        </p:nvSpPr>
        <p:spPr>
          <a:xfrm>
            <a:off x="685800" y="5029200"/>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top-K</a:t>
            </a:r>
            <a:endParaRPr lang="en-US" sz="1250" dirty="0"/>
          </a:p>
        </p:txBody>
      </p:sp>
      <p:sp>
        <p:nvSpPr>
          <p:cNvPr id="23" name="Text 20"/>
          <p:cNvSpPr/>
          <p:nvPr/>
        </p:nvSpPr>
        <p:spPr>
          <a:xfrm>
            <a:off x="2240280" y="5029200"/>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Количество самых релевантных фрагментов, отправляемых в модель (обычно ≈5)</a:t>
            </a:r>
            <a:endParaRPr lang="en-US" sz="1080" dirty="0"/>
          </a:p>
        </p:txBody>
      </p:sp>
      <p:sp>
        <p:nvSpPr>
          <p:cNvPr id="24" name="Shape 21"/>
          <p:cNvSpPr/>
          <p:nvPr/>
        </p:nvSpPr>
        <p:spPr>
          <a:xfrm>
            <a:off x="6172200" y="1417320"/>
            <a:ext cx="5468112" cy="640080"/>
          </a:xfrm>
          <a:prstGeom prst="roundRect">
            <a:avLst>
              <a:gd name="adj" fmla="val 8571"/>
            </a:avLst>
          </a:prstGeom>
          <a:solidFill>
            <a:srgbClr val="F2FAF9"/>
          </a:solidFill>
          <a:ln/>
        </p:spPr>
      </p:sp>
      <p:sp>
        <p:nvSpPr>
          <p:cNvPr id="25" name="Text 22"/>
          <p:cNvSpPr/>
          <p:nvPr/>
        </p:nvSpPr>
        <p:spPr>
          <a:xfrm>
            <a:off x="6309360" y="1417320"/>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Гибридный поиск</a:t>
            </a:r>
            <a:endParaRPr lang="en-US" sz="1250" dirty="0"/>
          </a:p>
        </p:txBody>
      </p:sp>
      <p:sp>
        <p:nvSpPr>
          <p:cNvPr id="26" name="Text 23"/>
          <p:cNvSpPr/>
          <p:nvPr/>
        </p:nvSpPr>
        <p:spPr>
          <a:xfrm>
            <a:off x="7863840" y="1417320"/>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Комбинация лексического и семантического поиска с весами (≈0.7 / 0.3)</a:t>
            </a:r>
            <a:endParaRPr lang="en-US" sz="1080" dirty="0"/>
          </a:p>
        </p:txBody>
      </p:sp>
      <p:sp>
        <p:nvSpPr>
          <p:cNvPr id="27" name="Shape 24"/>
          <p:cNvSpPr/>
          <p:nvPr/>
        </p:nvSpPr>
        <p:spPr>
          <a:xfrm>
            <a:off x="6172200" y="2139696"/>
            <a:ext cx="5468112" cy="640080"/>
          </a:xfrm>
          <a:prstGeom prst="roundRect">
            <a:avLst>
              <a:gd name="adj" fmla="val 8571"/>
            </a:avLst>
          </a:prstGeom>
          <a:solidFill>
            <a:srgbClr val="FFFFFF"/>
          </a:solidFill>
          <a:ln/>
        </p:spPr>
      </p:sp>
      <p:sp>
        <p:nvSpPr>
          <p:cNvPr id="28" name="Text 25"/>
          <p:cNvSpPr/>
          <p:nvPr/>
        </p:nvSpPr>
        <p:spPr>
          <a:xfrm>
            <a:off x="6309360" y="2139696"/>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Реранкер</a:t>
            </a:r>
            <a:endParaRPr lang="en-US" sz="1250" dirty="0"/>
          </a:p>
        </p:txBody>
      </p:sp>
      <p:sp>
        <p:nvSpPr>
          <p:cNvPr id="29" name="Text 26"/>
          <p:cNvSpPr/>
          <p:nvPr/>
        </p:nvSpPr>
        <p:spPr>
          <a:xfrm>
            <a:off x="7863840" y="2139696"/>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Модель второго, более точного прохода по top-K кандидатам</a:t>
            </a:r>
            <a:endParaRPr lang="en-US" sz="1080" dirty="0"/>
          </a:p>
        </p:txBody>
      </p:sp>
      <p:sp>
        <p:nvSpPr>
          <p:cNvPr id="30" name="Shape 27"/>
          <p:cNvSpPr/>
          <p:nvPr/>
        </p:nvSpPr>
        <p:spPr>
          <a:xfrm>
            <a:off x="6172200" y="2862072"/>
            <a:ext cx="5468112" cy="640080"/>
          </a:xfrm>
          <a:prstGeom prst="roundRect">
            <a:avLst>
              <a:gd name="adj" fmla="val 8571"/>
            </a:avLst>
          </a:prstGeom>
          <a:solidFill>
            <a:srgbClr val="F2FAF9"/>
          </a:solidFill>
          <a:ln/>
        </p:spPr>
      </p:sp>
      <p:sp>
        <p:nvSpPr>
          <p:cNvPr id="31" name="Text 28"/>
          <p:cNvSpPr/>
          <p:nvPr/>
        </p:nvSpPr>
        <p:spPr>
          <a:xfrm>
            <a:off x="6309360" y="2862072"/>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Судья (LLM-judge)</a:t>
            </a:r>
            <a:endParaRPr lang="en-US" sz="1250" dirty="0"/>
          </a:p>
        </p:txBody>
      </p:sp>
      <p:sp>
        <p:nvSpPr>
          <p:cNvPr id="32" name="Text 29"/>
          <p:cNvSpPr/>
          <p:nvPr/>
        </p:nvSpPr>
        <p:spPr>
          <a:xfrm>
            <a:off x="7863840" y="2862072"/>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Модель, перепроверяющая спорные, «серую зону», случаи релевантности</a:t>
            </a:r>
            <a:endParaRPr lang="en-US" sz="1080" dirty="0"/>
          </a:p>
        </p:txBody>
      </p:sp>
      <p:sp>
        <p:nvSpPr>
          <p:cNvPr id="33" name="Shape 30"/>
          <p:cNvSpPr/>
          <p:nvPr/>
        </p:nvSpPr>
        <p:spPr>
          <a:xfrm>
            <a:off x="6172200" y="3584448"/>
            <a:ext cx="5468112" cy="640080"/>
          </a:xfrm>
          <a:prstGeom prst="roundRect">
            <a:avLst>
              <a:gd name="adj" fmla="val 8571"/>
            </a:avLst>
          </a:prstGeom>
          <a:solidFill>
            <a:srgbClr val="FFFFFF"/>
          </a:solidFill>
          <a:ln/>
        </p:spPr>
      </p:sp>
      <p:sp>
        <p:nvSpPr>
          <p:cNvPr id="34" name="Text 31"/>
          <p:cNvSpPr/>
          <p:nvPr/>
        </p:nvSpPr>
        <p:spPr>
          <a:xfrm>
            <a:off x="6309360" y="3584448"/>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TTL</a:t>
            </a:r>
            <a:endParaRPr lang="en-US" sz="1250" dirty="0"/>
          </a:p>
        </p:txBody>
      </p:sp>
      <p:sp>
        <p:nvSpPr>
          <p:cNvPr id="35" name="Text 32"/>
          <p:cNvSpPr/>
          <p:nvPr/>
        </p:nvSpPr>
        <p:spPr>
          <a:xfrm>
            <a:off x="7863840" y="3584448"/>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Time to live — срок жизни таблицы соответствий «метка↔значение» (60 мин по умолчанию)</a:t>
            </a:r>
            <a:endParaRPr lang="en-US" sz="1080" dirty="0"/>
          </a:p>
        </p:txBody>
      </p:sp>
      <p:sp>
        <p:nvSpPr>
          <p:cNvPr id="36" name="Shape 33"/>
          <p:cNvSpPr/>
          <p:nvPr/>
        </p:nvSpPr>
        <p:spPr>
          <a:xfrm>
            <a:off x="6172200" y="4306824"/>
            <a:ext cx="5468112" cy="640080"/>
          </a:xfrm>
          <a:prstGeom prst="roundRect">
            <a:avLst>
              <a:gd name="adj" fmla="val 8571"/>
            </a:avLst>
          </a:prstGeom>
          <a:solidFill>
            <a:srgbClr val="F2FAF9"/>
          </a:solidFill>
          <a:ln/>
        </p:spPr>
      </p:sp>
      <p:sp>
        <p:nvSpPr>
          <p:cNvPr id="37" name="Text 34"/>
          <p:cNvSpPr/>
          <p:nvPr/>
        </p:nvSpPr>
        <p:spPr>
          <a:xfrm>
            <a:off x="6309360" y="4306824"/>
            <a:ext cx="1508760" cy="640080"/>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Cosine-близость</a:t>
            </a:r>
            <a:endParaRPr lang="en-US" sz="1250" dirty="0"/>
          </a:p>
        </p:txBody>
      </p:sp>
      <p:sp>
        <p:nvSpPr>
          <p:cNvPr id="38" name="Text 35"/>
          <p:cNvSpPr/>
          <p:nvPr/>
        </p:nvSpPr>
        <p:spPr>
          <a:xfrm>
            <a:off x="7863840" y="4306824"/>
            <a:ext cx="3639312" cy="640080"/>
          </a:xfrm>
          <a:prstGeom prst="rect">
            <a:avLst/>
          </a:prstGeom>
          <a:noFill/>
          <a:ln/>
        </p:spPr>
        <p:txBody>
          <a:bodyPr wrap="square" lIns="0" tIns="0" rIns="0" bIns="0" rtlCol="0" anchor="ctr"/>
          <a:lstStyle/>
          <a:p>
            <a:pPr indent="0" marL="0">
              <a:lnSpc>
                <a:spcPct val="105000"/>
              </a:lnSpc>
              <a:buNone/>
            </a:pPr>
            <a:r>
              <a:rPr lang="en-US" sz="1080" dirty="0">
                <a:solidFill>
                  <a:srgbClr val="17282A"/>
                </a:solidFill>
                <a:latin typeface="Calibri" pitchFamily="34" charset="0"/>
                <a:ea typeface="Calibri" pitchFamily="34" charset="-122"/>
                <a:cs typeface="Calibri" pitchFamily="34" charset="-120"/>
              </a:rPr>
              <a:t>Мера сходства двух векторов по углу между ними — основа семантического поиска</a:t>
            </a:r>
            <a:endParaRPr lang="en-US" sz="1080" dirty="0"/>
          </a:p>
        </p:txBody>
      </p:sp>
      <p:sp>
        <p:nvSpPr>
          <p:cNvPr id="39" name="Text 3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Справочник</a:t>
            </a:r>
            <a:endParaRPr lang="en-US" sz="1000" dirty="0"/>
          </a:p>
        </p:txBody>
      </p:sp>
      <p:sp>
        <p:nvSpPr>
          <p:cNvPr id="40" name="Text 37"/>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23 / 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ПРОВЕРКА СЕБЯ</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Частые заблуждения о RAG</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Shape 3"/>
          <p:cNvSpPr/>
          <p:nvPr/>
        </p:nvSpPr>
        <p:spPr>
          <a:xfrm>
            <a:off x="548640" y="1417320"/>
            <a:ext cx="5468112" cy="2286000"/>
          </a:xfrm>
          <a:prstGeom prst="roundRect">
            <a:avLst>
              <a:gd name="adj" fmla="val 4000"/>
            </a:avLst>
          </a:prstGeom>
          <a:solidFill>
            <a:srgbClr val="F2FAF9"/>
          </a:solidFill>
          <a:ln/>
        </p:spPr>
      </p:sp>
      <p:sp>
        <p:nvSpPr>
          <p:cNvPr id="7" name="Shape 4"/>
          <p:cNvSpPr/>
          <p:nvPr/>
        </p:nvSpPr>
        <p:spPr>
          <a:xfrm>
            <a:off x="731520" y="1600200"/>
            <a:ext cx="457200" cy="457200"/>
          </a:xfrm>
          <a:prstGeom prst="ellipse">
            <a:avLst/>
          </a:prstGeom>
          <a:solidFill>
            <a:srgbClr val="C0504D"/>
          </a:solidFill>
          <a:ln/>
        </p:spPr>
      </p:sp>
      <p:pic>
        <p:nvPicPr>
          <p:cNvPr id="8" name="Image 1" descr="preencoded.png">    </p:cNvPr>
          <p:cNvPicPr>
            <a:picLocks noChangeAspect="1"/>
          </p:cNvPicPr>
          <p:nvPr/>
        </p:nvPicPr>
        <p:blipFill>
          <a:blip r:embed="rId2"/>
          <a:stretch>
            <a:fillRect/>
          </a:stretch>
        </p:blipFill>
        <p:spPr>
          <a:xfrm>
            <a:off x="790956" y="1659636"/>
            <a:ext cx="338328" cy="338328"/>
          </a:xfrm>
          <a:prstGeom prst="rect">
            <a:avLst/>
          </a:prstGeom>
        </p:spPr>
      </p:pic>
      <p:sp>
        <p:nvSpPr>
          <p:cNvPr id="9" name="Text 5"/>
          <p:cNvSpPr/>
          <p:nvPr/>
        </p:nvSpPr>
        <p:spPr>
          <a:xfrm>
            <a:off x="1325880" y="1600200"/>
            <a:ext cx="4480560" cy="256032"/>
          </a:xfrm>
          <a:prstGeom prst="rect">
            <a:avLst/>
          </a:prstGeom>
          <a:noFill/>
          <a:ln/>
        </p:spPr>
        <p:txBody>
          <a:bodyPr wrap="square" lIns="0" tIns="0" rIns="0" bIns="0" rtlCol="0" anchor="ctr"/>
          <a:lstStyle/>
          <a:p>
            <a:pPr indent="0" marL="0">
              <a:buNone/>
            </a:pPr>
            <a:r>
              <a:rPr lang="en-US" sz="1000" b="1" spc="100" kern="0" dirty="0">
                <a:solidFill>
                  <a:srgbClr val="C0504D"/>
                </a:solidFill>
                <a:latin typeface="Calibri" pitchFamily="34" charset="0"/>
                <a:ea typeface="Calibri" pitchFamily="34" charset="-122"/>
                <a:cs typeface="Calibri" pitchFamily="34" charset="-120"/>
              </a:rPr>
              <a:t>МИФ</a:t>
            </a:r>
            <a:endParaRPr lang="en-US" sz="1000" dirty="0"/>
          </a:p>
        </p:txBody>
      </p:sp>
      <p:sp>
        <p:nvSpPr>
          <p:cNvPr id="10" name="Text 6"/>
          <p:cNvSpPr/>
          <p:nvPr/>
        </p:nvSpPr>
        <p:spPr>
          <a:xfrm>
            <a:off x="1325880" y="1847088"/>
            <a:ext cx="4507992" cy="594360"/>
          </a:xfrm>
          <a:prstGeom prst="rect">
            <a:avLst/>
          </a:prstGeom>
          <a:noFill/>
          <a:ln/>
        </p:spPr>
        <p:txBody>
          <a:bodyPr wrap="square" lIns="0" tIns="0" rIns="0" bIns="0" rtlCol="0" anchor="ctr"/>
          <a:lstStyle/>
          <a:p>
            <a:pPr indent="0" marL="0">
              <a:lnSpc>
                <a:spcPct val="110000"/>
              </a:lnSpc>
              <a:buNone/>
            </a:pPr>
            <a:r>
              <a:rPr lang="en-US" sz="1200" i="1" dirty="0">
                <a:solidFill>
                  <a:srgbClr val="17282A"/>
                </a:solidFill>
                <a:latin typeface="Calibri" pitchFamily="34" charset="0"/>
                <a:ea typeface="Calibri" pitchFamily="34" charset="-122"/>
                <a:cs typeface="Calibri" pitchFamily="34" charset="-120"/>
              </a:rPr>
              <a:t>ИИ читает весь документ целиком, чтобы ответить</a:t>
            </a:r>
            <a:endParaRPr lang="en-US" sz="1200" dirty="0"/>
          </a:p>
        </p:txBody>
      </p:sp>
      <p:sp>
        <p:nvSpPr>
          <p:cNvPr id="11" name="Shape 7"/>
          <p:cNvSpPr/>
          <p:nvPr/>
        </p:nvSpPr>
        <p:spPr>
          <a:xfrm>
            <a:off x="731520" y="2587752"/>
            <a:ext cx="457200" cy="457200"/>
          </a:xfrm>
          <a:prstGeom prst="ellipse">
            <a:avLst/>
          </a:prstGeom>
          <a:solidFill>
            <a:srgbClr val="02C39A"/>
          </a:solidFill>
          <a:ln/>
        </p:spPr>
      </p:sp>
      <p:pic>
        <p:nvPicPr>
          <p:cNvPr id="12" name="Image 2" descr="preencoded.png">    </p:cNvPr>
          <p:cNvPicPr>
            <a:picLocks noChangeAspect="1"/>
          </p:cNvPicPr>
          <p:nvPr/>
        </p:nvPicPr>
        <p:blipFill>
          <a:blip r:embed="rId3"/>
          <a:stretch>
            <a:fillRect/>
          </a:stretch>
        </p:blipFill>
        <p:spPr>
          <a:xfrm>
            <a:off x="790956" y="2647188"/>
            <a:ext cx="338328" cy="338328"/>
          </a:xfrm>
          <a:prstGeom prst="rect">
            <a:avLst/>
          </a:prstGeom>
        </p:spPr>
      </p:pic>
      <p:sp>
        <p:nvSpPr>
          <p:cNvPr id="13" name="Text 8"/>
          <p:cNvSpPr/>
          <p:nvPr/>
        </p:nvSpPr>
        <p:spPr>
          <a:xfrm>
            <a:off x="1325880" y="2587752"/>
            <a:ext cx="4480560" cy="256032"/>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НА САМОМ ДЕЛЕ</a:t>
            </a:r>
            <a:endParaRPr lang="en-US" sz="1000" dirty="0"/>
          </a:p>
        </p:txBody>
      </p:sp>
      <p:sp>
        <p:nvSpPr>
          <p:cNvPr id="14" name="Text 9"/>
          <p:cNvSpPr/>
          <p:nvPr/>
        </p:nvSpPr>
        <p:spPr>
          <a:xfrm>
            <a:off x="1325880" y="2834640"/>
            <a:ext cx="4507992" cy="822960"/>
          </a:xfrm>
          <a:prstGeom prst="rect">
            <a:avLst/>
          </a:prstGeom>
          <a:noFill/>
          <a:ln/>
        </p:spPr>
        <p:txBody>
          <a:bodyPr wrap="square" lIns="0" tIns="0" rIns="0" bIns="0" rtlCol="0" anchor="ctr"/>
          <a:lstStyle/>
          <a:p>
            <a:pPr indent="0" marL="0">
              <a:lnSpc>
                <a:spcPct val="112000"/>
              </a:lnSpc>
              <a:buNone/>
            </a:pPr>
            <a:r>
              <a:rPr lang="en-US" sz="1150" dirty="0">
                <a:solidFill>
                  <a:srgbClr val="17282A"/>
                </a:solidFill>
                <a:latin typeface="Calibri" pitchFamily="34" charset="0"/>
                <a:ea typeface="Calibri" pitchFamily="34" charset="-122"/>
                <a:cs typeface="Calibri" pitchFamily="34" charset="-120"/>
              </a:rPr>
              <a:t>На самом деле в модель попадают только top-K релевантных чанков (обычно ≈5) — не весь документ и тем более не вся база (слайды 8, 14)</a:t>
            </a:r>
            <a:endParaRPr lang="en-US" sz="1150" dirty="0"/>
          </a:p>
        </p:txBody>
      </p:sp>
      <p:sp>
        <p:nvSpPr>
          <p:cNvPr id="15" name="Shape 10"/>
          <p:cNvSpPr/>
          <p:nvPr/>
        </p:nvSpPr>
        <p:spPr>
          <a:xfrm>
            <a:off x="6172200" y="1417320"/>
            <a:ext cx="5468112" cy="2286000"/>
          </a:xfrm>
          <a:prstGeom prst="roundRect">
            <a:avLst>
              <a:gd name="adj" fmla="val 4000"/>
            </a:avLst>
          </a:prstGeom>
          <a:solidFill>
            <a:srgbClr val="F2FAF9"/>
          </a:solidFill>
          <a:ln/>
        </p:spPr>
      </p:sp>
      <p:sp>
        <p:nvSpPr>
          <p:cNvPr id="16" name="Shape 11"/>
          <p:cNvSpPr/>
          <p:nvPr/>
        </p:nvSpPr>
        <p:spPr>
          <a:xfrm>
            <a:off x="6355080" y="1600200"/>
            <a:ext cx="457200" cy="457200"/>
          </a:xfrm>
          <a:prstGeom prst="ellipse">
            <a:avLst/>
          </a:prstGeom>
          <a:solidFill>
            <a:srgbClr val="C0504D"/>
          </a:solidFill>
          <a:ln/>
        </p:spPr>
      </p:sp>
      <p:pic>
        <p:nvPicPr>
          <p:cNvPr id="17" name="Image 3" descr="preencoded.png">    </p:cNvPr>
          <p:cNvPicPr>
            <a:picLocks noChangeAspect="1"/>
          </p:cNvPicPr>
          <p:nvPr/>
        </p:nvPicPr>
        <p:blipFill>
          <a:blip r:embed="rId4"/>
          <a:stretch>
            <a:fillRect/>
          </a:stretch>
        </p:blipFill>
        <p:spPr>
          <a:xfrm>
            <a:off x="6414516" y="1659636"/>
            <a:ext cx="338328" cy="338328"/>
          </a:xfrm>
          <a:prstGeom prst="rect">
            <a:avLst/>
          </a:prstGeom>
        </p:spPr>
      </p:pic>
      <p:sp>
        <p:nvSpPr>
          <p:cNvPr id="18" name="Text 12"/>
          <p:cNvSpPr/>
          <p:nvPr/>
        </p:nvSpPr>
        <p:spPr>
          <a:xfrm>
            <a:off x="6949440" y="1600200"/>
            <a:ext cx="4480560" cy="256032"/>
          </a:xfrm>
          <a:prstGeom prst="rect">
            <a:avLst/>
          </a:prstGeom>
          <a:noFill/>
          <a:ln/>
        </p:spPr>
        <p:txBody>
          <a:bodyPr wrap="square" lIns="0" tIns="0" rIns="0" bIns="0" rtlCol="0" anchor="ctr"/>
          <a:lstStyle/>
          <a:p>
            <a:pPr indent="0" marL="0">
              <a:buNone/>
            </a:pPr>
            <a:r>
              <a:rPr lang="en-US" sz="1000" b="1" spc="100" kern="0" dirty="0">
                <a:solidFill>
                  <a:srgbClr val="C0504D"/>
                </a:solidFill>
                <a:latin typeface="Calibri" pitchFamily="34" charset="0"/>
                <a:ea typeface="Calibri" pitchFamily="34" charset="-122"/>
                <a:cs typeface="Calibri" pitchFamily="34" charset="-120"/>
              </a:rPr>
              <a:t>МИФ</a:t>
            </a:r>
            <a:endParaRPr lang="en-US" sz="1000" dirty="0"/>
          </a:p>
        </p:txBody>
      </p:sp>
      <p:sp>
        <p:nvSpPr>
          <p:cNvPr id="19" name="Text 13"/>
          <p:cNvSpPr/>
          <p:nvPr/>
        </p:nvSpPr>
        <p:spPr>
          <a:xfrm>
            <a:off x="6949440" y="1847088"/>
            <a:ext cx="4507992" cy="594360"/>
          </a:xfrm>
          <a:prstGeom prst="rect">
            <a:avLst/>
          </a:prstGeom>
          <a:noFill/>
          <a:ln/>
        </p:spPr>
        <p:txBody>
          <a:bodyPr wrap="square" lIns="0" tIns="0" rIns="0" bIns="0" rtlCol="0" anchor="ctr"/>
          <a:lstStyle/>
          <a:p>
            <a:pPr indent="0" marL="0">
              <a:lnSpc>
                <a:spcPct val="110000"/>
              </a:lnSpc>
              <a:buNone/>
            </a:pPr>
            <a:r>
              <a:rPr lang="en-US" sz="1200" i="1" dirty="0">
                <a:solidFill>
                  <a:srgbClr val="17282A"/>
                </a:solidFill>
                <a:latin typeface="Calibri" pitchFamily="34" charset="0"/>
                <a:ea typeface="Calibri" pitchFamily="34" charset="-122"/>
                <a:cs typeface="Calibri" pitchFamily="34" charset="-120"/>
              </a:rPr>
              <a:t>Если в вопросе нет тех же слов, что в документе — система не найдёт ответ</a:t>
            </a:r>
            <a:endParaRPr lang="en-US" sz="1200" dirty="0"/>
          </a:p>
        </p:txBody>
      </p:sp>
      <p:sp>
        <p:nvSpPr>
          <p:cNvPr id="20" name="Shape 14"/>
          <p:cNvSpPr/>
          <p:nvPr/>
        </p:nvSpPr>
        <p:spPr>
          <a:xfrm>
            <a:off x="6355080" y="2587752"/>
            <a:ext cx="457200" cy="457200"/>
          </a:xfrm>
          <a:prstGeom prst="ellipse">
            <a:avLst/>
          </a:prstGeom>
          <a:solidFill>
            <a:srgbClr val="02C39A"/>
          </a:solidFill>
          <a:ln/>
        </p:spPr>
      </p:sp>
      <p:pic>
        <p:nvPicPr>
          <p:cNvPr id="21" name="Image 4" descr="preencoded.png">    </p:cNvPr>
          <p:cNvPicPr>
            <a:picLocks noChangeAspect="1"/>
          </p:cNvPicPr>
          <p:nvPr/>
        </p:nvPicPr>
        <p:blipFill>
          <a:blip r:embed="rId5"/>
          <a:stretch>
            <a:fillRect/>
          </a:stretch>
        </p:blipFill>
        <p:spPr>
          <a:xfrm>
            <a:off x="6414516" y="2647188"/>
            <a:ext cx="338328" cy="338328"/>
          </a:xfrm>
          <a:prstGeom prst="rect">
            <a:avLst/>
          </a:prstGeom>
        </p:spPr>
      </p:pic>
      <p:sp>
        <p:nvSpPr>
          <p:cNvPr id="22" name="Text 15"/>
          <p:cNvSpPr/>
          <p:nvPr/>
        </p:nvSpPr>
        <p:spPr>
          <a:xfrm>
            <a:off x="6949440" y="2587752"/>
            <a:ext cx="4480560" cy="256032"/>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НА САМОМ ДЕЛЕ</a:t>
            </a:r>
            <a:endParaRPr lang="en-US" sz="1000" dirty="0"/>
          </a:p>
        </p:txBody>
      </p:sp>
      <p:sp>
        <p:nvSpPr>
          <p:cNvPr id="23" name="Text 16"/>
          <p:cNvSpPr/>
          <p:nvPr/>
        </p:nvSpPr>
        <p:spPr>
          <a:xfrm>
            <a:off x="6949440" y="2834640"/>
            <a:ext cx="4507992" cy="822960"/>
          </a:xfrm>
          <a:prstGeom prst="rect">
            <a:avLst/>
          </a:prstGeom>
          <a:noFill/>
          <a:ln/>
        </p:spPr>
        <p:txBody>
          <a:bodyPr wrap="square" lIns="0" tIns="0" rIns="0" bIns="0" rtlCol="0" anchor="ctr"/>
          <a:lstStyle/>
          <a:p>
            <a:pPr indent="0" marL="0">
              <a:lnSpc>
                <a:spcPct val="112000"/>
              </a:lnSpc>
              <a:buNone/>
            </a:pPr>
            <a:r>
              <a:rPr lang="en-US" sz="1150" dirty="0">
                <a:solidFill>
                  <a:srgbClr val="17282A"/>
                </a:solidFill>
                <a:latin typeface="Calibri" pitchFamily="34" charset="0"/>
                <a:ea typeface="Calibri" pitchFamily="34" charset="-122"/>
                <a:cs typeface="Calibri" pitchFamily="34" charset="-120"/>
              </a:rPr>
              <a:t>Семантический поиск находит по смыслу, а не по совпадению слов — пересказ своими словами тоже сработает (слайды 9, 12, 13)</a:t>
            </a:r>
            <a:endParaRPr lang="en-US" sz="1150" dirty="0"/>
          </a:p>
        </p:txBody>
      </p:sp>
      <p:sp>
        <p:nvSpPr>
          <p:cNvPr id="24" name="Shape 17"/>
          <p:cNvSpPr/>
          <p:nvPr/>
        </p:nvSpPr>
        <p:spPr>
          <a:xfrm>
            <a:off x="548640" y="3886200"/>
            <a:ext cx="5468112" cy="2286000"/>
          </a:xfrm>
          <a:prstGeom prst="roundRect">
            <a:avLst>
              <a:gd name="adj" fmla="val 4000"/>
            </a:avLst>
          </a:prstGeom>
          <a:solidFill>
            <a:srgbClr val="F2FAF9"/>
          </a:solidFill>
          <a:ln/>
        </p:spPr>
      </p:sp>
      <p:sp>
        <p:nvSpPr>
          <p:cNvPr id="25" name="Shape 18"/>
          <p:cNvSpPr/>
          <p:nvPr/>
        </p:nvSpPr>
        <p:spPr>
          <a:xfrm>
            <a:off x="731520" y="4069080"/>
            <a:ext cx="457200" cy="457200"/>
          </a:xfrm>
          <a:prstGeom prst="ellipse">
            <a:avLst/>
          </a:prstGeom>
          <a:solidFill>
            <a:srgbClr val="C0504D"/>
          </a:solidFill>
          <a:ln/>
        </p:spPr>
      </p:sp>
      <p:pic>
        <p:nvPicPr>
          <p:cNvPr id="26" name="Image 5" descr="preencoded.png">    </p:cNvPr>
          <p:cNvPicPr>
            <a:picLocks noChangeAspect="1"/>
          </p:cNvPicPr>
          <p:nvPr/>
        </p:nvPicPr>
        <p:blipFill>
          <a:blip r:embed="rId6"/>
          <a:stretch>
            <a:fillRect/>
          </a:stretch>
        </p:blipFill>
        <p:spPr>
          <a:xfrm>
            <a:off x="790956" y="4128516"/>
            <a:ext cx="338328" cy="338328"/>
          </a:xfrm>
          <a:prstGeom prst="rect">
            <a:avLst/>
          </a:prstGeom>
        </p:spPr>
      </p:pic>
      <p:sp>
        <p:nvSpPr>
          <p:cNvPr id="27" name="Text 19"/>
          <p:cNvSpPr/>
          <p:nvPr/>
        </p:nvSpPr>
        <p:spPr>
          <a:xfrm>
            <a:off x="1325880" y="4069080"/>
            <a:ext cx="4480560" cy="256032"/>
          </a:xfrm>
          <a:prstGeom prst="rect">
            <a:avLst/>
          </a:prstGeom>
          <a:noFill/>
          <a:ln/>
        </p:spPr>
        <p:txBody>
          <a:bodyPr wrap="square" lIns="0" tIns="0" rIns="0" bIns="0" rtlCol="0" anchor="ctr"/>
          <a:lstStyle/>
          <a:p>
            <a:pPr indent="0" marL="0">
              <a:buNone/>
            </a:pPr>
            <a:r>
              <a:rPr lang="en-US" sz="1000" b="1" spc="100" kern="0" dirty="0">
                <a:solidFill>
                  <a:srgbClr val="C0504D"/>
                </a:solidFill>
                <a:latin typeface="Calibri" pitchFamily="34" charset="0"/>
                <a:ea typeface="Calibri" pitchFamily="34" charset="-122"/>
                <a:cs typeface="Calibri" pitchFamily="34" charset="-120"/>
              </a:rPr>
              <a:t>МИФ</a:t>
            </a:r>
            <a:endParaRPr lang="en-US" sz="1000" dirty="0"/>
          </a:p>
        </p:txBody>
      </p:sp>
      <p:sp>
        <p:nvSpPr>
          <p:cNvPr id="28" name="Text 20"/>
          <p:cNvSpPr/>
          <p:nvPr/>
        </p:nvSpPr>
        <p:spPr>
          <a:xfrm>
            <a:off x="1325880" y="4315968"/>
            <a:ext cx="4507992" cy="594360"/>
          </a:xfrm>
          <a:prstGeom prst="rect">
            <a:avLst/>
          </a:prstGeom>
          <a:noFill/>
          <a:ln/>
        </p:spPr>
        <p:txBody>
          <a:bodyPr wrap="square" lIns="0" tIns="0" rIns="0" bIns="0" rtlCol="0" anchor="ctr"/>
          <a:lstStyle/>
          <a:p>
            <a:pPr indent="0" marL="0">
              <a:lnSpc>
                <a:spcPct val="110000"/>
              </a:lnSpc>
              <a:buNone/>
            </a:pPr>
            <a:r>
              <a:rPr lang="en-US" sz="1200" i="1" dirty="0">
                <a:solidFill>
                  <a:srgbClr val="17282A"/>
                </a:solidFill>
                <a:latin typeface="Calibri" pitchFamily="34" charset="0"/>
                <a:ea typeface="Calibri" pitchFamily="34" charset="-122"/>
                <a:cs typeface="Calibri" pitchFamily="34" charset="-120"/>
              </a:rPr>
              <a:t>Маскирование ПДн решает вопрос «кому что можно видеть»</a:t>
            </a:r>
            <a:endParaRPr lang="en-US" sz="1200" dirty="0"/>
          </a:p>
        </p:txBody>
      </p:sp>
      <p:sp>
        <p:nvSpPr>
          <p:cNvPr id="29" name="Shape 21"/>
          <p:cNvSpPr/>
          <p:nvPr/>
        </p:nvSpPr>
        <p:spPr>
          <a:xfrm>
            <a:off x="731520" y="5056632"/>
            <a:ext cx="457200" cy="457200"/>
          </a:xfrm>
          <a:prstGeom prst="ellipse">
            <a:avLst/>
          </a:prstGeom>
          <a:solidFill>
            <a:srgbClr val="02C39A"/>
          </a:solidFill>
          <a:ln/>
        </p:spPr>
      </p:sp>
      <p:pic>
        <p:nvPicPr>
          <p:cNvPr id="30" name="Image 6" descr="preencoded.png">    </p:cNvPr>
          <p:cNvPicPr>
            <a:picLocks noChangeAspect="1"/>
          </p:cNvPicPr>
          <p:nvPr/>
        </p:nvPicPr>
        <p:blipFill>
          <a:blip r:embed="rId7"/>
          <a:stretch>
            <a:fillRect/>
          </a:stretch>
        </p:blipFill>
        <p:spPr>
          <a:xfrm>
            <a:off x="790956" y="5116068"/>
            <a:ext cx="338328" cy="338328"/>
          </a:xfrm>
          <a:prstGeom prst="rect">
            <a:avLst/>
          </a:prstGeom>
        </p:spPr>
      </p:pic>
      <p:sp>
        <p:nvSpPr>
          <p:cNvPr id="31" name="Text 22"/>
          <p:cNvSpPr/>
          <p:nvPr/>
        </p:nvSpPr>
        <p:spPr>
          <a:xfrm>
            <a:off x="1325880" y="5056632"/>
            <a:ext cx="4480560" cy="256032"/>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НА САМОМ ДЕЛЕ</a:t>
            </a:r>
            <a:endParaRPr lang="en-US" sz="1000" dirty="0"/>
          </a:p>
        </p:txBody>
      </p:sp>
      <p:sp>
        <p:nvSpPr>
          <p:cNvPr id="32" name="Text 23"/>
          <p:cNvSpPr/>
          <p:nvPr/>
        </p:nvSpPr>
        <p:spPr>
          <a:xfrm>
            <a:off x="1325880" y="5303520"/>
            <a:ext cx="4507992" cy="822960"/>
          </a:xfrm>
          <a:prstGeom prst="rect">
            <a:avLst/>
          </a:prstGeom>
          <a:noFill/>
          <a:ln/>
        </p:spPr>
        <p:txBody>
          <a:bodyPr wrap="square" lIns="0" tIns="0" rIns="0" bIns="0" rtlCol="0" anchor="ctr"/>
          <a:lstStyle/>
          <a:p>
            <a:pPr indent="0" marL="0">
              <a:lnSpc>
                <a:spcPct val="112000"/>
              </a:lnSpc>
              <a:buNone/>
            </a:pPr>
            <a:r>
              <a:rPr lang="en-US" sz="1150" dirty="0">
                <a:solidFill>
                  <a:srgbClr val="17282A"/>
                </a:solidFill>
                <a:latin typeface="Calibri" pitchFamily="34" charset="0"/>
                <a:ea typeface="Calibri" pitchFamily="34" charset="-122"/>
                <a:cs typeface="Calibri" pitchFamily="34" charset="-120"/>
              </a:rPr>
              <a:t>Это решает отдельная, более ранняя проверка прав доступа; маскирование прячет значения от внешней модели, а не определяет, кому что доступно (слайд 17)</a:t>
            </a:r>
            <a:endParaRPr lang="en-US" sz="1150" dirty="0"/>
          </a:p>
        </p:txBody>
      </p:sp>
      <p:sp>
        <p:nvSpPr>
          <p:cNvPr id="33" name="Shape 24"/>
          <p:cNvSpPr/>
          <p:nvPr/>
        </p:nvSpPr>
        <p:spPr>
          <a:xfrm>
            <a:off x="6172200" y="3886200"/>
            <a:ext cx="5468112" cy="2286000"/>
          </a:xfrm>
          <a:prstGeom prst="roundRect">
            <a:avLst>
              <a:gd name="adj" fmla="val 4000"/>
            </a:avLst>
          </a:prstGeom>
          <a:solidFill>
            <a:srgbClr val="F2FAF9"/>
          </a:solidFill>
          <a:ln/>
        </p:spPr>
      </p:sp>
      <p:sp>
        <p:nvSpPr>
          <p:cNvPr id="34" name="Shape 25"/>
          <p:cNvSpPr/>
          <p:nvPr/>
        </p:nvSpPr>
        <p:spPr>
          <a:xfrm>
            <a:off x="6355080" y="4069080"/>
            <a:ext cx="457200" cy="457200"/>
          </a:xfrm>
          <a:prstGeom prst="ellipse">
            <a:avLst/>
          </a:prstGeom>
          <a:solidFill>
            <a:srgbClr val="C0504D"/>
          </a:solidFill>
          <a:ln/>
        </p:spPr>
      </p:sp>
      <p:pic>
        <p:nvPicPr>
          <p:cNvPr id="35" name="Image 7" descr="preencoded.png">    </p:cNvPr>
          <p:cNvPicPr>
            <a:picLocks noChangeAspect="1"/>
          </p:cNvPicPr>
          <p:nvPr/>
        </p:nvPicPr>
        <p:blipFill>
          <a:blip r:embed="rId8"/>
          <a:stretch>
            <a:fillRect/>
          </a:stretch>
        </p:blipFill>
        <p:spPr>
          <a:xfrm>
            <a:off x="6414516" y="4128516"/>
            <a:ext cx="338328" cy="338328"/>
          </a:xfrm>
          <a:prstGeom prst="rect">
            <a:avLst/>
          </a:prstGeom>
        </p:spPr>
      </p:pic>
      <p:sp>
        <p:nvSpPr>
          <p:cNvPr id="36" name="Text 26"/>
          <p:cNvSpPr/>
          <p:nvPr/>
        </p:nvSpPr>
        <p:spPr>
          <a:xfrm>
            <a:off x="6949440" y="4069080"/>
            <a:ext cx="4480560" cy="256032"/>
          </a:xfrm>
          <a:prstGeom prst="rect">
            <a:avLst/>
          </a:prstGeom>
          <a:noFill/>
          <a:ln/>
        </p:spPr>
        <p:txBody>
          <a:bodyPr wrap="square" lIns="0" tIns="0" rIns="0" bIns="0" rtlCol="0" anchor="ctr"/>
          <a:lstStyle/>
          <a:p>
            <a:pPr indent="0" marL="0">
              <a:buNone/>
            </a:pPr>
            <a:r>
              <a:rPr lang="en-US" sz="1000" b="1" spc="100" kern="0" dirty="0">
                <a:solidFill>
                  <a:srgbClr val="C0504D"/>
                </a:solidFill>
                <a:latin typeface="Calibri" pitchFamily="34" charset="0"/>
                <a:ea typeface="Calibri" pitchFamily="34" charset="-122"/>
                <a:cs typeface="Calibri" pitchFamily="34" charset="-120"/>
              </a:rPr>
              <a:t>МИФ</a:t>
            </a:r>
            <a:endParaRPr lang="en-US" sz="1000" dirty="0"/>
          </a:p>
        </p:txBody>
      </p:sp>
      <p:sp>
        <p:nvSpPr>
          <p:cNvPr id="37" name="Text 27"/>
          <p:cNvSpPr/>
          <p:nvPr/>
        </p:nvSpPr>
        <p:spPr>
          <a:xfrm>
            <a:off x="6949440" y="4315968"/>
            <a:ext cx="4507992" cy="594360"/>
          </a:xfrm>
          <a:prstGeom prst="rect">
            <a:avLst/>
          </a:prstGeom>
          <a:noFill/>
          <a:ln/>
        </p:spPr>
        <p:txBody>
          <a:bodyPr wrap="square" lIns="0" tIns="0" rIns="0" bIns="0" rtlCol="0" anchor="ctr"/>
          <a:lstStyle/>
          <a:p>
            <a:pPr indent="0" marL="0">
              <a:lnSpc>
                <a:spcPct val="110000"/>
              </a:lnSpc>
              <a:buNone/>
            </a:pPr>
            <a:r>
              <a:rPr lang="en-US" sz="1200" i="1" dirty="0">
                <a:solidFill>
                  <a:srgbClr val="17282A"/>
                </a:solidFill>
                <a:latin typeface="Calibri" pitchFamily="34" charset="0"/>
                <a:ea typeface="Calibri" pitchFamily="34" charset="-122"/>
                <a:cs typeface="Calibri" pitchFamily="34" charset="-120"/>
              </a:rPr>
              <a:t>Раз ответ со ссылкой на источник — значит, он гарантированно верный</a:t>
            </a:r>
            <a:endParaRPr lang="en-US" sz="1200" dirty="0"/>
          </a:p>
        </p:txBody>
      </p:sp>
      <p:sp>
        <p:nvSpPr>
          <p:cNvPr id="38" name="Shape 28"/>
          <p:cNvSpPr/>
          <p:nvPr/>
        </p:nvSpPr>
        <p:spPr>
          <a:xfrm>
            <a:off x="6355080" y="5056632"/>
            <a:ext cx="457200" cy="457200"/>
          </a:xfrm>
          <a:prstGeom prst="ellipse">
            <a:avLst/>
          </a:prstGeom>
          <a:solidFill>
            <a:srgbClr val="02C39A"/>
          </a:solidFill>
          <a:ln/>
        </p:spPr>
      </p:sp>
      <p:pic>
        <p:nvPicPr>
          <p:cNvPr id="39" name="Image 8" descr="preencoded.png">    </p:cNvPr>
          <p:cNvPicPr>
            <a:picLocks noChangeAspect="1"/>
          </p:cNvPicPr>
          <p:nvPr/>
        </p:nvPicPr>
        <p:blipFill>
          <a:blip r:embed="rId9"/>
          <a:stretch>
            <a:fillRect/>
          </a:stretch>
        </p:blipFill>
        <p:spPr>
          <a:xfrm>
            <a:off x="6414516" y="5116068"/>
            <a:ext cx="338328" cy="338328"/>
          </a:xfrm>
          <a:prstGeom prst="rect">
            <a:avLst/>
          </a:prstGeom>
        </p:spPr>
      </p:pic>
      <p:sp>
        <p:nvSpPr>
          <p:cNvPr id="40" name="Text 29"/>
          <p:cNvSpPr/>
          <p:nvPr/>
        </p:nvSpPr>
        <p:spPr>
          <a:xfrm>
            <a:off x="6949440" y="5056632"/>
            <a:ext cx="4480560" cy="256032"/>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НА САМОМ ДЕЛЕ</a:t>
            </a:r>
            <a:endParaRPr lang="en-US" sz="1000" dirty="0"/>
          </a:p>
        </p:txBody>
      </p:sp>
      <p:sp>
        <p:nvSpPr>
          <p:cNvPr id="41" name="Text 30"/>
          <p:cNvSpPr/>
          <p:nvPr/>
        </p:nvSpPr>
        <p:spPr>
          <a:xfrm>
            <a:off x="6949440" y="5303520"/>
            <a:ext cx="4507992" cy="822960"/>
          </a:xfrm>
          <a:prstGeom prst="rect">
            <a:avLst/>
          </a:prstGeom>
          <a:noFill/>
          <a:ln/>
        </p:spPr>
        <p:txBody>
          <a:bodyPr wrap="square" lIns="0" tIns="0" rIns="0" bIns="0" rtlCol="0" anchor="ctr"/>
          <a:lstStyle/>
          <a:p>
            <a:pPr indent="0" marL="0">
              <a:lnSpc>
                <a:spcPct val="112000"/>
              </a:lnSpc>
              <a:buNone/>
            </a:pPr>
            <a:r>
              <a:rPr lang="en-US" sz="1150" dirty="0">
                <a:solidFill>
                  <a:srgbClr val="17282A"/>
                </a:solidFill>
                <a:latin typeface="Calibri" pitchFamily="34" charset="0"/>
                <a:ea typeface="Calibri" pitchFamily="34" charset="-122"/>
                <a:cs typeface="Calibri" pitchFamily="34" charset="-120"/>
              </a:rPr>
              <a:t>Ссылка подтверждает, что фрагмент был найден и использован, но не отменяет риск ошибки модели при синтезе ответа из нескольких фрагментов</a:t>
            </a:r>
            <a:endParaRPr lang="en-US" sz="1150" dirty="0"/>
          </a:p>
        </p:txBody>
      </p:sp>
      <p:sp>
        <p:nvSpPr>
          <p:cNvPr id="42" name="Text 31"/>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Проверка себя</a:t>
            </a:r>
            <a:endParaRPr lang="en-US" sz="1000" dirty="0"/>
          </a:p>
        </p:txBody>
      </p:sp>
      <p:sp>
        <p:nvSpPr>
          <p:cNvPr id="43" name="Text 32"/>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24 / 27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МОСТ К СЛЕДУЮЩИМ ЧАСТЯМ</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Почему это важно для проекта</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Text 3"/>
          <p:cNvSpPr/>
          <p:nvPr/>
        </p:nvSpPr>
        <p:spPr>
          <a:xfrm>
            <a:off x="548640" y="1371600"/>
            <a:ext cx="11064240" cy="502920"/>
          </a:xfrm>
          <a:prstGeom prst="rect">
            <a:avLst/>
          </a:prstGeom>
          <a:noFill/>
          <a:ln/>
        </p:spPr>
        <p:txBody>
          <a:bodyPr wrap="square" lIns="0" tIns="0" rIns="0" bIns="0" rtlCol="0" anchor="ctr"/>
          <a:lstStyle/>
          <a:p>
            <a:pPr indent="0" marL="0">
              <a:lnSpc>
                <a:spcPct val="120000"/>
              </a:lnSpc>
              <a:buNone/>
            </a:pPr>
            <a:r>
              <a:rPr lang="en-US" sz="1400" dirty="0">
                <a:solidFill>
                  <a:srgbClr val="17282A"/>
                </a:solidFill>
                <a:latin typeface="Calibri" pitchFamily="34" charset="0"/>
                <a:ea typeface="Calibri" pitchFamily="34" charset="-122"/>
                <a:cs typeface="Calibri" pitchFamily="34" charset="-120"/>
              </a:rPr>
              <a:t>Всё, что разобрано в этой части — не абстрактная теория RAG, а фундамент конкретной платформы, которую предстоит изучать дальше в цикле.</a:t>
            </a:r>
            <a:endParaRPr lang="en-US" sz="1400" dirty="0"/>
          </a:p>
        </p:txBody>
      </p:sp>
      <p:sp>
        <p:nvSpPr>
          <p:cNvPr id="7" name="Shape 4"/>
          <p:cNvSpPr/>
          <p:nvPr/>
        </p:nvSpPr>
        <p:spPr>
          <a:xfrm>
            <a:off x="548640" y="1965960"/>
            <a:ext cx="11091672" cy="960120"/>
          </a:xfrm>
          <a:prstGeom prst="roundRect">
            <a:avLst>
              <a:gd name="adj" fmla="val 8571"/>
            </a:avLst>
          </a:prstGeom>
          <a:solidFill>
            <a:srgbClr val="F2FAF9"/>
          </a:solidFill>
          <a:ln/>
        </p:spPr>
      </p:sp>
      <p:sp>
        <p:nvSpPr>
          <p:cNvPr id="8" name="Shape 5"/>
          <p:cNvSpPr/>
          <p:nvPr/>
        </p:nvSpPr>
        <p:spPr>
          <a:xfrm>
            <a:off x="749808" y="2162556"/>
            <a:ext cx="566928" cy="566928"/>
          </a:xfrm>
          <a:prstGeom prst="ellipse">
            <a:avLst/>
          </a:prstGeom>
          <a:solidFill>
            <a:srgbClr val="028090"/>
          </a:solidFill>
          <a:ln/>
        </p:spPr>
      </p:sp>
      <p:pic>
        <p:nvPicPr>
          <p:cNvPr id="9" name="Image 1" descr="preencoded.png">    </p:cNvPr>
          <p:cNvPicPr>
            <a:picLocks noChangeAspect="1"/>
          </p:cNvPicPr>
          <p:nvPr/>
        </p:nvPicPr>
        <p:blipFill>
          <a:blip r:embed="rId2"/>
          <a:stretch>
            <a:fillRect/>
          </a:stretch>
        </p:blipFill>
        <p:spPr>
          <a:xfrm>
            <a:off x="823509" y="2236257"/>
            <a:ext cx="419527" cy="419527"/>
          </a:xfrm>
          <a:prstGeom prst="rect">
            <a:avLst/>
          </a:prstGeom>
        </p:spPr>
      </p:pic>
      <p:sp>
        <p:nvSpPr>
          <p:cNvPr id="10" name="Text 6"/>
          <p:cNvSpPr/>
          <p:nvPr/>
        </p:nvSpPr>
        <p:spPr>
          <a:xfrm>
            <a:off x="1508760" y="2057400"/>
            <a:ext cx="2651760" cy="777240"/>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Часть 2 — «Камерата»</a:t>
            </a:r>
            <a:endParaRPr lang="en-US" sz="1400" dirty="0"/>
          </a:p>
        </p:txBody>
      </p:sp>
      <p:sp>
        <p:nvSpPr>
          <p:cNvPr id="11" name="Text 7"/>
          <p:cNvSpPr/>
          <p:nvPr/>
        </p:nvSpPr>
        <p:spPr>
          <a:xfrm>
            <a:off x="4297680" y="2057400"/>
            <a:ext cx="7178040" cy="777240"/>
          </a:xfrm>
          <a:prstGeom prst="rect">
            <a:avLst/>
          </a:prstGeom>
          <a:noFill/>
          <a:ln/>
        </p:spPr>
        <p:txBody>
          <a:bodyPr wrap="square" lIns="0" tIns="0" rIns="0" bIns="0" rtlCol="0" anchor="ctr"/>
          <a:lstStyle/>
          <a:p>
            <a:pPr indent="0" marL="0">
              <a:lnSpc>
                <a:spcPct val="115000"/>
              </a:lnSpc>
              <a:buNone/>
            </a:pPr>
            <a:r>
              <a:rPr lang="en-US" sz="1200" dirty="0">
                <a:solidFill>
                  <a:srgbClr val="17282A"/>
                </a:solidFill>
                <a:latin typeface="Calibri" pitchFamily="34" charset="0"/>
                <a:ea typeface="Calibri" pitchFamily="34" charset="-122"/>
                <a:cs typeface="Calibri" pitchFamily="34" charset="-120"/>
              </a:rPr>
              <a:t>Все шаги пайплайна (чанкинг, эмбеддинги, гибридный поиск, реранкинг, судья) будут увидены уже как реальные экраны интерфейса и настройки калибровки</a:t>
            </a:r>
            <a:endParaRPr lang="en-US" sz="1200" dirty="0"/>
          </a:p>
        </p:txBody>
      </p:sp>
      <p:sp>
        <p:nvSpPr>
          <p:cNvPr id="12" name="Shape 8"/>
          <p:cNvSpPr/>
          <p:nvPr/>
        </p:nvSpPr>
        <p:spPr>
          <a:xfrm>
            <a:off x="548640" y="3035808"/>
            <a:ext cx="11091672" cy="960120"/>
          </a:xfrm>
          <a:prstGeom prst="roundRect">
            <a:avLst>
              <a:gd name="adj" fmla="val 8571"/>
            </a:avLst>
          </a:prstGeom>
          <a:solidFill>
            <a:srgbClr val="F2FAF9"/>
          </a:solidFill>
          <a:ln/>
        </p:spPr>
      </p:sp>
      <p:sp>
        <p:nvSpPr>
          <p:cNvPr id="13" name="Shape 9"/>
          <p:cNvSpPr/>
          <p:nvPr/>
        </p:nvSpPr>
        <p:spPr>
          <a:xfrm>
            <a:off x="749808" y="3232404"/>
            <a:ext cx="566928" cy="566928"/>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823509" y="3306105"/>
            <a:ext cx="419527" cy="419527"/>
          </a:xfrm>
          <a:prstGeom prst="rect">
            <a:avLst/>
          </a:prstGeom>
        </p:spPr>
      </p:pic>
      <p:sp>
        <p:nvSpPr>
          <p:cNvPr id="15" name="Text 10"/>
          <p:cNvSpPr/>
          <p:nvPr/>
        </p:nvSpPr>
        <p:spPr>
          <a:xfrm>
            <a:off x="1508760" y="3127248"/>
            <a:ext cx="2651760" cy="777240"/>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Часть 3 — Защита данных</a:t>
            </a:r>
            <a:endParaRPr lang="en-US" sz="1400" dirty="0"/>
          </a:p>
        </p:txBody>
      </p:sp>
      <p:sp>
        <p:nvSpPr>
          <p:cNvPr id="16" name="Text 11"/>
          <p:cNvSpPr/>
          <p:nvPr/>
        </p:nvSpPr>
        <p:spPr>
          <a:xfrm>
            <a:off x="4297680" y="3127248"/>
            <a:ext cx="7178040" cy="777240"/>
          </a:xfrm>
          <a:prstGeom prst="rect">
            <a:avLst/>
          </a:prstGeom>
          <a:noFill/>
          <a:ln/>
        </p:spPr>
        <p:txBody>
          <a:bodyPr wrap="square" lIns="0" tIns="0" rIns="0" bIns="0" rtlCol="0" anchor="ctr"/>
          <a:lstStyle/>
          <a:p>
            <a:pPr indent="0" marL="0">
              <a:lnSpc>
                <a:spcPct val="115000"/>
              </a:lnSpc>
              <a:buNone/>
            </a:pPr>
            <a:r>
              <a:rPr lang="en-US" sz="1200" dirty="0">
                <a:solidFill>
                  <a:srgbClr val="17282A"/>
                </a:solidFill>
                <a:latin typeface="Calibri" pitchFamily="34" charset="0"/>
                <a:ea typeface="Calibri" pitchFamily="34" charset="-122"/>
                <a:cs typeface="Calibri" pitchFamily="34" charset="-120"/>
              </a:rPr>
              <a:t>Маскирование (слайд 18) и таблица соответствий (слайд 19) получат полный разбор: 20 типов ПДн, DLP-механизм для коммерческой тайны, пороги PASS/REVIEW/BLOCK</a:t>
            </a:r>
            <a:endParaRPr lang="en-US" sz="1200" dirty="0"/>
          </a:p>
        </p:txBody>
      </p:sp>
      <p:sp>
        <p:nvSpPr>
          <p:cNvPr id="17" name="Shape 12"/>
          <p:cNvSpPr/>
          <p:nvPr/>
        </p:nvSpPr>
        <p:spPr>
          <a:xfrm>
            <a:off x="548640" y="4105656"/>
            <a:ext cx="11091672" cy="960120"/>
          </a:xfrm>
          <a:prstGeom prst="roundRect">
            <a:avLst>
              <a:gd name="adj" fmla="val 8571"/>
            </a:avLst>
          </a:prstGeom>
          <a:solidFill>
            <a:srgbClr val="F2FAF9"/>
          </a:solidFill>
          <a:ln/>
        </p:spPr>
      </p:sp>
      <p:sp>
        <p:nvSpPr>
          <p:cNvPr id="18" name="Shape 13"/>
          <p:cNvSpPr/>
          <p:nvPr/>
        </p:nvSpPr>
        <p:spPr>
          <a:xfrm>
            <a:off x="749808" y="4302252"/>
            <a:ext cx="566928" cy="566928"/>
          </a:xfrm>
          <a:prstGeom prst="ellipse">
            <a:avLst/>
          </a:prstGeom>
          <a:solidFill>
            <a:srgbClr val="028090"/>
          </a:solidFill>
          <a:ln/>
        </p:spPr>
      </p:sp>
      <p:pic>
        <p:nvPicPr>
          <p:cNvPr id="19" name="Image 3" descr="preencoded.png">    </p:cNvPr>
          <p:cNvPicPr>
            <a:picLocks noChangeAspect="1"/>
          </p:cNvPicPr>
          <p:nvPr/>
        </p:nvPicPr>
        <p:blipFill>
          <a:blip r:embed="rId4"/>
          <a:stretch>
            <a:fillRect/>
          </a:stretch>
        </p:blipFill>
        <p:spPr>
          <a:xfrm>
            <a:off x="823509" y="4375953"/>
            <a:ext cx="419527" cy="419527"/>
          </a:xfrm>
          <a:prstGeom prst="rect">
            <a:avLst/>
          </a:prstGeom>
        </p:spPr>
      </p:pic>
      <p:sp>
        <p:nvSpPr>
          <p:cNvPr id="20" name="Text 14"/>
          <p:cNvSpPr/>
          <p:nvPr/>
        </p:nvSpPr>
        <p:spPr>
          <a:xfrm>
            <a:off x="1508760" y="4197096"/>
            <a:ext cx="2651760" cy="777240"/>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Часть 4 — Домены и доступ</a:t>
            </a:r>
            <a:endParaRPr lang="en-US" sz="1400" dirty="0"/>
          </a:p>
        </p:txBody>
      </p:sp>
      <p:sp>
        <p:nvSpPr>
          <p:cNvPr id="21" name="Text 15"/>
          <p:cNvSpPr/>
          <p:nvPr/>
        </p:nvSpPr>
        <p:spPr>
          <a:xfrm>
            <a:off x="4297680" y="4197096"/>
            <a:ext cx="7178040" cy="777240"/>
          </a:xfrm>
          <a:prstGeom prst="rect">
            <a:avLst/>
          </a:prstGeom>
          <a:noFill/>
          <a:ln/>
        </p:spPr>
        <p:txBody>
          <a:bodyPr wrap="square" lIns="0" tIns="0" rIns="0" bIns="0" rtlCol="0" anchor="ctr"/>
          <a:lstStyle/>
          <a:p>
            <a:pPr indent="0" marL="0">
              <a:lnSpc>
                <a:spcPct val="115000"/>
              </a:lnSpc>
              <a:buNone/>
            </a:pPr>
            <a:r>
              <a:rPr lang="en-US" sz="1200" dirty="0">
                <a:solidFill>
                  <a:srgbClr val="17282A"/>
                </a:solidFill>
                <a:latin typeface="Calibri" pitchFamily="34" charset="0"/>
                <a:ea typeface="Calibri" pitchFamily="34" charset="-122"/>
                <a:cs typeface="Calibri" pitchFamily="34" charset="-120"/>
              </a:rPr>
              <a:t>Контроль доступа до поиска (слайд 17) станет конкретным механизмом: домены, роли, row/field-level маски</a:t>
            </a:r>
            <a:endParaRPr lang="en-US" sz="1200" dirty="0"/>
          </a:p>
        </p:txBody>
      </p:sp>
      <p:sp>
        <p:nvSpPr>
          <p:cNvPr id="22" name="Shape 16"/>
          <p:cNvSpPr/>
          <p:nvPr/>
        </p:nvSpPr>
        <p:spPr>
          <a:xfrm>
            <a:off x="548640" y="5175504"/>
            <a:ext cx="11091672" cy="960120"/>
          </a:xfrm>
          <a:prstGeom prst="roundRect">
            <a:avLst>
              <a:gd name="adj" fmla="val 8571"/>
            </a:avLst>
          </a:prstGeom>
          <a:solidFill>
            <a:srgbClr val="F2FAF9"/>
          </a:solidFill>
          <a:ln/>
        </p:spPr>
      </p:sp>
      <p:sp>
        <p:nvSpPr>
          <p:cNvPr id="23" name="Shape 17"/>
          <p:cNvSpPr/>
          <p:nvPr/>
        </p:nvSpPr>
        <p:spPr>
          <a:xfrm>
            <a:off x="749808" y="5372100"/>
            <a:ext cx="566928" cy="566928"/>
          </a:xfrm>
          <a:prstGeom prst="ellipse">
            <a:avLst/>
          </a:prstGeom>
          <a:solidFill>
            <a:srgbClr val="028090"/>
          </a:solidFill>
          <a:ln/>
        </p:spPr>
      </p:sp>
      <p:pic>
        <p:nvPicPr>
          <p:cNvPr id="24" name="Image 4" descr="preencoded.png">    </p:cNvPr>
          <p:cNvPicPr>
            <a:picLocks noChangeAspect="1"/>
          </p:cNvPicPr>
          <p:nvPr/>
        </p:nvPicPr>
        <p:blipFill>
          <a:blip r:embed="rId5"/>
          <a:stretch>
            <a:fillRect/>
          </a:stretch>
        </p:blipFill>
        <p:spPr>
          <a:xfrm>
            <a:off x="823509" y="5445801"/>
            <a:ext cx="419527" cy="419527"/>
          </a:xfrm>
          <a:prstGeom prst="rect">
            <a:avLst/>
          </a:prstGeom>
        </p:spPr>
      </p:pic>
      <p:sp>
        <p:nvSpPr>
          <p:cNvPr id="25" name="Text 18"/>
          <p:cNvSpPr/>
          <p:nvPr/>
        </p:nvSpPr>
        <p:spPr>
          <a:xfrm>
            <a:off x="1508760" y="5266944"/>
            <a:ext cx="2651760" cy="777240"/>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Часть 5 — Итог</a:t>
            </a:r>
            <a:endParaRPr lang="en-US" sz="1400" dirty="0"/>
          </a:p>
        </p:txBody>
      </p:sp>
      <p:sp>
        <p:nvSpPr>
          <p:cNvPr id="26" name="Text 19"/>
          <p:cNvSpPr/>
          <p:nvPr/>
        </p:nvSpPr>
        <p:spPr>
          <a:xfrm>
            <a:off x="4297680" y="5266944"/>
            <a:ext cx="7178040" cy="777240"/>
          </a:xfrm>
          <a:prstGeom prst="rect">
            <a:avLst/>
          </a:prstGeom>
          <a:noFill/>
          <a:ln/>
        </p:spPr>
        <p:txBody>
          <a:bodyPr wrap="square" lIns="0" tIns="0" rIns="0" bIns="0" rtlCol="0" anchor="ctr"/>
          <a:lstStyle/>
          <a:p>
            <a:pPr indent="0" marL="0">
              <a:lnSpc>
                <a:spcPct val="115000"/>
              </a:lnSpc>
              <a:buNone/>
            </a:pPr>
            <a:r>
              <a:rPr lang="en-US" sz="1200" dirty="0">
                <a:solidFill>
                  <a:srgbClr val="17282A"/>
                </a:solidFill>
                <a:latin typeface="Calibri" pitchFamily="34" charset="0"/>
                <a:ea typeface="Calibri" pitchFamily="34" charset="-122"/>
                <a:cs typeface="Calibri" pitchFamily="34" charset="-120"/>
              </a:rPr>
              <a:t>Сильные и слабые стороны платформы в целом будут оцениваться именно относительно фундамента, заложенного здесь</a:t>
            </a:r>
            <a:endParaRPr lang="en-US" sz="1200" dirty="0"/>
          </a:p>
        </p:txBody>
      </p:sp>
      <p:sp>
        <p:nvSpPr>
          <p:cNvPr id="27" name="Text 2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Мост к следующим частям</a:t>
            </a:r>
            <a:endParaRPr lang="en-US" sz="1000" dirty="0"/>
          </a:p>
        </p:txBody>
      </p:sp>
      <p:sp>
        <p:nvSpPr>
          <p:cNvPr id="28" name="Text 21"/>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25 / 27</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РЕЗЮМЕ</a:t>
            </a:r>
            <a:endParaRPr lang="en-US" sz="1200" dirty="0"/>
          </a:p>
        </p:txBody>
      </p:sp>
      <p:sp>
        <p:nvSpPr>
          <p:cNvPr id="3" name="Text 1"/>
          <p:cNvSpPr/>
          <p:nvPr/>
        </p:nvSpPr>
        <p:spPr>
          <a:xfrm>
            <a:off x="548640" y="548640"/>
            <a:ext cx="9601200" cy="868680"/>
          </a:xfrm>
          <a:prstGeom prst="rect">
            <a:avLst/>
          </a:prstGeom>
          <a:noFill/>
          <a:ln/>
        </p:spPr>
        <p:txBody>
          <a:bodyPr wrap="square" lIns="0" tIns="0" rIns="0" bIns="0" rtlCol="0" anchor="t"/>
          <a:lstStyle/>
          <a:p>
            <a:pPr indent="0" marL="0">
              <a:lnSpc>
                <a:spcPct val="105000"/>
              </a:lnSpc>
              <a:buNone/>
            </a:pPr>
            <a:r>
              <a:rPr lang="en-US" sz="2400" b="1" dirty="0">
                <a:solidFill>
                  <a:srgbClr val="17282A"/>
                </a:solidFill>
                <a:latin typeface="Cambria" pitchFamily="34" charset="0"/>
                <a:ea typeface="Cambria" pitchFamily="34" charset="-122"/>
                <a:cs typeface="Cambria" pitchFamily="34" charset="-120"/>
              </a:rPr>
              <a:t>Итоговые тезисы</a:t>
            </a:r>
            <a:endParaRPr lang="en-US" sz="2400" dirty="0"/>
          </a:p>
        </p:txBody>
      </p:sp>
      <p:sp>
        <p:nvSpPr>
          <p:cNvPr id="4" name="Shape 2"/>
          <p:cNvSpPr/>
          <p:nvPr/>
        </p:nvSpPr>
        <p:spPr>
          <a:xfrm>
            <a:off x="10515600" y="365760"/>
            <a:ext cx="914400" cy="9144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10634472" y="484632"/>
            <a:ext cx="676656" cy="676656"/>
          </a:xfrm>
          <a:prstGeom prst="rect">
            <a:avLst/>
          </a:prstGeom>
        </p:spPr>
      </p:pic>
      <p:sp>
        <p:nvSpPr>
          <p:cNvPr id="6" name="Shape 3"/>
          <p:cNvSpPr/>
          <p:nvPr/>
        </p:nvSpPr>
        <p:spPr>
          <a:xfrm>
            <a:off x="548640" y="1490472"/>
            <a:ext cx="402336" cy="402336"/>
          </a:xfrm>
          <a:prstGeom prst="ellipse">
            <a:avLst/>
          </a:prstGeom>
          <a:solidFill>
            <a:srgbClr val="028090"/>
          </a:solidFill>
          <a:ln/>
        </p:spPr>
      </p:sp>
      <p:sp>
        <p:nvSpPr>
          <p:cNvPr id="7" name="Text 4"/>
          <p:cNvSpPr/>
          <p:nvPr/>
        </p:nvSpPr>
        <p:spPr>
          <a:xfrm>
            <a:off x="548640" y="14904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115568" y="1463040"/>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LLM предсказывает наиболее вероятное продолжение текста — и без внешних данных не знает документы компании, может «галлюцинировать» и не в курсе событий после даты обучения.</a:t>
            </a:r>
            <a:endParaRPr lang="en-US" sz="1230" dirty="0"/>
          </a:p>
        </p:txBody>
      </p:sp>
      <p:sp>
        <p:nvSpPr>
          <p:cNvPr id="9" name="Shape 6"/>
          <p:cNvSpPr/>
          <p:nvPr/>
        </p:nvSpPr>
        <p:spPr>
          <a:xfrm>
            <a:off x="548640" y="2240280"/>
            <a:ext cx="402336" cy="402336"/>
          </a:xfrm>
          <a:prstGeom prst="ellipse">
            <a:avLst/>
          </a:prstGeom>
          <a:solidFill>
            <a:srgbClr val="028090"/>
          </a:solidFill>
          <a:ln/>
        </p:spPr>
      </p:sp>
      <p:sp>
        <p:nvSpPr>
          <p:cNvPr id="10" name="Text 7"/>
          <p:cNvSpPr/>
          <p:nvPr/>
        </p:nvSpPr>
        <p:spPr>
          <a:xfrm>
            <a:off x="548640" y="2240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8"/>
          <p:cNvSpPr/>
          <p:nvPr/>
        </p:nvSpPr>
        <p:spPr>
          <a:xfrm>
            <a:off x="1115568" y="2212848"/>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RAG чинит все три ограничения идеей «сначала найди, потом отвечай» — модель отвечает по реально найденным фрагментам, а не по общим знаниям.</a:t>
            </a:r>
            <a:endParaRPr lang="en-US" sz="1230" dirty="0"/>
          </a:p>
        </p:txBody>
      </p:sp>
      <p:sp>
        <p:nvSpPr>
          <p:cNvPr id="12" name="Shape 9"/>
          <p:cNvSpPr/>
          <p:nvPr/>
        </p:nvSpPr>
        <p:spPr>
          <a:xfrm>
            <a:off x="548640" y="2990088"/>
            <a:ext cx="402336" cy="402336"/>
          </a:xfrm>
          <a:prstGeom prst="ellipse">
            <a:avLst/>
          </a:prstGeom>
          <a:solidFill>
            <a:srgbClr val="028090"/>
          </a:solidFill>
          <a:ln/>
        </p:spPr>
      </p:sp>
      <p:sp>
        <p:nvSpPr>
          <p:cNvPr id="13" name="Text 10"/>
          <p:cNvSpPr/>
          <p:nvPr/>
        </p:nvSpPr>
        <p:spPr>
          <a:xfrm>
            <a:off x="548640" y="2990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1"/>
          <p:cNvSpPr/>
          <p:nvPr/>
        </p:nvSpPr>
        <p:spPr>
          <a:xfrm>
            <a:off x="1115568" y="2962656"/>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Поиск устроен многослойно: чанкинг → эмбеддинги (bge-m3, работает на CPU) → векторная база (Qdrant) → гибридный поиск (лексика + семантика, вес семантики ≈0.7) → top-K → реранкинг → LLM-судья для спорных случаев.</a:t>
            </a:r>
            <a:endParaRPr lang="en-US" sz="1230" dirty="0"/>
          </a:p>
        </p:txBody>
      </p:sp>
      <p:sp>
        <p:nvSpPr>
          <p:cNvPr id="15" name="Shape 12"/>
          <p:cNvSpPr/>
          <p:nvPr/>
        </p:nvSpPr>
        <p:spPr>
          <a:xfrm>
            <a:off x="548640" y="3739896"/>
            <a:ext cx="402336" cy="402336"/>
          </a:xfrm>
          <a:prstGeom prst="ellipse">
            <a:avLst/>
          </a:prstGeom>
          <a:solidFill>
            <a:srgbClr val="028090"/>
          </a:solidFill>
          <a:ln/>
        </p:spPr>
      </p:sp>
      <p:sp>
        <p:nvSpPr>
          <p:cNvPr id="16" name="Text 13"/>
          <p:cNvSpPr/>
          <p:nvPr/>
        </p:nvSpPr>
        <p:spPr>
          <a:xfrm>
            <a:off x="548640" y="3739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4"/>
          <p:cNvSpPr/>
          <p:nvPr/>
        </p:nvSpPr>
        <p:spPr>
          <a:xfrm>
            <a:off x="1115568" y="3712464"/>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Проверка прав доступа происходит до того, как что-либо попадёт в модель — это архитектурный принцип, а не опциональная надстройка.</a:t>
            </a:r>
            <a:endParaRPr lang="en-US" sz="1230" dirty="0"/>
          </a:p>
        </p:txBody>
      </p:sp>
      <p:sp>
        <p:nvSpPr>
          <p:cNvPr id="18" name="Shape 15"/>
          <p:cNvSpPr/>
          <p:nvPr/>
        </p:nvSpPr>
        <p:spPr>
          <a:xfrm>
            <a:off x="548640" y="4489704"/>
            <a:ext cx="402336" cy="402336"/>
          </a:xfrm>
          <a:prstGeom prst="ellipse">
            <a:avLst/>
          </a:prstGeom>
          <a:solidFill>
            <a:srgbClr val="028090"/>
          </a:solidFill>
          <a:ln/>
        </p:spPr>
      </p:sp>
      <p:sp>
        <p:nvSpPr>
          <p:cNvPr id="19" name="Text 16"/>
          <p:cNvSpPr/>
          <p:nvPr/>
        </p:nvSpPr>
        <p:spPr>
          <a:xfrm>
            <a:off x="548640" y="44897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7"/>
          <p:cNvSpPr/>
          <p:nvPr/>
        </p:nvSpPr>
        <p:spPr>
          <a:xfrm>
            <a:off x="1115568" y="4462272"/>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Маскирование ПДн обязательно для внешних моделей: значения заменяются метками, таблица соответствий не покидает периметр и живёт ограниченное время (TTL).</a:t>
            </a:r>
            <a:endParaRPr lang="en-US" sz="1230" dirty="0"/>
          </a:p>
        </p:txBody>
      </p:sp>
      <p:sp>
        <p:nvSpPr>
          <p:cNvPr id="21" name="Shape 18"/>
          <p:cNvSpPr/>
          <p:nvPr/>
        </p:nvSpPr>
        <p:spPr>
          <a:xfrm>
            <a:off x="548640" y="5239512"/>
            <a:ext cx="402336" cy="402336"/>
          </a:xfrm>
          <a:prstGeom prst="ellipse">
            <a:avLst/>
          </a:prstGeom>
          <a:solidFill>
            <a:srgbClr val="028090"/>
          </a:solidFill>
          <a:ln/>
        </p:spPr>
      </p:sp>
      <p:sp>
        <p:nvSpPr>
          <p:cNvPr id="22" name="Text 19"/>
          <p:cNvSpPr/>
          <p:nvPr/>
        </p:nvSpPr>
        <p:spPr>
          <a:xfrm>
            <a:off x="548640" y="5239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0"/>
          <p:cNvSpPr/>
          <p:nvPr/>
        </p:nvSpPr>
        <p:spPr>
          <a:xfrm>
            <a:off x="1115568" y="5212080"/>
            <a:ext cx="10524744" cy="749808"/>
          </a:xfrm>
          <a:prstGeom prst="rect">
            <a:avLst/>
          </a:prstGeom>
          <a:noFill/>
          <a:ln/>
        </p:spPr>
        <p:txBody>
          <a:bodyPr wrap="square" lIns="0" tIns="0" rIns="0" bIns="0" rtlCol="0" anchor="ctr"/>
          <a:lstStyle/>
          <a:p>
            <a:pPr indent="0" marL="0">
              <a:lnSpc>
                <a:spcPct val="112000"/>
              </a:lnSpc>
              <a:buNone/>
            </a:pPr>
            <a:r>
              <a:rPr lang="en-US" sz="1230" dirty="0">
                <a:solidFill>
                  <a:srgbClr val="17282A"/>
                </a:solidFill>
                <a:latin typeface="Calibri" pitchFamily="34" charset="0"/>
                <a:ea typeface="Calibri" pitchFamily="34" charset="-122"/>
                <a:cs typeface="Calibri" pitchFamily="34" charset="-120"/>
              </a:rPr>
              <a:t>Ответ всегда сопровождается ссылкой на источник, а журналирование по умолчанию хранит только обезличенный текст — эти два факта вместе делают весь процесс объяснимым и проверяемым.</a:t>
            </a:r>
            <a:endParaRPr lang="en-US" sz="1230" dirty="0"/>
          </a:p>
        </p:txBody>
      </p:sp>
      <p:sp>
        <p:nvSpPr>
          <p:cNvPr id="24" name="Text 21"/>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1000" dirty="0">
                <a:solidFill>
                  <a:srgbClr val="55696B"/>
                </a:solidFill>
                <a:latin typeface="Calibri" pitchFamily="34" charset="0"/>
                <a:ea typeface="Calibri" pitchFamily="34" charset="-122"/>
                <a:cs typeface="Calibri" pitchFamily="34" charset="-120"/>
              </a:rPr>
              <a:t>Резюме</a:t>
            </a:r>
            <a:endParaRPr lang="en-US" sz="1000" dirty="0"/>
          </a:p>
        </p:txBody>
      </p:sp>
      <p:sp>
        <p:nvSpPr>
          <p:cNvPr id="25" name="Text 22"/>
          <p:cNvSpPr/>
          <p:nvPr/>
        </p:nvSpPr>
        <p:spPr>
          <a:xfrm>
            <a:off x="11247120" y="6510528"/>
            <a:ext cx="731520" cy="274320"/>
          </a:xfrm>
          <a:prstGeom prst="rect">
            <a:avLst/>
          </a:prstGeom>
          <a:noFill/>
          <a:ln/>
        </p:spPr>
        <p:txBody>
          <a:bodyPr wrap="square" lIns="0" tIns="0" rIns="0" bIns="0" rtlCol="0" anchor="ctr"/>
          <a:lstStyle/>
          <a:p>
            <a:pPr algn="r" indent="0" marL="0">
              <a:buNone/>
            </a:pPr>
            <a:r>
              <a:rPr lang="en-US" sz="1000" dirty="0">
                <a:solidFill>
                  <a:srgbClr val="55696B"/>
                </a:solidFill>
                <a:latin typeface="Calibri" pitchFamily="34" charset="0"/>
                <a:ea typeface="Calibri" pitchFamily="34" charset="-122"/>
                <a:cs typeface="Calibri" pitchFamily="34" charset="-120"/>
              </a:rPr>
              <a:t>26 / 27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1645920" y="4023360"/>
            <a:ext cx="4572000" cy="4572000"/>
          </a:xfrm>
          <a:prstGeom prst="ellipse">
            <a:avLst/>
          </a:prstGeom>
          <a:solidFill>
            <a:srgbClr val="024E56"/>
          </a:solidFill>
          <a:ln/>
        </p:spPr>
      </p:sp>
      <p:sp>
        <p:nvSpPr>
          <p:cNvPr id="3" name="Shape 1"/>
          <p:cNvSpPr/>
          <p:nvPr/>
        </p:nvSpPr>
        <p:spPr>
          <a:xfrm>
            <a:off x="640080" y="640080"/>
            <a:ext cx="2377440" cy="365760"/>
          </a:xfrm>
          <a:prstGeom prst="roundRect">
            <a:avLst>
              <a:gd name="adj" fmla="val 50000"/>
            </a:avLst>
          </a:prstGeom>
          <a:solidFill>
            <a:srgbClr val="02C39A"/>
          </a:solidFill>
          <a:ln/>
        </p:spPr>
      </p:sp>
      <p:sp>
        <p:nvSpPr>
          <p:cNvPr id="4" name="Text 2"/>
          <p:cNvSpPr/>
          <p:nvPr/>
        </p:nvSpPr>
        <p:spPr>
          <a:xfrm>
            <a:off x="640080" y="640080"/>
            <a:ext cx="2377440" cy="365760"/>
          </a:xfrm>
          <a:prstGeom prst="rect">
            <a:avLst/>
          </a:prstGeom>
          <a:noFill/>
          <a:ln/>
        </p:spPr>
        <p:txBody>
          <a:bodyPr wrap="square" lIns="0" tIns="0" rIns="0" bIns="0" rtlCol="0" anchor="ctr"/>
          <a:lstStyle/>
          <a:p>
            <a:pPr algn="ctr" indent="0" marL="0">
              <a:buNone/>
            </a:pPr>
            <a:r>
              <a:rPr lang="en-US" sz="1200" b="1" spc="100" kern="0" dirty="0">
                <a:solidFill>
                  <a:srgbClr val="013A40"/>
                </a:solidFill>
                <a:latin typeface="Calibri" pitchFamily="34" charset="0"/>
                <a:ea typeface="Calibri" pitchFamily="34" charset="-122"/>
                <a:cs typeface="Calibri" pitchFamily="34" charset="-120"/>
              </a:rPr>
              <a:t>ДАЛЬШЕ В ЦИКЛЕ</a:t>
            </a:r>
            <a:endParaRPr lang="en-US" sz="1200" dirty="0"/>
          </a:p>
        </p:txBody>
      </p:sp>
      <p:sp>
        <p:nvSpPr>
          <p:cNvPr id="5" name="Text 3"/>
          <p:cNvSpPr/>
          <p:nvPr/>
        </p:nvSpPr>
        <p:spPr>
          <a:xfrm>
            <a:off x="594360" y="1280160"/>
            <a:ext cx="7315200" cy="548640"/>
          </a:xfrm>
          <a:prstGeom prst="rect">
            <a:avLst/>
          </a:prstGeom>
          <a:noFill/>
          <a:ln/>
        </p:spPr>
        <p:txBody>
          <a:bodyPr wrap="square" lIns="0" tIns="0" rIns="0" bIns="0" rtlCol="0" anchor="ctr"/>
          <a:lstStyle/>
          <a:p>
            <a:pPr indent="0" marL="0">
              <a:buNone/>
            </a:pPr>
            <a:r>
              <a:rPr lang="en-US" sz="2200" b="1" dirty="0">
                <a:solidFill>
                  <a:srgbClr val="7FE0D3"/>
                </a:solidFill>
                <a:latin typeface="Cambria" pitchFamily="34" charset="0"/>
                <a:ea typeface="Cambria" pitchFamily="34" charset="-122"/>
                <a:cs typeface="Cambria" pitchFamily="34" charset="-120"/>
              </a:rPr>
              <a:t>Часть 2 / 5</a:t>
            </a:r>
            <a:endParaRPr lang="en-US" sz="2200" dirty="0"/>
          </a:p>
        </p:txBody>
      </p:sp>
      <p:sp>
        <p:nvSpPr>
          <p:cNvPr id="6" name="Text 4"/>
          <p:cNvSpPr/>
          <p:nvPr/>
        </p:nvSpPr>
        <p:spPr>
          <a:xfrm>
            <a:off x="548640" y="1783080"/>
            <a:ext cx="9601200" cy="155448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Платформа «Камерата»:</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архитектура и интерфейс</a:t>
            </a:r>
            <a:endParaRPr lang="en-US" sz="3800" dirty="0"/>
          </a:p>
        </p:txBody>
      </p:sp>
      <p:sp>
        <p:nvSpPr>
          <p:cNvPr id="7" name="Text 5"/>
          <p:cNvSpPr/>
          <p:nvPr/>
        </p:nvSpPr>
        <p:spPr>
          <a:xfrm>
            <a:off x="594360" y="3429000"/>
            <a:ext cx="7863840" cy="914400"/>
          </a:xfrm>
          <a:prstGeom prst="rect">
            <a:avLst/>
          </a:prstGeom>
          <a:noFill/>
          <a:ln/>
        </p:spPr>
        <p:txBody>
          <a:bodyPr wrap="square" lIns="0" tIns="0" rIns="0" bIns="0" rtlCol="0" anchor="ctr"/>
          <a:lstStyle/>
          <a:p>
            <a:pPr indent="0" marL="0">
              <a:lnSpc>
                <a:spcPct val="125000"/>
              </a:lnSpc>
              <a:buNone/>
            </a:pPr>
            <a:r>
              <a:rPr lang="en-US" sz="1450" dirty="0">
                <a:solidFill>
                  <a:srgbClr val="BFE9E2"/>
                </a:solidFill>
                <a:latin typeface="Calibri" pitchFamily="34" charset="0"/>
                <a:ea typeface="Calibri" pitchFamily="34" charset="-122"/>
                <a:cs typeface="Calibri" pitchFamily="34" charset="-120"/>
              </a:rPr>
              <a:t>Всё, что было общей схемой в этой части, в следующей станет конкретными экранами: AI Gateway, каталог метаданных, конструктор агентов, роли и API-каналы — вся архитектура ядра платформы поверх фундамента RAG.</a:t>
            </a:r>
            <a:endParaRPr lang="en-US" sz="1450" dirty="0"/>
          </a:p>
        </p:txBody>
      </p:sp>
      <p:sp>
        <p:nvSpPr>
          <p:cNvPr id="8" name="Shape 6"/>
          <p:cNvSpPr/>
          <p:nvPr/>
        </p:nvSpPr>
        <p:spPr>
          <a:xfrm>
            <a:off x="868680" y="4709160"/>
            <a:ext cx="640080" cy="640080"/>
          </a:xfrm>
          <a:prstGeom prst="ellipse">
            <a:avLst/>
          </a:prstGeom>
          <a:solidFill>
            <a:srgbClr val="02555C"/>
          </a:solidFill>
          <a:ln/>
        </p:spPr>
      </p:sp>
      <p:pic>
        <p:nvPicPr>
          <p:cNvPr id="9" name="Image 0" descr="preencoded.png">    </p:cNvPr>
          <p:cNvPicPr>
            <a:picLocks noChangeAspect="1"/>
          </p:cNvPicPr>
          <p:nvPr/>
        </p:nvPicPr>
        <p:blipFill>
          <a:blip r:embed="rId1"/>
          <a:stretch>
            <a:fillRect/>
          </a:stretch>
        </p:blipFill>
        <p:spPr>
          <a:xfrm>
            <a:off x="951890" y="4792370"/>
            <a:ext cx="473659" cy="473659"/>
          </a:xfrm>
          <a:prstGeom prst="rect">
            <a:avLst/>
          </a:prstGeom>
        </p:spPr>
      </p:pic>
      <p:sp>
        <p:nvSpPr>
          <p:cNvPr id="10" name="Text 7"/>
          <p:cNvSpPr/>
          <p:nvPr/>
        </p:nvSpPr>
        <p:spPr>
          <a:xfrm>
            <a:off x="36576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RAG</a:t>
            </a:r>
            <a:endParaRPr lang="en-US" sz="1000" dirty="0"/>
          </a:p>
        </p:txBody>
      </p:sp>
      <p:sp>
        <p:nvSpPr>
          <p:cNvPr id="11" name="Shape 8"/>
          <p:cNvSpPr/>
          <p:nvPr/>
        </p:nvSpPr>
        <p:spPr>
          <a:xfrm>
            <a:off x="2606040" y="4709160"/>
            <a:ext cx="640080" cy="640080"/>
          </a:xfrm>
          <a:prstGeom prst="ellipse">
            <a:avLst/>
          </a:prstGeom>
          <a:solidFill>
            <a:srgbClr val="02555C"/>
          </a:solidFill>
          <a:ln/>
        </p:spPr>
      </p:sp>
      <p:pic>
        <p:nvPicPr>
          <p:cNvPr id="12" name="Image 1" descr="preencoded.png">    </p:cNvPr>
          <p:cNvPicPr>
            <a:picLocks noChangeAspect="1"/>
          </p:cNvPicPr>
          <p:nvPr/>
        </p:nvPicPr>
        <p:blipFill>
          <a:blip r:embed="rId2"/>
          <a:stretch>
            <a:fillRect/>
          </a:stretch>
        </p:blipFill>
        <p:spPr>
          <a:xfrm>
            <a:off x="2689250" y="4792370"/>
            <a:ext cx="473659" cy="473659"/>
          </a:xfrm>
          <a:prstGeom prst="rect">
            <a:avLst/>
          </a:prstGeom>
        </p:spPr>
      </p:pic>
      <p:sp>
        <p:nvSpPr>
          <p:cNvPr id="13" name="Text 9"/>
          <p:cNvSpPr/>
          <p:nvPr/>
        </p:nvSpPr>
        <p:spPr>
          <a:xfrm>
            <a:off x="210312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Эмбеддинги</a:t>
            </a:r>
            <a:endParaRPr lang="en-US" sz="1000" dirty="0"/>
          </a:p>
        </p:txBody>
      </p:sp>
      <p:sp>
        <p:nvSpPr>
          <p:cNvPr id="14" name="Shape 10"/>
          <p:cNvSpPr/>
          <p:nvPr/>
        </p:nvSpPr>
        <p:spPr>
          <a:xfrm>
            <a:off x="4343400" y="4709160"/>
            <a:ext cx="640080" cy="640080"/>
          </a:xfrm>
          <a:prstGeom prst="ellipse">
            <a:avLst/>
          </a:prstGeom>
          <a:solidFill>
            <a:srgbClr val="02555C"/>
          </a:solidFill>
          <a:ln/>
        </p:spPr>
      </p:sp>
      <p:pic>
        <p:nvPicPr>
          <p:cNvPr id="15" name="Image 2" descr="preencoded.png">    </p:cNvPr>
          <p:cNvPicPr>
            <a:picLocks noChangeAspect="1"/>
          </p:cNvPicPr>
          <p:nvPr/>
        </p:nvPicPr>
        <p:blipFill>
          <a:blip r:embed="rId3"/>
          <a:stretch>
            <a:fillRect/>
          </a:stretch>
        </p:blipFill>
        <p:spPr>
          <a:xfrm>
            <a:off x="4426610" y="4792370"/>
            <a:ext cx="473659" cy="473659"/>
          </a:xfrm>
          <a:prstGeom prst="rect">
            <a:avLst/>
          </a:prstGeom>
        </p:spPr>
      </p:pic>
      <p:sp>
        <p:nvSpPr>
          <p:cNvPr id="16" name="Text 11"/>
          <p:cNvSpPr/>
          <p:nvPr/>
        </p:nvSpPr>
        <p:spPr>
          <a:xfrm>
            <a:off x="384048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Qdrant</a:t>
            </a:r>
            <a:endParaRPr lang="en-US" sz="1000" dirty="0"/>
          </a:p>
        </p:txBody>
      </p:sp>
      <p:sp>
        <p:nvSpPr>
          <p:cNvPr id="17" name="Shape 12"/>
          <p:cNvSpPr/>
          <p:nvPr/>
        </p:nvSpPr>
        <p:spPr>
          <a:xfrm>
            <a:off x="6080760" y="4709160"/>
            <a:ext cx="640080" cy="640080"/>
          </a:xfrm>
          <a:prstGeom prst="ellipse">
            <a:avLst/>
          </a:prstGeom>
          <a:solidFill>
            <a:srgbClr val="02555C"/>
          </a:solidFill>
          <a:ln/>
        </p:spPr>
      </p:sp>
      <p:pic>
        <p:nvPicPr>
          <p:cNvPr id="18" name="Image 3" descr="preencoded.png">    </p:cNvPr>
          <p:cNvPicPr>
            <a:picLocks noChangeAspect="1"/>
          </p:cNvPicPr>
          <p:nvPr/>
        </p:nvPicPr>
        <p:blipFill>
          <a:blip r:embed="rId4"/>
          <a:stretch>
            <a:fillRect/>
          </a:stretch>
        </p:blipFill>
        <p:spPr>
          <a:xfrm>
            <a:off x="6163970" y="4792370"/>
            <a:ext cx="473659" cy="473659"/>
          </a:xfrm>
          <a:prstGeom prst="rect">
            <a:avLst/>
          </a:prstGeom>
        </p:spPr>
      </p:pic>
      <p:sp>
        <p:nvSpPr>
          <p:cNvPr id="19" name="Text 13"/>
          <p:cNvSpPr/>
          <p:nvPr/>
        </p:nvSpPr>
        <p:spPr>
          <a:xfrm>
            <a:off x="557784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Гибридный поиск</a:t>
            </a:r>
            <a:endParaRPr lang="en-US" sz="1000" dirty="0"/>
          </a:p>
        </p:txBody>
      </p:sp>
      <p:sp>
        <p:nvSpPr>
          <p:cNvPr id="20" name="Shape 14"/>
          <p:cNvSpPr/>
          <p:nvPr/>
        </p:nvSpPr>
        <p:spPr>
          <a:xfrm>
            <a:off x="7818120" y="4709160"/>
            <a:ext cx="640080" cy="640080"/>
          </a:xfrm>
          <a:prstGeom prst="ellipse">
            <a:avLst/>
          </a:prstGeom>
          <a:solidFill>
            <a:srgbClr val="02555C"/>
          </a:solidFill>
          <a:ln/>
        </p:spPr>
      </p:sp>
      <p:pic>
        <p:nvPicPr>
          <p:cNvPr id="21" name="Image 4" descr="preencoded.png">    </p:cNvPr>
          <p:cNvPicPr>
            <a:picLocks noChangeAspect="1"/>
          </p:cNvPicPr>
          <p:nvPr/>
        </p:nvPicPr>
        <p:blipFill>
          <a:blip r:embed="rId5"/>
          <a:stretch>
            <a:fillRect/>
          </a:stretch>
        </p:blipFill>
        <p:spPr>
          <a:xfrm>
            <a:off x="7901330" y="4792370"/>
            <a:ext cx="473659" cy="473659"/>
          </a:xfrm>
          <a:prstGeom prst="rect">
            <a:avLst/>
          </a:prstGeom>
        </p:spPr>
      </p:pic>
      <p:sp>
        <p:nvSpPr>
          <p:cNvPr id="22" name="Text 15"/>
          <p:cNvSpPr/>
          <p:nvPr/>
        </p:nvSpPr>
        <p:spPr>
          <a:xfrm>
            <a:off x="731520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Доступ</a:t>
            </a:r>
            <a:endParaRPr lang="en-US" sz="1000" dirty="0"/>
          </a:p>
        </p:txBody>
      </p:sp>
      <p:sp>
        <p:nvSpPr>
          <p:cNvPr id="23" name="Shape 16"/>
          <p:cNvSpPr/>
          <p:nvPr/>
        </p:nvSpPr>
        <p:spPr>
          <a:xfrm>
            <a:off x="9555480" y="4709160"/>
            <a:ext cx="640080" cy="640080"/>
          </a:xfrm>
          <a:prstGeom prst="ellipse">
            <a:avLst/>
          </a:prstGeom>
          <a:solidFill>
            <a:srgbClr val="02555C"/>
          </a:solidFill>
          <a:ln/>
        </p:spPr>
      </p:sp>
      <p:pic>
        <p:nvPicPr>
          <p:cNvPr id="24" name="Image 5" descr="preencoded.png">    </p:cNvPr>
          <p:cNvPicPr>
            <a:picLocks noChangeAspect="1"/>
          </p:cNvPicPr>
          <p:nvPr/>
        </p:nvPicPr>
        <p:blipFill>
          <a:blip r:embed="rId6"/>
          <a:stretch>
            <a:fillRect/>
          </a:stretch>
        </p:blipFill>
        <p:spPr>
          <a:xfrm>
            <a:off x="9638690" y="4792370"/>
            <a:ext cx="473659" cy="473659"/>
          </a:xfrm>
          <a:prstGeom prst="rect">
            <a:avLst/>
          </a:prstGeom>
        </p:spPr>
      </p:pic>
      <p:sp>
        <p:nvSpPr>
          <p:cNvPr id="25" name="Text 17"/>
          <p:cNvSpPr/>
          <p:nvPr/>
        </p:nvSpPr>
        <p:spPr>
          <a:xfrm>
            <a:off x="9052560" y="5422392"/>
            <a:ext cx="1737360" cy="365760"/>
          </a:xfrm>
          <a:prstGeom prst="rect">
            <a:avLst/>
          </a:prstGeom>
          <a:noFill/>
          <a:ln/>
        </p:spPr>
        <p:txBody>
          <a:bodyPr wrap="square" lIns="0" tIns="0" rIns="0" bIns="0" rtlCol="0" anchor="ctr"/>
          <a:lstStyle/>
          <a:p>
            <a:pPr algn="ctr" indent="0" marL="0">
              <a:lnSpc>
                <a:spcPct val="100000"/>
              </a:lnSpc>
              <a:buNone/>
            </a:pPr>
            <a:r>
              <a:rPr lang="en-US" sz="1000" dirty="0">
                <a:solidFill>
                  <a:srgbClr val="9FD9D0"/>
                </a:solidFill>
                <a:latin typeface="Calibri" pitchFamily="34" charset="0"/>
                <a:ea typeface="Calibri" pitchFamily="34" charset="-122"/>
                <a:cs typeface="Calibri" pitchFamily="34" charset="-120"/>
              </a:rPr>
              <a:t>Маскирование</a:t>
            </a:r>
            <a:endParaRPr lang="en-US" sz="1000" dirty="0"/>
          </a:p>
        </p:txBody>
      </p:sp>
      <p:sp>
        <p:nvSpPr>
          <p:cNvPr id="26" name="Shape 18"/>
          <p:cNvSpPr/>
          <p:nvPr/>
        </p:nvSpPr>
        <p:spPr>
          <a:xfrm>
            <a:off x="8595360" y="6035040"/>
            <a:ext cx="329184" cy="329184"/>
          </a:xfrm>
          <a:prstGeom prst="ellipse">
            <a:avLst/>
          </a:prstGeom>
          <a:solidFill>
            <a:srgbClr val="02555C"/>
          </a:solidFill>
          <a:ln/>
        </p:spPr>
      </p:sp>
      <p:sp>
        <p:nvSpPr>
          <p:cNvPr id="27" name="Text 19"/>
          <p:cNvSpPr/>
          <p:nvPr/>
        </p:nvSpPr>
        <p:spPr>
          <a:xfrm>
            <a:off x="8595360" y="6035040"/>
            <a:ext cx="329184" cy="329184"/>
          </a:xfrm>
          <a:prstGeom prst="rect">
            <a:avLst/>
          </a:prstGeom>
          <a:noFill/>
          <a:ln/>
        </p:spPr>
        <p:txBody>
          <a:bodyPr wrap="square" lIns="0" tIns="0" rIns="0" bIns="0" rtlCol="0" anchor="ctr"/>
          <a:lstStyle/>
          <a:p>
            <a:pPr algn="ctr" indent="0" marL="0">
              <a:buNone/>
            </a:pPr>
            <a:r>
              <a:rPr lang="en-US" sz="1200" b="1" dirty="0">
                <a:solidFill>
                  <a:srgbClr val="7FC9C0"/>
                </a:solidFill>
                <a:latin typeface="Calibri" pitchFamily="34" charset="0"/>
                <a:ea typeface="Calibri" pitchFamily="34" charset="-122"/>
                <a:cs typeface="Calibri" pitchFamily="34" charset="-120"/>
              </a:rPr>
              <a:t>1</a:t>
            </a:r>
            <a:endParaRPr lang="en-US" sz="1200" dirty="0"/>
          </a:p>
        </p:txBody>
      </p:sp>
      <p:sp>
        <p:nvSpPr>
          <p:cNvPr id="28" name="Shape 20"/>
          <p:cNvSpPr/>
          <p:nvPr/>
        </p:nvSpPr>
        <p:spPr>
          <a:xfrm>
            <a:off x="9070848" y="6035040"/>
            <a:ext cx="329184" cy="329184"/>
          </a:xfrm>
          <a:prstGeom prst="ellipse">
            <a:avLst/>
          </a:prstGeom>
          <a:solidFill>
            <a:srgbClr val="02C39A"/>
          </a:solidFill>
          <a:ln/>
        </p:spPr>
      </p:sp>
      <p:sp>
        <p:nvSpPr>
          <p:cNvPr id="29" name="Text 21"/>
          <p:cNvSpPr/>
          <p:nvPr/>
        </p:nvSpPr>
        <p:spPr>
          <a:xfrm>
            <a:off x="9070848" y="6035040"/>
            <a:ext cx="329184" cy="329184"/>
          </a:xfrm>
          <a:prstGeom prst="rect">
            <a:avLst/>
          </a:prstGeom>
          <a:noFill/>
          <a:ln/>
        </p:spPr>
        <p:txBody>
          <a:bodyPr wrap="square" lIns="0" tIns="0" rIns="0" bIns="0" rtlCol="0" anchor="ctr"/>
          <a:lstStyle/>
          <a:p>
            <a:pPr algn="ctr" indent="0" marL="0">
              <a:buNone/>
            </a:pPr>
            <a:r>
              <a:rPr lang="en-US" sz="1200" b="1" dirty="0">
                <a:solidFill>
                  <a:srgbClr val="013A40"/>
                </a:solidFill>
                <a:latin typeface="Calibri" pitchFamily="34" charset="0"/>
                <a:ea typeface="Calibri" pitchFamily="34" charset="-122"/>
                <a:cs typeface="Calibri" pitchFamily="34" charset="-120"/>
              </a:rPr>
              <a:t>2</a:t>
            </a:r>
            <a:endParaRPr lang="en-US" sz="1200" dirty="0"/>
          </a:p>
        </p:txBody>
      </p:sp>
      <p:sp>
        <p:nvSpPr>
          <p:cNvPr id="30" name="Shape 22"/>
          <p:cNvSpPr/>
          <p:nvPr/>
        </p:nvSpPr>
        <p:spPr>
          <a:xfrm>
            <a:off x="9546336" y="6035040"/>
            <a:ext cx="329184" cy="329184"/>
          </a:xfrm>
          <a:prstGeom prst="ellipse">
            <a:avLst/>
          </a:prstGeom>
          <a:solidFill>
            <a:srgbClr val="02555C"/>
          </a:solidFill>
          <a:ln/>
        </p:spPr>
      </p:sp>
      <p:sp>
        <p:nvSpPr>
          <p:cNvPr id="31" name="Text 23"/>
          <p:cNvSpPr/>
          <p:nvPr/>
        </p:nvSpPr>
        <p:spPr>
          <a:xfrm>
            <a:off x="9546336" y="6035040"/>
            <a:ext cx="329184" cy="329184"/>
          </a:xfrm>
          <a:prstGeom prst="rect">
            <a:avLst/>
          </a:prstGeom>
          <a:noFill/>
          <a:ln/>
        </p:spPr>
        <p:txBody>
          <a:bodyPr wrap="square" lIns="0" tIns="0" rIns="0" bIns="0" rtlCol="0" anchor="ctr"/>
          <a:lstStyle/>
          <a:p>
            <a:pPr algn="ctr" indent="0" marL="0">
              <a:buNone/>
            </a:pPr>
            <a:r>
              <a:rPr lang="en-US" sz="1200" b="1" dirty="0">
                <a:solidFill>
                  <a:srgbClr val="7FC9C0"/>
                </a:solidFill>
                <a:latin typeface="Calibri" pitchFamily="34" charset="0"/>
                <a:ea typeface="Calibri" pitchFamily="34" charset="-122"/>
                <a:cs typeface="Calibri" pitchFamily="34" charset="-120"/>
              </a:rPr>
              <a:t>3</a:t>
            </a:r>
            <a:endParaRPr lang="en-US" sz="1200" dirty="0"/>
          </a:p>
        </p:txBody>
      </p:sp>
      <p:sp>
        <p:nvSpPr>
          <p:cNvPr id="32" name="Shape 24"/>
          <p:cNvSpPr/>
          <p:nvPr/>
        </p:nvSpPr>
        <p:spPr>
          <a:xfrm>
            <a:off x="10021824" y="6035040"/>
            <a:ext cx="329184" cy="329184"/>
          </a:xfrm>
          <a:prstGeom prst="ellipse">
            <a:avLst/>
          </a:prstGeom>
          <a:solidFill>
            <a:srgbClr val="02555C"/>
          </a:solidFill>
          <a:ln/>
        </p:spPr>
      </p:sp>
      <p:sp>
        <p:nvSpPr>
          <p:cNvPr id="33" name="Text 25"/>
          <p:cNvSpPr/>
          <p:nvPr/>
        </p:nvSpPr>
        <p:spPr>
          <a:xfrm>
            <a:off x="10021824" y="6035040"/>
            <a:ext cx="329184" cy="329184"/>
          </a:xfrm>
          <a:prstGeom prst="rect">
            <a:avLst/>
          </a:prstGeom>
          <a:noFill/>
          <a:ln/>
        </p:spPr>
        <p:txBody>
          <a:bodyPr wrap="square" lIns="0" tIns="0" rIns="0" bIns="0" rtlCol="0" anchor="ctr"/>
          <a:lstStyle/>
          <a:p>
            <a:pPr algn="ctr" indent="0" marL="0">
              <a:buNone/>
            </a:pPr>
            <a:r>
              <a:rPr lang="en-US" sz="1200" b="1" dirty="0">
                <a:solidFill>
                  <a:srgbClr val="7FC9C0"/>
                </a:solidFill>
                <a:latin typeface="Calibri" pitchFamily="34" charset="0"/>
                <a:ea typeface="Calibri" pitchFamily="34" charset="-122"/>
                <a:cs typeface="Calibri" pitchFamily="34" charset="-120"/>
              </a:rPr>
              <a:t>4</a:t>
            </a:r>
            <a:endParaRPr lang="en-US" sz="1200" dirty="0"/>
          </a:p>
        </p:txBody>
      </p:sp>
      <p:sp>
        <p:nvSpPr>
          <p:cNvPr id="34" name="Shape 26"/>
          <p:cNvSpPr/>
          <p:nvPr/>
        </p:nvSpPr>
        <p:spPr>
          <a:xfrm>
            <a:off x="10497312" y="6035040"/>
            <a:ext cx="329184" cy="329184"/>
          </a:xfrm>
          <a:prstGeom prst="ellipse">
            <a:avLst/>
          </a:prstGeom>
          <a:solidFill>
            <a:srgbClr val="02555C"/>
          </a:solidFill>
          <a:ln/>
        </p:spPr>
      </p:sp>
      <p:sp>
        <p:nvSpPr>
          <p:cNvPr id="35" name="Text 27"/>
          <p:cNvSpPr/>
          <p:nvPr/>
        </p:nvSpPr>
        <p:spPr>
          <a:xfrm>
            <a:off x="10497312" y="6035040"/>
            <a:ext cx="329184" cy="329184"/>
          </a:xfrm>
          <a:prstGeom prst="rect">
            <a:avLst/>
          </a:prstGeom>
          <a:noFill/>
          <a:ln/>
        </p:spPr>
        <p:txBody>
          <a:bodyPr wrap="square" lIns="0" tIns="0" rIns="0" bIns="0" rtlCol="0" anchor="ctr"/>
          <a:lstStyle/>
          <a:p>
            <a:pPr algn="ctr" indent="0" marL="0">
              <a:buNone/>
            </a:pPr>
            <a:r>
              <a:rPr lang="en-US" sz="1200" b="1" dirty="0">
                <a:solidFill>
                  <a:srgbClr val="7FC9C0"/>
                </a:solidFill>
                <a:latin typeface="Calibri" pitchFamily="34" charset="0"/>
                <a:ea typeface="Calibri" pitchFamily="34" charset="-122"/>
                <a:cs typeface="Calibri" pitchFamily="34" charset="-120"/>
              </a:rPr>
              <a:t>5</a:t>
            </a:r>
            <a:endParaRPr lang="en-US" sz="1200" dirty="0"/>
          </a:p>
        </p:txBody>
      </p:sp>
      <p:sp>
        <p:nvSpPr>
          <p:cNvPr id="36" name="Text 28"/>
          <p:cNvSpPr/>
          <p:nvPr/>
        </p:nvSpPr>
        <p:spPr>
          <a:xfrm>
            <a:off x="594360" y="6492240"/>
            <a:ext cx="3657600" cy="274320"/>
          </a:xfrm>
          <a:prstGeom prst="rect">
            <a:avLst/>
          </a:prstGeom>
          <a:noFill/>
          <a:ln/>
        </p:spPr>
        <p:txBody>
          <a:bodyPr wrap="square" lIns="0" tIns="0" rIns="0" bIns="0" rtlCol="0" anchor="ctr"/>
          <a:lstStyle/>
          <a:p>
            <a:pPr indent="0" marL="0">
              <a:buNone/>
            </a:pPr>
            <a:r>
              <a:rPr lang="en-US" sz="1000" dirty="0">
                <a:solidFill>
                  <a:srgbClr val="5FAFA5"/>
                </a:solidFill>
                <a:latin typeface="Calibri" pitchFamily="34" charset="0"/>
                <a:ea typeface="Calibri" pitchFamily="34" charset="-122"/>
                <a:cs typeface="Calibri" pitchFamily="34" charset="-120"/>
              </a:rPr>
              <a:t>Конец части 1 / 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2026-08-28T19:58:34Z</dcterms:created>
  <dcterms:modified xsi:type="dcterms:W3CDTF">2026-08-28T19:58:34Z</dcterms:modified>
</cp:coreProperties>
</file>