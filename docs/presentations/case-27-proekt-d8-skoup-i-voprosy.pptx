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Старт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П5</c:v>
                  </c:pt>
                  <c:pt idx="1">
                    <c:v>П4</c:v>
                  </c:pt>
                  <c:pt idx="2">
                    <c:v>Волна 3+</c:v>
                  </c:pt>
                  <c:pt idx="3">
                    <c:v>Волна 2</c:v>
                  </c:pt>
                  <c:pt idx="4">
                    <c:v>Волна 1</c:v>
                  </c:pt>
                  <c:pt idx="5">
                    <c:v>П2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46387</c:v>
                </c:pt>
                <c:pt idx="1">
                  <c:v>46387</c:v>
                </c:pt>
                <c:pt idx="2">
                  <c:v>46387</c:v>
                </c:pt>
                <c:pt idx="3">
                  <c:v>46345</c:v>
                </c:pt>
                <c:pt idx="4">
                  <c:v>46317</c:v>
                </c:pt>
                <c:pt idx="5">
                  <c:v>46296</c:v>
                </c:pt>
              </c:numCache>
            </c:numRef>
          </c:val>
        </c:ser>
        <c:dLbls>
          <c:numFmt formatCode="0;-0;&quot;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barChart>
        <c:barDir val="bar"/>
        <c:grouping val="stacke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Длительность</c:v>
                </c:pt>
              </c:strCache>
            </c:strRef>
          </c:tx>
          <c:spPr>
            <a:solidFill>
              <a:srgbClr val="8FC5C9"/>
            </a:solidFill>
            <a:effectLst/>
          </c:spPr>
          <c:invertIfNegative val="0"/>
          <c:dLbls>
            <c:numFmt formatCode="0;-0;&quot;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C5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E7C8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П5</c:v>
                  </c:pt>
                  <c:pt idx="1">
                    <c:v>П4</c:v>
                  </c:pt>
                  <c:pt idx="2">
                    <c:v>Волна 3+</c:v>
                  </c:pt>
                  <c:pt idx="3">
                    <c:v>Волна 2</c:v>
                  </c:pt>
                  <c:pt idx="4">
                    <c:v>Волна 1</c:v>
                  </c:pt>
                  <c:pt idx="5">
                    <c:v>П2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63</c:v>
                </c:pt>
                <c:pt idx="1">
                  <c:v>63</c:v>
                </c:pt>
                <c:pt idx="2">
                  <c:v>35</c:v>
                </c:pt>
                <c:pt idx="3">
                  <c:v>42</c:v>
                </c:pt>
                <c:pt idx="4">
                  <c:v>28</c:v>
                </c:pt>
                <c:pt idx="5">
                  <c:v>21</c:v>
                </c:pt>
              </c:numCache>
            </c:numRef>
          </c:val>
        </c:ser>
        <c:dLbls>
          <c:numFmt formatCode="0;-0;&quot;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D8DEE2"/>
            </a:solidFill>
            <a:prstDash val="solid"/>
            <a:round/>
          </a:ln>
        </c:spPr>
        <c:txPr>
          <a:bodyPr/>
          <a:lstStyle/>
          <a:p>
            <a:pPr>
              <a:defRPr sz="1250" b="1" i="0" u="none" strike="noStrike">
                <a:solidFill>
                  <a:srgbClr val="1A27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486"/>
          <c:min val="46296"/>
        </c:scaling>
        <c:delete val="0"/>
        <c:axPos val="b"/>
        <c:majorGridlines>
          <c:spPr>
            <a:ln w="9525" cap="flat">
              <a:solidFill>
                <a:srgbClr val="D8DEE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7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5B6B7A"/>
                    </a:solidFill>
                    <a:latin typeface="Calibri"/>
                  </a:rPr>
                  <a:t>Ориентировочная дата (2026–2027)</a:t>
                </a:r>
              </a:p>
            </c:rich>
          </c:tx>
          <c:layout/>
          <c:overlay val="0"/>
        </c:title>
        <c:numFmt formatCode="[$-419]mmm yy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3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5029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 2 — ПРОЕКТ · ВНЕДРЕНИЕ ПЛАТФОРМЫ «КАМЕРАТА»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Скоуп проекта Д8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Программа проекта, реестр зафиксированных пожеланий заказчика и наши вопросы — рабочий срез на 13–14.09.2026.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0292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6751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этапов и волн в программе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3756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0215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350215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 реестра пожеланий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633679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вопросов по наполнению этапов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06840" y="3154680"/>
            <a:ext cx="2606040" cy="1600200"/>
          </a:xfrm>
          <a:prstGeom prst="roundRect">
            <a:avLst>
              <a:gd name="adj" fmla="val 4571"/>
            </a:avLst>
          </a:prstGeom>
          <a:solidFill>
            <a:srgbClr val="F4F6F7"/>
          </a:solidFill>
          <a:ln w="9525">
            <a:solidFill>
              <a:srgbClr val="D8DEE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71432" y="3319272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5F6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9171432" y="411480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вопроса по пожеланиям заказчика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docs/analysis/case-27-proekt-d8-skoup-i-voprosy.xlsx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ПРОГРАММА ПРОЕКТА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Этапы и волны — цели, сроки, статус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Сроки ориентировочные — без реального прецедента (Кейс 2 методики)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1463040"/>
                <a:gridCol w="5120640"/>
                <a:gridCol w="2743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Этап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Содержание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Примерный срок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Статус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Целевая архитектура и карта волн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2–3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RAG-документы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≈2–4 недели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Расширение КХД и ESB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≈4–6 недель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Ожидает уточнения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3+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определено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Открыто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Промышленная эксплуатация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После приёмки волны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A5F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Постоянные улучшения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Без формального конца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начато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" y="630936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Волна 2 требует отдельного детального состава работ (см. вопрос №2 к заказчику) — срок 4–6 недель ориентировочен на весь объём расширения ESB/КХД.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ДИАГРАММА ГАНТА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Длительность этапов программы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Ориентировочные даты при условном старте в октябре 2026. Волна 3+, П4, П5 продолжаются в 2027 году — без фиксированного окончания (Кейс 2 методики)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2920" y="1691640"/>
          <a:ext cx="11155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02920" y="6035040"/>
            <a:ext cx="256032" cy="18288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5989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Подтверждено программой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931920" y="6035040"/>
            <a:ext cx="256032" cy="182880"/>
          </a:xfrm>
          <a:prstGeom prst="rect">
            <a:avLst/>
          </a:prstGeom>
          <a:solidFill>
            <a:srgbClr val="8FC5C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51960" y="59893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Ориентировочно / открыто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635508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Волна 3+, П4 и П5 продолжаются за пределами отображённого периода — переход в промышленную эксплуатацию и режим постоянных улучшений не имеет фиксированной даты завершения.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ЗАФИКСИРОВАННЫЕ ПОЖЕЛАНИЯ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Реестр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пунктов backlog платформы. 4 пункта требуют ответа от Д8 — остальные уже в плане платформы или решаются внутри команды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669280"/>
                <a:gridCol w="1554480"/>
                <a:gridCol w="1828800"/>
                <a:gridCol w="2103120"/>
              </a:tblGrid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Реализация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Мультидоменная авторизация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MS Office 365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Поддержка актуальной версии API (web search)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8C99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Уточняем сами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Замены в анонимизируемых данных — именованные правила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Обновление данных в RAG через 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Работа с графиками (визуал)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кв. — 1 кв.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Пользовательская и админская документация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квартал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3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от Д8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НАПОЛНЕНИЮ ЭТАПОВ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содержанию волн и этапов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ответов заказчика состав работ волны 2 и старт волны 3+ не оценить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548640"/>
                <a:gridCol w="1828800"/>
                <a:gridCol w="1280160"/>
                <a:gridCol w="7498080"/>
              </a:tblGrid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1 «RAG-документы» — новые типы документов / улучшение качества существующих / отдельная новая коллекция?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Критичный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2 — нужен детальный состав работ: список конкретных витрин/API для ESB и КХД.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Волна 3 и далее — есть примерное направление, или открытый вопрос до завершения волны 2?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витрины данных добавить в ESB сверх текущего среза CRM (Bitrix24)?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Какие конкретно API открыть через шину — система-источник, формат, ответственный на стороне Д8?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КХД — расширяется ли состав таблиц/витрин, или периметр остаётся как в пилоте?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Реальная оргструктура: подразделения/роли с числом пользователей — факт, не гипотеза из мастер-ТЗ.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Общее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Кто со стороны Д8 — владелец процесса на фазе П4 (промышленная эксплуатация)?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2004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НАШИ ВОПРОСЫ · ПО ПОЖЕЛАНИЯМ ЗАКАЗЧИКА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21792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Вопросы к пунктам реестра предложений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вопрос закрывает один из 4 пунктов реестра, отмеченных «Требуется от Д8»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91640"/>
          <a:ext cx="11155680" cy="4480560"/>
        </p:xfrm>
        <a:graphic>
          <a:graphicData uri="http://schemas.openxmlformats.org/drawingml/2006/table">
            <a:tbl>
              <a:tblPr/>
              <a:tblGrid>
                <a:gridCol w="457200"/>
                <a:gridCol w="1463040"/>
                <a:gridCol w="1188720"/>
                <a:gridCol w="5486400"/>
                <a:gridCol w="256032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№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Категория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Приоритет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Вопрос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Пункт реестра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33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Доступ и роли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Высокий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Права доступа — переход на динамическую модель (через API)? Какая система — источник истины?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Динамические права доступа через таблицы/API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 — нужно ли включать/отключать источники в чате и через API?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Кастомизация выбора источников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— нужна ли пользователям возможность создавать свои и делиться?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Персональные RAG-коллекции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Платформа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Нормальный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B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 — что именно неудобно сейчас? Нужен конкретный сценарий.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i="1" dirty="0">
                          <a:solidFill>
                            <a:srgbClr val="C97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Упрощение заведения пользователей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C99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2026-09-14T16:33:12Z</dcterms:created>
  <dcterms:modified xsi:type="dcterms:W3CDTF">2026-09-14T16:33:12Z</dcterms:modified>
</cp:coreProperties>
</file>