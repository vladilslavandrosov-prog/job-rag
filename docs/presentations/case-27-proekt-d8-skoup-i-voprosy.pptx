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0292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КЕЙС 2 — ПРОЕКТ · ВНЕДРЕНИЕ ПЛАТФОРМЫ «КАМЕРАТА»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Скоуп проекта Д8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8288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 проекта, реестр зафиксированных пожеланий заказчика и наши вопросы.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315468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4F6F7"/>
          </a:solidFill>
          <a:ln w="9525">
            <a:solidFill>
              <a:srgbClr val="D8DE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7512" y="3319272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5F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667512" y="411480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этапов и волн в программе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315468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4F6F7"/>
          </a:solidFill>
          <a:ln w="9525">
            <a:solidFill>
              <a:srgbClr val="D8DE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02152" y="3319272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5F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3502152" y="411480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пунктов реестра пожеланий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315468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4F6F7"/>
          </a:solidFill>
          <a:ln w="9525">
            <a:solidFill>
              <a:srgbClr val="D8DE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36792" y="3319272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5F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336792" y="411480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волны требуют детализации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06840" y="315468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4F6F7"/>
          </a:solidFill>
          <a:ln w="9525">
            <a:solidFill>
              <a:srgbClr val="D8DE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71432" y="3319272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5F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9171432" y="411480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вопроса по пожеланиям заказчика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C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НАШИ ВОПРОСЫ · ПО ВОЛНАМ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нужно от заказчика по каждой волне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7043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Цель, что нужно уточнить и критерий достижения — единый формат для каждой волны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3520440" cy="4526280"/>
          </a:xfrm>
          <a:prstGeom prst="roundRect">
            <a:avLst>
              <a:gd name="adj" fmla="val 1558"/>
            </a:avLst>
          </a:prstGeom>
          <a:solidFill>
            <a:srgbClr val="F4F6F7"/>
          </a:solidFill>
          <a:ln w="9525">
            <a:solidFill>
              <a:srgbClr val="D8DE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04088" y="1856232"/>
            <a:ext cx="3118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КРИТИЧНЫЙ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04088" y="2112264"/>
            <a:ext cx="3118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5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Волна 1 — RAG-документы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04088" y="2697480"/>
            <a:ext cx="3118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A5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704088" y="2880360"/>
            <a:ext cx="3118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Рабочий RAG-поиск по новому/расширенному документному корпусу для затронутой роли.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04088" y="3502152"/>
            <a:ext cx="31181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Толкование: новые типы документов / улучшение существующих / новая коллекция?</a:t>
            </a:r>
            <a:endParaRPr lang="en-US" sz="10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Состав и объём: темы, количество коллекций и документов</a:t>
            </a:r>
            <a:endParaRPr lang="en-US" sz="10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Пользователи и роли волны 1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9224" y="5056632"/>
            <a:ext cx="3227832" cy="996696"/>
          </a:xfrm>
          <a:prstGeom prst="roundRect">
            <a:avLst>
              <a:gd name="adj" fmla="val 3670"/>
            </a:avLst>
          </a:prstGeom>
          <a:solidFill>
            <a:srgbClr val="FBF3E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95528" y="5166360"/>
            <a:ext cx="2935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9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КРИТЕРИЙ ДОСТИЖЕНИЯ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5367528"/>
            <a:ext cx="2935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Пороги точности как в пилоте (см. критерии сценариев, case-21) достигнуты на новом корпусе; заказчик подтвердил полноту контента.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20540" y="1691640"/>
            <a:ext cx="3520440" cy="4526280"/>
          </a:xfrm>
          <a:prstGeom prst="roundRect">
            <a:avLst>
              <a:gd name="adj" fmla="val 1558"/>
            </a:avLst>
          </a:prstGeom>
          <a:solidFill>
            <a:srgbClr val="F4F6F7"/>
          </a:solidFill>
          <a:ln w="9525">
            <a:solidFill>
              <a:srgbClr val="D8DE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21708" y="1856232"/>
            <a:ext cx="3118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ВЫСОКИЙ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521708" y="2112264"/>
            <a:ext cx="3118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5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Волна 2 — КХД / ESB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4521708" y="2697480"/>
            <a:ext cx="3118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A5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4521708" y="2880360"/>
            <a:ext cx="3118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Подключить согласованные витрины КХД и API шины сверх пилотных 4 источников.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521708" y="3502152"/>
            <a:ext cx="31181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Витрины: список, владельцы на стороне Д8, точное число сверх 4</a:t>
            </a:r>
            <a:endParaRPr lang="en-US" sz="10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шины: система-источник, формат, ответственный</a:t>
            </a:r>
            <a:endParaRPr lang="en-US" sz="10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КХД: периметр хранилища; пользователи и роли волны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466844" y="5056632"/>
            <a:ext cx="3227832" cy="996696"/>
          </a:xfrm>
          <a:prstGeom prst="roundRect">
            <a:avLst>
              <a:gd name="adj" fmla="val 3670"/>
            </a:avLst>
          </a:prstGeom>
          <a:solidFill>
            <a:srgbClr val="FBF3E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613148" y="5166360"/>
            <a:ext cx="2935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9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КРИТЕРИЙ ДОСТИЖЕНИЯ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4613148" y="5367528"/>
            <a:ext cx="2935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Витрины/API подключены и проходят приёмку по тем же сценариям, что пилот, на новом периметре данных.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38160" y="1691640"/>
            <a:ext cx="3520440" cy="4526280"/>
          </a:xfrm>
          <a:prstGeom prst="roundRect">
            <a:avLst>
              <a:gd name="adj" fmla="val 1558"/>
            </a:avLst>
          </a:prstGeom>
          <a:solidFill>
            <a:srgbClr val="F4F6F7"/>
          </a:solidFill>
          <a:ln w="9525">
            <a:solidFill>
              <a:srgbClr val="D8DE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339328" y="1856232"/>
            <a:ext cx="3118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ОТКРЫТО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339328" y="2112264"/>
            <a:ext cx="3118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5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Волна 3+ — направление не определено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8339328" y="2697480"/>
            <a:ext cx="3118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A5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8339328" y="2880360"/>
            <a:ext cx="3118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определена — зависит от исхода волны 2 (см. кандидаты).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8339328" y="3502152"/>
            <a:ext cx="31181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Кандидаты: роли, динамические права, новые источники</a:t>
            </a:r>
            <a:endParaRPr lang="en-US" sz="10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Реальная оргструктура — факт, не гипотеза из мастер-ТЗ</a:t>
            </a:r>
            <a:endParaRPr lang="en-US" sz="10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определится — тот же набор параметров, что у волн 1–2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284464" y="5056632"/>
            <a:ext cx="3227832" cy="996696"/>
          </a:xfrm>
          <a:prstGeom prst="roundRect">
            <a:avLst>
              <a:gd name="adj" fmla="val 3670"/>
            </a:avLst>
          </a:prstGeom>
          <a:solidFill>
            <a:srgbClr val="FBF3E7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430768" y="5166360"/>
            <a:ext cx="2935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9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КРИТЕРИЙ ДОСТИЖЕНИЯ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8430768" y="5367528"/>
            <a:ext cx="2935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Будет сформулирован вместе с направлением волны — тот же принцип: тестовые сценарии + приёмка на новом периметре (методика, П3).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C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ПРОГРАММА ПРОЕКТА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Этапы и волны — цели, сроки, статус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7043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Сроки ориентировочные — без реального прецедента (Кейс 2 методики)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11155680" cy="4480560"/>
        </p:xfrm>
        <a:graphic>
          <a:graphicData uri="http://schemas.openxmlformats.org/drawingml/2006/table">
            <a:tbl>
              <a:tblPr/>
              <a:tblGrid>
                <a:gridCol w="1463040"/>
                <a:gridCol w="5120640"/>
                <a:gridCol w="2743200"/>
                <a:gridCol w="182880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Этап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Содержание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Примерный срок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Статус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3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A5F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Целевая архитектура и карта волн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 недели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 начато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A5F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Волна 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RAG-документы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≈2–4 недели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97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Ожидает уточнения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A5F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Волна 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Расширение КХД и ESB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≈4–6 недель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97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Ожидает уточнения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A5F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Волна 3+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 определено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 определено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97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Открыто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A5F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Промышленная эксплуатация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После приёмки волны 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 начато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A5F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Постоянные улучшения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Без формального конца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 начато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02920" y="630936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Волна 2 требует отдельного детального состава работ (см. «Наши вопросы» → Волна 2) — срок 4–6 недель ориентировочен на весь объём расширения ESB/КХД.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C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ЗАФИКСИРОВАННЫЕ ПОЖЕЛАНИЯ ЗАКАЗЧИКА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Реестр предложений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7043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пунктов backlog платформы. 4 пункта требуют ответа от Д8 — остальные уже в плане платформы или решаются внутри команды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11155680" cy="4480560"/>
        </p:xfrm>
        <a:graphic>
          <a:graphicData uri="http://schemas.openxmlformats.org/drawingml/2006/table">
            <a:tbl>
              <a:tblPr/>
              <a:tblGrid>
                <a:gridCol w="5669280"/>
                <a:gridCol w="1554480"/>
                <a:gridCol w="1828800"/>
                <a:gridCol w="2103120"/>
              </a:tblGrid>
              <a:tr h="373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Пункт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Приоритет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Реализация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Уточнение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33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Мультидоменная авторизация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Критичный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квартал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Работа с MS Office 365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Нормальный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квартал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Поддержка актуальной версии API (web search)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Критичный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C99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Уточняем сами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Кастомизация выбора источников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Нормальный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97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Требуется от Д8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Замены в анонимизируемых данных — именованные правила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Нормальный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квартал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Обновление данных в RAG через API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97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Высокий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квартал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Динамические права доступа через таблицы/API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97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Высокий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97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Требуется от Д8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Работа с графиками (визуал)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Нормальный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кв. — 1 кв. 2027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Персональные RAG-коллекции пользователей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Нормальный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97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Требуется от Д8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Пользовательская и админская документация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97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Высокий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квартал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Упрощение заведения пользователей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Нормальный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97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Требуется от Д8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C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НАШИ ВОПРОСЫ · ПО ПОЖЕЛАНИЯМ ЗАКАЗЧИКА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Вопросы к пунктам реестра предложений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7043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вопрос закрывает один из 4 пунктов реестра, отмеченных «Требуется от Д8»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11155680" cy="4480560"/>
        </p:xfrm>
        <a:graphic>
          <a:graphicData uri="http://schemas.openxmlformats.org/drawingml/2006/table">
            <a:tbl>
              <a:tblPr/>
              <a:tblGrid>
                <a:gridCol w="457200"/>
                <a:gridCol w="1463040"/>
                <a:gridCol w="1188720"/>
                <a:gridCol w="5486400"/>
                <a:gridCol w="2560320"/>
              </a:tblGrid>
              <a:tr h="8961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№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Категория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Приоритет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Вопрос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Пункт реестра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33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Доступ и роли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97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Высокий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Права доступа через API — где они хранятся и администрируются: внутри платформы, или платформа лишь получает их из внешней системы и применяет? Если второе — какая система источник и как часто обновляется?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C97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Динамические права доступа через таблицы/API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Платформа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Нормальный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Кастомизация выбора источников — что имеется в виду: (а) подключение/отключение целых каталогов данных внутри домена, или (б) выбор персоны/профиля с отдельным набором прав? Разный объём реализации.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C97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Кастомизация выбора источников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Платформа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Нормальный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Персональные RAG-коллекции — механика: фильтр по документам внутри существующей коллекции, или отдельная новая коллекция, которую пользователь создаёт и наполняет сам?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C97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Персональные RAG-коллекции пользователей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Платформа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Нормальный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Упрощение заведения пользователей — нужен конкретный кейс: как должен выглядеть процесс пошагово (кто инициирует, какие поля, кто подтверждает).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C97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Упрощение заведения пользователей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C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АРХИТЕКТУРА ПИЛОТА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Источники и получатели данных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7043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Платформа «Камерата» по фактам пилота (не проектный скоуп) — расширение см. в разделе «Программа проекта»</a:t>
            </a:r>
            <a:endParaRPr lang="en-US" sz="1300" dirty="0"/>
          </a:p>
        </p:txBody>
      </p:sp>
      <p:pic>
        <p:nvPicPr>
          <p:cNvPr id="5" name="Image 0" descr="arhitektura-pilo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8840" y="1783080"/>
            <a:ext cx="7863840" cy="445617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C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2026-09-14T17:22:16Z</dcterms:created>
  <dcterms:modified xsi:type="dcterms:W3CDTF">2026-09-14T17:22:16Z</dcterms:modified>
</cp:coreProperties>
</file>