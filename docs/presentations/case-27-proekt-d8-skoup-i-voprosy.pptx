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Старт (нед.)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П5</c:v>
                  </c:pt>
                  <c:pt idx="1">
                    <c:v>П4</c:v>
                  </c:pt>
                  <c:pt idx="2">
                    <c:v>Волна 3+</c:v>
                  </c:pt>
                  <c:pt idx="3">
                    <c:v>Волна 2</c:v>
                  </c:pt>
                  <c:pt idx="4">
                    <c:v>Волна 1</c:v>
                  </c:pt>
                  <c:pt idx="5">
                    <c:v>П2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</c:v>
                </c:pt>
                <c:pt idx="1">
                  <c:v>13</c:v>
                </c:pt>
                <c:pt idx="2">
                  <c:v>13</c:v>
                </c:pt>
                <c:pt idx="3">
                  <c:v>7</c:v>
                </c:pt>
                <c:pt idx="4">
                  <c:v>3</c:v>
                </c:pt>
                <c:pt idx="5">
                  <c:v>0</c:v>
                </c:pt>
              </c:numCache>
            </c:numRef>
          </c:val>
        </c:ser>
        <c:dLbls>
          <c:numFmt formatCode="0;-0;&quot;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barChart>
        <c:barDir val="bar"/>
        <c:grouping val="stacke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Длительность (нед.)</c:v>
                </c:pt>
              </c:strCache>
            </c:strRef>
          </c:tx>
          <c:spPr>
            <a:solidFill>
              <a:srgbClr val="8FC5C9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П5</c:v>
                  </c:pt>
                  <c:pt idx="1">
                    <c:v>П4</c:v>
                  </c:pt>
                  <c:pt idx="2">
                    <c:v>Волна 3+</c:v>
                  </c:pt>
                  <c:pt idx="3">
                    <c:v>Волна 2</c:v>
                  </c:pt>
                  <c:pt idx="4">
                    <c:v>Волна 1</c:v>
                  </c:pt>
                  <c:pt idx="5">
                    <c:v>П2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9</c:v>
                </c:pt>
                <c:pt idx="2">
                  <c:v>5</c:v>
                </c:pt>
                <c:pt idx="3">
                  <c:v>6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0;-0;&quot;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EE2"/>
            </a:solidFill>
            <a:prstDash val="solid"/>
            <a:round/>
          </a:ln>
        </c:spPr>
        <c:txPr>
          <a:bodyPr/>
          <a:lstStyle/>
          <a:p>
            <a:pPr>
              <a:defRPr sz="1250" b="1" i="0" u="none" strike="noStrike">
                <a:solidFill>
                  <a:srgbClr val="1A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0"/>
        </c:scaling>
        <c:delete val="0"/>
        <c:axPos val="b"/>
        <c:majorGridlines>
          <c:spPr>
            <a:ln w="9525" cap="flat">
              <a:solidFill>
                <a:srgbClr val="D8DE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Calibri"/>
                  </a:rPr>
                  <a:t>Неделя от старта проекта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 — рабочий срез на 13–14.09.2026.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по наполнению этапов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docs/analysis/case-27-proekt-d8-skoup-i-voprosy.xlsx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вопрос №2 к заказчику)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ДИАГРАММА ГАНТА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Длительность этапов программы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Недели от старта проекта. Волна 3+, П4, П5 — ориентировочно, точка старта уточняется по факту приёмки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11155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6172200"/>
            <a:ext cx="256032" cy="1828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6126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программой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931920" y="6172200"/>
            <a:ext cx="256032" cy="182880"/>
          </a:xfrm>
          <a:prstGeom prst="rect">
            <a:avLst/>
          </a:prstGeom>
          <a:solidFill>
            <a:srgbClr val="8FC5C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51960" y="6126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Ориентировочно / открыто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НАПОЛНЕНИЮ ЭТАПОВ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содержанию волн и этапов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ответов заказчика состав работ волны 2 и старт волны 3+ не оценить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1280160"/>
                <a:gridCol w="7498080"/>
              </a:tblGrid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 «RAG-документы» — новые типы документов / улучшение качества существующих / отдельная новая коллекция?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 — нужен детальный состав работ: список конкретных витрин/API для ESB и КХД.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 и далее — есть примерное направление, или открытый вопрос до завершения волны 2?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витрины данных добавить в ESB сверх текущего среза CRM (Bitrix24)?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API открыть через шину — система-источник, формат, ответственный на стороне Д8?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КХД — расширяется ли состав таблиц/витрин, или периметр остаётся как в пилоте?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Реальная оргструктура: подразделения/роли с числом пользователей — факт, не гипотеза из мастер-ТЗ.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Общее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со стороны Д8 — владелец процесса на фазе П4 (промышленная эксплуатация)?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— переход на динамическую модель (через API)? Какая система — источник истины?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нужно ли включать/отключать источники в чате и через API?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нужна ли пользователям возможность создавать свои и делиться?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что именно неудобно сейчас? Нужен конкретный сценарий.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2026-09-14T16:13:20Z</dcterms:created>
  <dcterms:modified xsi:type="dcterms:W3CDTF">2026-09-14T16:13:20Z</dcterms:modified>
</cp:coreProperties>
</file>