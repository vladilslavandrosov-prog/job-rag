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 серии из пяти частей. Часть 3 посвящена защите данных: два связанных, но архитектурно самостоятельных механизма — PII Shield (автоматическая защита персональных данных) и «База секретов» / DLP-secret (полуавтоматическая защита коммерческой тайны с решением ИБ-специалиста).
Для самостоятельного изучения: прежде чем переходить к следующему слайду, вспомните из частей 1–2, как устроен путь запроса пользователя — от вопроса в чате до ответа, сформированного через поиск по документам (RAG) и вызов языковой модели. Часть 3 разбирает, что происходит на этом же пути с чувствительными данными: где именно система успевает их заметить и остановить, и что случится, если не успеет.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Дорожная карта из пяти частей курса; часть 3 выделена как текущая. Список воспроизведён без изменений — это заранее согласованная структура цикла.
Для самостоятельного изучения: держите этот слайд как ориентир. Термины «PII Shield» и «DLP» / «База секретов», которые появятся дальше, — это два разных, но дополняющих друг друга слоя защиты одного и того же контура: первый — для персональных данных (автоматически), второй — для коммерческой тайны (с решением человека). Часть 4 логически продолжает эту тему: там речь пойдёт не о том, что модель показывает, а о том, кому вообще доступен документ.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Мотивационный слайд: связывает часть 3 с материалом частей 1–2. Ключевая мысль — тот же самый конвейер поиска и генерации ответа, который приносит пользу (быстрые ответы по внутренним документам), является и потенциальным каналом утечки, если содержимое документов не проверяется перед тем, как покинуть контур (в ответе пользователю) или перед тем, как уйти в облачную модель (в запросе).
Для самостоятельного изучения: обратите внимание, что защита данных в этой архитектуре — это не одна система, а минимум две независимые: PII Shield работает всегда и без вмешательства человека (для персональных данных), «База секретов» — с обязательным решением сотрудника ИБ в спорных случаях (для коммерческой тайны). Эта разница в степени автоматизации — не случайность, а осознанное архитектурное решение: персональные данные маскируются по умолчанию, а решение о том, что является коммерческой тайной компании, слишком специфично для организации, чтобы полностью доверить его автоматике.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Обзорная диаграмма трёх слоёв обнаружения, о которых пойдёт речь на следующих трёх слайдах подробно. Важно транслировать пользователю верно: слои 1 и 2 (точные паттерны и NER) — механизмы PII Shield, работающие автоматически и всегда для персональных данных. Слой 3 (смысловая проверка) технически принадлежит отдельному сервису «База секретов» (dlp-secret), который защищает коммерческую тайну и требует участия сотрудника ИБ в спорных случаях (вердикт REVIEW).
Для самостоятельного изучения: это разделение — не техническая деталь для отвода глаз, а следствие разных рисков. Персональные данные защищаются по закону (ФЗ-152) вне зависимости от контекста — поэтому маскирование автоматическое и обязательное. Коммерческая тайна — это то, что организация сама определяет как секрет (см. слайд 20), поэтому здесь система лишь подсказывает, а решающее слово в спорных случаях — за человеком.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Детализация первого слоя: точное совпадение по формату (regex) или по конкретному наименованию (ключевые слова, чёрный список). Важно различать: 250+ встроенных regex-правил и кастомные regex-паттерны — это PII Shield и раздел «Regex-паттерны» Базы секретов; ключевые слова и чёрный список — механизмы, описанные в аналитик-ориентированной DLP-инструкции.
Для самостоятельного изучения: обратите внимание на частую ошибку при тестировании кастомного паттерна — в поле «Тестовый текст» нужно вставлять реальный пример данных (например, номер договора конкретного вида), а не сам паттерн. Вставка регулярного выражения вместо примера закономерно даёт «Совпадений не найдено» — это не значит, что паттерн неисправен, это значит, что тест был поставлен неверно. Также запомните разницу между ключевыми словами (ведут на разбор инспектору) и чёрным списком (просто скрывает слово, не блокируя запрос) — их легко перепутать при настройке.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слой — NER, модель распознавания именованных сущностей в свободном тексте. Цифры задержки и порога — из руководства администратора ИБ: 0,4 по умолчанию, снижение ниже 0,3 не рекомендуется (риск маскирования нечувствительного и деградации качества ответов); совокупная задержка всего конвейера защиты — не более 2 мс при p95, что подтверждает, что защита не создаёт заметной задержки в диалоге.
Для самостоятельного изучения: это самый важный нюанс всего блока PII Shield для точной коммуникации с заказчиком. NER построен на модели GLiNER — при этом собственный паспорт безопасности разработчика в качестве используемой модели называет bge-m3, что, скорее всего, относится к другому этапу конвейера (например, к эмбеддингам для смысловой проверки, слайд 7), а не к самому NER. Дообучение GLiNER под терминологию конкретного заказчика через LoRA-адаптеры архитектурно предусмотрено, но по состоянию на конец августа 2026 года это не готовая функция, а только предварительные заготовки. Формулируя это клиенту, никогда не подавайте LoRA-дообучение как уже доступную возможность — только как направление, для которого нужно отдельно уточнять сроки у команды платформы.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и самый сложный по идее механизм — смысловая проверка. Ключевая идея: систему не интересуют конкретные слова, её интересует, о чём текст. Технические детали (чанкование ~400 токенов с перекрытием 25%, модель ru-en-RoSBERTa размерностью 768, хранилище Qdrant, коллекция confidential_chunks) взяты из описания экрана «База секретов» и объясняют, как эта идея реализована на практике.
Для самостоятельного изучения: этот механизм — тема отдельной, самой подробной инструкции DLP, на которую опирается весь оставшийся материал этой части (слайды 8–19). Важно закрепить фразу «смысловой слепок» как рабочую метафору: это не хранение самого секретного текста, а его векторное представление, с которым сравнивается каждое новое сообщение. Именно поэтому смена модели, которая строит эти представления, обесценивает все ранее сделанные слепки разом (это станет отдельным важным правилом на слайдах 11 и 18).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терминов из «Словаря» операционной DLP-инструкции — дословно, без изменений. Она существует потому, что интерфейс местами сохранил технические названия (Qdrant, эмбеддер, cosine), которые ничего не говорят обычному сотруднику ИБ без программистского бэкграунда.
Для самостоятельного изучения: используйте эту таблицу как справочник, к которому можно возвращаться в течение всей недели изучения — термины «кандидаты», «реранкер» и «судья» вернутся на слайдах 15–17 в контексте настройки и эксплуатации. Полезно связать термины попарно: «эмбеддер» создаёт то, что хранится в «Qdrant»; «кандидаты» — это то, что «Qdrant» находит по «cosine»-близости; «реранкер» и «судья» — это две последовательные перепроверки уже найденных кандидатов, а не альтернативные механизмы.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I операционной инструкции — что должно быть готово до начала настройки, в зоне ответственности администратора, а не аналитика ИБ. Три компонента: модель смысла (эмбеддер), хранилище слепков (Qdrant) и модель-судья (для спорных случаев).
Для самостоятельного изучения: обратите внимание на формулировку про судью — «без неё система работает, но грубее». Это значит, что судья не является точкой отказа всей системы: PASS/REVIEW/BLOCK будут выноситься и без него, просто REVIEW-случаи не получат дополнительной перепроверки языковой моделью, и решения на границе порогов будут менее точными. Это отличается от таблицы соответствий PII Shield (часть про персональные данные), где отсутствие хранилища соответствий означает, что компонент вообще не запускается — тихого отката там нет. Разница показывает, что для персональных данных предпочтён отказ в защите (не работать) вместо работы без гарантий, а для коммерческой тайны — наоборот, ухудшенная точность лучше, чем полное отсутствие проверки.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Первый шаг практической настройки: сбор эталона. Формулировка «не нужно грузить всё подряд» — прямая цитата инструкции; смысл в том, чтобы эталон отражал реальные риски утечки конкретной организации, а не был максимально широким по объёму.
Для самостоятельного изучения: этот шаг логически продолжается на слайде 20 — там та же идея («полнота базы важнее точных настроек») сформулирована ещё резче в более раннем, аналитик-ориентированном варианте инструкции. Держите в голове, что «эталон» и «база коммерческой тайны» — это одно и то же понятие под разными именами в двух версиях документации.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Второй шаг — сама загрузка в Базу знаний плюс два критически важных предупреждения из раздела «Важные правила» инструкции, вынесенных сюда заранее, потому что они относятся именно к моменту загрузки.
Для самостоятельного изучения: оба предупреждения (смена модели и обезличивание эталона) стоит запомнить как связанные — оба про одно и то же: целостность смыслового слепка. Смена модели рвёт сравнимость сразу всей базы; обезличивание эталона размывает смысл каждого отдельного слепка. Правило «не обезличивайте эталон» на первый взгляд противоречит общей культуре защиты персональных данных (обычно рекомендуют обезличивать везде) — но здесь логика другая: эталон это не то, что уходит наружу, это внутренний ориентир для сравнения, и его размытие снижает защиту, а не повышает её.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Третий шаг настройки — ключевые слова как дополнение к смысловой проверке, а не замена ей. Признак «по желанию» в оригинале инструкции не означает необязательность в реальной эксплуатации — скорее означает, что система работает и без этого шага, но менее надёжно на точных наименованиях.
Для самостоятельного изучения: сравните это с материалом слайда 20 — в аналитик-ориентированной версии инструкции ключевые слова описаны подробнее, включая правило «категория ключевого слова участвует в проверке доступа наравне с категорией фрагмента Базы» — то есть категория ключевого слова — это не просто метка для удобства, а часть логики принятия решения о доступе для конкретного контрагента.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Четвёртый шаг — обязательная проверка настройки на конкретных примерах до того, как система начнёт участвовать в реальной работе. Три вида информации, которые показывает тест: оценка близости, сработавшие кандидаты (объяснение решения) и итоговый вердикт.
Для самостоятельного изучения: не пропускайте фразу «запомните, какие оценки близости получаются» — это не для галочки. Именно эти зафиксированные числа станут вашим ориентиром на шаге 5 (негативные примеры) и на слайде 15 (калибровка/пороги, если вы решите их менять). Без этой фиксации трудно понять, помогла ли последующая настройка или ухудшила ситуацию.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Пятый шаг — работа с ложными срабатываниями через механизм негативных примеров. Ключевой принцип: не трогать общие пороги ради частного случая, а обучить систему на конкретном тексте.
Для самостоятельного изучения: механизм автопополнения — деталь, которую легко упустить, но она меняет ежедневную рутину: сотруднику ИБ не нужно вручную заходить в «Негативные примеры» после каждого разбора очереди — достаточно подтвердить PASS в Журнале DLP, и это само попадёт в базу негативов. Это прямая связь между слайдом 14 (настройка) и слайдом 17 (эксплуатация): цикл настройки замыкается через ежедневную работу с журналом, а не является отдельным разовым действием.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Шаг повышения точности: два независимых механизма перепроверки спорных случаев — реранкер (точнее пересчитывает близость) и LLM-судья (даёт окончательное суждение). Оба — опциональны в том смысле, что система работает без них, но грубее.
Для самостоятельного изучения: справочная информация о конкретной production-модели реранкера (cross-encoder/mmarco-mMiniLMv2-L12-H384-v1) взята из описания экрана «База секретов» и приведена для технической полноты — на практике для сотрудника ИБ важнее не название модели, а сам факт, что есть более качественные альтернативы (например, DiTy/cross-encoder-russian-msmarco лучше именно на чисто русских документах), которые можно догрузить, если производительности или качества CPU-модели окажется недостаточно.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Центральный слайд для повседневной работы — таблица вердиктов, цветовое кодирование (зелёный/жёлтый/красный) выбрано специально по аналогии со светофором для быстрого узнавания в реальном журнале.
Для самостоятельного изучения: обратите внимание, что числовые границы (0,75 и 0,88) не показаны на этом слайде намеренно — по операционной инструкции сотрудник ИБ работает с вердиктами, а не с сырыми числами напрямую. Точные пороги (ниже 0,75 → PASS, 0,75–0,88 → REVIEW, от 0,88 → BLOCK) и бонус +0,05 за совпадение по ключевым словам зафиксированы в системной конфигурации («Управление базой») и являются справочной технической деталью, а не тем, что аналитик подбирает вручную под каждый тест.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Часть IV инструкции — эксплуатация. Ключевая мысль вынесена в заголовок цикла: настройка DLP — это не разовый проект «включили и забыли», а постоянный процесс с четырьмя повторяющимися шагами.
Для самостоятельного изучения: этот цикл — практический мост между слайдами 10–15 (первичная настройка) и слайдами 18–19 (правила и чек-лист). После первого прохождения цикла (загрузили → протестировали → понаблюдали → настроили) он не заканчивается — каждое новое пополнение базы или изменение конфигурации требует пройти цикл заново, в первую очередь — шаг «протестировали» (регрессия), прежде чем снова доверять системе.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правил из раздела «Важные правила» операционной инструкции — воспроизведены полностью, без сокращений, потому что каждое из них уже стоило кому-то реальной проблемы на практике (иначе бы не попало в инструкцию отдельным пунктом).
Для самостоятельного изучения: правила 1 и 2 вы уже видели на слайде 11 (шаг 2 настройки) — здесь они собраны вместе с тремя новыми: про постепенное ужесточение (правило 3), про обязательную регрессию после изменений (правило 4, прямая связь с циклом со слайда 17) и про задержку применения настроек (правило 5) — техническая деталь, которая объясняет ситуацию «я всё настроил, а ничего не изменилось», прежде чем сотрудник ИБ решит, что настройка была ошибочной.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Чеклист из девяти пунктов, воспроизведённый дословно из раздела «Чеклист первичного запуска» операционной инструкции. Это финальная точка первичной настройки — все девять пунктов должны быть выполнены до того, как систему можно считать готовой к работе даже в мягком режиме («на проверку»).
Для самостоятельного изучения: полезно физически пройтись по этому списку как по чек-листу приёмки, если вы (или ваша команда) когда-либо будете сдавать настроенную систему заказчику или коллеге — каждый пункт соответствует конкретному шагу или разделу, уже пройденному на слайдах 9–17 этой части.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специально показывает, что документация DLP существует в двух версиях, написанных для разных ролей и в разное время, и объясняет, чем они дополняют друг друга, а не противоречат. Согласно разделу «См. также» операционной инструкции: этот более ранний документ добавляет наполнение Базы коммерческой тайны, ключевые слова, грифы, структурные шаблоны, чёрный список — а операционная инструкция, в свою очередь, добавила словарь терминов интерфейса, реранкер/судью, механизм негативных примеров, чек-лист запуска и регулярную рутину, которых не было в более раннем документе.
Для самостоятельного изучения: обратите внимание на терминологические расхождения между двумя версиями одной функции — то, что в аналитик-версии называется «Разрешено / На проверку / Заблокировано» и «Арбитр», в операционной версии называется «PASS / REVIEW / BLOCK» и «Судья». Это один и тот же механизм под разными именами — полезно уметь узнавать это соответствие, если придётся читать оба документа параллельно или общаться с коллегами, знакомыми только с одной версией.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журнала аудита из руководства администратора ИБ — намеренно независимые: LLM-сессии (включая факты маскирования PII Shield), привилегированные действия администраторов и куратора данных, и SQL-запросы к источникам данных.
Для самостоятельного изучения: обратите внимание, что журнал маскирования PII Shield логически связан именно с pii_audit — если вы расследуете вопрос «была ли персональная данная замаскирована в конкретном ответе», искать нужно именно там, а не в admin_audit_log (это журнал административных действий, а не пользовательских сессий). Разделение на три журнала — это разделение по типу субъекта действия: пользователь чата (pii_audit), администратор/куратор (admin_audit_log), сгенерированный системой SQL-запрос (sql_audit).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конкретных сценария реагирования из руководства администратора ИБ, с шагами в исходной последовательности. Особо отмечено требование закона: уведомление Роскомнадзора в течение 24 часов при подтверждённой утечке персональных данных — это единственное место во всех источниках, где явно указан юридически обязательный срок.
Для самостоятельного изучения: обратите внимание на общий паттерн всех трёх сценариев — сначала сдержать (заблокировать/отозвать доступ), затем собрать доказательства (журналы), затем эскалировать по назначению (служба ИБ организации либо команда поддержки платформы для технических проблем вроде prompt injection). Разные типы инцидентов эскалируются по-разному: утечка данных — во внутреннюю службу ИБ и, при подтверждении, регулятору; попытка обхода защиты промптом — команде поддержки платформы, потому что это вопрос усиления самой системы, а не расследования конкретного сотрудника.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Таблица классификации инцидентов по серьёзности — из руководства администратора ИБ, воспроизведена полностью с четырьмя уровнями. Она задаёт единый язык между сотрудником ИБ и остальной организацией: одно слово («критический») сразу сообщает объём немедленных действий.
Для самостоятельного изучения: сопоставьте эту таблицу со сценариями предыдущего слайда — компрометация учётной записи администратора и подтверждённая утечка ПДн относятся к критическому уровню (с 24-часовым сроком уведомления регулятора), а подозрение на prompt injection, скорее всего, попадает в категорию «высокий» до подтверждения. Явной привязки конкретных сценариев к уровням в источниках нет — это разумное сопоставление по смыслу описанных признаков, а не дословная цитата.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Краткая выборка из полной таблицы соответствия ФСТЭК (приказы №17/21) в руководстве администратора ИБ — показаны 6 из более чем 30 мер, выбранные как наиболее относящиеся к теме этой части (защита данных, аудит, доступ). Полная таблица со всеми мерами — в самом руководстве администратора ИБ, здесь она намеренно не воспроизведена целиком.
Для самостоятельного изучения: обратите внимание, что даже в этой короткой выборке есть не только «✓» — это важно для честной коммуникации с заказчиком: ИАФ.2 (аутентификация устройств) и УПД.6 (лимит неуспешных попыток входа) отмечены как частично реализованные, требующие дополнительных мер уже на стороне клиента. Не представляйте соответствие ФСТЭК как стопроцентное — сама оценка в источнике явно различает полное, частичное и неприменимое соответствие.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Выборка из таблицы остаточных рисков в руководстве администратора ИБ — шесть из полного списка, отобранные как наиболее иллюстративные для темы защиты данных. Общий принцип раздела: платформа явно очерчивает границу своей ответственности, и то, что за этой границей, должно быть закреплено в договоре с клиентом, а не подразумеваться.
Для самостоятельного изучения: особо выделите последний пункт — «контроль обхода периметра». Он прямо связан со слайдом 3 (зачем нужна защита данных): даже идеально настроенные PII Shield и База секретов не помогут, если сотрудник может просто открыть внешний чат-интерфейс LLM в браузере в обход платформы целиком. Это не технический недостаток DLP, а причина, по которой сетевой контроль (файрвол, веб-фильтр по списку адресов от поставщика) — обязательное дополнение к любой настройке, описанной в этой части.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Синтез пяти ключевых мыслей всей части 3 — каждая привязана к конкретным более ранним слайдам (три слоя — слайды 4–7; GLiNER/LoRA — слайд 6; вердикты — слайд 16; цикл — слайд 17; разделение систем — слайды 4 и 9).
Для самостоятельного изучения: если через неделю изучения вы вспомните только эти пять тезисов, этого достаточно, чтобы уверенно объяснить архитектуру защиты данных коллеге или заказчику, не путая PII Shield с Базой секретов и не выдавая LoRA-дообучение за готовую функцию.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Заключительный слайд-мостик к части 4. Формулировка «маскирование защищает ЧТО модель видит; домены и доступ — КОМУ вообще доступен документ» — ключевая рамка, разделяющая тему части 3 и часть 4 на две независимые оси защиты.
Для самостоятельного изучения: обратите особое внимание на выделенный курсивом принцип внизу слайда — он взят из руководства администратора ИБ и объясняет, почему порядок этих двух частей курса именно такой: доступ (часть 4) логически первичнее маскирования (часть 3), потому что применяется раньше в конвейере обработки запроса. Замаскированные, но не принадлежащие пользователю данные — это всё равно утечка, поэтому часть 4 закономерно продолжит именно с того места, где заканчивается защита содержимого.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1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6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1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1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3.png"/><Relationship Id="rId6" Type="http://schemas.openxmlformats.org/officeDocument/2006/relationships/image" Target="../media/image-17-6.png"/><Relationship Id="rId7" Type="http://schemas.openxmlformats.org/officeDocument/2006/relationships/image" Target="../media/image-17-3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2.png"/><Relationship Id="rId4" Type="http://schemas.openxmlformats.org/officeDocument/2006/relationships/image" Target="../media/image-19-2.png"/><Relationship Id="rId5" Type="http://schemas.openxmlformats.org/officeDocument/2006/relationships/image" Target="../media/image-19-2.png"/><Relationship Id="rId6" Type="http://schemas.openxmlformats.org/officeDocument/2006/relationships/image" Target="../media/image-19-2.png"/><Relationship Id="rId7" Type="http://schemas.openxmlformats.org/officeDocument/2006/relationships/image" Target="../media/image-19-2.png"/><Relationship Id="rId8" Type="http://schemas.openxmlformats.org/officeDocument/2006/relationships/image" Target="../media/image-19-2.png"/><Relationship Id="rId9" Type="http://schemas.openxmlformats.org/officeDocument/2006/relationships/image" Target="../media/image-19-2.png"/><Relationship Id="rId10" Type="http://schemas.openxmlformats.org/officeDocument/2006/relationships/image" Target="../media/image-19-2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9184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114800"/>
            <a:ext cx="3108960" cy="3108960"/>
          </a:xfrm>
          <a:prstGeom prst="ellipse">
            <a:avLst/>
          </a:prstGeom>
          <a:solidFill>
            <a:srgbClr val="232E6E"/>
          </a:solidFill>
          <a:ln/>
        </p:spPr>
      </p:sp>
      <p:sp>
        <p:nvSpPr>
          <p:cNvPr id="4" name="Shape 2"/>
          <p:cNvSpPr/>
          <p:nvPr/>
        </p:nvSpPr>
        <p:spPr>
          <a:xfrm>
            <a:off x="10561320" y="4983480"/>
            <a:ext cx="1371600" cy="13716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5" name="Image 0" descr="/tmp/claude-0/-home-user-job-RAG/ef3eafce-311b-5f93-abd3-f923a7360240/scratchpad/pptx3/icons/shieldlock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9930" y="5292090"/>
            <a:ext cx="754380" cy="7543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ОБРАЗОВАТЕЛЬНЫЙ ЦИКЛ · ЧАСТЬ 3 ИЗ 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828800"/>
            <a:ext cx="8778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данных:</a:t>
            </a:r>
            <a:endParaRPr lang="en-US" sz="4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PII Shield и DLP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3977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платформа «Камерата» находит и останавливает утечки персональных данных и коммерческой тайны прежде, чем они покинут контур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58368" y="5989320"/>
            <a:ext cx="3108960" cy="0"/>
          </a:xfrm>
          <a:prstGeom prst="line">
            <a:avLst/>
          </a:prstGeom>
          <a:noFill/>
          <a:ln w="12700">
            <a:solidFill>
              <a:srgbClr val="3B45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6126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 рассчитан на неделю самостоятельного изучения — подробные заметки к каждому слайду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КУРСА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частей одного цикла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rou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00200"/>
            <a:ext cx="7360920" cy="841248"/>
          </a:xfrm>
          <a:prstGeom prst="roundRect">
            <a:avLst>
              <a:gd name="adj" fmla="val 8696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80136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8013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0160" y="1600200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Фундамент: LLM, RAG и векторный поиск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2587752"/>
            <a:ext cx="7360920" cy="841248"/>
          </a:xfrm>
          <a:prstGeom prst="roundRect">
            <a:avLst>
              <a:gd name="adj" fmla="val 8696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85800" y="278892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78892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80160" y="2587752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«Камерата»: архитектура и интерфейс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02920" y="3575304"/>
            <a:ext cx="7360920" cy="841248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77647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7764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80160" y="3575304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данных: PII Shield и DLP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989320" y="3575304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 ЗДЕСЬ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02920" y="4562856"/>
            <a:ext cx="7360920" cy="841248"/>
          </a:xfrm>
          <a:prstGeom prst="roundRect">
            <a:avLst>
              <a:gd name="adj" fmla="val 8696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47640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47640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280160" y="4562856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Домены и доступ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02920" y="5550408"/>
            <a:ext cx="7360920" cy="841248"/>
          </a:xfrm>
          <a:prstGeom prst="roundRect">
            <a:avLst>
              <a:gd name="adj" fmla="val 8696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85800" y="575157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2"/>
          <p:cNvSpPr/>
          <p:nvPr/>
        </p:nvSpPr>
        <p:spPr>
          <a:xfrm>
            <a:off x="685800" y="57515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280160" y="5550408"/>
            <a:ext cx="6309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сильные и слабые стороны платформы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8092440" y="1600200"/>
            <a:ext cx="3611880" cy="4791456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2104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Мостик между частями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8321040" y="224028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 1–2 показали, как платформа находит документы и формирует ответ через RAG и языковую модель.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— о том, как та же самая система не даёт чувствительным данным утечь через этот путь наружу: к пользователю без доступа или во внешнюю LLM.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ЭТО НУЖНО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случится без защиты данных в этом контуре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tmp/claude-0/-home-user-job-RAG/ef3eafce-311b-5f93-abd3-f923a7360240/scratchpad/pptx3/icons/cloudup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6949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 1–2 показали путь запроса: вопрос пользователя → поиск по документам → ответ, собранный языковой моделью. Часть некоторых моделей в реестре провайдеров платформы — облачные (например, Amazon Bedrock, внешние ollama-эндпоинты). Это значит: без защиты содержимое документов — включая персональные данные и коммерческую тайну — способно попасть в тело запроса к внешней модели и уйти за пределы контура вместе с ним.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18120" y="16002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1" descr="/tmp/claude-0/-home-user-job-RAG/ef3eafce-311b-5f93-abd3-f923a7360240/scratchpad/pptx3/icons/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420" y="171450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0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Правовые последствия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8412480" y="1892808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Подтверждённая утечка персональных данных требует уведомления Роскомнадзора в течение 24 часов (ФЗ-152) — это требование закона, не рекомендация.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818120" y="308152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2" descr="/tmp/claude-0/-home-user-job-RAG/ef3eafce-311b-5f93-abd3-f923a7360240/scratchpad/pptx3/icons/ba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420" y="3195828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412480" y="30632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Потеря коммерческой тайны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412480" y="3374136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Пересказ, перефразировка или перевод секретного документа обходят обычный стоп-лист слов — нужна защита по смыслу, а не только по тексту.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7818120" y="456285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6" name="Image 3" descr="/tmp/claude-0/-home-user-job-RAG/ef3eafce-311b-5f93-abd3-f923a7360240/scratchpad/pptx3/icons/certificat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2420" y="4677156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412480" y="45445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Требования регулятора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8412480" y="4855464"/>
            <a:ext cx="3337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мерам ФСТЭК (приказы №17/21) прямо опирается на контроль передаваемой информации и журналирование — без DLP эти меры не выполнить.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02920" y="3429000"/>
            <a:ext cx="6949440" cy="260604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7240" y="36393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линии защиты в этом контуре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777240" y="402336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Shield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автоматически находит и маскирует персональные данные в ответах агента, без участия человека, всегда.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
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«База секретов» (DLP)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сверяет запрос по смыслу с эталоном коммерческой тайны и выносит решение: пропустить, отправить на проверку человеку или заблокировать.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ОБЗОР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слоя защиты данных в одном контуре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9164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8952" y="1947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tmp/claude-0/-home-user-job-RAG/ef3eafce-311b-5f93-abd3-f923a7360240/scratchpad/pptx3/icons/hashta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93" y="2092513"/>
            <a:ext cx="313822" cy="31382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8952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1. Точные паттерны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58952" y="322783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Regex-правила, ключевые слова, чёрный список — точное совпадение с известным форматом или наименованием.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297680" y="169164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53712" y="1947672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tmp/claude-0/-home-user-job-RAG/ef3eafce-311b-5f93-abd3-f923a7360240/scratchpad/pptx3/icons/brai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8553" y="2092513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53712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2. NER по контексту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553712" y="322783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находит сущности (имена, адреса, номера) в свободном тексте — там, где нет ни разметки, ни точного формата.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092440" y="169164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48472" y="1947672"/>
            <a:ext cx="603504" cy="603504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8" name="Image 3" descr="/tmp/claude-0/-home-user-job-RAG/ef3eafce-311b-5f93-abd3-f923a7360240/scratchpad/pptx3/icons/fingerprin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3313" y="2092513"/>
            <a:ext cx="313822" cy="31382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48472" y="2697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Слой 3. Смысловая проверка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348472" y="3227832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с «смысловым слепком» эталонных секретных документов — ловит пересказ и перефразировку.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137660" y="3040380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2" name="Image 4" descr="/tmp/claude-0/-home-user-job-RAG/ef3eafce-311b-5f93-abd3-f923a7360240/scratchpad/pptx3/icons/arrowrigh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5092" y="3067812"/>
            <a:ext cx="82296" cy="82296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7932420" y="3040380"/>
            <a:ext cx="137160" cy="1371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5" descr="/tmp/claude-0/-home-user-job-RAG/ef3eafce-311b-5f93-abd3-f923a7360240/scratchpad/pptx3/icons/arrow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852" y="3067812"/>
            <a:ext cx="82296" cy="82296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502920" y="4754880"/>
            <a:ext cx="11201400" cy="868680"/>
          </a:xfrm>
          <a:prstGeom prst="roundRect">
            <a:avLst>
              <a:gd name="adj" fmla="val 8421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Text 18"/>
          <p:cNvSpPr/>
          <p:nvPr/>
        </p:nvSpPr>
        <p:spPr>
          <a:xfrm>
            <a:off x="731520" y="4892040"/>
            <a:ext cx="10744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Важный нюанс: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слои 1–2 — часть PII Shield (работает автоматически, для персональных данных). Слой 3 — отдельный сервис «База секретов» / dlp-secret (для коммерческой тайны, с решением сотрудника ИБ в спорных случаях), связанный с PII Shield через внутренний токен и вызов API, а не общий процесс.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1 ИЗ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Точные паттерны: regex, ключевые слова, чёрный список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hasht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512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tmp/claude-0/-home-user-job-RAG/ef3eafce-311b-5f93-abd3-f923a7360240/scratchpad/pptx3/icons/key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192481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52728" y="1737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 встроенных regex-правил (PII Shield)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252728" y="206654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Телефон, email, ИНН, СНИЛС, паспорт, банковские карты/счета, ОГРН, IBAN, VIN, дата рождения, IP-адрес, госномер, токены доступа. Для 6 типов — проверка контрольных соотношений: исключает ложные срабатывания на похожих по формату числах.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6217920" y="1645920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382512" y="181051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tmp/claude-0/-home-user-job-RAG/ef3eafce-311b-5f93-abd3-f923a7360240/scratchpad/pptx3/icons/cogs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812" y="1924812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67728" y="173736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Кастомные regex-паттерны («База секретов»)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6967728" y="2066544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Название + regex-паттерн (синтаксис Python re, валидируется при сохранении) + тип токена — закрытый список из 5 значений: PERSON, PROJECT, COMPANY, PRODUCT, CUSTOM. Тестируется прямо на строке паттерна кнопкой «Проверить» — важно вводить реальный пример данных, а не сам regex, иначе система закономерно вернёт «Совпадений не найдено».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502920" y="2999232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67512" y="3163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/tmp/claude-0/-home-user-job-RAG/ef3eafce-311b-5f93-abd3-f923a7360240/scratchpad/pptx3/icons/lista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3278124"/>
            <a:ext cx="22860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252728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слова — быстрый точный слой поверх смысла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252728" y="341985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Кодовые названия проектов, внутренние идентификаторы. Точное вхождение в текст запроса, без учёта регистра. Если слово найдено, а смысловая проверка ничего не нашла — запрос всё равно уходит на разбор инспектору.</a:t>
            </a:r>
            <a:endParaRPr lang="en-US" sz="1030" dirty="0"/>
          </a:p>
        </p:txBody>
      </p:sp>
      <p:sp>
        <p:nvSpPr>
          <p:cNvPr id="21" name="Shape 15"/>
          <p:cNvSpPr/>
          <p:nvPr/>
        </p:nvSpPr>
        <p:spPr>
          <a:xfrm>
            <a:off x="6217920" y="2999232"/>
            <a:ext cx="5486400" cy="1170432"/>
          </a:xfrm>
          <a:prstGeom prst="roundRect">
            <a:avLst>
              <a:gd name="adj" fmla="val 625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382512" y="316382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/tmp/claude-0/-home-user-job-RAG/ef3eafce-311b-5f93-abd3-f923a7360240/scratchpad/pptx3/icons/ba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812" y="3278124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967728" y="309067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Чёрный список — принудительная маскировка, а не блокировка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967728" y="3419856"/>
            <a:ext cx="4572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наименований, которые всегда скрываются модулем обезличивания. На решение «Пропустить / На проверку / Заблокировать» не влияет: запрос идёт дальше, но перечисленные слова в нём уже скрыты.</a:t>
            </a:r>
            <a:endParaRPr lang="en-US" sz="1030" dirty="0"/>
          </a:p>
        </p:txBody>
      </p:sp>
      <p:sp>
        <p:nvSpPr>
          <p:cNvPr id="26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2 ИЗ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NER: модель находит сущности по контексту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brai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Named Entity Recognition — там, где нет ни разметки каталога, ни точного формата, ни ключевого слова. Модель читает свободный текст и распознаёт имена, адреса, организации и другие сущности по контексту — раздельно для русского и английского языков.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6974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0292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0,4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9436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обнаружения по умолчанию (40%)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88920" y="26974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8892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 мс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88036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медианная задержка NER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74920" y="2697480"/>
            <a:ext cx="214884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7492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мс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166360" y="324612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весь конвейер защиты, p95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02920" y="3931920"/>
            <a:ext cx="6812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 ниже 0,3 может маскировать нечувствительные данные и заметно снижать качество ответов — менять осторожно, с фиксацией обоснования.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680960" y="1600200"/>
            <a:ext cx="4023360" cy="47091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936992" y="1810512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9" name="Image 1" descr="/tmp/claude-0/-home-user-job-RAG/ef3eafce-311b-5f93-abd3-f923a7360240/scratchpad/pptx3/icons/exclam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149" y="1923669"/>
            <a:ext cx="276606" cy="27660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549640" y="181051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Важный нюанс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7936992" y="2423160"/>
            <a:ext cx="35204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NER-слой построен на GLiNER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а не только на модели bge-m3, которую упоминает паспорт безопасности разработчика (bge-m3, вероятно, используется на другом этапе конвейера, не для самого NER).
</a:t>
            </a:r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GLiNER архитектурно поддерживает дообучение под терминологию заказчика через LoRA-адаптеры. 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 по состоянию на разговор с разработчиком (25.08.2026) в системе есть только предварительные заготовки под это — доработка до готовой к использованию функции не завершена.</a:t>
            </a:r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предлагать заказчику как уже доступную возможность. Срок готовности нужно уточнять у команды платформы отдельно.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МЕХАНИЗМ 3 ИЗ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Смысловая проверка: «смысловой слепок» эталона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tmp/claude-0/-home-user-job-RAG/ef3eafce-311b-5f93-abd3-f923a7360240/scratchpad/pptx3/icons/fingerpri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Обычный фильтр ловит утечки по словам. Смысловая проверка ловит их по смыслу: даже если сотрудник пересказал секретный документ своими словами, переименовал проект или перевёл текст — система заметит, что смысл совпадает с чем-то из защищаемых документов.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743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31620" y="2944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tmp/claude-0/-home-user-job-RAG/ef3eafce-311b-5f93-abd3-f923a7360240/scratchpad/pptx3/icons/fold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294" y="3076042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12648" y="36118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Эталон секретов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" y="39502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Реальные конфиденциальные документы загружаются один раз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337560" y="2743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66260" y="2944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tmp/claude-0/-home-user-job-RAG/ef3eafce-311b-5f93-abd3-f923a7360240/scratchpad/pptx3/icons/fingerprin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934" y="3076042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447288" y="36118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Смысловой слепок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3474720" y="39502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Текст режется на фрагменты (~400 токенов, 25% перекрытие), каждый векторизуется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172200" y="2743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200900" y="2944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tmp/claude-0/-home-user-job-RAG/ef3eafce-311b-5f93-abd3-f923a7360240/scratchpad/pptx3/icons/databas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2574" y="3076042"/>
            <a:ext cx="285293" cy="28529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281928" y="36118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 (Qdrant)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6309360" y="39502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Слепки хранятся в коллекции confidential_chunks, готовы к сравнению сразу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9006840" y="2743200"/>
            <a:ext cx="2606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0035540" y="2944368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/tmp/claude-0/-home-user-job-RAG/ef3eafce-311b-5f93-abd3-f923a7360240/scratchpad/pptx3/icons/search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214" y="3076042"/>
            <a:ext cx="285293" cy="285293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116568" y="3611880"/>
            <a:ext cx="2386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144000" y="395020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исходящее сообщение сверяется по близости смысла (cosine)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3150108" y="3653028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8" name="Image 5" descr="/tmp/claude-0/-home-user-job-RAG/ef3eafce-311b-5f93-abd3-f923a7360240/scratchpad/pptx3/icons/arrowright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79369" y="3682289"/>
            <a:ext cx="87782" cy="8778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984748" y="3653028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0" name="Image 6" descr="/tmp/claude-0/-home-user-job-RAG/ef3eafce-311b-5f93-abd3-f923a7360240/scratchpad/pptx3/icons/arrowrigh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14009" y="3682289"/>
            <a:ext cx="87782" cy="87782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8819388" y="3653028"/>
            <a:ext cx="146304" cy="146304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2" name="Image 7" descr="/tmp/claude-0/-home-user-job-RAG/ef3eafce-311b-5f93-abd3-f923a7360240/scratchpad/pptx3/icons/arrowright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48649" y="3682289"/>
            <a:ext cx="87782" cy="87782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502920" y="493776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777240" y="507492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ближе смысл к секрету — тем строже вердикт.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вычисления идут локально: документы никуда не уходят, а само сравнение — это отдельный сервис «База секретов» (dlp-secret), вызываемый по внутреннему API.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СЛОВАРЬ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Термины интерфейса DLP на человеческом языке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1691640"/>
            <a:ext cx="32004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Чанк, «активных чанков»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23360" y="1691640"/>
            <a:ext cx="74980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 документа. Система режет загруженный файл на куски и делает смысловой слепок каждого. Счётчик показывает, сколько фрагментов сейчас в работе.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02920" y="2226564"/>
            <a:ext cx="11201400" cy="534924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226564"/>
            <a:ext cx="32004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Эмбеддер, «модель смысла»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023360" y="2226564"/>
            <a:ext cx="74980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Программа, которая превращает текст в смысловой слепок. Одна на всю систему, её включает администратор.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85800" y="2761488"/>
            <a:ext cx="32004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023360" y="2761488"/>
            <a:ext cx="74980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 смысловых слепков. Аналитик в него не заходит — важно только, что оно запущено.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3296412"/>
            <a:ext cx="11201400" cy="534924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3296412"/>
            <a:ext cx="32004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Cosine, «близость»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023360" y="3296412"/>
            <a:ext cx="74980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близости смысла: чем больше число, тем ближе проверяемый текст к чему-то из вашего эталона.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85800" y="3831336"/>
            <a:ext cx="32004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Кандидаты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023360" y="3831336"/>
            <a:ext cx="74980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Фрагменты эталона, оказавшиеся похожими на проверяемый текст. Показывают, почему система решила именно так.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02920" y="4366260"/>
            <a:ext cx="11201400" cy="534924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4366260"/>
            <a:ext cx="32004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Реранкер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4023360" y="4366260"/>
            <a:ext cx="74980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 слой перепроверки спорных случаев — точнее и медленнее, чем первичное сравнение.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5800" y="4901184"/>
            <a:ext cx="32004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Судья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4023360" y="4901184"/>
            <a:ext cx="74980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Языковая модель, которая перепроверяет спорные случаи и выносит окончательное суждение.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02920" y="5436108"/>
            <a:ext cx="11201400" cy="534924"/>
          </a:xfrm>
          <a:prstGeom prst="rect">
            <a:avLst/>
          </a:prstGeom>
          <a:solidFill>
            <a:srgbClr val="EEF3FC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" y="5436108"/>
            <a:ext cx="320040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Health, «проверка»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4023360" y="5436108"/>
            <a:ext cx="7498080" cy="534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Кнопка проверки доступности: отвечает нужный компонент или нет.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 НАЧАЛОМ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должно быть готово в зоне администратора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cog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Эти три вещи включает администратор один раз. Задача сотрудника ИБ — убедиться, что они работают, и обращаться к администратору, если перестали.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42316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88820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tmp/claude-0/-home-user-job-RAG/ef3eafce-311b-5f93-abd3-f923a7360240/scratchpad/pptx3/icons/brai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439" y="2851099"/>
            <a:ext cx="332842" cy="33284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520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смысла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90448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Эмбеддер — включена и отвечает. Без неё смысловые слепки строить нечем.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97680" y="242316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783580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tmp/claude-0/-home-user-job-RAG/ef3eafce-311b-5f93-abd3-f923a7360240/scratchpad/pptx3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199" y="2851099"/>
            <a:ext cx="332842" cy="33284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480560" y="3520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Хранилище слепков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2000" y="390448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Qdrant — запущено. Аналитик в него не заходит, важен только факт работы.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092440" y="2423160"/>
            <a:ext cx="3611880" cy="2468880"/>
          </a:xfrm>
          <a:prstGeom prst="roundRect">
            <a:avLst>
              <a:gd name="adj" fmla="val 2963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9578340" y="2697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tmp/claude-0/-home-user-job-RAG/ef3eafce-311b-5f93-abd3-f923a7360240/scratchpad/pptx3/icons/gave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959" y="2851099"/>
            <a:ext cx="332842" cy="33284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3520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Модель-судья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366760" y="3904488"/>
            <a:ext cx="3063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перепроверки спорных случаев. Без неё система работает, но грубее — опирается только на близость смысла.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02920" y="5074920"/>
            <a:ext cx="1120140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31520" y="523036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4" descr="/tmp/claude-0/-home-user-job-RAG/ef3eafce-311b-5f93-abd3-f923a7360240/scratchpad/pptx3/icons/rout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1" y="5351069"/>
            <a:ext cx="261518" cy="26151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71600" y="5230368"/>
            <a:ext cx="9966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Путь: 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«Администрирование» → «Реранкер» → блок «LLM-судья» → «Проверить доступность». Раздел «Управление» показывает, сколько фрагментов сейчас загружено.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· ШАГ 1 ИЗ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Соберите эталон секретов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fold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Определите, что именно в организации является защищаемой информацией, и соберите примеры документов. Чем полнее и разнообразнее эталон, тем лучше система узнаёт пересказы и отдельные фрагменты.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74320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E4F1E4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94436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9" name="Image 1" descr="/tmp/claude-0/-home-user-job-RAG/ef3eafce-311b-5f93-abd3-f923a7360240/scratchpad/pptx3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390" y="3047238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2944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Грузите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52044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4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Договоры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4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Ценовые реестры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4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Техническую документацию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4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Внутренние регламенты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B4D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Клиентские базы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977640" y="2743200"/>
            <a:ext cx="3291840" cy="3383280"/>
          </a:xfrm>
          <a:prstGeom prst="roundRect">
            <a:avLst>
              <a:gd name="adj" fmla="val 2222"/>
            </a:avLst>
          </a:prstGeom>
          <a:solidFill>
            <a:srgbClr val="FBE7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206240" y="2944368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2" descr="/tmp/claude-0/-home-user-job-RAG/ef3eafce-311b-5f93-abd3-f923a7360240/scratchpad/pptx3/icons/times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110" y="3047238"/>
            <a:ext cx="251460" cy="2514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29443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грузите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251960" y="352044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A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нужно грузить всё подряд.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7A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Грузите то, утечка чего — реальный риск, а не любой документ, до которого дотянулись.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7635240" y="1600200"/>
            <a:ext cx="4069080" cy="4572000"/>
          </a:xfrm>
          <a:prstGeom prst="roundRect">
            <a:avLst>
              <a:gd name="adj" fmla="val 1798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7863840" y="18105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разнообразие важно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7863840" y="224028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Смысловая проверка узнаёт только то, на что дан пример. Один и тот же секрет, описанный по-разному в разных документах, стоит представить несколькими фрагментами — так система увереннее узнаёт пересказы и переформулировки, а не только дословные совпадения.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· ШАГ 2 ИЗ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Загрузите документы в Базу знаний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uploa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00200"/>
            <a:ext cx="6903720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1783080"/>
            <a:ext cx="6446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Путь: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«Администрирование» → «База секретов».
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«Загрузить»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файл или папку (docx, pdf, xlsx, eml); система сама режет на фрагменты.
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«Добавить» 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короткий фрагмент текста вручную, например одна секретная формулировка.
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загрузке укажите </a:t>
            </a:r>
            <a:pPr indent="0" marL="0">
              <a:lnSpc>
                <a:spcPct val="128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Категорию</a:t>
            </a:r>
            <a:pPr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(«Договоры», «Цены», «Техдокументация») — для удобной фильтрации. Затем откройте «Управление базой» и убедитесь, что счётчик активных фрагментов вырос.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3474720"/>
            <a:ext cx="6903720" cy="1371600"/>
          </a:xfrm>
          <a:prstGeom prst="roundRect">
            <a:avLst>
              <a:gd name="adj" fmla="val 5333"/>
            </a:avLst>
          </a:prstGeom>
          <a:solidFill>
            <a:srgbClr val="FBE7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3639312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0" name="Image 1" descr="/tmp/claude-0/-home-user-job-RAG/ef3eafce-311b-5f93-abd3-f923a7360240/scratchpad/pptx3/icons/warnin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" y="3738067"/>
            <a:ext cx="241402" cy="24140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61872" y="3602736"/>
            <a:ext cx="5989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Смена модели смысла.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Уточните у администратора, не планируется ли смена модели смысла, прежде чем грузить большой объём. При замене все ранее сделанные слепки становятся несравнимы с новыми запросами — всю Базу знаний придётся загружать заново.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02920" y="4983480"/>
            <a:ext cx="6903720" cy="1188720"/>
          </a:xfrm>
          <a:prstGeom prst="roundRect">
            <a:avLst>
              <a:gd name="adj" fmla="val 6154"/>
            </a:avLst>
          </a:prstGeom>
          <a:solidFill>
            <a:srgbClr val="FBE7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13232" y="5120640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4" name="Image 2" descr="/tmp/claude-0/-home-user-job-RAG/ef3eafce-311b-5f93-abd3-f923a7360240/scratchpad/pptx3/icons/lo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5219395"/>
            <a:ext cx="241402" cy="24140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120640"/>
            <a:ext cx="5989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обезличивайте эталон.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7A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Секретные документы грузите как есть. Эталон должен быть исходным текстом — иначе слепок размывается и система начинает пропускать утечки. Обезличивается исходящий трафик, а не ваш эталон.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635240" y="1600200"/>
            <a:ext cx="4069080" cy="4572000"/>
          </a:xfrm>
          <a:prstGeom prst="roundRect">
            <a:avLst>
              <a:gd name="adj" fmla="val 179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863840" y="181051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/tmp/claude-0/-home-user-job-RAG/ef3eafce-311b-5f93-abd3-f923a7360240/scratchpad/pptx3/icons/databas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4541" y="1931213"/>
            <a:ext cx="261518" cy="26151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503920" y="18105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проверить, что загрузка сработала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863840" y="2423160"/>
            <a:ext cx="35661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Откройте «Управление базой».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счётчик активных фрагментов вырос — документы проиндексированы, проверка по ним уже работает.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не вырос — документы не проиндексировались, и проверка по ним работать не будет.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· ШАГ 3 ИЗ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слова — быстрый точный слой поверх смысла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ke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желанию, но рекомендуется. Путь: «Администрирование» → «База секретов» → «Ключевые слова».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1945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468880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9" name="Image 1" descr="/tmp/claude-0/-home-user-job-RAG/ef3eafce-311b-5f93-abd3-f923a7360240/scratchpad/pptx3/icons/fingerpri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260055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Смысловая проверка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324612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Ловит пересказы, перефразировки, переводы — всё, что сохраняет смысл, но меняет слова.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309360" y="219456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583680" y="2468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tmp/claude-0/-home-user-job-RAG/ef3eafce-311b-5f93-abd3-f923a7360240/scratchpad/pptx3/icons/key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354" y="2600554"/>
            <a:ext cx="285293" cy="28529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9480" y="25146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слова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583680" y="3246120"/>
            <a:ext cx="4800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Ловит точные вхождения — кодовые названия проектов, внутренние идентификаторы, которые сами по себе являются сигналом утечки.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5897880" y="3621024"/>
            <a:ext cx="347472" cy="34747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/tmp/claude-0/-home-user-job-RAG/ef3eafce-311b-5f93-abd3-f923a7360240/scratchpad/pptx3/icons/arrowright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6061" y="3699205"/>
            <a:ext cx="191110" cy="19111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502920" y="5669280"/>
            <a:ext cx="1101852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777240" y="5806440"/>
            <a:ext cx="10561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Хорошо работают вместе: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смысловая проверка ловит пересказы, ключевые слова — точные вхождения. Одно не заменяет другое.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· ШАГ 4 ИЗ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«Тест детекции» — проверка на примерах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flas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00200"/>
            <a:ext cx="11201400" cy="1005840"/>
          </a:xfrm>
          <a:prstGeom prst="roundRect">
            <a:avLst>
              <a:gd name="adj" fmla="val 7273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1755648"/>
            <a:ext cx="10652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«Администрирование» → «База секретов» → «Тест детекции». Вставьте текст, похожий на секрет (например, пересказ одного из загруженных документов), и нажмите «Проверить».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02920" y="283464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4088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tmp/claude-0/-home-user-job-RAG/ef3eafce-311b-5f93-abd3-f923a7360240/scratchpad/pptx3/icons/searc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789" y="327538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близости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325880" y="3429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Насколько близок текст к вашим секретам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97680" y="283464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498848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tmp/claude-0/-home-user-job-RAG/ef3eafce-311b-5f93-abd3-f923a7360240/scratchpad/pptx3/icons/list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549" y="3275381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12064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Кандидаты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120640" y="3429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фрагменты эталона сработали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92440" y="283464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93608" y="3154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tmp/claude-0/-home-user-job-RAG/ef3eafce-311b-5f93-abd3-f923a7360240/scratchpad/pptx3/icons/gave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4309" y="327538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15400" y="3063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Итоговое решение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8915400" y="342900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Пропустить / на проверку / заблокировать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02920" y="4572000"/>
            <a:ext cx="11201400" cy="1600200"/>
          </a:xfrm>
          <a:prstGeom prst="roundRect">
            <a:avLst>
              <a:gd name="adj" fmla="val 457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7772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Прогоните оба вида примеров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77240" y="5166360"/>
            <a:ext cx="10652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Настоящие утечки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должны ловиться, </a:t>
            </a:r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заведомо безобидные тексты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нет. Запомните, какие оценки близости при этом получаются: именно на них вы будете опираться на следующем шаге («Негативные примеры»).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· ШАГ 5 ИЗ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«Негативные примеры» — борьба с ложными срабатываниями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5" name="Image 0" descr="/tmp/claude-0/-home-user-job-RAG/ef3eafce-311b-5f93-abd3-f923a7360240/scratchpad/pptx3/icons/thumbsd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6858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система реагирует на что-то безобидное — например, публичный пресс-релиз похож по смыслу на секретный договор — не трогайте пороги. Добавьте этот текст в «Негативные примеры».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02920" y="2651760"/>
            <a:ext cx="6858000" cy="1417320"/>
          </a:xfrm>
          <a:prstGeom prst="roundRect">
            <a:avLst>
              <a:gd name="adj" fmla="val 5161"/>
            </a:avLst>
          </a:prstGeom>
          <a:solidFill>
            <a:srgbClr val="FBF0D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2834640"/>
            <a:ext cx="6309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Действует точечно. </a:t>
            </a:r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6B4E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Негатив действует на конкретный текст, а не на тему целиком. После добавления прогоните тест ещё раз — и на настоящей утечке по той же теме тоже, чтобы убедиться, что она по-прежнему ловится.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42519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посмотреть: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«Администрирование» → «База секретов» → «Список документов» → «Негативные примеры».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35240" y="1600200"/>
            <a:ext cx="4069080" cy="4572000"/>
          </a:xfrm>
          <a:prstGeom prst="roundRect">
            <a:avLst>
              <a:gd name="adj" fmla="val 179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0" y="181051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1" descr="/tmp/claude-0/-home-user-job-RAG/ef3eafce-311b-5f93-abd3-f923a7360240/scratchpad/pptx3/icons/sync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4541" y="1931213"/>
            <a:ext cx="261518" cy="26151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03920" y="181051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пополнение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863840" y="24231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«Негативные примеры» появляются автоматически, когда сотрудник ИБ подтверждает решение PASS для сообщения в серой зоне: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863840" y="333756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232E6E"/>
          </a:solidFill>
          <a:ln/>
        </p:spPr>
      </p:sp>
      <p:sp>
        <p:nvSpPr>
          <p:cNvPr id="16" name="Text 12"/>
          <p:cNvSpPr/>
          <p:nvPr/>
        </p:nvSpPr>
        <p:spPr>
          <a:xfrm>
            <a:off x="800100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«Рабочее место ИБ»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7863840" y="388620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232E6E"/>
          </a:solidFill>
          <a:ln/>
        </p:spPr>
      </p:sp>
      <p:sp>
        <p:nvSpPr>
          <p:cNvPr id="18" name="Text 14"/>
          <p:cNvSpPr/>
          <p:nvPr/>
        </p:nvSpPr>
        <p:spPr>
          <a:xfrm>
            <a:off x="800100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«Журнал DLP»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7863840" y="443484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232E6E"/>
          </a:solidFill>
          <a:ln/>
        </p:spPr>
      </p:sp>
      <p:sp>
        <p:nvSpPr>
          <p:cNvPr id="20" name="Text 16"/>
          <p:cNvSpPr/>
          <p:nvPr/>
        </p:nvSpPr>
        <p:spPr>
          <a:xfrm>
            <a:off x="8001000" y="4434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клик на Message ID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863840" y="4983480"/>
            <a:ext cx="3520440" cy="457200"/>
          </a:xfrm>
          <a:prstGeom prst="roundRect">
            <a:avLst>
              <a:gd name="adj" fmla="val 12000"/>
            </a:avLst>
          </a:prstGeom>
          <a:solidFill>
            <a:srgbClr val="232E6E"/>
          </a:solidFill>
          <a:ln/>
        </p:spPr>
      </p:sp>
      <p:sp>
        <p:nvSpPr>
          <p:cNvPr id="22" name="Text 18"/>
          <p:cNvSpPr/>
          <p:nvPr/>
        </p:nvSpPr>
        <p:spPr>
          <a:xfrm>
            <a:off x="8001000" y="4983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«Решение сотрудника ИБ» → PASS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ТОЧНОСТИ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Реранкер и LLM-судья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gave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Путь: «Администрирование» → «База секретов» → «Реранкинг». Кнопкой «Проверить доступность» проверьте, что судья отвечает; при необходимости выберите модель-судью в поле «Локальная модель судьи».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02920" y="25146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7157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tmp/claude-0/-home-user-job-RAG/ef3eafce-311b-5f93-abd3-f923a7360240/scratchpad/pptx3/icons/sor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2836469"/>
            <a:ext cx="261518" cy="26151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715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Реранкер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77240" y="3291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Второй, более точный (и более медленный) слой перепроверки спорных случаев поверх первичного сравнения близости.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35040" y="2514600"/>
            <a:ext cx="5349240" cy="1828800"/>
          </a:xfrm>
          <a:prstGeom prst="roundRect">
            <a:avLst>
              <a:gd name="adj" fmla="val 400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63640" y="27157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tmp/claude-0/-home-user-job-RAG/ef3eafce-311b-5f93-abd3-f923a7360240/scratchpad/pptx3/icons/gave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2836469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03720" y="27157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LLM-судья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6309360" y="3291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Языковая модель, которая перепроверяет спорные случаи и выносит окончательное суждение.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02920" y="452628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BE7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13232" y="4681728"/>
            <a:ext cx="438912" cy="43891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9" name="Image 3" descr="/tmp/claude-0/-home-user-job-RAG/ef3eafce-311b-5f93-abd3-f923a7360240/scratchpad/pptx3/icons/warnin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" y="4780483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61872" y="46634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Если судья выключен: 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7A24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опирается только на близость смысла — быстрее, но грубее. С судьёй меньше ложных тревог на спорных случаях.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02920" y="5715000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Справочно (снимок конфигурации): production-модель реранкинга — cross-encoder/mmarco-mMiniLMv2-L12-H384-v1 (50+ языков, включая русский, CPU-friendly, ~80 мс/фрагмент) — выбрана как компромисс скорости и качества; более точные модели (например, bge-reranker-v2-m3) требуют ≥8 ГБ ОЗУ и не загружены по умолчанию.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ЧИТАТЬ РЕЗУЛЬТАТ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Вердикт: PASS / REVIEW / BLOCK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gave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9164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E4F1E4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988820" y="1965960"/>
            <a:ext cx="640080" cy="640080"/>
          </a:xfrm>
          <a:prstGeom prst="ellipse">
            <a:avLst/>
          </a:prstGeom>
          <a:solidFill>
            <a:srgbClr val="2E7D32"/>
          </a:solidFill>
          <a:ln/>
        </p:spPr>
      </p:sp>
      <p:pic>
        <p:nvPicPr>
          <p:cNvPr id="8" name="Image 1" descr="/tmp/claude-0/-home-user-job-RAG/ef3eafce-311b-5f93-abd3-f923a7360240/scratchpad/pptx3/icons/checkcirc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2439" y="2119579"/>
            <a:ext cx="332842" cy="33284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2788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— пропустить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731520" y="3246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 далёк от ваших секретов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960120" y="3794760"/>
            <a:ext cx="2697480" cy="0"/>
          </a:xfrm>
          <a:prstGeom prst="line">
            <a:avLst/>
          </a:prstGeom>
          <a:noFill/>
          <a:ln w="9525">
            <a:solidFill>
              <a:srgbClr val="2E7D32"/>
            </a:solidFill>
            <a:prstDash val="sysDot"/>
          </a:ln>
        </p:spPr>
      </p:sp>
      <p:sp>
        <p:nvSpPr>
          <p:cNvPr id="12" name="Text 8"/>
          <p:cNvSpPr/>
          <p:nvPr/>
        </p:nvSpPr>
        <p:spPr>
          <a:xfrm>
            <a:off x="777240" y="3931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Ничего делать не нужно.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4297680" y="169164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BF0D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783580" y="1965960"/>
            <a:ext cx="640080" cy="64008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5" name="Image 2" descr="/tmp/claude-0/-home-user-job-RAG/ef3eafce-311b-5f93-abd3-f923a7360240/scratchpad/pptx3/icons/exclamcircl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199" y="211957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34840" y="2788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7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— на проверку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26280" y="3246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похоже, но не однозначно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754880" y="3794760"/>
            <a:ext cx="2697480" cy="0"/>
          </a:xfrm>
          <a:prstGeom prst="line">
            <a:avLst/>
          </a:prstGeom>
          <a:noFill/>
          <a:ln w="9525">
            <a:solidFill>
              <a:srgbClr val="B7791F"/>
            </a:solidFill>
            <a:prstDash val="sysDot"/>
          </a:ln>
        </p:spPr>
      </p:sp>
      <p:sp>
        <p:nvSpPr>
          <p:cNvPr id="19" name="Text 14"/>
          <p:cNvSpPr/>
          <p:nvPr/>
        </p:nvSpPr>
        <p:spPr>
          <a:xfrm>
            <a:off x="4572000" y="3931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Сотрудник ИБ смотрит вручную; если ложное — в «Негативные примеры».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092440" y="1691640"/>
            <a:ext cx="3611880" cy="3246120"/>
          </a:xfrm>
          <a:prstGeom prst="roundRect">
            <a:avLst>
              <a:gd name="adj" fmla="val 2254"/>
            </a:avLst>
          </a:prstGeom>
          <a:solidFill>
            <a:srgbClr val="FBE7E4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578340" y="1965960"/>
            <a:ext cx="640080" cy="64008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3" descr="/tmp/claude-0/-home-user-job-RAG/ef3eafce-311b-5f93-abd3-f923a7360240/scratchpad/pptx3/icons/times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1959" y="2119579"/>
            <a:ext cx="332842" cy="33284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9600" y="278892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— заблокировать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321040" y="32461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смысл близок к секрету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8549640" y="3794760"/>
            <a:ext cx="2697480" cy="0"/>
          </a:xfrm>
          <a:prstGeom prst="line">
            <a:avLst/>
          </a:prstGeom>
          <a:noFill/>
          <a:ln w="9525">
            <a:solidFill>
              <a:srgbClr val="C0392B"/>
            </a:solidFill>
            <a:prstDash val="sysDot"/>
          </a:ln>
        </p:spPr>
      </p:sp>
      <p:sp>
        <p:nvSpPr>
          <p:cNvPr id="26" name="Text 20"/>
          <p:cNvSpPr/>
          <p:nvPr/>
        </p:nvSpPr>
        <p:spPr>
          <a:xfrm>
            <a:off x="8366760" y="39319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Отправка остановлена; разобрать причину.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502920" y="516636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77240" y="5321808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Кандидаты и близость.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Показывают, какие фрагменты эталона сработали и насколько близко — это объясняет, почему система решила именно так. Совпадение по ключевым словам добавляет небольшой бонус к оценке близости.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ЭКСПЛУАТАЦИЯ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Журнал DLP и цикл наблюдения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clipboardlis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Путь: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«Администрирование» → «Рабочее место ИБ» → «Журнал DLP» — все срабатывания: что заблокировано, что ушло на проверку, с какой близостью.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" y="2468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87652" y="26974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/tmp/claude-0/-home-user-job-RAG/ef3eafce-311b-5f93-abd3-f923a7360240/scratchpad/pptx3/icons/upload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104" y="2837932"/>
            <a:ext cx="304312" cy="304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Загрузили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401568" y="3118104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2" name="Image 2" descr="/tmp/claude-0/-home-user-job-RAG/ef3eafce-311b-5f93-abd3-f923a7360240/scratchpad/pptx3/icons/arrowright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9175" y="3175711"/>
            <a:ext cx="140818" cy="14081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675888" y="2468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4686300" y="26974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3" descr="/tmp/claude-0/-home-user-job-RAG/ef3eafce-311b-5f93-abd3-f923a7360240/scratchpad/pptx3/icons/flask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752" y="2837932"/>
            <a:ext cx="304312" cy="30431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767328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Протестировали</a:t>
            </a:r>
            <a:endParaRPr lang="en-US" sz="1350" dirty="0"/>
          </a:p>
        </p:txBody>
      </p:sp>
      <p:sp>
        <p:nvSpPr>
          <p:cNvPr id="17" name="Shape 11"/>
          <p:cNvSpPr/>
          <p:nvPr/>
        </p:nvSpPr>
        <p:spPr>
          <a:xfrm>
            <a:off x="6300216" y="3118104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4" descr="/tmp/claude-0/-home-user-job-RAG/ef3eafce-311b-5f93-abd3-f923a7360240/scratchpad/pptx3/icons/arrowright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7823" y="3175711"/>
            <a:ext cx="140818" cy="14081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574536" y="2468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Shape 13"/>
          <p:cNvSpPr/>
          <p:nvPr/>
        </p:nvSpPr>
        <p:spPr>
          <a:xfrm>
            <a:off x="7584948" y="26974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5" descr="/tmp/claude-0/-home-user-job-RAG/ef3eafce-311b-5f93-abd3-f923a7360240/scratchpad/pptx3/icons/ey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5400" y="2837932"/>
            <a:ext cx="304312" cy="30431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665976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Понаблюдали</a:t>
            </a:r>
            <a:endParaRPr lang="en-US" sz="1350" dirty="0"/>
          </a:p>
        </p:txBody>
      </p:sp>
      <p:sp>
        <p:nvSpPr>
          <p:cNvPr id="23" name="Shape 15"/>
          <p:cNvSpPr/>
          <p:nvPr/>
        </p:nvSpPr>
        <p:spPr>
          <a:xfrm>
            <a:off x="9198864" y="3118104"/>
            <a:ext cx="256032" cy="256032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4" name="Image 6" descr="/tmp/claude-0/-home-user-job-RAG/ef3eafce-311b-5f93-abd3-f923a7360240/scratchpad/pptx3/icons/arrowright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6471" y="3175711"/>
            <a:ext cx="140818" cy="140818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9473184" y="2468880"/>
            <a:ext cx="2606040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Shape 17"/>
          <p:cNvSpPr/>
          <p:nvPr/>
        </p:nvSpPr>
        <p:spPr>
          <a:xfrm>
            <a:off x="10483596" y="2697480"/>
            <a:ext cx="585216" cy="585216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7" name="Image 7" descr="/tmp/claude-0/-home-user-job-RAG/ef3eafce-311b-5f93-abd3-f923a7360240/scratchpad/pptx3/icons/cogs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4048" y="2837932"/>
            <a:ext cx="304312" cy="30431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9564624" y="34290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Настроили</a:t>
            </a:r>
            <a:endParaRPr lang="en-US" sz="1350" dirty="0"/>
          </a:p>
        </p:txBody>
      </p:sp>
      <p:sp>
        <p:nvSpPr>
          <p:cNvPr id="29" name="Text 19"/>
          <p:cNvSpPr/>
          <p:nvPr/>
        </p:nvSpPr>
        <p:spPr>
          <a:xfrm>
            <a:off x="777240" y="4251960"/>
            <a:ext cx="11301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— не разовое действие, а непрерывный цикл</a:t>
            </a:r>
            <a:endParaRPr lang="en-US" sz="1250" dirty="0"/>
          </a:p>
        </p:txBody>
      </p:sp>
      <p:sp>
        <p:nvSpPr>
          <p:cNvPr id="30" name="Shape 20"/>
          <p:cNvSpPr/>
          <p:nvPr/>
        </p:nvSpPr>
        <p:spPr>
          <a:xfrm>
            <a:off x="502920" y="4663440"/>
            <a:ext cx="11201400" cy="1417320"/>
          </a:xfrm>
          <a:prstGeom prst="roundRect">
            <a:avLst>
              <a:gd name="adj" fmla="val 5161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Text 21"/>
          <p:cNvSpPr/>
          <p:nvPr/>
        </p:nvSpPr>
        <p:spPr>
          <a:xfrm>
            <a:off x="777240" y="4846320"/>
            <a:ext cx="10652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Ежедневная работа: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разбирайте спорные случаи — реальную утечку оставляете, ложную заводите в негативы (шаг 5). Периодически пополняйте Базу знаний новыми защищаемыми документами.</a:t>
            </a:r>
            <a:endParaRPr lang="en-US" sz="1300" dirty="0"/>
          </a:p>
        </p:txBody>
      </p:sp>
      <p:sp>
        <p:nvSpPr>
          <p:cNvPr id="32" name="Text 2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33" name="Text 23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СВОД ПРАВИЛ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важных правил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tmp/claude-0/-home-user-job-RAG/ef3eafce-311b-5f93-abd3-f923a7360240/scratchpad/pptx3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45920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3232" y="190652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9065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325880" y="1645920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Сменили модель смысла — загрузите Базу знаний заново. Старые слепки становятся несравнимы с новыми запросами, и проверка начинает ошибаться. Это критично; при смене модели обратитесь к администратору.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724912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834640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25880" y="272491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Эталон грузите без обезличивания — исходным текстом, иначе слепок размывается и утечки проходят мимо.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" y="3502152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3232" y="3762756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3"/>
          <p:cNvSpPr/>
          <p:nvPr/>
        </p:nvSpPr>
        <p:spPr>
          <a:xfrm>
            <a:off x="713232" y="37627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325880" y="3502152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включайте автоблокировку сразу. Сначала режим «на проверку», сбор статистики, разбор ложных срабатываний — потом ужесточение. Иначе рискуете завалить работу ложными блокировками.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4581144"/>
            <a:ext cx="112014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" y="469087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46908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325880" y="4581144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любых правок — «Тест» и регрессия, до того как доверить системе блокировать.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02920" y="5358384"/>
            <a:ext cx="11201400" cy="960120"/>
          </a:xfrm>
          <a:prstGeom prst="roundRect">
            <a:avLst>
              <a:gd name="adj" fmla="val 7619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13232" y="5618988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1"/>
          <p:cNvSpPr/>
          <p:nvPr/>
        </p:nvSpPr>
        <p:spPr>
          <a:xfrm>
            <a:off x="713232" y="56189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25880" y="5358384"/>
            <a:ext cx="10149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Правки не всегда применяются мгновенно. Если после изменения ключевых слов или списков поведение не поменялось — сообщите администратору: может требоваться перезапуск или сброс кэша конфигурации.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К ЗАПУСКУ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Чеклист первичного запуска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clipboardchec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9164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9842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8" name="Image 1" descr="/tmp/claude-0/-home-user-job-RAG/ef3eafce-311b-5f93-abd3-f923a7360240/scratchpad/pptx3/icons/checkcircl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198882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3272" y="169164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Администратор подтвердил: модель смысла, хранилище слепков и судья работают</a:t>
            </a:r>
            <a:endParaRPr lang="en-US" sz="1130" dirty="0"/>
          </a:p>
        </p:txBody>
      </p:sp>
      <p:sp>
        <p:nvSpPr>
          <p:cNvPr id="10" name="Shape 6"/>
          <p:cNvSpPr/>
          <p:nvPr/>
        </p:nvSpPr>
        <p:spPr>
          <a:xfrm>
            <a:off x="502920" y="2642616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0080" y="293522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12" name="Image 2" descr="/tmp/claude-0/-home-user-job-RAG/ef3eafce-311b-5f93-abd3-f923a7360240/scratchpad/pptx3/icons/check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293979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272" y="2642616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Защищаемые документы загружены в Базу знаний, проставлены Категории</a:t>
            </a:r>
            <a:endParaRPr lang="en-US" sz="1130" dirty="0"/>
          </a:p>
        </p:txBody>
      </p:sp>
      <p:sp>
        <p:nvSpPr>
          <p:cNvPr id="14" name="Shape 9"/>
          <p:cNvSpPr/>
          <p:nvPr/>
        </p:nvSpPr>
        <p:spPr>
          <a:xfrm>
            <a:off x="502920" y="3593592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40080" y="38862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16" name="Image 3" descr="/tmp/claude-0/-home-user-job-RAG/ef3eafce-311b-5f93-abd3-f923a7360240/scratchpad/pptx3/icons/checkcircle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890772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33272" y="359359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«Управление» счётчик активных фрагментов вырос</a:t>
            </a:r>
            <a:endParaRPr lang="en-US" sz="1130" dirty="0"/>
          </a:p>
        </p:txBody>
      </p:sp>
      <p:sp>
        <p:nvSpPr>
          <p:cNvPr id="18" name="Shape 12"/>
          <p:cNvSpPr/>
          <p:nvPr/>
        </p:nvSpPr>
        <p:spPr>
          <a:xfrm>
            <a:off x="502920" y="4544568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0080" y="48371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20" name="Image 4" descr="/tmp/claude-0/-home-user-job-RAG/ef3eafce-311b-5f93-abd3-f923a7360240/scratchpad/pptx3/icons/checkcircle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484174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33272" y="4544568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«Тест» прогнан на утечках (ловятся) и на безобидных текстах (не ловятся)</a:t>
            </a:r>
            <a:endParaRPr lang="en-US" sz="1130" dirty="0"/>
          </a:p>
        </p:txBody>
      </p:sp>
      <p:sp>
        <p:nvSpPr>
          <p:cNvPr id="22" name="Shape 15"/>
          <p:cNvSpPr/>
          <p:nvPr/>
        </p:nvSpPr>
        <p:spPr>
          <a:xfrm>
            <a:off x="502920" y="5495544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640080" y="5788152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24" name="Image 5" descr="/tmp/claude-0/-home-user-job-RAG/ef3eafce-311b-5f93-abd3-f923a7360240/scratchpad/pptx3/icons/checkcirc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5792724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033272" y="5495544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Пороги выставлены в режиме «на проверку», не в автоблок</a:t>
            </a:r>
            <a:endParaRPr lang="en-US" sz="1130" dirty="0"/>
          </a:p>
        </p:txBody>
      </p:sp>
      <p:sp>
        <p:nvSpPr>
          <p:cNvPr id="26" name="Shape 18"/>
          <p:cNvSpPr/>
          <p:nvPr/>
        </p:nvSpPr>
        <p:spPr>
          <a:xfrm>
            <a:off x="6263640" y="1691640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400800" y="19842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28" name="Image 6" descr="/tmp/claude-0/-home-user-job-RAG/ef3eafce-311b-5f93-abd3-f923a7360240/scratchpad/pptx3/icons/checkcircle_nav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9944" y="1988820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793992" y="1691640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Ложные срабатывания заведены в «Негативные примеры»</a:t>
            </a:r>
            <a:endParaRPr lang="en-US" sz="1130" dirty="0"/>
          </a:p>
        </p:txBody>
      </p:sp>
      <p:sp>
        <p:nvSpPr>
          <p:cNvPr id="30" name="Shape 21"/>
          <p:cNvSpPr/>
          <p:nvPr/>
        </p:nvSpPr>
        <p:spPr>
          <a:xfrm>
            <a:off x="6263640" y="2642616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1" name="Shape 22"/>
          <p:cNvSpPr/>
          <p:nvPr/>
        </p:nvSpPr>
        <p:spPr>
          <a:xfrm>
            <a:off x="6400800" y="2935224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32" name="Image 7" descr="/tmp/claude-0/-home-user-job-RAG/ef3eafce-311b-5f93-abd3-f923a7360240/scratchpad/pptx3/icons/checkcircle_navy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9944" y="2939796"/>
            <a:ext cx="237744" cy="237744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6793992" y="2642616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Проверена доступность судьи</a:t>
            </a:r>
            <a:endParaRPr lang="en-US" sz="1130" dirty="0"/>
          </a:p>
        </p:txBody>
      </p:sp>
      <p:sp>
        <p:nvSpPr>
          <p:cNvPr id="34" name="Shape 24"/>
          <p:cNvSpPr/>
          <p:nvPr/>
        </p:nvSpPr>
        <p:spPr>
          <a:xfrm>
            <a:off x="6263640" y="3593592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5" name="Shape 25"/>
          <p:cNvSpPr/>
          <p:nvPr/>
        </p:nvSpPr>
        <p:spPr>
          <a:xfrm>
            <a:off x="6400800" y="3886200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36" name="Image 8" descr="/tmp/claude-0/-home-user-job-RAG/ef3eafce-311b-5f93-abd3-f923a7360240/scratchpad/pptx3/icons/checkcircle_navy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9944" y="3890772"/>
            <a:ext cx="237744" cy="23774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793992" y="359359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Собран регрессионный набор</a:t>
            </a:r>
            <a:endParaRPr lang="en-US" sz="1130" dirty="0"/>
          </a:p>
        </p:txBody>
      </p:sp>
      <p:sp>
        <p:nvSpPr>
          <p:cNvPr id="38" name="Shape 27"/>
          <p:cNvSpPr/>
          <p:nvPr/>
        </p:nvSpPr>
        <p:spPr>
          <a:xfrm>
            <a:off x="6263640" y="4544568"/>
            <a:ext cx="54406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9" name="Shape 28"/>
          <p:cNvSpPr/>
          <p:nvPr/>
        </p:nvSpPr>
        <p:spPr>
          <a:xfrm>
            <a:off x="6400800" y="4837176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40" name="Image 9" descr="/tmp/claude-0/-home-user-job-RAG/ef3eafce-311b-5f93-abd3-f923a7360240/scratchpad/pptx3/icons/checkcircle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9944" y="4841748"/>
            <a:ext cx="237744" cy="237744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6793992" y="4544568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Настроено наблюдение по «Журналу DLP»</a:t>
            </a:r>
            <a:endParaRPr lang="en-US" sz="1130" dirty="0"/>
          </a:p>
        </p:txBody>
      </p:sp>
      <p:sp>
        <p:nvSpPr>
          <p:cNvPr id="42" name="Text 3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43" name="Text 31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ДРУГОЙ РАКУРС ТОЙ ЖЕ ФУНКЦИИ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Аналитик-ориентированная версия: что она добавляет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file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Более ранняя инструкция (instrukciya-smyslovaya-proverka-kt.md) описывает ту же функцию для роли ИБ-аналитика, а не сотрудника ИБ. Она не дублирует операционную инструкцию — она добавляет то, чего там не было: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tmp/claude-0/-home-user-job-RAG/ef3eafce-311b-5f93-abd3-f923a7360240/scratchpad/pptx3/icons/scal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81178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2728" y="26334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 = матрица доступа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252728" y="30175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Категория — не просто группировка. По ней проверяется, каким контрагентам допустимы сведения данной категории. Ошибка в категории меняет результат проверки доступа.</a:t>
            </a:r>
            <a:endParaRPr lang="en-US" sz="1030" dirty="0"/>
          </a:p>
        </p:txBody>
      </p:sp>
      <p:sp>
        <p:nvSpPr>
          <p:cNvPr id="12" name="Shape 8"/>
          <p:cNvSpPr/>
          <p:nvPr/>
        </p:nvSpPr>
        <p:spPr>
          <a:xfrm>
            <a:off x="6263640" y="251460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46520" y="26974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tmp/claude-0/-home-user-job-RAG/ef3eafce-311b-5f93-abd3-f923a7360240/scratchpad/pptx3/icons/stamp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81178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13448" y="263347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Гриф во вложении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7013448" y="301752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читает колонтитулы приложенного DOCX и ищет гриф «Коммерческая тайна» / «Конфиденциально» — чем выше гриф, тем ближе решение к блокировке. Работает только для DOCX и только для колонтитулов — гриф таблицей, картинкой или в теле документа не распознаётся.</a:t>
            </a:r>
            <a:endParaRPr lang="en-US" sz="1030" dirty="0"/>
          </a:p>
        </p:txBody>
      </p:sp>
      <p:sp>
        <p:nvSpPr>
          <p:cNvPr id="17" name="Shape 12"/>
          <p:cNvSpPr/>
          <p:nvPr/>
        </p:nvSpPr>
        <p:spPr>
          <a:xfrm>
            <a:off x="502920" y="44348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580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3" descr="/tmp/claude-0/-home-user-job-RAG/ef3eafce-311b-5f93-abd3-f923a7360240/scratchpad/pptx3/icons/networ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7320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52728" y="45537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Структурные шаблоны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1252728" y="493776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Строгие форматы (номера договоров, внутренние коды) описываются отдельно — система узнаёт их по форме записи, без обучения на примерах.</a:t>
            </a:r>
            <a:endParaRPr lang="en-US" sz="1030" dirty="0"/>
          </a:p>
        </p:txBody>
      </p:sp>
      <p:sp>
        <p:nvSpPr>
          <p:cNvPr id="22" name="Shape 16"/>
          <p:cNvSpPr/>
          <p:nvPr/>
        </p:nvSpPr>
        <p:spPr>
          <a:xfrm>
            <a:off x="6263640" y="443484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46520" y="46177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4" name="Image 4" descr="/tmp/claude-0/-home-user-job-RAG/ef3eafce-311b-5f93-abd3-f923a7360240/scratchpad/pptx3/icons/ba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0820" y="4732020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13448" y="4553712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Чёрный список ≠ блокировка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7013448" y="493776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Явно разведены два разных действия: если сведения нельзя пропускать вовсе — им место в Базе (блокировка); если пропускать можно, но наименование упоминать нельзя — в чёрный список (маскировка).</a:t>
            </a:r>
            <a:endParaRPr lang="en-US" sz="1030" dirty="0"/>
          </a:p>
        </p:txBody>
      </p:sp>
      <p:sp>
        <p:nvSpPr>
          <p:cNvPr id="27" name="Text 2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независимых журнала аудита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history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9164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/tmp/claude-0/-home-user-job-RAG/ef3eafce-311b-5f93-abd3-f923a7360240/scratchpad/pptx3/icons/usershiel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21" y="204094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62456" y="1947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5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pii_audit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362456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LLM-сессии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31520" y="27432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 пользователя, вызовы инструментов, факт и объём маскирования персональных данных. Просмотр — «Журнал LLM-сессий».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4297680" y="169164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/tmp/claude-0/-home-user-job-RAG/ef3eafce-311b-5f93-abd3-f923a7360240/scratchpad/pptx3/icons/gavel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81" y="2040941"/>
            <a:ext cx="261518" cy="26151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157216" y="1947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5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admin_audit_log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157216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Привилегированные действия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4526280" y="27432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Операции администраторов и куратора данных: создание/деактивация учётных записей, изменение политик, согласования. Поля: оператор, действие, объект, время, значения до/после.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8092440" y="169164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21040" y="19202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tmp/claude-0/-home-user-job-RAG/ef3eafce-311b-5f93-abd3-f923a7360240/scratchpad/pptx3/icons/terminal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741" y="2040941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951976" y="194767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5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sql_audit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8951976" y="21945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SQL-запросы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321040" y="274320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Сгенерированные SQL-запросы к источникам: пользователь, таблицы и колонки, длительность, результат.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02920" y="4572000"/>
            <a:ext cx="11201400" cy="1280160"/>
          </a:xfrm>
          <a:prstGeom prst="roundRect">
            <a:avLst>
              <a:gd name="adj" fmla="val 5714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77240" y="4727448"/>
            <a:ext cx="10652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поля записи: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временная метка (UTC), пользователь и роль, тип и объект события, результат (успех / отказ / маскировано), контекст. Записи хранятся в PostgreSQL; доступ к журналу ограничен ролью администратора ИБ.
</a:t>
            </a:r>
            <a:pPr indent="0" marL="0">
              <a:lnSpc>
                <a:spcPct val="1220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Экспорт: </a:t>
            </a:r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CSV, JSON. Для регулятора или SIEM рекомендуется JSON; формат для SIEM — CEF или JSON (ECS) через syslog/HTTP, с очередью повторных попыток.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РЕАГИРОВАНИЕ НА ИНЦИДЕНТЫ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Три сценария и порядок действий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tmp/claude-0/-home-user-job-RAG/ef3eafce-311b-5f93-abd3-f923a7360240/scratchpad/pptx3/icons/ambulanc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920240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1" descr="/tmp/claude-0/-home-user-job-RAG/ef3eafce-311b-5f93-abd3-f923a7360240/scratchpad/pptx3/icons/usersslash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804" y="2047524"/>
            <a:ext cx="275783" cy="2757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606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Компрометация учётной записи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31520" y="3291840"/>
            <a:ext cx="3154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Заблокировать немедленно → проверить активность за 7 дней → экспортировать журнал аудита, передать в службу ИБ → разблокировать со сбросом пароля (если не подтвердилось) или оставить заблокированной и завести новую (если подтвердилось).</a:t>
            </a:r>
            <a:endParaRPr lang="en-US" sz="1030" dirty="0"/>
          </a:p>
        </p:txBody>
      </p:sp>
      <p:sp>
        <p:nvSpPr>
          <p:cNvPr id="11" name="Shape 7"/>
          <p:cNvSpPr/>
          <p:nvPr/>
        </p:nvSpPr>
        <p:spPr>
          <a:xfrm>
            <a:off x="429768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920240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3" name="Image 2" descr="/tmp/claude-0/-home-user-job-RAG/ef3eafce-311b-5f93-abd3-f923a7360240/scratchpad/pptx3/icons/search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3564" y="2047524"/>
            <a:ext cx="275783" cy="27578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6280" y="2606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Утечка через поиск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526280" y="3291840"/>
            <a:ext cx="3154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Признаки: аномально много обращений к коллекции, запросы «перечисли все записи». Проверить журнал доступа → временно отозвать доступ к коллекции → проверить журнал маскирования PII Shield → эскалировать; при подтверждённой утечке ПДн — уведомить Роскомнадзор в течение 24 часов (ФЗ-152, требование закона).</a:t>
            </a:r>
            <a:endParaRPr lang="en-US" sz="1030" dirty="0"/>
          </a:p>
        </p:txBody>
      </p:sp>
      <p:sp>
        <p:nvSpPr>
          <p:cNvPr id="16" name="Shape 11"/>
          <p:cNvSpPr/>
          <p:nvPr/>
        </p:nvSpPr>
        <p:spPr>
          <a:xfrm>
            <a:off x="8092440" y="169164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321040" y="1920240"/>
            <a:ext cx="530352" cy="53035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8" name="Image 3" descr="/tmp/claude-0/-home-user-job-RAG/ef3eafce-311b-5f93-abd3-f923a7360240/scratchpad/pptx3/icons/bu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8324" y="2047524"/>
            <a:ext cx="275783" cy="27578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21040" y="26060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Внедрение инструкций (prompt injection)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8321040" y="3291840"/>
            <a:ext cx="3154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03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Признаки: «забудь предыдущие инструкции», «действуй как», попытки выяснить системный промпт. Найти по ключевым словам в аудите → заблокировать при подтверждении → передать команде поддержки платформы для анализа обхода защит.</a:t>
            </a:r>
            <a:endParaRPr lang="en-US" sz="1030" dirty="0"/>
          </a:p>
        </p:txBody>
      </p:sp>
      <p:sp>
        <p:nvSpPr>
          <p:cNvPr id="21" name="Text 1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РЕАГИРОВАНИЕ НА ИНЦИДЕНТЫ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Классификация по серьёзности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5" name="Image 0" descr="/tmp/claude-0/-home-user-job-RAG/ef3eafce-311b-5f93-abd3-f923a7360240/scratchpad/pptx3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286000" y="1463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произошло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780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делать сразу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02920" y="173736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061972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C0392B"/>
          </a:solidFill>
          <a:ln/>
        </p:spPr>
      </p:sp>
      <p:sp>
        <p:nvSpPr>
          <p:cNvPr id="11" name="Text 8"/>
          <p:cNvSpPr/>
          <p:nvPr/>
        </p:nvSpPr>
        <p:spPr>
          <a:xfrm>
            <a:off x="685800" y="20619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Критический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286000" y="182880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Несанкционированный доступ к данным, утечка персональных данных, взлом учётной записи администратора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7178040" y="182880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Немедленно изолировать платформу, сообщить руководителю ИБ, запустить план реагирования, уведомление Роскомнадзора за 24 часа при подтверждённой утечке ПДн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502920" y="2898648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223260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B7791F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322326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Высокий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286000" y="2990088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Подозрительное поведение ассистента, аномальные запросы, сбои входа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7178040" y="299008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 журнал, заблокировать подозрительную учётную запись, эскалировать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502920" y="4059936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4384548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438454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2286000" y="4151376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Ошибки доступа, предупреждения мониторинга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7178040" y="4151376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Разобрать метрики и журнал, сообщить администратору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502920" y="5221224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5545836"/>
            <a:ext cx="1371600" cy="402336"/>
          </a:xfrm>
          <a:prstGeom prst="roundRect">
            <a:avLst>
              <a:gd name="adj" fmla="val 18182"/>
            </a:avLst>
          </a:prstGeom>
          <a:solidFill>
            <a:srgbClr val="6E7591"/>
          </a:solidFill>
          <a:ln/>
        </p:spPr>
      </p:sp>
      <p:sp>
        <p:nvSpPr>
          <p:cNvPr id="26" name="Text 23"/>
          <p:cNvSpPr/>
          <p:nvPr/>
        </p:nvSpPr>
        <p:spPr>
          <a:xfrm>
            <a:off x="685800" y="554583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Низкий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2286000" y="5312664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Технические сбои без признаков атаки</a:t>
            </a:r>
            <a:endParaRPr lang="en-US" sz="1080" dirty="0"/>
          </a:p>
        </p:txBody>
      </p:sp>
      <p:sp>
        <p:nvSpPr>
          <p:cNvPr id="28" name="Text 25"/>
          <p:cNvSpPr/>
          <p:nvPr/>
        </p:nvSpPr>
        <p:spPr>
          <a:xfrm>
            <a:off x="7178040" y="5312664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Обычная процедура устранения неполадок</a:t>
            </a:r>
            <a:endParaRPr lang="en-US" sz="1080" dirty="0"/>
          </a:p>
        </p:txBody>
      </p:sp>
      <p:sp>
        <p:nvSpPr>
          <p:cNvPr id="29" name="Text 26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ТРЕБОВАНИЯМ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ФСТЭК: приказы №17/21 — коротко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tmp/claude-0/-home-user-job-RAG/ef3eafce-311b-5f93-abd3-f923a7360240/scratchpad/pptx3/icons/certificat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выполнена для базового набора мер КС2/УЗ-3. ✓ — реализовано полностью; ~ — частично, нужны меры на стороне клиента; — — не применимо к платформе.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02920" y="228600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2368296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368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325880" y="228600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УПД.3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240280" y="228600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Разграничение доступа к информации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80760" y="228600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Коллекция = граница доступа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02920" y="2999232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85800" y="3081528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15" name="Text 12"/>
          <p:cNvSpPr/>
          <p:nvPr/>
        </p:nvSpPr>
        <p:spPr>
          <a:xfrm>
            <a:off x="685800" y="3081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25880" y="2999232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ЗИС.8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240280" y="2999232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передаваемой информации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080760" y="2999232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Маскирование в ответах + журналирование передачи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02920" y="3712464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3794760"/>
            <a:ext cx="457200" cy="457200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25880" y="3712464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АУД.9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2240280" y="3712464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действий с персональными данными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080760" y="3712464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Полная трассировка + интеграция с внешней SIEM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02920" y="4425696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5800" y="4507992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27" name="Text 24"/>
          <p:cNvSpPr/>
          <p:nvPr/>
        </p:nvSpPr>
        <p:spPr>
          <a:xfrm>
            <a:off x="68580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1325880" y="4425696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ИАФ.2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2240280" y="4425696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Идентификация и аутентификация устройств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080760" y="4425696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по IP/сети; аппаратная аутентификация не реализована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502920" y="5138928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85800" y="5221224"/>
            <a:ext cx="457200" cy="457200"/>
          </a:xfrm>
          <a:prstGeom prst="ellipse">
            <a:avLst/>
          </a:prstGeom>
          <a:solidFill>
            <a:srgbClr val="B7791F"/>
          </a:solidFill>
          <a:ln/>
        </p:spPr>
      </p:sp>
      <p:sp>
        <p:nvSpPr>
          <p:cNvPr id="33" name="Text 30"/>
          <p:cNvSpPr/>
          <p:nvPr/>
        </p:nvSpPr>
        <p:spPr>
          <a:xfrm>
            <a:off x="685800" y="5221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325880" y="5138928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УПД.6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2240280" y="5138928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Ограничение неуспешных попыток входа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080760" y="5138928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Реализовано, порог настраивается на стороне клиента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502920" y="5852160"/>
            <a:ext cx="1120140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685800" y="5934456"/>
            <a:ext cx="457200" cy="457200"/>
          </a:xfrm>
          <a:prstGeom prst="ellipse">
            <a:avLst/>
          </a:prstGeom>
          <a:solidFill>
            <a:srgbClr val="6E7591"/>
          </a:solidFill>
          <a:ln/>
        </p:spPr>
      </p:sp>
      <p:sp>
        <p:nvSpPr>
          <p:cNvPr id="39" name="Text 36"/>
          <p:cNvSpPr/>
          <p:nvPr/>
        </p:nvSpPr>
        <p:spPr>
          <a:xfrm>
            <a:off x="685800" y="5934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1325880" y="5852160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ЗНИ.5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2240280" y="5852160"/>
            <a:ext cx="3749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съёмных носителей</a:t>
            </a:r>
            <a:endParaRPr lang="en-US" sz="1100" dirty="0"/>
          </a:p>
        </p:txBody>
      </p:sp>
      <p:sp>
        <p:nvSpPr>
          <p:cNvPr id="42" name="Text 39"/>
          <p:cNvSpPr/>
          <p:nvPr/>
        </p:nvSpPr>
        <p:spPr>
          <a:xfrm>
            <a:off x="6080760" y="5852160"/>
            <a:ext cx="5486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 периметра платформы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ОТВЕТСТВЕННОСТЬ КЛИЕНТА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Остаточные риски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1018520" y="384048"/>
            <a:ext cx="777240" cy="777240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5" name="Image 0" descr="/tmp/claude-0/-home-user-job-RAG/ef3eafce-311b-5f93-abd3-f923a7360240/scratchpad/pptx3/icons/warnin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12830" y="578358"/>
            <a:ext cx="388620" cy="3886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00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является недостатком платформы, но требует явного закрепления в договорных документах.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02920" y="214884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512" y="2313432"/>
            <a:ext cx="420624" cy="42062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9" name="Image 1" descr="/tmp/claude-0/-home-user-job-RAG/ef3eafce-311b-5f93-abd3-f923a7360240/scratchpad/pptx3/icons/database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2418588"/>
            <a:ext cx="210312" cy="210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2768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 на носителях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85800" y="280720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 томов, политика безопасного уничтожения носителей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297680" y="214884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462272" y="2313432"/>
            <a:ext cx="420624" cy="42062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4" name="Image 2" descr="/tmp/claude-0/-home-user-job-RAG/ef3eafce-311b-5f93-abd3-f923a7360240/scratchpad/pptx3/icons/ambulanc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7428" y="2418588"/>
            <a:ext cx="210312" cy="21031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83480" y="22768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от DoS/DDoS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4480560" y="280720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Средства сетевой инфраструктуры клиента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8092440" y="214884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57032" y="2313432"/>
            <a:ext cx="420624" cy="42062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19" name="Image 3" descr="/tmp/claude-0/-home-user-job-RAG/ef3eafce-311b-5f93-abd3-f923a7360240/scratchpad/pptx3/icons/bu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188" y="2418588"/>
            <a:ext cx="210312" cy="21031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78240" y="227685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Антивирусная защита хостов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8275320" y="280720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EDR/антивирус на хостах, сканирование образов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02920" y="37947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67512" y="3959352"/>
            <a:ext cx="420624" cy="42062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4" name="Image 4" descr="/tmp/claude-0/-home-user-job-RAG/ef3eafce-311b-5f93-abd3-f923a7360240/scratchpad/pptx3/icons/folder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4064508"/>
            <a:ext cx="210312" cy="2103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88720" y="3922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 резервных копий</a:t>
            </a: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685800" y="445312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 архивов перед размещением на резервных носителях</a:t>
            </a:r>
            <a:endParaRPr lang="en-US" sz="950" dirty="0"/>
          </a:p>
        </p:txBody>
      </p:sp>
      <p:sp>
        <p:nvSpPr>
          <p:cNvPr id="27" name="Shape 20"/>
          <p:cNvSpPr/>
          <p:nvPr/>
        </p:nvSpPr>
        <p:spPr>
          <a:xfrm>
            <a:off x="4297680" y="37947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462272" y="3959352"/>
            <a:ext cx="420624" cy="42062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29" name="Image 5" descr="/tmp/claude-0/-home-user-job-RAG/ef3eafce-311b-5f93-abd3-f923a7360240/scratchpad/pptx3/icons/userscog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67428" y="4064508"/>
            <a:ext cx="210312" cy="21031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83480" y="3922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Обучение персонала ИБ</a:t>
            </a:r>
            <a:endParaRPr lang="en-US" sz="1150" dirty="0"/>
          </a:p>
        </p:txBody>
      </p:sp>
      <p:sp>
        <p:nvSpPr>
          <p:cNvPr id="31" name="Text 23"/>
          <p:cNvSpPr/>
          <p:nvPr/>
        </p:nvSpPr>
        <p:spPr>
          <a:xfrm>
            <a:off x="4480560" y="445312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Инструктаж сотрудников по работе с персональными данными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8092440" y="3794760"/>
            <a:ext cx="3611880" cy="1463040"/>
          </a:xfrm>
          <a:prstGeom prst="roundRect">
            <a:avLst>
              <a:gd name="adj" fmla="val 5000"/>
            </a:avLst>
          </a:prstGeom>
          <a:solidFill>
            <a:srgbClr val="EEF3FC"/>
          </a:solidFill>
          <a:ln w="12700">
            <a:solidFill>
              <a:srgbClr val="D9E1F2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257032" y="3959352"/>
            <a:ext cx="420624" cy="420624"/>
          </a:xfrm>
          <a:prstGeom prst="ellipse">
            <a:avLst/>
          </a:prstGeom>
          <a:solidFill>
            <a:srgbClr val="B7791F"/>
          </a:solidFill>
          <a:ln/>
        </p:spPr>
      </p:sp>
      <p:pic>
        <p:nvPicPr>
          <p:cNvPr id="34" name="Image 6" descr="/tmp/claude-0/-home-user-job-RAG/ef3eafce-311b-5f93-abd3-f923a7360240/scratchpad/pptx3/icons/cloudupload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2188" y="4064508"/>
            <a:ext cx="210312" cy="210312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778240" y="39227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41B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обхода периметра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8275320" y="445312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4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Прямые обращения к внешним LLM в обход платформы — задача файрвола/веб-фильтра клиента, не функция платформы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38" name="Text 29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5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ЧАСТИ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тезисы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0" y="411480"/>
            <a:ext cx="777240" cy="777240"/>
          </a:xfrm>
          <a:prstGeom prst="ellipse">
            <a:avLst/>
          </a:prstGeom>
          <a:solidFill>
            <a:srgbClr val="232E6E"/>
          </a:solidFill>
          <a:ln/>
        </p:spPr>
      </p:sp>
      <p:pic>
        <p:nvPicPr>
          <p:cNvPr id="5" name="Image 0" descr="/tmp/claude-0/-home-user-job-RAG/ef3eafce-311b-5f93-abd3-f923a7360240/scratchpad/pptx3/icons/star_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9338" y="598018"/>
            <a:ext cx="404165" cy="40416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7" name="Image 1" descr="/tmp/claude-0/-home-user-job-RAG/ef3eafce-311b-5f93-abd3-f923a7360240/scratchpad/pptx3/icons/layers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1" y="1858061"/>
            <a:ext cx="261518" cy="2615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66420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слоя, не один: точные паттерны, NER по контексту и смысловая проверка вместе перекрывают то, что каждый слой в одиночку пропустил бы.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670048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0" name="Image 2" descr="/tmp/claude-0/-home-user-job-RAG/ef3eafce-311b-5f93-abd3-f923a7360240/scratchpad/pptx3/icons/exclamcircl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1" y="2790749"/>
            <a:ext cx="261518" cy="26151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596896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GLiNER + LoRA — направление, не функция: дообучение NER под терминологию заказчика архитектурно возможно, но сегодня — только заготовки.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3602736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3" descr="/tmp/claude-0/-home-user-job-RAG/ef3eafce-311b-5f93-abd3-f923a7360240/scratchpad/pptx3/icons/gavel_nav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3723437"/>
            <a:ext cx="261518" cy="26151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529584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PASS/REVIEW/BLOCK — не автоматика на полном доверии: REVIEW всегда требует человека, а автоблокировку включают только после недель наблюдения.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548640" y="4535424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4" descr="/tmp/claude-0/-home-user-job-RAG/ef3eafce-311b-5f93-abd3-f923a7360240/scratchpad/pptx3/icons/sync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1" y="4656125"/>
            <a:ext cx="261518" cy="26151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34440" y="4462272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— это цикл: загрузили → протестировали → понаблюдали → настроили, повторяется постоянно, а не один раз при внедрении.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548640" y="5468112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9" name="Image 5" descr="/tmp/claude-0/-home-user-job-RAG/ef3eafce-311b-5f93-abd3-f923a7360240/scratchpad/pptx3/icons/scale_nav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1" y="5588813"/>
            <a:ext cx="261518" cy="26151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234440" y="53949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Персональные данные и коммерческая тайна — разные системы: PII Shield автоматичен и обязателен; База секретов — с решением человека в спорных случаях.</a:t>
            </a:r>
            <a:endParaRPr lang="en-US" sz="1400" dirty="0"/>
          </a:p>
        </p:txBody>
      </p:sp>
      <p:sp>
        <p:nvSpPr>
          <p:cNvPr id="21" name="Text 13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22" name="Text 14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097280"/>
            <a:ext cx="4206240" cy="420624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0"/>
            <a:ext cx="1280160" cy="12801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4" name="Image 0" descr="/tmp/claude-0/-home-user-job-RAG/ef3eafce-311b-5f93-abd3-f923a7360240/scratchpad/pptx3/icons/userscog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6436" y="288036"/>
            <a:ext cx="704088" cy="7040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В ЦИКЛЕ · ЧАСТЬ 4 ИЗ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Домены и доступ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40080" y="3063240"/>
            <a:ext cx="10058400" cy="2011680"/>
          </a:xfrm>
          <a:prstGeom prst="roundRect">
            <a:avLst>
              <a:gd name="adj" fmla="val 3636"/>
            </a:avLst>
          </a:prstGeom>
          <a:solidFill>
            <a:srgbClr val="232E6E"/>
          </a:solidFill>
          <a:ln w="12700">
            <a:solidFill>
              <a:srgbClr val="232E6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246120"/>
            <a:ext cx="9509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Маскирование защищает ЧТО модель видит.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 разобрала PII Shield и DLP — как система скрывает и блокирует чувствительное содержимое в ответах и запросах.
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Домены и доступ защищают КОМУ вообще доступен документ.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6DE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4 разберёт коллекции, построчную фильтрацию (OPA/Rego) и разграничение прав — независимую ось защиты, которая работает ещё до того, как PII Shield успевает что-либо замаскировать.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4008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9AA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Ключевой принцип, который свяжет части 3 и 4: разграничение доступа применяется ДО обезличивания — замаскированный ответ по записи, к которой у пользователя нет доступа, тоже нарушение.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E9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Часть 3/5 — Защита данных: PII Shield и DLP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457432" y="6547104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E97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2026-08-28T19:53:11Z</dcterms:created>
  <dcterms:modified xsi:type="dcterms:W3CDTF">2026-08-28T19:53:11Z</dcterms:modified>
</cp:coreProperties>
</file>