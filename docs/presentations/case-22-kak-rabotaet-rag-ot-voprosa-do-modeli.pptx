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Обучающая презентация о механизме RAG. Не коммерческое предложение — разбор того, как устроен путь от вопроса до промпта.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Опорная схема презентации. Все следующие слайды разворачивают шаги 3-5.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Ключевая мысль: нарезка происходит заранее, при загрузке. Размеры фрагментов — иллюстративные.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Легенда визуального языка: документ / извлечённый фрагмент / промпт. Дальше эти три фигуры повторяются в обоих примерах.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Шаги 1-3 на реальных данных. Документ короткий, поэтому фрагмент = документ целиком.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Показать: маскируется то, что уходит наружу. Дефекты PHONE_1 и PERSON_2 — известные, разобраны в case-16, здесь только упоминание.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Главное: то, что модель видит, — это один текст из трёх частей.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Деанонимизация происходит в ответе сотруднику, а не в том, что ушло наружу.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Подготовка ко второму примеру: показать документ целиком и вопрос до извлечения.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визуальный контраст: три серых раздела и один зелёный. Серые в модель не уходили.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Механизмы задокументированы в kalibrovka-politiki-poiska.md: политики ранжирования, планировщик/реплан, роутинг.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Третий путь контекста: роутинг отправляет вопрос не в векторный поиск, а в SQL. Trino — движок кросс-БД запросов.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контраст: контекст — строка таблицы, а не фрагмент текста. Маскирование ФИО работает и здесь.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Самый важный слайд новой части: RAG-поиск и SQL-запрос — оба «способ положить контекст в промпт», но принципы разные.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Список форматов снят с исходного кода страницы платформы — атрибут accept у input[type=file].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баг, а решение: чат-вложение синхронно, индексация коллекции — асинхронна и всё равно извлекает текст.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Реально наблюдавшийся отказ роли default_multimodal и вводящее в заблуждение сообщение об истёкшей сессии.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Сводная карта. К ней удобно возвращаться: четыре пути, два выбираются роутингом, два — самим пользователем.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вывода: маскирование на выходе наружу; качество ответа определяется извлечением.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Итоговая опорная страница — та же схема, что на слайде 2, но третий шаг теперь охватывает все четыре пути контекста.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42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9144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60" kern="0" dirty="0">
                <a:solidFill>
                  <a:srgbClr val="84B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Обучающий разбор механизма · пилот «Камерата»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71600"/>
            <a:ext cx="9509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работает RAG: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 вопроса до промпта модели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8D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именно происходит между вопросом сотрудника в чате и ответом модели: как документы превращаются во фрагменты, как поиск выбирает нужные, где стоит маскирование персональных данных — и какими ещё путями контекст попадает в промпт: строкой таблицы, приложенным к сообщению файлом, распознанной картинкой.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4892040"/>
            <a:ext cx="420624" cy="420624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502920" y="48920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33272" y="489204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6E5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 rot="5400000">
            <a:off x="1984248" y="5029200"/>
            <a:ext cx="146304" cy="146304"/>
          </a:xfrm>
          <a:prstGeom prst="triangle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23160" y="4892040"/>
            <a:ext cx="420624" cy="420624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423160" y="48920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953512" y="489204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6E5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 rot="5400000">
            <a:off x="3904488" y="5029200"/>
            <a:ext cx="146304" cy="146304"/>
          </a:xfrm>
          <a:prstGeom prst="triangle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43400" y="4892040"/>
            <a:ext cx="420624" cy="420624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343400" y="48920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73752" y="489204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6E5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 rot="5400000">
            <a:off x="5824728" y="5029200"/>
            <a:ext cx="146304" cy="146304"/>
          </a:xfrm>
          <a:prstGeom prst="triangle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63640" y="4892040"/>
            <a:ext cx="420624" cy="420624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263640" y="48920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793992" y="489204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6E5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rot="5400000">
            <a:off x="7744968" y="5029200"/>
            <a:ext cx="146304" cy="146304"/>
          </a:xfrm>
          <a:prstGeom prst="triangle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83880" y="4892040"/>
            <a:ext cx="420624" cy="420624"/>
          </a:xfrm>
          <a:prstGeom prst="ellipse">
            <a:avLst/>
          </a:prstGeom>
          <a:solidFill>
            <a:srgbClr val="84B59F"/>
          </a:solidFill>
          <a:ln w="12700">
            <a:solidFill>
              <a:srgbClr val="84B59F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183880" y="48920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714232" y="489204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6E5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580644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Сентябрь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Весь механизм в одной картинке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41832"/>
            <a:ext cx="11185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шагов, которые проходит каждый вопрос сотрудника. Всё остальное в этой презентации — подробности одного из них.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920240"/>
            <a:ext cx="2011680" cy="3154680"/>
          </a:xfrm>
          <a:prstGeom prst="roundRect">
            <a:avLst>
              <a:gd name="adj" fmla="val 4091"/>
            </a:avLst>
          </a:prstGeom>
          <a:solidFill>
            <a:srgbClr val="FBFCFB"/>
          </a:solidFill>
          <a:ln w="12700">
            <a:solidFill>
              <a:srgbClr val="D3E0D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80160" y="1691640"/>
            <a:ext cx="457200" cy="457200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2801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9224" y="2304288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Вопрос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49224" y="2871216"/>
            <a:ext cx="171907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 задаёт вопрос в чате обычными словами — без ключевых слов и синтаксиса поиска.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 rot="5400000">
            <a:off x="2551176" y="3396996"/>
            <a:ext cx="201168" cy="201168"/>
          </a:xfrm>
          <a:prstGeom prst="triangle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88920" y="1920240"/>
            <a:ext cx="2011680" cy="3154680"/>
          </a:xfrm>
          <a:prstGeom prst="roundRect">
            <a:avLst>
              <a:gd name="adj" fmla="val 4091"/>
            </a:avLst>
          </a:prstGeom>
          <a:solidFill>
            <a:srgbClr val="FBFCFB"/>
          </a:solidFill>
          <a:ln w="12700">
            <a:solidFill>
              <a:srgbClr val="D3E0D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66160" y="1691640"/>
            <a:ext cx="457200" cy="457200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661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35224" y="2304288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Вектор вопроса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2935224" y="2871216"/>
            <a:ext cx="171907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превращается в набор чисел — «отпечаток смысла» (эмбеддинг).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 rot="5400000">
            <a:off x="4837176" y="3396996"/>
            <a:ext cx="201168" cy="201168"/>
          </a:xfrm>
          <a:prstGeom prst="triangle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74920" y="1920240"/>
            <a:ext cx="2011680" cy="3154680"/>
          </a:xfrm>
          <a:prstGeom prst="roundRect">
            <a:avLst>
              <a:gd name="adj" fmla="val 4091"/>
            </a:avLst>
          </a:prstGeom>
          <a:solidFill>
            <a:srgbClr val="FBFCFB"/>
          </a:solidFill>
          <a:ln w="12700">
            <a:solidFill>
              <a:srgbClr val="D3E0D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852160" y="1691640"/>
            <a:ext cx="457200" cy="457200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8521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221224" y="2304288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Поиск фрагментов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5221224" y="2871216"/>
            <a:ext cx="171907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 ищет в векторной базе фрагменты документов, ближайшие по смыслу к этому отпечатку.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 rot="5400000">
            <a:off x="7123176" y="3396996"/>
            <a:ext cx="201168" cy="201168"/>
          </a:xfrm>
          <a:prstGeom prst="triangle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60920" y="1920240"/>
            <a:ext cx="2011680" cy="3154680"/>
          </a:xfrm>
          <a:prstGeom prst="roundRect">
            <a:avLst>
              <a:gd name="adj" fmla="val 4091"/>
            </a:avLst>
          </a:prstGeom>
          <a:solidFill>
            <a:srgbClr val="FBFCFB"/>
          </a:solidFill>
          <a:ln w="12700">
            <a:solidFill>
              <a:srgbClr val="D3E0D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38160" y="1691640"/>
            <a:ext cx="457200" cy="457200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1381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507224" y="2304288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Сборка промпта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7507224" y="2871216"/>
            <a:ext cx="171907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Несколько лучших фрагментов подставляются в промпт рядом с вопросом и инструкцией.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 rot="5400000">
            <a:off x="9409176" y="3396996"/>
            <a:ext cx="201168" cy="201168"/>
          </a:xfrm>
          <a:prstGeom prst="triangle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646920" y="1920240"/>
            <a:ext cx="2011680" cy="3154680"/>
          </a:xfrm>
          <a:prstGeom prst="roundRect">
            <a:avLst>
              <a:gd name="adj" fmla="val 4091"/>
            </a:avLst>
          </a:prstGeom>
          <a:solidFill>
            <a:srgbClr val="F1F6F3"/>
          </a:solidFill>
          <a:ln w="12700">
            <a:solidFill>
              <a:srgbClr val="84B59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424160" y="1691640"/>
            <a:ext cx="457200" cy="457200"/>
          </a:xfrm>
          <a:prstGeom prst="ellipse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104241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793224" y="2304288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Ответ модели</a:t>
            </a:r>
            <a:endParaRPr lang="en-US" sz="1450" dirty="0"/>
          </a:p>
        </p:txBody>
      </p:sp>
      <p:sp>
        <p:nvSpPr>
          <p:cNvPr id="32" name="Text 30"/>
          <p:cNvSpPr txBox="1"/>
          <p:nvPr/>
        </p:nvSpPr>
        <p:spPr>
          <a:xfrm>
            <a:off x="9793224" y="2871216"/>
            <a:ext cx="171907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отвечает, опираясь только на подставленные фрагменты, а не на всю базу знаний.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360920" y="5349240"/>
            <a:ext cx="4297680" cy="786384"/>
          </a:xfrm>
          <a:prstGeom prst="roundRect">
            <a:avLst>
              <a:gd name="adj" fmla="val 10465"/>
            </a:avLst>
          </a:prstGeom>
          <a:solidFill>
            <a:srgbClr val="F6EDE9"/>
          </a:solidFill>
          <a:ln w="12700">
            <a:solidFill>
              <a:srgbClr val="E2C7B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525512" y="5422392"/>
            <a:ext cx="3968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B05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Между 4 и 5: 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 отправкой во внешнюю модель персональные данные в собранном промпте заменяются на метки-плейсхолдеры.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02920" y="5349240"/>
            <a:ext cx="6583680" cy="786384"/>
          </a:xfrm>
          <a:prstGeom prst="roundRect">
            <a:avLst>
              <a:gd name="adj" fmla="val 10465"/>
            </a:avLst>
          </a:prstGeom>
          <a:solidFill>
            <a:srgbClr val="F1F6F3"/>
          </a:solidFill>
          <a:ln w="12700">
            <a:solidFill>
              <a:srgbClr val="D3E0D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7512" y="5422392"/>
            <a:ext cx="6254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Главное: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не «читает» базу знаний. Она видит ровно те несколько фрагментов, которые положил в промпт поиск.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Почему документы режут на фрагменты заранее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41832"/>
            <a:ext cx="11185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Индексация происходит один раз, при загрузке документа. В момент вопроса ничего не режется и не перечитывается — поиск идёт уже по готовым фрагментам.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664208"/>
            <a:ext cx="329184" cy="329184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02920" y="1664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6276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4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 целиком искать нечем.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190195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Отпечаток смысла у документа на 40 страниц — усреднённый и бесполезный: он «про всё сразу», а значит ни к какому конкретному вопросу не близок.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871216"/>
            <a:ext cx="329184" cy="329184"/>
          </a:xfrm>
          <a:prstGeom prst="ellipse">
            <a:avLst/>
          </a:prstGeom>
          <a:solidFill>
            <a:srgbClr val="84B59F"/>
          </a:solidFill>
          <a:ln w="12700">
            <a:solidFill>
              <a:srgbClr val="84B59F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02920" y="2871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2834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4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Фрагмент — это кусок связного текста.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3108960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Абзац, раздел, несколько предложений подряд. У каждого свой отдельный отпечаток смысла.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4078224"/>
            <a:ext cx="329184" cy="329184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02920" y="40782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0416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4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Фрагменты перекрываются.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4315968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Соседние куски берут внахлёст, чтобы мысль, разорванная границей фрагмента, не потерялась.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5285232"/>
            <a:ext cx="329184" cy="329184"/>
          </a:xfrm>
          <a:prstGeom prst="ellipse">
            <a:avLst/>
          </a:prstGeom>
          <a:solidFill>
            <a:srgbClr val="84B59F"/>
          </a:solidFill>
          <a:ln w="12700">
            <a:solidFill>
              <a:srgbClr val="84B59F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02920" y="52852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524865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4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промпт попадает горстка фрагментов.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5522976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документ, не раздел «на всякий случай» — только несколько ближайших по смыслу кусков.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72200" y="1645920"/>
            <a:ext cx="2103120" cy="3794760"/>
          </a:xfrm>
          <a:prstGeom prst="roundRect">
            <a:avLst>
              <a:gd name="adj" fmla="val 3913"/>
            </a:avLst>
          </a:prstGeom>
          <a:solidFill>
            <a:srgbClr val="FBFCFB"/>
          </a:solidFill>
          <a:ln w="12700">
            <a:solidFill>
              <a:srgbClr val="D3E0D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336792" y="1792224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Документ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36792" y="2212848"/>
            <a:ext cx="1773936" cy="50292"/>
          </a:xfrm>
          <a:prstGeom prst="roundRect">
            <a:avLst>
              <a:gd name="adj" fmla="val 49091"/>
            </a:avLst>
          </a:prstGeom>
          <a:solidFill>
            <a:srgbClr val="DCE5E1"/>
          </a:solidFill>
          <a:ln w="12700">
            <a:solidFill>
              <a:srgbClr val="DCE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36792" y="2377440"/>
            <a:ext cx="1773936" cy="50292"/>
          </a:xfrm>
          <a:prstGeom prst="roundRect">
            <a:avLst>
              <a:gd name="adj" fmla="val 49091"/>
            </a:avLst>
          </a:prstGeom>
          <a:solidFill>
            <a:srgbClr val="DCE5E1"/>
          </a:solidFill>
          <a:ln w="12700">
            <a:solidFill>
              <a:srgbClr val="DCE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36792" y="2542032"/>
            <a:ext cx="1773936" cy="50292"/>
          </a:xfrm>
          <a:prstGeom prst="roundRect">
            <a:avLst>
              <a:gd name="adj" fmla="val 49091"/>
            </a:avLst>
          </a:prstGeom>
          <a:solidFill>
            <a:srgbClr val="DCE5E1"/>
          </a:solidFill>
          <a:ln w="12700">
            <a:solidFill>
              <a:srgbClr val="DCE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36792" y="2706624"/>
            <a:ext cx="1097280" cy="50292"/>
          </a:xfrm>
          <a:prstGeom prst="roundRect">
            <a:avLst>
              <a:gd name="adj" fmla="val 49091"/>
            </a:avLst>
          </a:prstGeom>
          <a:solidFill>
            <a:srgbClr val="DCE5E1"/>
          </a:solidFill>
          <a:ln w="12700">
            <a:solidFill>
              <a:srgbClr val="DCE5E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36792" y="2871216"/>
            <a:ext cx="1773936" cy="50292"/>
          </a:xfrm>
          <a:prstGeom prst="roundRect">
            <a:avLst>
              <a:gd name="adj" fmla="val 49091"/>
            </a:avLst>
          </a:prstGeom>
          <a:solidFill>
            <a:srgbClr val="DCE5E1"/>
          </a:solidFill>
          <a:ln w="12700">
            <a:solidFill>
              <a:srgbClr val="DCE5E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36792" y="3035808"/>
            <a:ext cx="1773936" cy="50292"/>
          </a:xfrm>
          <a:prstGeom prst="roundRect">
            <a:avLst>
              <a:gd name="adj" fmla="val 49091"/>
            </a:avLst>
          </a:prstGeom>
          <a:solidFill>
            <a:srgbClr val="DCE5E1"/>
          </a:solidFill>
          <a:ln w="12700">
            <a:solidFill>
              <a:srgbClr val="DCE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36792" y="3200400"/>
            <a:ext cx="1773936" cy="50292"/>
          </a:xfrm>
          <a:prstGeom prst="roundRect">
            <a:avLst>
              <a:gd name="adj" fmla="val 49091"/>
            </a:avLst>
          </a:prstGeom>
          <a:solidFill>
            <a:srgbClr val="DCE5E1"/>
          </a:solidFill>
          <a:ln w="12700">
            <a:solidFill>
              <a:srgbClr val="DCE5E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336792" y="3364992"/>
            <a:ext cx="1097280" cy="50292"/>
          </a:xfrm>
          <a:prstGeom prst="roundRect">
            <a:avLst>
              <a:gd name="adj" fmla="val 49091"/>
            </a:avLst>
          </a:prstGeom>
          <a:solidFill>
            <a:srgbClr val="DCE5E1"/>
          </a:solidFill>
          <a:ln w="12700">
            <a:solidFill>
              <a:srgbClr val="DCE5E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336792" y="3529584"/>
            <a:ext cx="1773936" cy="50292"/>
          </a:xfrm>
          <a:prstGeom prst="roundRect">
            <a:avLst>
              <a:gd name="adj" fmla="val 49091"/>
            </a:avLst>
          </a:prstGeom>
          <a:solidFill>
            <a:srgbClr val="DCE5E1"/>
          </a:solidFill>
          <a:ln w="12700">
            <a:solidFill>
              <a:srgbClr val="DCE5E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36792" y="3694176"/>
            <a:ext cx="1773936" cy="50292"/>
          </a:xfrm>
          <a:prstGeom prst="roundRect">
            <a:avLst>
              <a:gd name="adj" fmla="val 49091"/>
            </a:avLst>
          </a:prstGeom>
          <a:solidFill>
            <a:srgbClr val="DCE5E1"/>
          </a:solidFill>
          <a:ln w="12700">
            <a:solidFill>
              <a:srgbClr val="DCE5E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36792" y="3858768"/>
            <a:ext cx="1773936" cy="50292"/>
          </a:xfrm>
          <a:prstGeom prst="roundRect">
            <a:avLst>
              <a:gd name="adj" fmla="val 49091"/>
            </a:avLst>
          </a:prstGeom>
          <a:solidFill>
            <a:srgbClr val="DCE5E1"/>
          </a:solidFill>
          <a:ln w="12700">
            <a:solidFill>
              <a:srgbClr val="DCE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36792" y="4023360"/>
            <a:ext cx="1097280" cy="50292"/>
          </a:xfrm>
          <a:prstGeom prst="roundRect">
            <a:avLst>
              <a:gd name="adj" fmla="val 49091"/>
            </a:avLst>
          </a:prstGeom>
          <a:solidFill>
            <a:srgbClr val="DCE5E1"/>
          </a:solidFill>
          <a:ln w="12700">
            <a:solidFill>
              <a:srgbClr val="DCE5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36792" y="4187952"/>
            <a:ext cx="1773936" cy="50292"/>
          </a:xfrm>
          <a:prstGeom prst="roundRect">
            <a:avLst>
              <a:gd name="adj" fmla="val 49091"/>
            </a:avLst>
          </a:prstGeom>
          <a:solidFill>
            <a:srgbClr val="DCE5E1"/>
          </a:solidFill>
          <a:ln w="12700">
            <a:solidFill>
              <a:srgbClr val="DCE5E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36792" y="4352544"/>
            <a:ext cx="1773936" cy="50292"/>
          </a:xfrm>
          <a:prstGeom prst="roundRect">
            <a:avLst>
              <a:gd name="adj" fmla="val 49091"/>
            </a:avLst>
          </a:prstGeom>
          <a:solidFill>
            <a:srgbClr val="DCE5E1"/>
          </a:solidFill>
          <a:ln w="12700">
            <a:solidFill>
              <a:srgbClr val="DCE5E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36792" y="4517136"/>
            <a:ext cx="1773936" cy="50292"/>
          </a:xfrm>
          <a:prstGeom prst="roundRect">
            <a:avLst>
              <a:gd name="adj" fmla="val 49091"/>
            </a:avLst>
          </a:prstGeom>
          <a:solidFill>
            <a:srgbClr val="DCE5E1"/>
          </a:solidFill>
          <a:ln w="12700">
            <a:solidFill>
              <a:srgbClr val="DCE5E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36792" y="4681728"/>
            <a:ext cx="1097280" cy="50292"/>
          </a:xfrm>
          <a:prstGeom prst="roundRect">
            <a:avLst>
              <a:gd name="adj" fmla="val 49091"/>
            </a:avLst>
          </a:prstGeom>
          <a:solidFill>
            <a:srgbClr val="DCE5E1"/>
          </a:solidFill>
          <a:ln w="12700">
            <a:solidFill>
              <a:srgbClr val="DCE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36792" y="4846320"/>
            <a:ext cx="1773936" cy="50292"/>
          </a:xfrm>
          <a:prstGeom prst="roundRect">
            <a:avLst>
              <a:gd name="adj" fmla="val 49091"/>
            </a:avLst>
          </a:prstGeom>
          <a:solidFill>
            <a:srgbClr val="DCE5E1"/>
          </a:solidFill>
          <a:ln w="12700">
            <a:solidFill>
              <a:srgbClr val="DCE5E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36792" y="5010912"/>
            <a:ext cx="1773936" cy="50292"/>
          </a:xfrm>
          <a:prstGeom prst="roundRect">
            <a:avLst>
              <a:gd name="adj" fmla="val 49091"/>
            </a:avLst>
          </a:prstGeom>
          <a:solidFill>
            <a:srgbClr val="DCE5E1"/>
          </a:solidFill>
          <a:ln w="12700">
            <a:solidFill>
              <a:srgbClr val="DCE5E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336792" y="5175504"/>
            <a:ext cx="1773936" cy="50292"/>
          </a:xfrm>
          <a:prstGeom prst="roundRect">
            <a:avLst>
              <a:gd name="adj" fmla="val 49091"/>
            </a:avLst>
          </a:prstGeom>
          <a:solidFill>
            <a:srgbClr val="DCE5E1"/>
          </a:solidFill>
          <a:ln w="12700">
            <a:solidFill>
              <a:srgbClr val="DCE5E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430768" y="3401568"/>
            <a:ext cx="402336" cy="256032"/>
          </a:xfrm>
          <a:prstGeom prst="rightArrow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284464" y="3712464"/>
            <a:ext cx="676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800" i="1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нарезка</a:t>
            </a:r>
            <a:endParaRPr lang="en-US" sz="80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800" i="1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</a:t>
            </a:r>
            <a:endParaRPr lang="en-US" sz="80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800" i="1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индексации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9006840" y="1645920"/>
            <a:ext cx="2679192" cy="786384"/>
          </a:xfrm>
          <a:prstGeom prst="roundRect">
            <a:avLst>
              <a:gd name="adj" fmla="val 10465"/>
            </a:avLst>
          </a:prstGeom>
          <a:solidFill>
            <a:srgbClr val="F1F6F3"/>
          </a:solidFill>
          <a:ln w="12700">
            <a:solidFill>
              <a:srgbClr val="84B59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134856" y="17282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Фрагмент 1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9134856" y="196596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Общие положения…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134856" y="21762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9A2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[ 0.14  −0.62  0.09  … ]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9006840" y="2651760"/>
            <a:ext cx="2679192" cy="786384"/>
          </a:xfrm>
          <a:prstGeom prst="roundRect">
            <a:avLst>
              <a:gd name="adj" fmla="val 10465"/>
            </a:avLst>
          </a:prstGeom>
          <a:solidFill>
            <a:srgbClr val="F1F6F3"/>
          </a:solidFill>
          <a:ln w="12700">
            <a:solidFill>
              <a:srgbClr val="84B59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134856" y="27340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Фрагмент 2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9134856" y="297180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к…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9134856" y="318211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9A2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[ 0.14  −0.62  0.09  … ]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9006840" y="3657600"/>
            <a:ext cx="2679192" cy="786384"/>
          </a:xfrm>
          <a:prstGeom prst="roundRect">
            <a:avLst>
              <a:gd name="adj" fmla="val 10465"/>
            </a:avLst>
          </a:prstGeom>
          <a:solidFill>
            <a:srgbClr val="F1F6F3"/>
          </a:solidFill>
          <a:ln w="12700">
            <a:solidFill>
              <a:srgbClr val="84B59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134856" y="37398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Фрагмент 3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9134856" y="397764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расчёта…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9134856" y="418795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9A2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[ 0.14  −0.62  0.09  … ]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9006840" y="4663440"/>
            <a:ext cx="2679192" cy="786384"/>
          </a:xfrm>
          <a:prstGeom prst="roundRect">
            <a:avLst>
              <a:gd name="adj" fmla="val 10465"/>
            </a:avLst>
          </a:prstGeom>
          <a:solidFill>
            <a:srgbClr val="F1F6F3"/>
          </a:solidFill>
          <a:ln w="12700">
            <a:solidFill>
              <a:srgbClr val="84B59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134856" y="474573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Фрагмент 4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9134856" y="498348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Библиография…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134856" y="519379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9A2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[ 0.14  −0.62  0.09  … ]</a:t>
            </a:r>
            <a:endParaRPr lang="en-US" sz="800" dirty="0"/>
          </a:p>
        </p:txBody>
      </p:sp>
      <p:sp>
        <p:nvSpPr>
          <p:cNvPr id="59" name="Text 57"/>
          <p:cNvSpPr txBox="1"/>
          <p:nvPr/>
        </p:nvSpPr>
        <p:spPr>
          <a:xfrm>
            <a:off x="9006840" y="5541264"/>
            <a:ext cx="2679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i="1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каждого фрагмента —</a:t>
            </a:r>
            <a:endParaRPr lang="en-US" sz="9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00" i="1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свой отпечаток смысла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502920" y="6089904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иллюстративная. Точные параметры нарезки RAG-индекса платформы у нас не задокументированы; для базы секретов в документации платформы указано ~400 токенов на фрагмент с перекрытием 25% — порядок величины примерно такой же.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Пять слов и три фигуры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41832"/>
            <a:ext cx="11185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Слева — термины, которые дальше встретятся. Справа — условные обозначения, одинаковые на всех схемах этой презентации.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347472" cy="347472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02920" y="1645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78408" y="160934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44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Фрагмент (чанк)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978408" y="186537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Кусок документа, который индексируется и ищется как самостоятельная единица.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615184"/>
            <a:ext cx="347472" cy="347472"/>
          </a:xfrm>
          <a:prstGeom prst="ellipse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02920" y="2615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78408" y="25786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44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Эмбеддинг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978408" y="2834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Представление текста числами: близкие по смыслу тексты дают близкие наборы чисел.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3584448"/>
            <a:ext cx="347472" cy="347472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02920" y="3584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78408" y="354787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44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Векторная близость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978408" y="380390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Мера «насколько про одно и то же». Не совпадение слов — совпадение смысла.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4553712"/>
            <a:ext cx="347472" cy="347472"/>
          </a:xfrm>
          <a:prstGeom prst="ellipse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02920" y="45537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78408" y="451713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44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978408" y="477316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лучших фрагментов забрать из поиска в промпт. Обычно единицы, не десятки.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5522976"/>
            <a:ext cx="347472" cy="347472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502920" y="55229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78408" y="548640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44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978408" y="574243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Итоговый текст, который реально уходит в модель: инструкция + фрагменты + вопрос.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72200" y="1572768"/>
            <a:ext cx="5513832" cy="4572000"/>
          </a:xfrm>
          <a:prstGeom prst="roundRect">
            <a:avLst>
              <a:gd name="adj" fmla="val 1800"/>
            </a:avLst>
          </a:prstGeom>
          <a:solidFill>
            <a:srgbClr val="F1F6F3"/>
          </a:solidFill>
          <a:ln w="12700">
            <a:solidFill>
              <a:srgbClr val="D3E0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91656" y="17373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Условные обозначения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428232" y="2240280"/>
            <a:ext cx="1554480" cy="1143000"/>
          </a:xfrm>
          <a:prstGeom prst="roundRect">
            <a:avLst>
              <a:gd name="adj" fmla="val 7200"/>
            </a:avLst>
          </a:prstGeom>
          <a:solidFill>
            <a:srgbClr val="FBFCFB"/>
          </a:solidFill>
          <a:ln w="12700">
            <a:solidFill>
              <a:srgbClr val="D3E0D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537960" y="235000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44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537960" y="2651760"/>
            <a:ext cx="1335024" cy="50292"/>
          </a:xfrm>
          <a:prstGeom prst="roundRect">
            <a:avLst>
              <a:gd name="adj" fmla="val 49091"/>
            </a:avLst>
          </a:prstGeom>
          <a:solidFill>
            <a:srgbClr val="DCE5E1"/>
          </a:solidFill>
          <a:ln w="12700">
            <a:solidFill>
              <a:srgbClr val="DCE5E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537960" y="2779776"/>
            <a:ext cx="1335024" cy="50292"/>
          </a:xfrm>
          <a:prstGeom prst="roundRect">
            <a:avLst>
              <a:gd name="adj" fmla="val 49091"/>
            </a:avLst>
          </a:prstGeom>
          <a:solidFill>
            <a:srgbClr val="DCE5E1"/>
          </a:solidFill>
          <a:ln w="12700">
            <a:solidFill>
              <a:srgbClr val="DCE5E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37960" y="2907792"/>
            <a:ext cx="1335024" cy="50292"/>
          </a:xfrm>
          <a:prstGeom prst="roundRect">
            <a:avLst>
              <a:gd name="adj" fmla="val 49091"/>
            </a:avLst>
          </a:prstGeom>
          <a:solidFill>
            <a:srgbClr val="DCE5E1"/>
          </a:solidFill>
          <a:ln w="12700">
            <a:solidFill>
              <a:srgbClr val="DCE5E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37960" y="3035808"/>
            <a:ext cx="1335024" cy="50292"/>
          </a:xfrm>
          <a:prstGeom prst="roundRect">
            <a:avLst>
              <a:gd name="adj" fmla="val 49091"/>
            </a:avLst>
          </a:prstGeom>
          <a:solidFill>
            <a:srgbClr val="DCE5E1"/>
          </a:solidFill>
          <a:ln w="12700">
            <a:solidFill>
              <a:srgbClr val="DCE5E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37960" y="3163824"/>
            <a:ext cx="822960" cy="50292"/>
          </a:xfrm>
          <a:prstGeom prst="roundRect">
            <a:avLst>
              <a:gd name="adj" fmla="val 49091"/>
            </a:avLst>
          </a:prstGeom>
          <a:solidFill>
            <a:srgbClr val="DCE5E1"/>
          </a:solidFill>
          <a:ln w="12700">
            <a:solidFill>
              <a:srgbClr val="DCE5E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138160" y="22860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в базе знаний: белый лист с текстом.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28232" y="3611880"/>
            <a:ext cx="1554480" cy="868680"/>
          </a:xfrm>
          <a:prstGeom prst="roundRect">
            <a:avLst>
              <a:gd name="adj" fmla="val 9474"/>
            </a:avLst>
          </a:prstGeom>
          <a:solidFill>
            <a:srgbClr val="E7EFEA"/>
          </a:solidFill>
          <a:ln w="22225">
            <a:solidFill>
              <a:srgbClr val="84B59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537960" y="372160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Фрагмент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537960" y="4023360"/>
            <a:ext cx="1335024" cy="50292"/>
          </a:xfrm>
          <a:prstGeom prst="roundRect">
            <a:avLst>
              <a:gd name="adj" fmla="val 49091"/>
            </a:avLst>
          </a:prstGeom>
          <a:solidFill>
            <a:srgbClr val="DCE5E1"/>
          </a:solidFill>
          <a:ln w="12700">
            <a:solidFill>
              <a:srgbClr val="DCE5E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37960" y="4151376"/>
            <a:ext cx="1335024" cy="50292"/>
          </a:xfrm>
          <a:prstGeom prst="roundRect">
            <a:avLst>
              <a:gd name="adj" fmla="val 49091"/>
            </a:avLst>
          </a:prstGeom>
          <a:solidFill>
            <a:srgbClr val="DCE5E1"/>
          </a:solidFill>
          <a:ln w="12700">
            <a:solidFill>
              <a:srgbClr val="DCE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37960" y="4279392"/>
            <a:ext cx="822960" cy="50292"/>
          </a:xfrm>
          <a:prstGeom prst="roundRect">
            <a:avLst>
              <a:gd name="adj" fmla="val 49091"/>
            </a:avLst>
          </a:prstGeom>
          <a:solidFill>
            <a:srgbClr val="DCE5E1"/>
          </a:solidFill>
          <a:ln w="12700">
            <a:solidFill>
              <a:srgbClr val="DCE5E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55864" y="3950208"/>
            <a:ext cx="274320" cy="201168"/>
          </a:xfrm>
          <a:prstGeom prst="rightArrow">
            <a:avLst/>
          </a:prstGeom>
          <a:solidFill>
            <a:srgbClr val="84B59F"/>
          </a:solidFill>
          <a:ln w="12700">
            <a:solidFill>
              <a:srgbClr val="84B59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412480" y="36118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Извлечённый фрагмент: зелёная заливка, жирная рамка, стрелка — «его забрали в промпт».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428232" y="4709160"/>
            <a:ext cx="1554480" cy="868680"/>
          </a:xfrm>
          <a:prstGeom prst="roundRect">
            <a:avLst>
              <a:gd name="adj" fmla="val 7368"/>
            </a:avLst>
          </a:prstGeom>
          <a:solidFill>
            <a:srgbClr val="1A333A"/>
          </a:solidFill>
          <a:ln w="12700">
            <a:solidFill>
              <a:srgbClr val="1A333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537960" y="48097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4B5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ПРОМПТ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6537960" y="502920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850"/>
              </a:lnSpc>
              <a:buNone/>
            </a:pPr>
            <a:r>
              <a:rPr lang="en-US" sz="75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инструкция</a:t>
            </a:r>
            <a:endParaRPr lang="en-US" sz="750" dirty="0"/>
          </a:p>
          <a:p>
            <a:pPr indent="0" marL="0">
              <a:lnSpc>
                <a:spcPts val="850"/>
              </a:lnSpc>
              <a:buNone/>
            </a:pPr>
            <a:r>
              <a:rPr lang="en-US" sz="75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фрагмент</a:t>
            </a:r>
            <a:endParaRPr lang="en-US" sz="750" dirty="0"/>
          </a:p>
          <a:p>
            <a:pPr indent="0" marL="0">
              <a:lnSpc>
                <a:spcPts val="850"/>
              </a:lnSpc>
              <a:buNone/>
            </a:pPr>
            <a:r>
              <a:rPr lang="en-US" sz="75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вопрос</a:t>
            </a:r>
            <a:endParaRPr lang="en-US" sz="750" dirty="0"/>
          </a:p>
        </p:txBody>
      </p:sp>
      <p:sp>
        <p:nvSpPr>
          <p:cNvPr id="44" name="Text 42"/>
          <p:cNvSpPr txBox="1"/>
          <p:nvPr/>
        </p:nvSpPr>
        <p:spPr>
          <a:xfrm>
            <a:off x="8412480" y="47091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Промпт, уходящий в модель: тёмный блок моноширинным шрифтом. Это и есть «всё, что модель видит».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6428232" y="5705856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Серые полоски внутри белых и зелёных блоков — условное «здесь текст», а не пропущенное содержимое.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 1: выписка по счёту — вопрос и поиск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41832"/>
            <a:ext cx="11185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Реальный случай из журнала сессии платформы: документ 01_vypiska_bank.txt и вопрос-классификатор к нему.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1185855" cy="713232"/>
          </a:xfrm>
          <a:prstGeom prst="roundRect">
            <a:avLst>
              <a:gd name="adj" fmla="val 15385"/>
            </a:avLst>
          </a:prstGeom>
          <a:solidFill>
            <a:srgbClr val="F1F6F3"/>
          </a:solidFill>
          <a:ln w="12700">
            <a:solidFill>
              <a:srgbClr val="84B59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67512" y="1636776"/>
            <a:ext cx="402336" cy="402336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67512" y="16367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97864" y="1554480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в чате: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«Определи тип корпоративного документа одним словом из списка: regulation, contract, report, technical, policy, misc»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432304"/>
            <a:ext cx="5029200" cy="3063240"/>
          </a:xfrm>
          <a:prstGeom prst="roundRect">
            <a:avLst>
              <a:gd name="adj" fmla="val 2687"/>
            </a:avLst>
          </a:prstGeom>
          <a:solidFill>
            <a:srgbClr val="FBFCFB"/>
          </a:solidFill>
          <a:ln w="12700">
            <a:solidFill>
              <a:srgbClr val="D3E0D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85800" y="2596896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4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 в базе знаний   ·   01_vypiska_bank.txt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962656"/>
            <a:ext cx="4663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ПАО «Тестбанк» — выписка по операциям на счёте</a:t>
            </a:r>
            <a:endParaRPr lang="en-US" sz="11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Счёт: 40702810123456789012</a:t>
            </a:r>
            <a:endParaRPr lang="en-US" sz="11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Владелец: ООО «СеверСтройМонтаж», ИНН 772034556675, КПП 771201001</a:t>
            </a:r>
            <a:endParaRPr lang="en-US" sz="11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Период: 01.02.2026 – 28.02.2026</a:t>
            </a:r>
            <a:endParaRPr lang="en-US" sz="11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Входящий остаток: 1 250 300,00 RUB</a:t>
            </a:r>
            <a:endParaRPr lang="en-US" sz="11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05.02.2026 · Поступление · +3 450 000,00 RUB</a:t>
            </a:r>
            <a:endParaRPr lang="en-US" sz="11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Контрагент: ООО «Гранит-Опт», ИНН 5029136645,</a:t>
            </a:r>
            <a:endParaRPr lang="en-US" sz="11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счёт 40702810987654321012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742432" y="3803904"/>
            <a:ext cx="566928" cy="310896"/>
          </a:xfrm>
          <a:prstGeom prst="rightArrow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532120" y="42062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i="1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 3: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i="1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ближайший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i="1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смыслу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656832" y="2432304"/>
            <a:ext cx="5029200" cy="3063240"/>
          </a:xfrm>
          <a:prstGeom prst="roundRect">
            <a:avLst>
              <a:gd name="adj" fmla="val 2687"/>
            </a:avLst>
          </a:prstGeom>
          <a:solidFill>
            <a:srgbClr val="E7EFEA"/>
          </a:solidFill>
          <a:ln w="22225">
            <a:solidFill>
              <a:srgbClr val="84B59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839712" y="2596896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Извлечённый фрагмент   ·   top-1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839712" y="2962656"/>
            <a:ext cx="4663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ПАО «Тестбанк» — выписка по операциям на счёте</a:t>
            </a:r>
            <a:endParaRPr lang="en-US" sz="11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Счёт: 40702810123456789012</a:t>
            </a:r>
            <a:endParaRPr lang="en-US" sz="11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Владелец: ООО «СеверСтройМонтаж», ИНН 772034556675, КПП 771201001</a:t>
            </a:r>
            <a:endParaRPr lang="en-US" sz="11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Период: 01.02.2026 – 28.02.2026</a:t>
            </a:r>
            <a:endParaRPr lang="en-US" sz="11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Входящий остаток: 1 250 300,00 RUB</a:t>
            </a:r>
            <a:endParaRPr lang="en-US" sz="11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05.02.2026 · Поступление · +3 450 000,00 RUB</a:t>
            </a:r>
            <a:endParaRPr lang="en-US" sz="11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Контрагент: ООО «Гранит-Опт», ИНН 5029136645,</a:t>
            </a:r>
            <a:endParaRPr lang="en-US" sz="11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счёт 40702810987654321012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566928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Выписка короткая — весь её текст укладывается в один фрагмент, поэтому «фрагмент» и «документ» тут совпадают. В длинных документах так не бывает: см. пример 2.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 1: обезличивание перед отправкой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41832"/>
            <a:ext cx="11185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Найденный фрагмент перед отправкой во внешнюю модель проходит обезличивание: значения заменяются метками, соответствие «метка → значение» остаётся внутри контура.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5486400" cy="2606040"/>
          </a:xfrm>
          <a:prstGeom prst="roundRect">
            <a:avLst>
              <a:gd name="adj" fmla="val 3158"/>
            </a:avLst>
          </a:prstGeom>
          <a:solidFill>
            <a:srgbClr val="FBFCFB"/>
          </a:solidFill>
          <a:ln w="12700">
            <a:solidFill>
              <a:srgbClr val="D3E0D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728216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44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хранится и ищется внутри контура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75688"/>
            <a:ext cx="5120640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ПАО «Тестбанк» — выписка по операциям на счёте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Счёт: </a:t>
            </a:r>
            <a:pPr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B05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40702810123456789012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Владелец: ООО «СеверСтройМонтаж», ИНН </a:t>
            </a:r>
            <a:pPr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B05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772034556675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Период: 01.02.2026 – 28.02.2026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Входящий остаток: 1 250 300,00 RUB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05.02.2026 · Поступление · </a:t>
            </a:r>
            <a:pPr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B05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+3 450 000,00</a:t>
            </a:r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RUB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Контрагент: ООО «Гранит-Опт», ИНН </a:t>
            </a:r>
            <a:pPr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B05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5029136645</a:t>
            </a:r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счёт </a:t>
            </a:r>
            <a:pPr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B05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40702810987654321012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35624" y="2756916"/>
            <a:ext cx="402336" cy="292608"/>
          </a:xfrm>
          <a:prstGeom prst="rightArrow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84264" y="1600200"/>
            <a:ext cx="5486400" cy="2606040"/>
          </a:xfrm>
          <a:prstGeom prst="roundRect">
            <a:avLst>
              <a:gd name="adj" fmla="val 3158"/>
            </a:avLst>
          </a:prstGeom>
          <a:solidFill>
            <a:srgbClr val="E7EFEA"/>
          </a:solidFill>
          <a:ln w="22225">
            <a:solidFill>
              <a:srgbClr val="84B59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867144" y="1728216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фактически уходит во внешнюю модель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867144" y="2075688"/>
            <a:ext cx="5120640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ПАО «Тестбанк» — выписка по операциям на счёте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Счёт: </a:t>
            </a:r>
            <a:pPr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[BANK_ACCOUNT_2]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Владелец: ООО «СеверСтройМонтаж», ИНН </a:t>
            </a:r>
            <a:pPr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[INN_2]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Период: 01.02.2026 – 28.02.2026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Входящий остаток: 1 250 300,00 RUB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05.02.2026 · Поступление · </a:t>
            </a:r>
            <a:pPr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[PHONE_1]</a:t>
            </a:r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RUB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Контрагент: ООО «Гранит-Опт», ИНН </a:t>
            </a:r>
            <a:pPr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[INN_1]</a:t>
            </a:r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счёт </a:t>
            </a:r>
            <a:pPr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[BANK_ACCOUNT_1]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4434840"/>
            <a:ext cx="11185855" cy="1207008"/>
          </a:xfrm>
          <a:prstGeom prst="roundRect">
            <a:avLst>
              <a:gd name="adj" fmla="val 6818"/>
            </a:avLst>
          </a:prstGeom>
          <a:solidFill>
            <a:srgbClr val="F1F6F3"/>
          </a:solidFill>
          <a:ln w="12700">
            <a:solidFill>
              <a:srgbClr val="D3E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526280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4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Таблица соответствий — остаётся внутри контура, наружу не передаётся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8371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080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[BANK_ACCOUNT_2]</a:t>
            </a:r>
            <a:pPr indent="0" marL="0">
              <a:buNone/>
            </a:pPr>
            <a:r>
              <a:rPr lang="en-US" sz="1000" dirty="0">
                <a:solidFill>
                  <a:srgbClr val="6373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←  </a:t>
            </a:r>
            <a:pPr indent="0" marL="0">
              <a:buNone/>
            </a:pPr>
            <a:r>
              <a:rPr lang="en-US" sz="1000" dirty="0">
                <a:solidFill>
                  <a:srgbClr val="B05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40702810123456789012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389120" y="48371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080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[INN_2]</a:t>
            </a:r>
            <a:pPr indent="0" marL="0">
              <a:buNone/>
            </a:pPr>
            <a:r>
              <a:rPr lang="en-US" sz="1000" dirty="0">
                <a:solidFill>
                  <a:srgbClr val="6373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←  </a:t>
            </a:r>
            <a:pPr indent="0" marL="0">
              <a:buNone/>
            </a:pPr>
            <a:r>
              <a:rPr lang="en-US" sz="1000" dirty="0">
                <a:solidFill>
                  <a:srgbClr val="B05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772034556675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48371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080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[BANK_ACCOUNT_1]</a:t>
            </a:r>
            <a:pPr indent="0" marL="0">
              <a:buNone/>
            </a:pPr>
            <a:r>
              <a:rPr lang="en-US" sz="1000" dirty="0">
                <a:solidFill>
                  <a:srgbClr val="6373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←  </a:t>
            </a:r>
            <a:pPr indent="0" marL="0">
              <a:buNone/>
            </a:pPr>
            <a:r>
              <a:rPr lang="en-US" sz="1000" dirty="0">
                <a:solidFill>
                  <a:srgbClr val="B05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40702810987654321012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1480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080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[INN_1]</a:t>
            </a:r>
            <a:pPr indent="0" marL="0">
              <a:buNone/>
            </a:pPr>
            <a:r>
              <a:rPr lang="en-US" sz="1000" dirty="0">
                <a:solidFill>
                  <a:srgbClr val="6373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←  </a:t>
            </a:r>
            <a:pPr indent="0" marL="0">
              <a:buNone/>
            </a:pPr>
            <a:r>
              <a:rPr lang="en-US" sz="1000" dirty="0">
                <a:solidFill>
                  <a:srgbClr val="B05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5029136645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51480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080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[PHONE_1]</a:t>
            </a:r>
            <a:pPr indent="0" marL="0">
              <a:buNone/>
            </a:pPr>
            <a:r>
              <a:rPr lang="en-US" sz="1000" dirty="0">
                <a:solidFill>
                  <a:srgbClr val="6373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←  </a:t>
            </a:r>
            <a:pPr indent="0" marL="0">
              <a:buNone/>
            </a:pPr>
            <a:r>
              <a:rPr lang="en-US" sz="1000" dirty="0">
                <a:solidFill>
                  <a:srgbClr val="B05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+3 450 000,00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51480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080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[PERSON_2]</a:t>
            </a:r>
            <a:pPr indent="0" marL="0">
              <a:buNone/>
            </a:pPr>
            <a:r>
              <a:rPr lang="en-US" sz="1000" dirty="0">
                <a:solidFill>
                  <a:srgbClr val="6373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←  </a:t>
            </a:r>
            <a:pPr indent="0" marL="0">
              <a:buNone/>
            </a:pPr>
            <a:r>
              <a:rPr lang="en-US" sz="1000" dirty="0">
                <a:solidFill>
                  <a:srgbClr val="B05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Списа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80644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реального лога. Названия организаций (ООО «СеверСтройМонтаж», ООО «Гранит-Опт») в этом прогоне остались без маски. Две последние строки таблицы — известные дефекты детектора, задокументированы отдельно: сумма +3 450 000,00 ошибочно принята за телефон, обрывок слова «Списа» — за имя человека.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 1: как выглядит собранный промпт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41832"/>
            <a:ext cx="11185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трёх частей — и только из них. Ни базы знаний, ни соседних документов, ни исходных реквизитов в этом тексте нет.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365760" cy="365760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0292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996696" y="17099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44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Системная инструкция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996696" y="1975104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Роль ассистента и правило «отвечай только по приведённым фрагментам». Задаётся платформой, не пользователем.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108960"/>
            <a:ext cx="365760" cy="365760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0292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6696" y="30815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44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Извлечённый фрагмент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996696" y="3346704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Обезличенный текст выписки — результат шагов 3 и «между 4 и 5» с предыдущих слайдов.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4480560"/>
            <a:ext cx="365760" cy="365760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02920" y="4480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996696" y="44531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44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сотрудника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996696" y="4718304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Ровно тот текст, который был набран в чате.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26280" y="1627632"/>
            <a:ext cx="7162495" cy="3977640"/>
          </a:xfrm>
          <a:prstGeom prst="roundRect">
            <a:avLst>
              <a:gd name="adj" fmla="val 2069"/>
            </a:avLst>
          </a:prstGeom>
          <a:solidFill>
            <a:srgbClr val="1A333A"/>
          </a:solidFill>
          <a:ln w="12700">
            <a:solidFill>
              <a:srgbClr val="1A333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764024" y="1847088"/>
            <a:ext cx="6687007" cy="3538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84B5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ПРОМПТ, УХОДЯЩИЙ В МОДЕЛЬ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84B5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[SYSTEM]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Ты — корпоративный ассистент. Отвечай только на основе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приведённых ниже фрагментов. Если данных нет — так и скажи.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84B5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[КОНТЕКСТ · фрагмент 1 из 1 · 01_vypiska_bank.txt]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ПАО «Тестбанк» — выписка по операциям на счёте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Счёт: [BANK_ACCOUNT_2]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Владелец: ООО «СеверСтройМонтаж», ИНН [INN_2], КПП 771201001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Период: 01.02.2026 – 28.02.2026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05.02.2026 · Поступление · [PHONE_1] RUB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Контрагент: ООО «Гранит-Опт», ИНН [INN_1], счёт [BANK_ACCOUNT_1]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84B5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[ВОПРОС]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Определи тип корпоративного документа одним словом из списка: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regulation, contract, report, technical, policy, misc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580644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Формулировки системной инструкции и разметка блоков — иллюстративные: точный шаблон промпта платформы у нас не задокументирован. Состав частей и обезличенные значения — реальные.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 1: ответ и возврат значений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41832"/>
            <a:ext cx="11185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отвечает по обезличенному тексту. Если в ответе есть метки, они восстанавливаются обратно уже внутри контура — в том, что видит сотрудник.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2697480" cy="2423160"/>
          </a:xfrm>
          <a:prstGeom prst="roundRect">
            <a:avLst>
              <a:gd name="adj" fmla="val 3396"/>
            </a:avLst>
          </a:prstGeom>
          <a:solidFill>
            <a:srgbClr val="1A333A"/>
          </a:solidFill>
          <a:ln w="12700">
            <a:solidFill>
              <a:srgbClr val="1A333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965960"/>
            <a:ext cx="384048" cy="384048"/>
          </a:xfrm>
          <a:prstGeom prst="ellipse">
            <a:avLst/>
          </a:prstGeom>
          <a:solidFill>
            <a:srgbClr val="84B59F"/>
          </a:solidFill>
          <a:ln w="12700">
            <a:solidFill>
              <a:srgbClr val="84B59F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59736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 отвечает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935224"/>
            <a:ext cx="233172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84B5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  — один из вариантов списка, выбранный по содержимому фрагмента.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 rot="5400000">
            <a:off x="3218688" y="2903220"/>
            <a:ext cx="182880" cy="182880"/>
          </a:xfrm>
          <a:prstGeom prst="triangle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19856" y="1783080"/>
            <a:ext cx="2697480" cy="2423160"/>
          </a:xfrm>
          <a:prstGeom prst="roundRect">
            <a:avLst>
              <a:gd name="adj" fmla="val 3396"/>
            </a:avLst>
          </a:prstGeom>
          <a:solidFill>
            <a:srgbClr val="FBFCFB"/>
          </a:solidFill>
          <a:ln w="12700">
            <a:solidFill>
              <a:srgbClr val="D3E0D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02736" y="1965960"/>
            <a:ext cx="384048" cy="384048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02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602736" y="2459736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Ответ приходит с метками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602736" y="2935224"/>
            <a:ext cx="233172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модель процитировала реквизиты, в её ответе стоят [INN_2], [BANK_ACCOUNT_1] и т. п.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 rot="5400000">
            <a:off x="6135624" y="2903220"/>
            <a:ext cx="182880" cy="182880"/>
          </a:xfrm>
          <a:prstGeom prst="triangle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36792" y="1783080"/>
            <a:ext cx="2697480" cy="2423160"/>
          </a:xfrm>
          <a:prstGeom prst="roundRect">
            <a:avLst>
              <a:gd name="adj" fmla="val 3396"/>
            </a:avLst>
          </a:prstGeom>
          <a:solidFill>
            <a:srgbClr val="E7EFEA"/>
          </a:solidFill>
          <a:ln w="12700">
            <a:solidFill>
              <a:srgbClr val="D3E0D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19672" y="1965960"/>
            <a:ext cx="384048" cy="384048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519672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519672" y="2459736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Деанонимизация внутри контура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19672" y="2935224"/>
            <a:ext cx="233172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таблице соответствий метки заменяются обратно на настоящие значения.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 rot="5400000">
            <a:off x="9052560" y="2903220"/>
            <a:ext cx="182880" cy="182880"/>
          </a:xfrm>
          <a:prstGeom prst="triangle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53728" y="1783080"/>
            <a:ext cx="2697480" cy="2423160"/>
          </a:xfrm>
          <a:prstGeom prst="roundRect">
            <a:avLst>
              <a:gd name="adj" fmla="val 3396"/>
            </a:avLst>
          </a:prstGeom>
          <a:solidFill>
            <a:srgbClr val="F1F6F3"/>
          </a:solidFill>
          <a:ln w="12700">
            <a:solidFill>
              <a:srgbClr val="84B59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436608" y="1965960"/>
            <a:ext cx="384048" cy="384048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9436608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436608" y="2459736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Сотрудник видит нормальный текст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436608" y="2935224"/>
            <a:ext cx="233172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чате — обычный ответ с реальными реквизитами, наружу они при этом не уходили.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02920" y="4498848"/>
            <a:ext cx="11185855" cy="1051560"/>
          </a:xfrm>
          <a:prstGeom prst="roundRect">
            <a:avLst>
              <a:gd name="adj" fmla="val 7826"/>
            </a:avLst>
          </a:prstGeom>
          <a:solidFill>
            <a:srgbClr val="F1F6F3"/>
          </a:solidFill>
          <a:ln w="12700">
            <a:solidFill>
              <a:srgbClr val="D3E0D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22376" y="4617720"/>
            <a:ext cx="1074694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это описано в документации платформы: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чувствительные сущности обезличиваются на лету перед отправкой во внешнюю модель и восстанавливаются обратно только внутри контура — в ответе, который видит сотрудник. За это отвечает шлюз AI Guard, через который идёт вызов облачной модели.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5742432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Метка «report» — иллюстративная: фактический ярлык, возвращённый моделью в этом конкретном прогоне, у нас не зафиксирован. Корректность деанонимизации в ответе — отдельный пункт критерия приёмки, который на разобранной выборке ещё не проверялся.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 2: многостраничный свод правил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41832"/>
            <a:ext cx="11185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Тот же механизм на документе, который целиком в промпт не поместится и не должен. Разделы такого документа между собой почти не связаны.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6903720" cy="4069080"/>
          </a:xfrm>
          <a:prstGeom prst="roundRect">
            <a:avLst>
              <a:gd name="adj" fmla="val 2022"/>
            </a:avLst>
          </a:prstGeom>
          <a:solidFill>
            <a:srgbClr val="FBFCFB"/>
          </a:solidFill>
          <a:ln w="12700">
            <a:solidFill>
              <a:srgbClr val="D3E0D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22376" y="1719072"/>
            <a:ext cx="6492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4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 8.13130 «Системы противопожарной защиты» · условный конспект разделов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22376" y="2139696"/>
            <a:ext cx="6492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Общие положения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22376" y="2377440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Область применения, термины и определения, ссылки на смежные нормативные документы.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22376" y="2862072"/>
            <a:ext cx="6492240" cy="0"/>
          </a:xfrm>
          <a:prstGeom prst="line">
            <a:avLst/>
          </a:prstGeom>
          <a:noFill/>
          <a:ln w="9525">
            <a:solidFill>
              <a:srgbClr val="D3E0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2376" y="3008376"/>
            <a:ext cx="6492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Требования к системам оповещения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22376" y="3246120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Типы систем оповещения, зоны оповещения, требования к звуковым и световым оповещателям.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22376" y="3730752"/>
            <a:ext cx="6492240" cy="0"/>
          </a:xfrm>
          <a:prstGeom prst="line">
            <a:avLst/>
          </a:prstGeom>
          <a:noFill/>
          <a:ln w="9525">
            <a:solidFill>
              <a:srgbClr val="D3E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22376" y="3877056"/>
            <a:ext cx="6492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Требования к путям эвакуации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" y="4114800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Ширина и высота путей, расчётное время эвакуации по классам функциональной пожарной опасности, аварийное освещение.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22376" y="4599432"/>
            <a:ext cx="6492240" cy="0"/>
          </a:xfrm>
          <a:prstGeom prst="line">
            <a:avLst/>
          </a:prstGeom>
          <a:noFill/>
          <a:ln w="9525">
            <a:solidFill>
              <a:srgbClr val="D3E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22376" y="4745736"/>
            <a:ext cx="6492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Библиография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" y="4983480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Перечень нормативных документов, на которые даны ссылки в тексте.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699248" y="1554480"/>
            <a:ext cx="3986784" cy="1737360"/>
          </a:xfrm>
          <a:prstGeom prst="roundRect">
            <a:avLst>
              <a:gd name="adj" fmla="val 6316"/>
            </a:avLst>
          </a:prstGeom>
          <a:solidFill>
            <a:srgbClr val="F1F6F3"/>
          </a:solidFill>
          <a:ln w="12700">
            <a:solidFill>
              <a:srgbClr val="84B59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82128" y="1737360"/>
            <a:ext cx="384048" cy="384048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882128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8357616" y="177393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в чате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882128" y="2304288"/>
            <a:ext cx="36210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«Какое наименьшее время эвакуации допускается для зданий класса Ф1.1?»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699248" y="3493008"/>
            <a:ext cx="3986784" cy="2130552"/>
          </a:xfrm>
          <a:prstGeom prst="roundRect">
            <a:avLst>
              <a:gd name="adj" fmla="val 3863"/>
            </a:avLst>
          </a:prstGeom>
          <a:solidFill>
            <a:srgbClr val="FBFCFB"/>
          </a:solidFill>
          <a:ln w="12700">
            <a:solidFill>
              <a:srgbClr val="D3E0D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18704" y="36393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делает поиск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918704" y="3968496"/>
            <a:ext cx="3566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Сравнивает отпечаток смысла вопроса с отпечатком каждого фрагмента документа — по отдельности, а не с документом целиком.</a:t>
            </a:r>
            <a:endParaRPr lang="en-US" sz="11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«Время эвакуации» и «класс Ф1.1» по смыслу близки только к одному разделу из четырёх.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580644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 СП 8.13130 действительно входит в тестовый корпус проекта, но приведённый здесь конспект разделов — условный, а не цитата из текста стандарта.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 2: в модель ушёл один раздел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41832"/>
            <a:ext cx="11185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остальных раздела не отправлялись, не оплачивались токенами и не могли повлиять на ответ — они остались лежать в базе знаний.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4663440" cy="4023360"/>
          </a:xfrm>
          <a:prstGeom prst="roundRect">
            <a:avLst>
              <a:gd name="adj" fmla="val 2045"/>
            </a:avLst>
          </a:prstGeom>
          <a:solidFill>
            <a:srgbClr val="FBFCFB"/>
          </a:solidFill>
          <a:ln w="12700">
            <a:solidFill>
              <a:srgbClr val="D3E0D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73736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4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 8.13130 · четыре фрагмента в индексе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49224" y="2103120"/>
            <a:ext cx="4370832" cy="749808"/>
          </a:xfrm>
          <a:prstGeom prst="roundRect">
            <a:avLst>
              <a:gd name="adj" fmla="val 10976"/>
            </a:avLst>
          </a:prstGeom>
          <a:solidFill>
            <a:srgbClr val="F4F6F5"/>
          </a:solidFill>
          <a:ln w="12700">
            <a:solidFill>
              <a:srgbClr val="E4E9E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19456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B2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Общие положения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77240" y="2523744"/>
            <a:ext cx="4023360" cy="50292"/>
          </a:xfrm>
          <a:prstGeom prst="roundRect">
            <a:avLst>
              <a:gd name="adj" fmla="val 49091"/>
            </a:avLst>
          </a:prstGeom>
          <a:solidFill>
            <a:srgbClr val="E8ECEA"/>
          </a:solidFill>
          <a:ln w="12700">
            <a:solidFill>
              <a:srgbClr val="E8EC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660904"/>
            <a:ext cx="2377440" cy="50292"/>
          </a:xfrm>
          <a:prstGeom prst="roundRect">
            <a:avLst>
              <a:gd name="adj" fmla="val 49091"/>
            </a:avLst>
          </a:prstGeom>
          <a:solidFill>
            <a:srgbClr val="E8ECEA"/>
          </a:solidFill>
          <a:ln w="12700">
            <a:solidFill>
              <a:srgbClr val="E8EC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03320" y="220370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B6C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извлечён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49224" y="2999232"/>
            <a:ext cx="4370832" cy="749808"/>
          </a:xfrm>
          <a:prstGeom prst="roundRect">
            <a:avLst>
              <a:gd name="adj" fmla="val 10976"/>
            </a:avLst>
          </a:prstGeom>
          <a:solidFill>
            <a:srgbClr val="F4F6F5"/>
          </a:solidFill>
          <a:ln w="12700">
            <a:solidFill>
              <a:srgbClr val="E4E9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090672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B2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Требования к системам оповещения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3419856"/>
            <a:ext cx="4023360" cy="50292"/>
          </a:xfrm>
          <a:prstGeom prst="roundRect">
            <a:avLst>
              <a:gd name="adj" fmla="val 49091"/>
            </a:avLst>
          </a:prstGeom>
          <a:solidFill>
            <a:srgbClr val="E8ECEA"/>
          </a:solidFill>
          <a:ln w="12700">
            <a:solidFill>
              <a:srgbClr val="E8EC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3557016"/>
            <a:ext cx="2377440" cy="50292"/>
          </a:xfrm>
          <a:prstGeom prst="roundRect">
            <a:avLst>
              <a:gd name="adj" fmla="val 49091"/>
            </a:avLst>
          </a:prstGeom>
          <a:solidFill>
            <a:srgbClr val="E8ECEA"/>
          </a:solidFill>
          <a:ln w="12700">
            <a:solidFill>
              <a:srgbClr val="E8EC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03320" y="309981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B6C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извлечён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49224" y="3895344"/>
            <a:ext cx="4370832" cy="749808"/>
          </a:xfrm>
          <a:prstGeom prst="roundRect">
            <a:avLst>
              <a:gd name="adj" fmla="val 10976"/>
            </a:avLst>
          </a:prstGeom>
          <a:solidFill>
            <a:srgbClr val="E7EFEA"/>
          </a:solidFill>
          <a:ln w="22225">
            <a:solidFill>
              <a:srgbClr val="84B59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3986784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Требования к путям эвакуации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4315968"/>
            <a:ext cx="4023360" cy="50292"/>
          </a:xfrm>
          <a:prstGeom prst="roundRect">
            <a:avLst>
              <a:gd name="adj" fmla="val 49091"/>
            </a:avLst>
          </a:prstGeom>
          <a:solidFill>
            <a:srgbClr val="C9DCD3"/>
          </a:solidFill>
          <a:ln w="12700">
            <a:solidFill>
              <a:srgbClr val="C9DCD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4453128"/>
            <a:ext cx="2377440" cy="50292"/>
          </a:xfrm>
          <a:prstGeom prst="roundRect">
            <a:avLst>
              <a:gd name="adj" fmla="val 49091"/>
            </a:avLst>
          </a:prstGeom>
          <a:solidFill>
            <a:srgbClr val="C9DCD3"/>
          </a:solidFill>
          <a:ln w="12700">
            <a:solidFill>
              <a:srgbClr val="C9DC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703320" y="399592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69A2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 → в промпт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9224" y="4791456"/>
            <a:ext cx="4370832" cy="749808"/>
          </a:xfrm>
          <a:prstGeom prst="roundRect">
            <a:avLst>
              <a:gd name="adj" fmla="val 10976"/>
            </a:avLst>
          </a:prstGeom>
          <a:solidFill>
            <a:srgbClr val="F4F6F5"/>
          </a:solidFill>
          <a:ln w="12700">
            <a:solidFill>
              <a:srgbClr val="E4E9E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882896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B2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Библиография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5212080"/>
            <a:ext cx="4023360" cy="50292"/>
          </a:xfrm>
          <a:prstGeom prst="roundRect">
            <a:avLst>
              <a:gd name="adj" fmla="val 49091"/>
            </a:avLst>
          </a:prstGeom>
          <a:solidFill>
            <a:srgbClr val="E8ECEA"/>
          </a:solidFill>
          <a:ln w="12700">
            <a:solidFill>
              <a:srgbClr val="E8EC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5349240"/>
            <a:ext cx="2377440" cy="50292"/>
          </a:xfrm>
          <a:prstGeom prst="roundRect">
            <a:avLst>
              <a:gd name="adj" fmla="val 49091"/>
            </a:avLst>
          </a:prstGeom>
          <a:solidFill>
            <a:srgbClr val="E8ECEA"/>
          </a:solidFill>
          <a:ln w="12700">
            <a:solidFill>
              <a:srgbClr val="E8ECE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703320" y="489204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B6C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извлечён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358384" y="3438144"/>
            <a:ext cx="502920" cy="292608"/>
          </a:xfrm>
          <a:prstGeom prst="rightArrow">
            <a:avLst/>
          </a:prstGeom>
          <a:solidFill>
            <a:srgbClr val="84B59F"/>
          </a:solidFill>
          <a:ln w="12700">
            <a:solidFill>
              <a:srgbClr val="84B59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53328" y="1572768"/>
            <a:ext cx="5635447" cy="4023360"/>
          </a:xfrm>
          <a:prstGeom prst="roundRect">
            <a:avLst>
              <a:gd name="adj" fmla="val 2045"/>
            </a:avLst>
          </a:prstGeom>
          <a:solidFill>
            <a:srgbClr val="1A333A"/>
          </a:solidFill>
          <a:ln w="12700">
            <a:solidFill>
              <a:srgbClr val="1A333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291072" y="1792224"/>
            <a:ext cx="5159959" cy="358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84B5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ПРОМПТ, УХОДЯЩИЙ В МОДЕЛЬ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84B5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[SYSTEM]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Отвечай только на основе приведённых фрагментов.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84B5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[КОНТЕКСТ · фрагмент 3 из 4 · СП 8.13130, разд. 3]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Требования к путям эвакуации. Расчётное время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эвакуации для зданий класса функциональной пожарной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опасности Ф1.1 определяется как … 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84B5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[ВОПРОС]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Какое наименьшее время эвакуации допускается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для зданий класса Ф1.1?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i="1" dirty="0">
                <a:solidFill>
                  <a:srgbClr val="7E9A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разделов 1, 2 и 4 в этом тексте нет вообще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580644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фрагмента — условный: содержательную формулировку раздела мы не цитируем. Смысл слайда в том, какая часть документа попала в промпт, а не в конкретных нормативных значениях.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стоит между поиском и промптом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41832"/>
            <a:ext cx="11185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Найденное «похожее по смыслу» не всегда уместно, поэтому между шагами 3 и 4 есть ещё три механизма — они описаны в разделе «Калибровка → Политики поиска».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3593592" cy="3154680"/>
          </a:xfrm>
          <a:prstGeom prst="roundRect">
            <a:avLst>
              <a:gd name="adj" fmla="val 2609"/>
            </a:avLst>
          </a:prstGeom>
          <a:solidFill>
            <a:srgbClr val="FBFCFB"/>
          </a:solidFill>
          <a:ln w="12700">
            <a:solidFill>
              <a:srgbClr val="D3E0D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2093976"/>
            <a:ext cx="420624" cy="420624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22376" y="20939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22376" y="264261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Роутинг вопросов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22376" y="3008376"/>
            <a:ext cx="3154680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Ещё до поиска решает, куда идти за ответом: посчитать по таблице (SQL), поискать в коде или искать по тексту документов. Настраивается триггерными фразами.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15968" y="1874520"/>
            <a:ext cx="3593592" cy="3154680"/>
          </a:xfrm>
          <a:prstGeom prst="roundRect">
            <a:avLst>
              <a:gd name="adj" fmla="val 2609"/>
            </a:avLst>
          </a:prstGeom>
          <a:solidFill>
            <a:srgbClr val="FBFCFB"/>
          </a:solidFill>
          <a:ln w="12700">
            <a:solidFill>
              <a:srgbClr val="D3E0D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35424" y="2093976"/>
            <a:ext cx="420624" cy="420624"/>
          </a:xfrm>
          <a:prstGeom prst="ellipse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535424" y="20939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35424" y="264261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Политики ранжирования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35424" y="3008376"/>
            <a:ext cx="3154680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поиска отбрасывает или понижает фрагменты, формально похожие, но неуместные — например, сообщения коммитов в ответе на бизнес-вопрос. Таблицы, наоборот, поднимаются.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29016" y="1874520"/>
            <a:ext cx="3593592" cy="3154680"/>
          </a:xfrm>
          <a:prstGeom prst="roundRect">
            <a:avLst>
              <a:gd name="adj" fmla="val 2609"/>
            </a:avLst>
          </a:prstGeom>
          <a:solidFill>
            <a:srgbClr val="FBFCFB"/>
          </a:solidFill>
          <a:ln w="12700">
            <a:solidFill>
              <a:srgbClr val="D3E0D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48472" y="2093976"/>
            <a:ext cx="420624" cy="420624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348472" y="20939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64261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Планировщик и реплан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348472" y="3008376"/>
            <a:ext cx="3154680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уверенность найденного ниже нижнего порога — вопрос автоматически повторяется в другом источнике. В «серой зоне» между порогами можно включить отдельную LLM-проверку релевантности.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5257800"/>
            <a:ext cx="11185855" cy="822960"/>
          </a:xfrm>
          <a:prstGeom prst="roundRect">
            <a:avLst>
              <a:gd name="adj" fmla="val 10000"/>
            </a:avLst>
          </a:prstGeom>
          <a:solidFill>
            <a:srgbClr val="F1F6F3"/>
          </a:solidFill>
          <a:ln w="12700">
            <a:solidFill>
              <a:srgbClr val="D3E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22376" y="5376672"/>
            <a:ext cx="1074694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это знать: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ответ вышел неполным, причина чаще не в модели, а в одном из этих трёх мест — не туда сходили, нужный фрагмент понизили или вообще не нашли.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 3: контекст берётся из таблицы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41832"/>
            <a:ext cx="11185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из документа. Тот же путь «вопрос → контекст → промпт → ответ», но контекст добывается не поиском по смыслу, а сгенерированным SQL-запросом к базе данных.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1185855" cy="978408"/>
          </a:xfrm>
          <a:prstGeom prst="roundRect">
            <a:avLst>
              <a:gd name="adj" fmla="val 11215"/>
            </a:avLst>
          </a:prstGeom>
          <a:solidFill>
            <a:srgbClr val="E6EEF1"/>
          </a:solidFill>
          <a:ln w="12700">
            <a:solidFill>
              <a:srgbClr val="BCD1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67512" y="1554480"/>
            <a:ext cx="402336" cy="402336"/>
          </a:xfrm>
          <a:prstGeom prst="ellipse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67512" y="1554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97864" y="1499616"/>
            <a:ext cx="102714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в чате   ·   агент «★ Синапс.Инсайт — Аналитик (планировщик)»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197864" y="173736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«покажи первые 10 записей из таблицы items bitrix где номер договора BP33431»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197864" y="2029968"/>
            <a:ext cx="10271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описания агента: «Аналитический агент: строит план, считает данные (в т.ч. cross-DB через Trino) с опорой на регламенты RAG, собирает ответ».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2926080"/>
            <a:ext cx="2590724" cy="1600200"/>
          </a:xfrm>
          <a:prstGeom prst="roundRect">
            <a:avLst>
              <a:gd name="adj" fmla="val 5143"/>
            </a:avLst>
          </a:prstGeom>
          <a:solidFill>
            <a:srgbClr val="FBFCFB"/>
          </a:solidFill>
          <a:ln w="12700">
            <a:solidFill>
              <a:srgbClr val="D3E0D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569682" y="2697480"/>
            <a:ext cx="457200" cy="457200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1569682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" y="3310128"/>
            <a:ext cx="2298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Роутинг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" y="3657600"/>
            <a:ext cx="22981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распознан как Data-вопрос — выборка и фильтр по таблице, а не поиск по документам.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 rot="5400000">
            <a:off x="3130220" y="3625596"/>
            <a:ext cx="201168" cy="201168"/>
          </a:xfrm>
          <a:prstGeom prst="triangle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67964" y="2926080"/>
            <a:ext cx="2590724" cy="1600200"/>
          </a:xfrm>
          <a:prstGeom prst="roundRect">
            <a:avLst>
              <a:gd name="adj" fmla="val 5143"/>
            </a:avLst>
          </a:prstGeom>
          <a:solidFill>
            <a:srgbClr val="FBFCFB"/>
          </a:solidFill>
          <a:ln w="12700">
            <a:solidFill>
              <a:srgbClr val="D3E0D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434726" y="2697480"/>
            <a:ext cx="457200" cy="457200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434726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514268" y="3310128"/>
            <a:ext cx="2298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Генерация SQL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514268" y="3657600"/>
            <a:ext cx="22981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вопросу строится запрос к таблице bitrix.crm.default.items с фильтром по договору.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 rot="5400000">
            <a:off x="5995264" y="3625596"/>
            <a:ext cx="201168" cy="201168"/>
          </a:xfrm>
          <a:prstGeom prst="triangle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33008" y="2926080"/>
            <a:ext cx="2590724" cy="1600200"/>
          </a:xfrm>
          <a:prstGeom prst="roundRect">
            <a:avLst>
              <a:gd name="adj" fmla="val 5143"/>
            </a:avLst>
          </a:prstGeom>
          <a:solidFill>
            <a:srgbClr val="FBFCFB"/>
          </a:solidFill>
          <a:ln w="12700">
            <a:solidFill>
              <a:srgbClr val="D3E0D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299769" y="2697480"/>
            <a:ext cx="457200" cy="457200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299769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379312" y="3310128"/>
            <a:ext cx="2298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Trino: выполнение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79312" y="3657600"/>
            <a:ext cx="22981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Запрос исполняет движок, умеющий ходить сразу в несколько баз данных (cross-DB).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 rot="5400000">
            <a:off x="8860307" y="3625596"/>
            <a:ext cx="201168" cy="201168"/>
          </a:xfrm>
          <a:prstGeom prst="triangle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98051" y="2926080"/>
            <a:ext cx="2590724" cy="1600200"/>
          </a:xfrm>
          <a:prstGeom prst="roundRect">
            <a:avLst>
              <a:gd name="adj" fmla="val 5143"/>
            </a:avLst>
          </a:prstGeom>
          <a:solidFill>
            <a:srgbClr val="E6EEF1"/>
          </a:solidFill>
          <a:ln w="12700">
            <a:solidFill>
              <a:srgbClr val="BCD1D9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164813" y="2697480"/>
            <a:ext cx="457200" cy="457200"/>
          </a:xfrm>
          <a:prstGeom prst="ellipse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10164813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244355" y="3310128"/>
            <a:ext cx="2298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Строки результата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244355" y="3657600"/>
            <a:ext cx="22981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Возвращаются записи с типизированными колонками. Это и есть контекст для промпта.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02920" y="4754880"/>
            <a:ext cx="11185855" cy="1133856"/>
          </a:xfrm>
          <a:prstGeom prst="roundRect">
            <a:avLst>
              <a:gd name="adj" fmla="val 7258"/>
            </a:avLst>
          </a:prstGeom>
          <a:solidFill>
            <a:srgbClr val="1A333A"/>
          </a:solidFill>
          <a:ln w="12700">
            <a:solidFill>
              <a:srgbClr val="1A333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40664" y="4937760"/>
            <a:ext cx="10710367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84B5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СГЕНЕРИРОВАННЫЙ ЗАПРОС (иллюстративно)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id, contract_numbers, full_name, company_id, assigned_by_id, date_create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bitrix.crm.default.items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contains(contract_numbers, 'BP33431')  LIMIT 10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02920" y="5980176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SQL — иллюстративный: сгенерированный запрос платформа в интерфейсе не показывала. Реальны имя агента, формулировка вопроса, имя таблицы bitrix.crm.default.items и состав возвращённой записи — она на следующем слайде.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 3: в промпт уходит строка таблицы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41832"/>
            <a:ext cx="11185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Единица контекста здесь — не абзац документа, а запись с колонками. Маскирование применяется к результату запроса ровно так же, как к тексту найденного фрагмента.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5943600" cy="4023360"/>
          </a:xfrm>
          <a:prstGeom prst="roundRect">
            <a:avLst>
              <a:gd name="adj" fmla="val 2045"/>
            </a:avLst>
          </a:prstGeom>
          <a:solidFill>
            <a:srgbClr val="FBFCFB"/>
          </a:solidFill>
          <a:ln w="12700">
            <a:solidFill>
              <a:srgbClr val="D3E0D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62763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4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запроса   ·   bitrix.crm.default.items   ·   строка 1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1956816"/>
            <a:ext cx="5577840" cy="274320"/>
          </a:xfrm>
          <a:prstGeom prst="rect">
            <a:avLst/>
          </a:prstGeom>
          <a:solidFill>
            <a:srgbClr val="E6EEF1"/>
          </a:solidFill>
          <a:ln w="9525">
            <a:solidFill>
              <a:srgbClr val="BCD1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95681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Колонка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2990088" y="1956816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Значение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85800" y="2231136"/>
            <a:ext cx="55778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A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31136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записи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990088" y="2231136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…9011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85800" y="2596896"/>
            <a:ext cx="5577840" cy="365760"/>
          </a:xfrm>
          <a:prstGeom prst="rect">
            <a:avLst/>
          </a:prstGeom>
          <a:solidFill>
            <a:srgbClr val="F5F8F6"/>
          </a:solidFill>
          <a:ln w="9525">
            <a:solidFill>
              <a:srgbClr val="E4EA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596896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Номер договора клиента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90088" y="2596896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["BP33431","BP70746","BP79140"]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85800" y="2962656"/>
            <a:ext cx="5577840" cy="365760"/>
          </a:xfrm>
          <a:prstGeom prst="rect">
            <a:avLst/>
          </a:prstGeom>
          <a:solidFill>
            <a:srgbClr val="E7EFEA"/>
          </a:solidFill>
          <a:ln w="19050">
            <a:solidFill>
              <a:srgbClr val="84B59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2962656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ФИО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2990088" y="2962656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080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[FULL_NAME_1]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85800" y="3328416"/>
            <a:ext cx="5577840" cy="365760"/>
          </a:xfrm>
          <a:prstGeom prst="rect">
            <a:avLst/>
          </a:prstGeom>
          <a:solidFill>
            <a:srgbClr val="F5F8F6"/>
          </a:solidFill>
          <a:ln w="9525">
            <a:solidFill>
              <a:srgbClr val="E4EA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3328416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компании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990088" y="3328416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825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85800" y="3694176"/>
            <a:ext cx="55778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AE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3694176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ответственного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2990088" y="3694176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85800" y="4059936"/>
            <a:ext cx="5577840" cy="365760"/>
          </a:xfrm>
          <a:prstGeom prst="rect">
            <a:avLst/>
          </a:prstGeom>
          <a:solidFill>
            <a:srgbClr val="F5F8F6"/>
          </a:solidFill>
          <a:ln w="9525">
            <a:solidFill>
              <a:srgbClr val="E4EAE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4059936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 создания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2990088" y="4059936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17.04.2023 15:25:29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85800" y="4425696"/>
            <a:ext cx="55778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AE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4425696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BO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4425696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44811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85800" y="4791456"/>
            <a:ext cx="5577840" cy="365760"/>
          </a:xfrm>
          <a:prstGeom prst="rect">
            <a:avLst/>
          </a:prstGeom>
          <a:solidFill>
            <a:srgbClr val="F5F8F6"/>
          </a:solidFill>
          <a:ln w="9525">
            <a:solidFill>
              <a:srgbClr val="E4EAE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4791456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заполнены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2990088" y="4791456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Категория · Контакт · Лид · Валюта · Статус закрытия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5212080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ФИО пришло уже с маской: обезличивание сработало на результате запроса.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620256" y="3337560"/>
            <a:ext cx="438912" cy="310896"/>
          </a:xfrm>
          <a:prstGeom prst="rightArrow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205472" y="1481328"/>
            <a:ext cx="4483303" cy="4023360"/>
          </a:xfrm>
          <a:prstGeom prst="roundRect">
            <a:avLst>
              <a:gd name="adj" fmla="val 2045"/>
            </a:avLst>
          </a:prstGeom>
          <a:solidFill>
            <a:srgbClr val="1A333A"/>
          </a:solidFill>
          <a:ln w="12700">
            <a:solidFill>
              <a:srgbClr val="1A333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7424928" y="1664208"/>
            <a:ext cx="4044391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0"/>
              </a:lnSpc>
              <a:buNone/>
            </a:pPr>
            <a:r>
              <a:rPr lang="en-US" sz="900" b="1" dirty="0">
                <a:solidFill>
                  <a:srgbClr val="84B5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ПРОМПТ, УХОДЯЩИЙ В МОДЕЛЬ</a:t>
            </a:r>
            <a:endParaRPr lang="en-US" sz="900" dirty="0"/>
          </a:p>
          <a:p>
            <a:pPr indent="0" marL="0">
              <a:lnSpc>
                <a:spcPts val="1160"/>
              </a:lnSpc>
              <a:buNone/>
            </a:pPr>
            <a:r>
              <a:rPr lang="en-US" sz="900" dirty="0">
                <a:solidFill>
                  <a:srgbClr val="1E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ts val="1160"/>
              </a:lnSpc>
              <a:buNone/>
            </a:pPr>
            <a:r>
              <a:rPr lang="en-US" sz="900" b="1" dirty="0">
                <a:solidFill>
                  <a:srgbClr val="84B5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[SYSTEM]</a:t>
            </a:r>
            <a:endParaRPr lang="en-US" sz="900" dirty="0"/>
          </a:p>
          <a:p>
            <a:pPr indent="0" marL="0">
              <a:lnSpc>
                <a:spcPts val="1160"/>
              </a:lnSpc>
              <a:buNone/>
            </a:pPr>
            <a:r>
              <a:rPr lang="en-US" sz="9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Отвечай по приведённым данным.</a:t>
            </a:r>
            <a:endParaRPr lang="en-US" sz="900" dirty="0"/>
          </a:p>
          <a:p>
            <a:pPr indent="0" marL="0">
              <a:lnSpc>
                <a:spcPts val="1160"/>
              </a:lnSpc>
              <a:buNone/>
            </a:pPr>
            <a:r>
              <a:rPr lang="en-US" sz="900" dirty="0">
                <a:solidFill>
                  <a:srgbClr val="1E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ts val="1160"/>
              </a:lnSpc>
              <a:buNone/>
            </a:pPr>
            <a:r>
              <a:rPr lang="en-US" sz="900" b="1" dirty="0">
                <a:solidFill>
                  <a:srgbClr val="84B5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[КОНТЕКСТ · РЕЗУЛЬТАТ SQL]</a:t>
            </a:r>
            <a:endParaRPr lang="en-US" sz="900" dirty="0"/>
          </a:p>
          <a:p>
            <a:pPr indent="0" marL="0">
              <a:lnSpc>
                <a:spcPts val="1160"/>
              </a:lnSpc>
              <a:buNone/>
            </a:pPr>
            <a:r>
              <a:rPr lang="en-US" sz="9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источник: bitrix.crm.default.items</a:t>
            </a:r>
            <a:endParaRPr lang="en-US" sz="900" dirty="0"/>
          </a:p>
          <a:p>
            <a:pPr indent="0" marL="0">
              <a:lnSpc>
                <a:spcPts val="1160"/>
              </a:lnSpc>
              <a:buNone/>
            </a:pPr>
            <a:r>
              <a:rPr lang="en-US" sz="9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строк: 1</a:t>
            </a:r>
            <a:endParaRPr lang="en-US" sz="900" dirty="0"/>
          </a:p>
          <a:p>
            <a:pPr indent="0" marL="0">
              <a:lnSpc>
                <a:spcPts val="1160"/>
              </a:lnSpc>
              <a:buNone/>
            </a:pPr>
            <a:r>
              <a:rPr lang="en-US" sz="900" dirty="0">
                <a:solidFill>
                  <a:srgbClr val="1E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ts val="1160"/>
              </a:lnSpc>
              <a:buNone/>
            </a:pPr>
            <a:r>
              <a:rPr lang="en-US" sz="9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           | ...9011</a:t>
            </a:r>
            <a:endParaRPr lang="en-US" sz="900" dirty="0"/>
          </a:p>
          <a:p>
            <a:pPr indent="0" marL="0">
              <a:lnSpc>
                <a:spcPts val="1160"/>
              </a:lnSpc>
              <a:buNone/>
            </a:pPr>
            <a:r>
              <a:rPr lang="en-US" sz="9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номер договора    | ["BP33431","BP70746",</a:t>
            </a:r>
            <a:endParaRPr lang="en-US" sz="900" dirty="0"/>
          </a:p>
          <a:p>
            <a:pPr indent="0" marL="0">
              <a:lnSpc>
                <a:spcPts val="1160"/>
              </a:lnSpc>
              <a:buNone/>
            </a:pPr>
            <a:r>
              <a:rPr lang="en-US" sz="9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|  "BP79140"]</a:t>
            </a:r>
            <a:endParaRPr lang="en-US" sz="900" dirty="0"/>
          </a:p>
          <a:p>
            <a:pPr indent="0" marL="0">
              <a:lnSpc>
                <a:spcPts val="1160"/>
              </a:lnSpc>
              <a:buNone/>
            </a:pPr>
            <a:r>
              <a:rPr lang="en-US" sz="9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ФИО               | [FULL_NAME_1]</a:t>
            </a:r>
            <a:endParaRPr lang="en-US" sz="900" dirty="0"/>
          </a:p>
          <a:p>
            <a:pPr indent="0" marL="0">
              <a:lnSpc>
                <a:spcPts val="1160"/>
              </a:lnSpc>
              <a:buNone/>
            </a:pPr>
            <a:r>
              <a:rPr lang="en-US" sz="9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компании       | 825</a:t>
            </a:r>
            <a:endParaRPr lang="en-US" sz="900" dirty="0"/>
          </a:p>
          <a:p>
            <a:pPr indent="0" marL="0">
              <a:lnSpc>
                <a:spcPts val="1160"/>
              </a:lnSpc>
              <a:buNone/>
            </a:pPr>
            <a:r>
              <a:rPr lang="en-US" sz="9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ответственного | 8</a:t>
            </a:r>
            <a:endParaRPr lang="en-US" sz="900" dirty="0"/>
          </a:p>
          <a:p>
            <a:pPr indent="0" marL="0">
              <a:lnSpc>
                <a:spcPts val="1160"/>
              </a:lnSpc>
              <a:buNone/>
            </a:pPr>
            <a:r>
              <a:rPr lang="en-US" sz="9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дата создания     | 17.04.2023 15:25:29</a:t>
            </a:r>
            <a:endParaRPr lang="en-US" sz="900" dirty="0"/>
          </a:p>
          <a:p>
            <a:pPr indent="0" marL="0">
              <a:lnSpc>
                <a:spcPts val="1160"/>
              </a:lnSpc>
              <a:buNone/>
            </a:pPr>
            <a:r>
              <a:rPr lang="en-US" sz="9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bo             | 44811</a:t>
            </a:r>
            <a:endParaRPr lang="en-US" sz="900" dirty="0"/>
          </a:p>
          <a:p>
            <a:pPr indent="0" marL="0">
              <a:lnSpc>
                <a:spcPts val="1160"/>
              </a:lnSpc>
              <a:buNone/>
            </a:pPr>
            <a:r>
              <a:rPr lang="en-US" sz="900" dirty="0">
                <a:solidFill>
                  <a:srgbClr val="1E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ts val="1160"/>
              </a:lnSpc>
              <a:buNone/>
            </a:pPr>
            <a:r>
              <a:rPr lang="en-US" sz="900" b="1" dirty="0">
                <a:solidFill>
                  <a:srgbClr val="84B5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[ВОПРОС]</a:t>
            </a:r>
            <a:endParaRPr lang="en-US" sz="900" dirty="0"/>
          </a:p>
          <a:p>
            <a:pPr indent="0" marL="0">
              <a:lnSpc>
                <a:spcPts val="1160"/>
              </a:lnSpc>
              <a:buNone/>
            </a:pPr>
            <a:r>
              <a:rPr lang="en-US" sz="9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покажи первые 10 записей из таблицы</a:t>
            </a:r>
            <a:endParaRPr lang="en-US" sz="900" dirty="0"/>
          </a:p>
          <a:p>
            <a:pPr indent="0" marL="0">
              <a:lnSpc>
                <a:spcPts val="1160"/>
              </a:lnSpc>
              <a:buNone/>
            </a:pPr>
            <a:r>
              <a:rPr lang="en-US" sz="9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 bitrix где номер договора BP33431</a:t>
            </a:r>
            <a:endParaRPr lang="en-US" sz="900" dirty="0"/>
          </a:p>
          <a:p>
            <a:pPr indent="0" marL="0">
              <a:lnSpc>
                <a:spcPts val="1160"/>
              </a:lnSpc>
              <a:buNone/>
            </a:pPr>
            <a:r>
              <a:rPr lang="en-US" sz="900" dirty="0">
                <a:solidFill>
                  <a:srgbClr val="1E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ts val="1160"/>
              </a:lnSpc>
              <a:buNone/>
            </a:pPr>
            <a:r>
              <a:rPr lang="en-US" sz="900" i="1" dirty="0">
                <a:solidFill>
                  <a:srgbClr val="7E9A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фрагментов документов в этом</a:t>
            </a:r>
            <a:endParaRPr lang="en-US" sz="900" dirty="0"/>
          </a:p>
          <a:p>
            <a:pPr indent="0" marL="0">
              <a:lnSpc>
                <a:spcPts val="1160"/>
              </a:lnSpc>
              <a:buNone/>
            </a:pPr>
            <a:r>
              <a:rPr lang="en-US" sz="900" i="1" dirty="0">
                <a:solidFill>
                  <a:srgbClr val="7E9A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промпте нет вообще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02920" y="5614416"/>
            <a:ext cx="11185855" cy="548640"/>
          </a:xfrm>
          <a:prstGeom prst="roundRect">
            <a:avLst>
              <a:gd name="adj" fmla="val 15000"/>
            </a:avLst>
          </a:prstGeom>
          <a:solidFill>
            <a:srgbClr val="E6EEF1"/>
          </a:solidFill>
          <a:ln w="12700">
            <a:solidFill>
              <a:srgbClr val="BCD1D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2376" y="5687568"/>
            <a:ext cx="107469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видит модель:  </a:t>
            </a:r>
            <a:pPr indent="0" marL="0">
              <a:buNone/>
            </a:pPr>
            <a:r>
              <a:rPr lang="en-US" sz="11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«похожий по смыслу абзац», а конкретную запись с именами колонок. Ответ сотруднику — это уже пересказ этой записи обычными словами.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502920" y="6272784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реальная, из ответа платформы. ID показан частично («…9011») и приведён иллюстративно. Поле «Номер договора клиента» хранит массив: BP33431 указан в записи вместе с BP70746 и BP79140 — поэтому фильтр по одному номеру возвращает запись целиком.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Два разных механизма извлечения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41832"/>
            <a:ext cx="11185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Оба кладут контекст в промпт, но устроены принципиально по-разному. Что применить к конкретному вопросу — решает роутинг, а не сотрудник.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2971800" y="1481328"/>
            <a:ext cx="4389120" cy="603504"/>
          </a:xfrm>
          <a:prstGeom prst="roundRect">
            <a:avLst>
              <a:gd name="adj" fmla="val 13636"/>
            </a:avLst>
          </a:prstGeom>
          <a:solidFill>
            <a:srgbClr val="E7EFEA"/>
          </a:solidFill>
          <a:ln w="22225">
            <a:solidFill>
              <a:srgbClr val="84B59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154680" y="155448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Примеры 1–2 · поиск по документам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3154680" y="1792224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9A2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семантическая близость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498080" y="1481328"/>
            <a:ext cx="4187952" cy="603504"/>
          </a:xfrm>
          <a:prstGeom prst="roundRect">
            <a:avLst>
              <a:gd name="adj" fmla="val 13636"/>
            </a:avLst>
          </a:prstGeom>
          <a:solidFill>
            <a:srgbClr val="E6EEF1"/>
          </a:solidFill>
          <a:ln w="22225">
            <a:solidFill>
              <a:srgbClr val="BCD1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80960" y="1554480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 3 · запрос к таблице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1792224"/>
            <a:ext cx="3822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структурный запрос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2176272"/>
            <a:ext cx="2331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4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сопоставляется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971800" y="2176272"/>
            <a:ext cx="4389120" cy="621792"/>
          </a:xfrm>
          <a:prstGeom prst="roundRect">
            <a:avLst>
              <a:gd name="adj" fmla="val 13235"/>
            </a:avLst>
          </a:prstGeom>
          <a:solidFill>
            <a:srgbClr val="FBFCFB"/>
          </a:solidFill>
          <a:ln w="12700">
            <a:solidFill>
              <a:srgbClr val="D3E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154680" y="2176272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Отпечаток смысла вопроса с отпечатками фрагментов.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498080" y="2176272"/>
            <a:ext cx="4187952" cy="621792"/>
          </a:xfrm>
          <a:prstGeom prst="roundRect">
            <a:avLst>
              <a:gd name="adj" fmla="val 13235"/>
            </a:avLst>
          </a:prstGeom>
          <a:solidFill>
            <a:srgbClr val="FBFCFB"/>
          </a:solidFill>
          <a:ln w="12700">
            <a:solidFill>
              <a:srgbClr val="D3E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680960" y="2176272"/>
            <a:ext cx="38221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Условие в запросе со значениями в колонках.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2871216"/>
            <a:ext cx="2331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4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Единица контекста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971800" y="2871216"/>
            <a:ext cx="4389120" cy="621792"/>
          </a:xfrm>
          <a:prstGeom prst="roundRect">
            <a:avLst>
              <a:gd name="adj" fmla="val 13235"/>
            </a:avLst>
          </a:prstGeom>
          <a:solidFill>
            <a:srgbClr val="F7FAF8"/>
          </a:solidFill>
          <a:ln w="12700">
            <a:solidFill>
              <a:srgbClr val="D3E0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154680" y="2871216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Фрагмент связного текста — абзац, раздел.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498080" y="2871216"/>
            <a:ext cx="4187952" cy="621792"/>
          </a:xfrm>
          <a:prstGeom prst="roundRect">
            <a:avLst>
              <a:gd name="adj" fmla="val 13235"/>
            </a:avLst>
          </a:prstGeom>
          <a:solidFill>
            <a:srgbClr val="F7FAF8"/>
          </a:solidFill>
          <a:ln w="12700">
            <a:solidFill>
              <a:srgbClr val="D3E0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680960" y="2871216"/>
            <a:ext cx="38221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Строка таблицы с типизированными колонками.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3566160"/>
            <a:ext cx="2331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4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отбирается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971800" y="3566160"/>
            <a:ext cx="4389120" cy="621792"/>
          </a:xfrm>
          <a:prstGeom prst="roundRect">
            <a:avLst>
              <a:gd name="adj" fmla="val 13235"/>
            </a:avLst>
          </a:prstGeom>
          <a:solidFill>
            <a:srgbClr val="FBFCFB"/>
          </a:solidFill>
          <a:ln w="12700">
            <a:solidFill>
              <a:srgbClr val="D3E0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54680" y="3566160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 ближайших векторов, затем политики ранжирования.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498080" y="3566160"/>
            <a:ext cx="4187952" cy="621792"/>
          </a:xfrm>
          <a:prstGeom prst="roundRect">
            <a:avLst>
              <a:gd name="adj" fmla="val 13235"/>
            </a:avLst>
          </a:prstGeom>
          <a:solidFill>
            <a:srgbClr val="FBFCFB"/>
          </a:solidFill>
          <a:ln w="12700">
            <a:solidFill>
              <a:srgbClr val="D3E0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680960" y="3566160"/>
            <a:ext cx="38221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/ JOIN / LIMIT — детерминированный результат.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4261104"/>
            <a:ext cx="2331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4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Чем обычно ломается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2971800" y="4261104"/>
            <a:ext cx="4389120" cy="621792"/>
          </a:xfrm>
          <a:prstGeom prst="roundRect">
            <a:avLst>
              <a:gd name="adj" fmla="val 13235"/>
            </a:avLst>
          </a:prstGeom>
          <a:solidFill>
            <a:srgbClr val="F7FAF8"/>
          </a:solidFill>
          <a:ln w="12700">
            <a:solidFill>
              <a:srgbClr val="D3E0D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154680" y="4261104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Неудачная нарезка, слабое совпадение, слишком маленький top-K.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498080" y="4261104"/>
            <a:ext cx="4187952" cy="621792"/>
          </a:xfrm>
          <a:prstGeom prst="roundRect">
            <a:avLst>
              <a:gd name="adj" fmla="val 13235"/>
            </a:avLst>
          </a:prstGeom>
          <a:solidFill>
            <a:srgbClr val="F7FAF8"/>
          </a:solidFill>
          <a:ln w="12700">
            <a:solidFill>
              <a:srgbClr val="D3E0D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80960" y="4261104"/>
            <a:ext cx="38221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в сгенерированном SQL, не та колонка или таблица.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4956048"/>
            <a:ext cx="2331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4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выглядит «пусто»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2971800" y="4956048"/>
            <a:ext cx="4389120" cy="621792"/>
          </a:xfrm>
          <a:prstGeom prst="roundRect">
            <a:avLst>
              <a:gd name="adj" fmla="val 13235"/>
            </a:avLst>
          </a:prstGeom>
          <a:solidFill>
            <a:srgbClr val="FBFCFB"/>
          </a:solidFill>
          <a:ln w="12700">
            <a:solidFill>
              <a:srgbClr val="D3E0D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154680" y="495604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Что-то похожее нашлось, но не по делу.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498080" y="4956048"/>
            <a:ext cx="4187952" cy="621792"/>
          </a:xfrm>
          <a:prstGeom prst="roundRect">
            <a:avLst>
              <a:gd name="adj" fmla="val 13235"/>
            </a:avLst>
          </a:prstGeom>
          <a:solidFill>
            <a:srgbClr val="FBFCFB"/>
          </a:solidFill>
          <a:ln w="12700">
            <a:solidFill>
              <a:srgbClr val="D3E0D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680960" y="4956048"/>
            <a:ext cx="38221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Запрос отработал и вернул ноль строк.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02920" y="5779008"/>
            <a:ext cx="11185855" cy="676656"/>
          </a:xfrm>
          <a:prstGeom prst="roundRect">
            <a:avLst>
              <a:gd name="adj" fmla="val 12162"/>
            </a:avLst>
          </a:prstGeom>
          <a:solidFill>
            <a:srgbClr val="F1F6F3"/>
          </a:solidFill>
          <a:ln w="12700">
            <a:solidFill>
              <a:srgbClr val="D3E0D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22376" y="5870448"/>
            <a:ext cx="1074694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Выбирает не пользователь: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показанный ранее роутинг по триггерным фразам решает, пойдёт вопрос в SQL, в код или в текст документов. Формулировка вопроса и есть то, что переключает механизм.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 4: файл, приложенный к сообщению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41832"/>
            <a:ext cx="11185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Третий путь: содержимое не ищут в индексе и не запрашивают из базы — его читают здесь и сейчас, из файла, который сотрудник прикрепил к своему сообщению.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3931920" cy="2011680"/>
          </a:xfrm>
          <a:prstGeom prst="roundRect">
            <a:avLst>
              <a:gd name="adj" fmla="val 5455"/>
            </a:avLst>
          </a:prstGeom>
          <a:solidFill>
            <a:srgbClr val="F1F6F3"/>
          </a:solidFill>
          <a:ln w="12700">
            <a:solidFill>
              <a:srgbClr val="84B59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0934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Сообщение в чате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1920240"/>
            <a:ext cx="2148840" cy="402336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2700">
            <a:solidFill>
              <a:srgbClr val="D3E0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2011680"/>
            <a:ext cx="182880" cy="219456"/>
          </a:xfrm>
          <a:prstGeom prst="roundRect">
            <a:avLst>
              <a:gd name="adj" fmla="val 20000"/>
            </a:avLst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1920240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smeta_2026.xlsx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432304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«Посчитай итоговую сумму по приложенному файлу и покажи разбивку по разделам.»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07238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вложение — часть этого сообщения, а не документ коллекции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3630168"/>
            <a:ext cx="329184" cy="329184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02920" y="3630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3593592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4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Файл читается сразу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3831336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Синхронно, в рамках этого сообщения. Ничего не индексируется и не попадает в коллекцию.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2920" y="4288536"/>
            <a:ext cx="329184" cy="329184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02920" y="42885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425196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4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идёт в контекст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4489704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Извлечённое содержимое подставляется в промпт рядом с текстом сообщения.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4946904"/>
            <a:ext cx="329184" cy="329184"/>
          </a:xfrm>
          <a:prstGeom prst="ellipse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02920" y="4946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60120" y="491032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4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Действует только здесь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60120" y="5148072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вопрос, заданный без этого вложения, файла уже не увидит.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09160" y="1481328"/>
            <a:ext cx="6979615" cy="4105656"/>
          </a:xfrm>
          <a:prstGeom prst="roundRect">
            <a:avLst>
              <a:gd name="adj" fmla="val 2004"/>
            </a:avLst>
          </a:prstGeom>
          <a:solidFill>
            <a:srgbClr val="FBFCFB"/>
          </a:solidFill>
          <a:ln w="12700">
            <a:solidFill>
              <a:srgbClr val="D3E0D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4928616" y="1609344"/>
            <a:ext cx="65407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предлагает выбрать кнопка вложения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4928616" y="1920240"/>
            <a:ext cx="65407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Документы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928616" y="2139696"/>
            <a:ext cx="65407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.pdf  ·  .docx  ·  .doc  ·  .eml  ·  .html  ·  .htm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928616" y="2505456"/>
            <a:ext cx="65407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Таблицы и презентации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928616" y="2724912"/>
            <a:ext cx="65407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.xlsx  ·  .xls  ·  .pptx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928616" y="3090672"/>
            <a:ext cx="65407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и разметка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928616" y="3310128"/>
            <a:ext cx="65407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.txt  ·  .md  ·  .markdown  ·  .drawio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4928616" y="3675888"/>
            <a:ext cx="65407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и запросы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4928616" y="3895344"/>
            <a:ext cx="65407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.json  ·  .yaml  ·  .yml  ·  .sql  ·  .ddl  ·  .pgsql  ·  .plsql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928616" y="4261104"/>
            <a:ext cx="65407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4928616" y="4480560"/>
            <a:ext cx="65407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.py  ·  .ts  ·  .tsx  ·  .js  ·  .jsx  ·  .java  ·  .go  ·  .rb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4928616" y="4846320"/>
            <a:ext cx="65407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Изображения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4928616" y="5065776"/>
            <a:ext cx="65407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.png  ·  .jpg  ·  .jpeg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02920" y="5705856"/>
            <a:ext cx="11185855" cy="676656"/>
          </a:xfrm>
          <a:prstGeom prst="roundRect">
            <a:avLst>
              <a:gd name="adj" fmla="val 12162"/>
            </a:avLst>
          </a:prstGeom>
          <a:solidFill>
            <a:srgbClr val="F1F6F3"/>
          </a:solidFill>
          <a:ln w="12700">
            <a:solidFill>
              <a:srgbClr val="D3E0D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2376" y="5797296"/>
            <a:ext cx="1074694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Важная оговорка: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список из атрибута accept у поля загрузки — то, что предлагает выбрать диалог браузера. Он шире, чем то, что фактически принимает бэкенд: два формата из этого списка отклоняются.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Исключение: .doc и .xls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41832"/>
            <a:ext cx="11185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Одни и те же файлы: приложенные к сообщению в чате — отклоняются, загруженные в коллекцию документов — работают. Это осознанное решение, а не сбой.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5486400" cy="3566160"/>
          </a:xfrm>
          <a:prstGeom prst="roundRect">
            <a:avLst>
              <a:gd name="adj" fmla="val 2308"/>
            </a:avLst>
          </a:prstGeom>
          <a:solidFill>
            <a:srgbClr val="F6EDE9"/>
          </a:solidFill>
          <a:ln w="19050">
            <a:solidFill>
              <a:srgbClr val="E2C7B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0664" y="1719072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B0563F"/>
          </a:solidFill>
          <a:ln w="12700">
            <a:solidFill>
              <a:srgbClr val="B056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0664" y="171907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отклоняется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40664" y="2157984"/>
            <a:ext cx="5010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Вложение в чат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2578608"/>
            <a:ext cx="501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5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.doc      .xls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962656"/>
            <a:ext cx="4937760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Файл отклоняется на шлюзе — до того, как его содержимое дойдёт до модели.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 получает явную ошибку, а не молчаливый пропуск вложения.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Причина словами разработчика: «это бинарники, нафига их туда отправлять».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Современные .docx и .xlsx по этому же пути принимаются нормально.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1481328"/>
            <a:ext cx="5486400" cy="3566160"/>
          </a:xfrm>
          <a:prstGeom prst="roundRect">
            <a:avLst>
              <a:gd name="adj" fmla="val 2308"/>
            </a:avLst>
          </a:prstGeom>
          <a:solidFill>
            <a:srgbClr val="F1F6F3"/>
          </a:solidFill>
          <a:ln w="19050">
            <a:solidFill>
              <a:srgbClr val="84B59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37376" y="1719072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7376" y="171907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принимается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37376" y="2157984"/>
            <a:ext cx="5010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Загрузка в коллекцию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37376" y="2578608"/>
            <a:ext cx="501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080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.doc      .xls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2962656"/>
            <a:ext cx="4937760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Здесь файл проходит индексацию, а её первый шаг — извлечение текста.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Извлечение делается для любого формата, поэтому ещё два бинарных формата не стоят ничего дополнительно.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тот же шаг, из-за которого документы режут на фрагменты заранее, а не в момент вопроса.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 файл живёт как обычный документ базы знаний и ищется по смыслу.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185855" cy="914400"/>
          </a:xfrm>
          <a:prstGeom prst="roundRect">
            <a:avLst>
              <a:gd name="adj" fmla="val 9000"/>
            </a:avLst>
          </a:prstGeom>
          <a:solidFill>
            <a:srgbClr val="E6EEF1"/>
          </a:solidFill>
          <a:ln w="12700">
            <a:solidFill>
              <a:srgbClr val="BCD1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5303520"/>
            <a:ext cx="1074694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что платит каждый путь: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вложение в чат оптимизировано под синхронный ответ здесь и сейчас — платить конверсией бинарного формата на каждом сообщении оно не хочет. Индексация коллекции — разовый асинхронный шаг, где извлечение текста делается в любом случае, поэтому там эти форматы поддержаны.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621792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Поведение подтверждено разработчиком платформы; формулировка про бинарники — прямая цитата. Ограничение касается только устаревших бинарных форматов .doc и .xls, но не .docx и .xlsx.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Четвёртый путь: картинки и сканы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41832"/>
            <a:ext cx="11185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Картинка и скан без текстового слоя не превращаются в контекст сами по себе — их должна прочитать отдельная модель, умеющая смотреть на изображение.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2590724" cy="1847088"/>
          </a:xfrm>
          <a:prstGeom prst="roundRect">
            <a:avLst>
              <a:gd name="adj" fmla="val 4455"/>
            </a:avLst>
          </a:prstGeom>
          <a:solidFill>
            <a:srgbClr val="FBFCFB"/>
          </a:solidFill>
          <a:ln w="12700">
            <a:solidFill>
              <a:srgbClr val="D3E0D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69682" y="1307592"/>
            <a:ext cx="457200" cy="457200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569682" y="1307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9224" y="1956816"/>
            <a:ext cx="22981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Изображение или скан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9224" y="2523744"/>
            <a:ext cx="22981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PNG, JPG или PDF без текстового слоя. Извлекать из файла нечего — текста в нём нет.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 rot="5400000">
            <a:off x="3130220" y="2359152"/>
            <a:ext cx="201168" cy="201168"/>
          </a:xfrm>
          <a:prstGeom prst="triangle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67964" y="1536192"/>
            <a:ext cx="2590724" cy="1847088"/>
          </a:xfrm>
          <a:prstGeom prst="roundRect">
            <a:avLst>
              <a:gd name="adj" fmla="val 4455"/>
            </a:avLst>
          </a:prstGeom>
          <a:solidFill>
            <a:srgbClr val="E6EEF1"/>
          </a:solidFill>
          <a:ln w="12700">
            <a:solidFill>
              <a:srgbClr val="BCD1D9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34726" y="1307592"/>
            <a:ext cx="457200" cy="457200"/>
          </a:xfrm>
          <a:prstGeom prst="ellipse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434726" y="1307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514268" y="1956816"/>
            <a:ext cx="22981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Мультимодальная модель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514268" y="2523744"/>
            <a:ext cx="22981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Роль default_multimodal: отдельная модель, умеющая читать содержимое картинки.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 rot="5400000">
            <a:off x="5995264" y="2359152"/>
            <a:ext cx="201168" cy="201168"/>
          </a:xfrm>
          <a:prstGeom prst="triangle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33008" y="1536192"/>
            <a:ext cx="2590724" cy="1847088"/>
          </a:xfrm>
          <a:prstGeom prst="roundRect">
            <a:avLst>
              <a:gd name="adj" fmla="val 4455"/>
            </a:avLst>
          </a:prstGeom>
          <a:solidFill>
            <a:srgbClr val="FBFCFB"/>
          </a:solidFill>
          <a:ln w="12700">
            <a:solidFill>
              <a:srgbClr val="D3E0D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299769" y="1307592"/>
            <a:ext cx="457200" cy="457200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299769" y="1307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79312" y="1956816"/>
            <a:ext cx="22981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Распознанный текст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379312" y="2523744"/>
            <a:ext cx="22981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её работы — обычный текст, который уже можно положить в промпт.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 rot="5400000">
            <a:off x="8860307" y="2359152"/>
            <a:ext cx="201168" cy="201168"/>
          </a:xfrm>
          <a:prstGeom prst="triangle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98051" y="1536192"/>
            <a:ext cx="2590724" cy="1847088"/>
          </a:xfrm>
          <a:prstGeom prst="roundRect">
            <a:avLst>
              <a:gd name="adj" fmla="val 4455"/>
            </a:avLst>
          </a:prstGeom>
          <a:solidFill>
            <a:srgbClr val="FBFCFB"/>
          </a:solidFill>
          <a:ln w="12700">
            <a:solidFill>
              <a:srgbClr val="D3E0D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0164813" y="1307592"/>
            <a:ext cx="457200" cy="457200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10164813" y="1307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244355" y="1956816"/>
            <a:ext cx="22981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Дальше как обычно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244355" y="2523744"/>
            <a:ext cx="22981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становится частью контекста этого сообщения — как у любого другого вложения.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02920" y="3602736"/>
            <a:ext cx="11185855" cy="2066544"/>
          </a:xfrm>
          <a:prstGeom prst="roundRect">
            <a:avLst>
              <a:gd name="adj" fmla="val 3982"/>
            </a:avLst>
          </a:prstGeom>
          <a:solidFill>
            <a:srgbClr val="F6EDE9"/>
          </a:solidFill>
          <a:ln w="12700">
            <a:solidFill>
              <a:srgbClr val="E2C7B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8952" y="3730752"/>
            <a:ext cx="106737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56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Наблюдение из тестирования: что бывает, когда этот путь недоступен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58952" y="4059936"/>
            <a:ext cx="10673791" cy="475488"/>
          </a:xfrm>
          <a:prstGeom prst="roundRect">
            <a:avLst>
              <a:gd name="adj" fmla="val 13462"/>
            </a:avLst>
          </a:prstGeom>
          <a:solidFill>
            <a:srgbClr val="1A333A"/>
          </a:solidFill>
          <a:ln w="12700">
            <a:solidFill>
              <a:srgbClr val="1A333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41832" y="4059936"/>
            <a:ext cx="103080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9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VLM (роль default_multimodal, провайдер VLM) — модель не отдаётся провайдером: 'Muse-Glimmer-30B' нет в /v1/models апстрима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58952" y="4663440"/>
            <a:ext cx="106737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 роль недоступна, запросы, которым она нужна, не выполняются. При этом платформа показывала не «модель недоступна», а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B05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«Сессия истекла — войдите в систему заново»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сообщение из совсем другой области.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58952" y="5120640"/>
            <a:ext cx="1067379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это в презентации про контекст: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сбой в одном конкретном пути доставки контекста может выглядеть как совершенно посторонняя проблема — например, как проблема с авторизацией.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02920" y="5797296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в тёмной рамке — цитата из панели состояния моделей платформы, снятая во время тестирования в этом проекте. Название модели приведено так, как его показывала панель.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Карта: как контекст попадает в промпт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41832"/>
            <a:ext cx="11185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пути, которыми содержимое доходит до модели. Первые два выбирает роутинг по тексту вопроса, третий и четвёртый определяет сам сотрудник — тем, что прикрепил к сообщению.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2880360" cy="713232"/>
          </a:xfrm>
          <a:prstGeom prst="roundRect">
            <a:avLst>
              <a:gd name="adj" fmla="val 11538"/>
            </a:avLst>
          </a:prstGeom>
          <a:solidFill>
            <a:srgbClr val="1A333A"/>
          </a:solidFill>
          <a:ln w="12700">
            <a:solidFill>
              <a:srgbClr val="1A333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517904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Сообщение сотрудника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2432304"/>
            <a:ext cx="2880360" cy="1316736"/>
          </a:xfrm>
          <a:prstGeom prst="roundRect">
            <a:avLst>
              <a:gd name="adj" fmla="val 6250"/>
            </a:avLst>
          </a:prstGeom>
          <a:solidFill>
            <a:srgbClr val="F1F6F3"/>
          </a:solidFill>
          <a:ln w="12700">
            <a:solidFill>
              <a:srgbClr val="D3E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56032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без вложений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52928"/>
            <a:ext cx="2514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Путь выбирает роутинг: триггерные фразы в вопросе решают, идти в таблицы или в документы.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 rot="5400000">
            <a:off x="3429000" y="2990088"/>
            <a:ext cx="201168" cy="201168"/>
          </a:xfrm>
          <a:prstGeom prst="triangle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4261104"/>
            <a:ext cx="2880360" cy="1316736"/>
          </a:xfrm>
          <a:prstGeom prst="roundRect">
            <a:avLst>
              <a:gd name="adj" fmla="val 6250"/>
            </a:avLst>
          </a:prstGeom>
          <a:solidFill>
            <a:srgbClr val="F1F6F3"/>
          </a:solidFill>
          <a:ln w="12700">
            <a:solidFill>
              <a:srgbClr val="D3E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38912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 вложение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681728"/>
            <a:ext cx="2514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Путь определяет сам файл: что именно прикрепил сотрудник и нужен ли для этого «зрячий» разбор.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 rot="5400000">
            <a:off x="3429000" y="4818888"/>
            <a:ext cx="201168" cy="201168"/>
          </a:xfrm>
          <a:prstGeom prst="triangle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1517904"/>
            <a:ext cx="3886200" cy="2048256"/>
          </a:xfrm>
          <a:prstGeom prst="roundRect">
            <a:avLst>
              <a:gd name="adj" fmla="val 4018"/>
            </a:avLst>
          </a:prstGeom>
          <a:solidFill>
            <a:srgbClr val="E7EFEA"/>
          </a:solidFill>
          <a:ln w="19050">
            <a:solidFill>
              <a:srgbClr val="84B59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877056" y="1719072"/>
            <a:ext cx="420624" cy="420624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3877056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407408" y="1719072"/>
            <a:ext cx="2916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Фрагмент документа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877056" y="2267712"/>
            <a:ext cx="34472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Семантический поиск по заранее нарезанным фрагментам коллекций. В промпт идут несколько ближайших по смыслу кусков текста.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877056" y="3182112"/>
            <a:ext cx="3447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механизм: векторная близость   ·   примеры 1–2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799832" y="1517904"/>
            <a:ext cx="3886200" cy="2048256"/>
          </a:xfrm>
          <a:prstGeom prst="roundRect">
            <a:avLst>
              <a:gd name="adj" fmla="val 4018"/>
            </a:avLst>
          </a:prstGeom>
          <a:solidFill>
            <a:srgbClr val="E6EEF1"/>
          </a:solidFill>
          <a:ln w="19050">
            <a:solidFill>
              <a:srgbClr val="BCD1D9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019288" y="1719072"/>
            <a:ext cx="420624" cy="420624"/>
          </a:xfrm>
          <a:prstGeom prst="ellipse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019288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549640" y="1719072"/>
            <a:ext cx="2916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Строки таблицы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019288" y="2267712"/>
            <a:ext cx="34472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Сгенерированный SQL-запрос к базе, выполненный через Trino (в том числе сразу к нескольким БД). В промпт идут строки результата.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019288" y="3182112"/>
            <a:ext cx="3447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механизм: структурный запрос   ·   пример 3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657600" y="3712464"/>
            <a:ext cx="3886200" cy="2048256"/>
          </a:xfrm>
          <a:prstGeom prst="roundRect">
            <a:avLst>
              <a:gd name="adj" fmla="val 4018"/>
            </a:avLst>
          </a:prstGeom>
          <a:solidFill>
            <a:srgbClr val="FBFCFB"/>
          </a:solidFill>
          <a:ln w="19050">
            <a:solidFill>
              <a:srgbClr val="D3E0D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877056" y="3913632"/>
            <a:ext cx="420624" cy="420624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3877056" y="3913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407408" y="3913632"/>
            <a:ext cx="2916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Файл в сообщении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3877056" y="4462272"/>
            <a:ext cx="34472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Вложение читается синхронно: текст извлекается и подставляется в контекст этого же сообщения. Ничего не индексируется.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877056" y="5376672"/>
            <a:ext cx="3447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механизм: чтение на лету   ·   пример 4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7799832" y="3712464"/>
            <a:ext cx="3886200" cy="2048256"/>
          </a:xfrm>
          <a:prstGeom prst="roundRect">
            <a:avLst>
              <a:gd name="adj" fmla="val 4018"/>
            </a:avLst>
          </a:prstGeom>
          <a:solidFill>
            <a:srgbClr val="FBFCFB"/>
          </a:solidFill>
          <a:ln w="19050">
            <a:solidFill>
              <a:srgbClr val="D3E0D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019288" y="3913632"/>
            <a:ext cx="420624" cy="420624"/>
          </a:xfrm>
          <a:prstGeom prst="ellipse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8019288" y="3913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549640" y="3913632"/>
            <a:ext cx="2916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Изображение или скан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019288" y="4462272"/>
            <a:ext cx="34472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Вложение без текстового слоя сначала читает мультимодальная модель (роль default_multimodal), и уже её текст идёт в промпт.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8019288" y="5376672"/>
            <a:ext cx="3447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механизм: распознавание изображения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594360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Исключение внутри пути 3: .doc и .xls через вложение в чат отклоняются, но те же файлы принимаются при загрузке в коллекцию — то есть по пути 1. Обезличивание персональных данных применяется на всех четырёх путях: перед отправкой во внешнюю модель, к тому тексту, который уже собран в промпт.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Два практических следствия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41832"/>
            <a:ext cx="11185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того, что модель видит только извлечённые фрагменты, напрямую следуют два вывода — один про безопасность, второй про качество ответов.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486400" cy="3886200"/>
          </a:xfrm>
          <a:prstGeom prst="roundRect">
            <a:avLst>
              <a:gd name="adj" fmla="val 2118"/>
            </a:avLst>
          </a:prstGeom>
          <a:solidFill>
            <a:srgbClr val="F6EDE9"/>
          </a:solidFill>
          <a:ln w="12700">
            <a:solidFill>
              <a:srgbClr val="E2C7B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0664" y="2020824"/>
            <a:ext cx="457200" cy="457200"/>
          </a:xfrm>
          <a:prstGeom prst="ellipse">
            <a:avLst/>
          </a:prstGeom>
          <a:solidFill>
            <a:srgbClr val="B0563F"/>
          </a:solidFill>
          <a:ln w="12700">
            <a:solidFill>
              <a:srgbClr val="B0563F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40664" y="2020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039112"/>
            <a:ext cx="4425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Маскировать нужно то, что уходит наружу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79192"/>
            <a:ext cx="4937760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Персональные данные заменяются метками не во всей базе знаний, а в том тексте, который отправляется во внешнюю модель.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Поэтому внутри контура остаются настоящие значения — точный поиск по ИНН или номеру договора и проверка прав работают на нормальных данных, до шлюза.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Именно так снято старое противоречие ТЗ «маскирование при индексации против точного поиска по ФИО/ИНН»: маскирование применяется только к тому, что уходит во внешнюю облачную модель.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9632" y="1783080"/>
            <a:ext cx="5486400" cy="3886200"/>
          </a:xfrm>
          <a:prstGeom prst="roundRect">
            <a:avLst>
              <a:gd name="adj" fmla="val 2118"/>
            </a:avLst>
          </a:prstGeom>
          <a:solidFill>
            <a:srgbClr val="F1F6F3"/>
          </a:solidFill>
          <a:ln w="12700">
            <a:solidFill>
              <a:srgbClr val="84B59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EA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37376" y="2020824"/>
            <a:ext cx="457200" cy="457200"/>
          </a:xfrm>
          <a:prstGeom prst="ellipse">
            <a:avLst/>
          </a:prstGeom>
          <a:solidFill>
            <a:srgbClr val="50808E"/>
          </a:solidFill>
          <a:ln w="12700">
            <a:solidFill>
              <a:srgbClr val="50808E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37376" y="2020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022592" y="2039112"/>
            <a:ext cx="4425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 отвечает только по извлечённому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73952" y="2679192"/>
            <a:ext cx="4937760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нужный фрагмент не попал в промпт, ответ будет неполным или неверным — даже когда документ лежит в базе знаний и формально «всё загружено».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Причины обычно механические: неудачная нарезка, слабое совпадение по смыслу, слишком маленький top-K, понижающая политика ранжирования.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E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Отсюда рабочая привычка: разбирая плохой ответ, сначала смотреть не на модель, а на то, какие фрагменты были извлечены.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589788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3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Формулировка следствия A опирается на архитектуру AI Guard, зафиксированную в разборе ТЗ пилота; следствие B — общее свойство механизма RAG, не особенность конкретной платформы.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442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Пять шагов — одной страницей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41832"/>
            <a:ext cx="11185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4B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из презентации останется что-то одно, пусть это будет эта последовательность — и понимание, что источник контекста на третьем шаге бывает разным.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457200" cy="457200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02920" y="1572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61288" y="15910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Вопрос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2990088" y="1591056"/>
            <a:ext cx="86986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8D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 пишет вопрос в чате обычными словами — при необходимости прикладывает файл.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161288" y="2286000"/>
            <a:ext cx="10527487" cy="0"/>
          </a:xfrm>
          <a:prstGeom prst="line">
            <a:avLst/>
          </a:prstGeom>
          <a:noFill/>
          <a:ln w="9525">
            <a:solidFill>
              <a:srgbClr val="3554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432304"/>
            <a:ext cx="457200" cy="457200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502920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61288" y="245059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Вектор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990088" y="2450592"/>
            <a:ext cx="86986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8D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превращается в отпечаток смысла — набор чисел.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161288" y="3145536"/>
            <a:ext cx="10527487" cy="0"/>
          </a:xfrm>
          <a:prstGeom prst="line">
            <a:avLst/>
          </a:prstGeom>
          <a:noFill/>
          <a:ln w="9525">
            <a:solidFill>
              <a:srgbClr val="3554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3291840"/>
            <a:ext cx="457200" cy="457200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50292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61288" y="331012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Контекст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2990088" y="3310128"/>
            <a:ext cx="86986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8D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базе находятся фрагменты документов, ближайшие по смыслу. Для Data-вопросов роутинг вместо этого выполняет SQL-запрос, а приложенный к сообщению файл читается напрямую.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161288" y="4005072"/>
            <a:ext cx="10527487" cy="0"/>
          </a:xfrm>
          <a:prstGeom prst="line">
            <a:avLst/>
          </a:prstGeom>
          <a:noFill/>
          <a:ln w="9525">
            <a:solidFill>
              <a:srgbClr val="3554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151376"/>
            <a:ext cx="457200" cy="457200"/>
          </a:xfrm>
          <a:prstGeom prst="ellipse">
            <a:avLst/>
          </a:prstGeom>
          <a:solidFill>
            <a:srgbClr val="69A297"/>
          </a:solidFill>
          <a:ln w="12700">
            <a:solidFill>
              <a:srgbClr val="69A297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02920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61288" y="416966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Промпт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4169664"/>
            <a:ext cx="86986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8D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Найденное подставляется в промпт вместе с инструкцией и вопросом. Перед отправкой во внешнюю модель персональные данные в этом тексте заменяются метками — на любом из путей.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161288" y="4864608"/>
            <a:ext cx="10527487" cy="0"/>
          </a:xfrm>
          <a:prstGeom prst="line">
            <a:avLst/>
          </a:prstGeom>
          <a:noFill/>
          <a:ln w="9525">
            <a:solidFill>
              <a:srgbClr val="35545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920" y="5010912"/>
            <a:ext cx="457200" cy="457200"/>
          </a:xfrm>
          <a:prstGeom prst="ellipse">
            <a:avLst/>
          </a:prstGeom>
          <a:solidFill>
            <a:srgbClr val="84B59F"/>
          </a:solidFill>
          <a:ln w="12700">
            <a:solidFill>
              <a:srgbClr val="84B59F"/>
            </a:solidFill>
            <a:prstDash val="solid"/>
          </a:ln>
          <a:effectLst>
            <a:outerShdw sx="100000" sy="100000" kx="0" ky="0" algn="bl" rotWithShape="0" blurRad="76200" dist="19050" dir="5400000">
              <a:srgbClr val="9AAEA8">
                <a:alpha val="2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502920" y="5010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4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61288" y="50292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Ответ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2990088" y="5029200"/>
            <a:ext cx="86986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8D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отвечает только по этому тексту. Метки восстанавливаются обратно уже внутри контура — в ответе, который видит сотрудник.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02920" y="5806440"/>
            <a:ext cx="11185855" cy="658368"/>
          </a:xfrm>
          <a:prstGeom prst="roundRect">
            <a:avLst>
              <a:gd name="adj" fmla="val 12500"/>
            </a:avLst>
          </a:prstGeom>
          <a:solidFill>
            <a:srgbClr val="2E5058"/>
          </a:solidFill>
          <a:ln w="12700">
            <a:solidFill>
              <a:srgbClr val="3C60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40664" y="5897880"/>
            <a:ext cx="1071036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4B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Одной фразой: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видит не базу знаний, а ровно тот текст, который положили в промпт: абзацы документа, строки таблицы или содержимое приложенного файла.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Как работает RAG: от вопроса до промпта модели</dc:title>
  <dc:subject>PptxGenJS Presentation</dc:subject>
  <dc:creator>Аналитическая группа</dc:creator>
  <cp:lastModifiedBy>Аналитическая группа</cp:lastModifiedBy>
  <cp:revision>1</cp:revision>
  <dcterms:created xsi:type="dcterms:W3CDTF">2026-09-07T06:42:36Z</dcterms:created>
  <dcterms:modified xsi:type="dcterms:W3CDTF">2026-09-07T06:42:36Z</dcterms:modified>
</cp:coreProperties>
</file>