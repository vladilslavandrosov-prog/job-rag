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Обучающая презентация о механизме RAG. Не коммерческое предложение — разбор того, как устроен путь от вопроса до промпта.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Опорная схема презентации. Все следующие слайды разворачивают шаги 3-5.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нарезка происходит заранее, при загрузке. Размеры фрагментов — иллюстративные.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Легенда визуального языка: документ / извлечённый фрагмент / промпт. Дальше эти три фигуры повторяются в обоих примерах.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Шаги 1-3 на реальных данных. Документ короткий, поэтому фрагмент = документ целиком.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Показать: маскируется то, что уходит наружу. Дефекты PHONE_1 и PERSON_2 — известные, разобраны в case-16, здесь только упоминание.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то, что модель видит, — это один текст из трёх частей.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Деанонимизация происходит в ответе сотруднику, а не в том, что ушло наружу.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ко второму примеру: показать документ целиком и вопрос до извлечения.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визуальный контраст: три серых раздела и один зелёный. Серые в модель не уходили.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Механизмы задокументированы в kalibrovka-politiki-poiska.md: политики ранжирования, планировщик/реплан, роутинг.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вывода: маскирование на выходе наружу; качество ответа определяется извлечением.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Итоговая опорная страница — та же схема, что на слайде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9144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6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Обучающий разбор механизма · пилот «Камерата»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371600"/>
            <a:ext cx="9509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работает RAG: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вопроса до промпта модели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200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именно происходит между вопросом сотрудника в чате и ответом модели: как документы превращаются во фрагменты, как поиск выбирает нужные и где в этой цепочке стоит маскирование персональных данных.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1984248" y="5029200"/>
            <a:ext cx="146304" cy="146304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4892040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42316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53512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5400000">
            <a:off x="3904488" y="5029200"/>
            <a:ext cx="146304" cy="146304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892040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4340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73752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rot="5400000">
            <a:off x="5824728" y="5029200"/>
            <a:ext cx="146304" cy="146304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892040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26364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93992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rot="5400000">
            <a:off x="7744968" y="5029200"/>
            <a:ext cx="146304" cy="146304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4892040"/>
            <a:ext cx="420624" cy="420624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18388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714232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58064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Сентябрь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Весь механизм в одной картинке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шагов, которые проходит каждый вопрос сотрудника. Всё остальное в этой презентации — подробности одного из них.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011680" cy="3154680"/>
          </a:xfrm>
          <a:prstGeom prst="roundRect">
            <a:avLst>
              <a:gd name="adj" fmla="val 4091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6916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80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230428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871216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задаёт вопрос в чате обычными словами — без ключевых слов и синтаксиса поиска.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2551176" y="3396996"/>
            <a:ext cx="201168" cy="201168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920240"/>
            <a:ext cx="2011680" cy="3154680"/>
          </a:xfrm>
          <a:prstGeom prst="roundRect">
            <a:avLst>
              <a:gd name="adj" fmla="val 4091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6916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66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30428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 вопроса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2871216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превращается в набор чисел — «отпечаток смысла» (эмбеддинг).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37176" y="3396996"/>
            <a:ext cx="201168" cy="201168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920240"/>
            <a:ext cx="2011680" cy="3154680"/>
          </a:xfrm>
          <a:prstGeom prst="roundRect">
            <a:avLst>
              <a:gd name="adj" fmla="val 4091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16916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52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230428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фрагментов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221224" y="2871216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ищет в векторной базе фрагменты документов, ближайшие по смыслу к этому отпечатку.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123176" y="3396996"/>
            <a:ext cx="201168" cy="201168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920240"/>
            <a:ext cx="2011680" cy="3154680"/>
          </a:xfrm>
          <a:prstGeom prst="roundRect">
            <a:avLst>
              <a:gd name="adj" fmla="val 4091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6916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138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07224" y="230428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Сборка промпта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507224" y="2871216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лучших фрагментов подставляются в промпт рядом с вопросом и инструкцией.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5400000">
            <a:off x="9409176" y="3396996"/>
            <a:ext cx="201168" cy="201168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1920240"/>
            <a:ext cx="2011680" cy="3154680"/>
          </a:xfrm>
          <a:prstGeom prst="roundRect">
            <a:avLst>
              <a:gd name="adj" fmla="val 4091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24160" y="1691640"/>
            <a:ext cx="457200" cy="4572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424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93224" y="230428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модели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9793224" y="2871216"/>
            <a:ext cx="1719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отвечает, опираясь только на подставленные фрагменты, а не на всю базу знаний.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60920" y="5349240"/>
            <a:ext cx="4297680" cy="786384"/>
          </a:xfrm>
          <a:prstGeom prst="roundRect">
            <a:avLst>
              <a:gd name="adj" fmla="val 10465"/>
            </a:avLst>
          </a:prstGeom>
          <a:solidFill>
            <a:srgbClr val="F6EDE9"/>
          </a:solidFill>
          <a:ln w="12700">
            <a:solidFill>
              <a:srgbClr val="E2C7B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25512" y="5422392"/>
            <a:ext cx="3968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4 и 5: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отправкой во внешнюю модель персональные данные в собранном промпте заменяются на метки-плейсхолдеры.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5349240"/>
            <a:ext cx="6583680" cy="786384"/>
          </a:xfrm>
          <a:prstGeom prst="roundRect">
            <a:avLst>
              <a:gd name="adj" fmla="val 10465"/>
            </a:avLst>
          </a:prstGeom>
          <a:solidFill>
            <a:srgbClr val="F1F6F3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" y="5422392"/>
            <a:ext cx="6254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«читает» базу знаний. Она видит ровно те несколько фрагментов, которые положил в промпт поиск.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документы режут на фрагменты заранее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Индексация происходит один раз, при загрузке документа. В момент вопроса ничего не режется и не перечитывается — поиск идёт уже по готовым фрагментам.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329184" cy="32918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276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целиком искать нечем.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90195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Отпечаток смысла у документа на 40 страниц — усреднённый и бесполезный: он «про всё сразу», а значит ни к какому конкретному вопросу не близок.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871216"/>
            <a:ext cx="329184" cy="329184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2920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— это кусок связного текста.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0896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Абзац, раздел, несколько предложений подряд. У каждого свой отдельный отпечаток смысла.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78224"/>
            <a:ext cx="329184" cy="32918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41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Фрагменты перекрываются.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31596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куски берут внахлёст, чтобы мысль, разорванная границей фрагмента, не потерялась.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285232"/>
            <a:ext cx="329184" cy="329184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2920" y="5285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248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промпт попадает горстка фрагментов.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52297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документ, не раздел «на всякий случай» — только несколько ближайших по смыслу кусков.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645920"/>
            <a:ext cx="2103120" cy="3794760"/>
          </a:xfrm>
          <a:prstGeom prst="roundRect">
            <a:avLst>
              <a:gd name="adj" fmla="val 3913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36792" y="17922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Документ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36792" y="2212848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2377440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2542032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2706624"/>
            <a:ext cx="109728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2871216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3035808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3200400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3364992"/>
            <a:ext cx="109728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3529584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3694176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36792" y="3858768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36792" y="4023360"/>
            <a:ext cx="109728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87952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4352544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4517136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36792" y="4681728"/>
            <a:ext cx="109728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4846320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5010912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36792" y="5175504"/>
            <a:ext cx="1773936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30768" y="3401568"/>
            <a:ext cx="402336" cy="256032"/>
          </a:xfrm>
          <a:prstGeom prst="rightArrow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84464" y="3712464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</a:t>
            </a:r>
            <a:endParaRPr lang="en-US" sz="800" dirty="0"/>
          </a:p>
          <a:p>
            <a:pPr algn="ctr" indent="0" marL="0">
              <a:lnSpc>
                <a:spcPts val="950"/>
              </a:lnSpc>
              <a:buNone/>
            </a:pPr>
            <a:r>
              <a:rPr lang="en-US" sz="8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индексации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006840" y="1645920"/>
            <a:ext cx="2679192" cy="786384"/>
          </a:xfrm>
          <a:prstGeom prst="roundRect">
            <a:avLst>
              <a:gd name="adj" fmla="val 10465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34856" y="17282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1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9134856" y="1965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положения…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134856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[ 0.14  −0.62  0.09  … ]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006840" y="2651760"/>
            <a:ext cx="2679192" cy="786384"/>
          </a:xfrm>
          <a:prstGeom prst="roundRect">
            <a:avLst>
              <a:gd name="adj" fmla="val 10465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134856" y="2734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2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134856" y="29718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к…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134856" y="31821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[ 0.14  −0.62  0.09  …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006840" y="3657600"/>
            <a:ext cx="2679192" cy="786384"/>
          </a:xfrm>
          <a:prstGeom prst="roundRect">
            <a:avLst>
              <a:gd name="adj" fmla="val 10465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34856" y="37398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3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9134856" y="39776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расчёта…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134856" y="4187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[ 0.14  −0.62  0.09  … ]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006840" y="4663440"/>
            <a:ext cx="2679192" cy="786384"/>
          </a:xfrm>
          <a:prstGeom prst="roundRect">
            <a:avLst>
              <a:gd name="adj" fmla="val 10465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134856" y="4745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4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9134856" y="4983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Библиография…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9134856" y="5193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A2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[ 0.14  −0.62  0.09  … ]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9006840" y="5541264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фрагмента —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отпечаток смысла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02920" y="6089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иллюстративная. Точные параметры нарезки RAG-индекса платформы у нас не задокументированы; для базы секретов в документации платформы указано ~400 токенов на фрагмент с перекрытием 25% — порядок величины примерно такой же.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слов и три фигуры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— термины, которые дальше встретятся. Справа — условные обозначения, одинаковые на всех схемах этой презентации.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7472" cy="34747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16093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 (чанк)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18653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Кусок документа, который индексируется и ищется как самостоятельная единица.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15184"/>
            <a:ext cx="347472" cy="347472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29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5786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834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 текста числами: близкие по смыслу тексты дают близкие наборы чисел.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547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близость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8039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«насколько про одно и то же». Не совпадение слов — совпадение смысла.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553712"/>
            <a:ext cx="347472" cy="347472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02920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4517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47731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лучших фрагментов забрать из поиска в промпт. Обычно единицы, не десятки.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22976"/>
            <a:ext cx="347472" cy="347472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02920" y="5522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486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742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текст, который реально уходит в модель: инструкция + фрагменты + вопрос.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572768"/>
            <a:ext cx="5513832" cy="4572000"/>
          </a:xfrm>
          <a:prstGeom prst="roundRect">
            <a:avLst>
              <a:gd name="adj" fmla="val 1800"/>
            </a:avLst>
          </a:prstGeom>
          <a:solidFill>
            <a:srgbClr val="F1F6F3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1656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Условные обозначения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28232" y="2240280"/>
            <a:ext cx="1554480" cy="1143000"/>
          </a:xfrm>
          <a:prstGeom prst="roundRect">
            <a:avLst>
              <a:gd name="adj" fmla="val 7200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37960" y="2350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37960" y="2651760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37960" y="2779776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2907792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3035808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3163824"/>
            <a:ext cx="82296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816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в базе знаний: белый лист с текстом.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28232" y="3611880"/>
            <a:ext cx="1554480" cy="868680"/>
          </a:xfrm>
          <a:prstGeom prst="roundRect">
            <a:avLst>
              <a:gd name="adj" fmla="val 9474"/>
            </a:avLst>
          </a:prstGeom>
          <a:solidFill>
            <a:srgbClr val="E7EFEA"/>
          </a:solidFill>
          <a:ln w="22225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537960" y="3721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37960" y="4023360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4151376"/>
            <a:ext cx="1335024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37960" y="4279392"/>
            <a:ext cx="822960" cy="50292"/>
          </a:xfrm>
          <a:prstGeom prst="roundRect">
            <a:avLst>
              <a:gd name="adj" fmla="val 49091"/>
            </a:avLst>
          </a:prstGeom>
          <a:solidFill>
            <a:srgbClr val="DCE5E1"/>
          </a:solidFill>
          <a:ln w="12700">
            <a:solidFill>
              <a:srgbClr val="DCE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55864" y="3950208"/>
            <a:ext cx="274320" cy="201168"/>
          </a:xfrm>
          <a:prstGeom prst="rightArrow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12480" y="3611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Извлечённый фрагмент: зелёная заливка, жирная рамка, стрелка — «его забрали в промпт».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28232" y="4709160"/>
            <a:ext cx="1554480" cy="868680"/>
          </a:xfrm>
          <a:prstGeom prst="roundRect">
            <a:avLst>
              <a:gd name="adj" fmla="val 7368"/>
            </a:avLst>
          </a:prstGeom>
          <a:solidFill>
            <a:srgbClr val="1A333A"/>
          </a:solidFill>
          <a:ln w="12700">
            <a:solidFill>
              <a:srgbClr val="1A333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48097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ПРОМПТ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50292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инструкция</a:t>
            </a:r>
            <a:endParaRPr lang="en-US" sz="750" dirty="0"/>
          </a:p>
          <a:p>
            <a:pPr indent="0" marL="0">
              <a:lnSpc>
                <a:spcPts val="850"/>
              </a:lnSpc>
              <a:buNone/>
            </a:pPr>
            <a:r>
              <a:rPr lang="en-US" sz="75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фрагмент</a:t>
            </a:r>
            <a:endParaRPr lang="en-US" sz="750" dirty="0"/>
          </a:p>
          <a:p>
            <a:pPr indent="0" marL="0">
              <a:lnSpc>
                <a:spcPts val="850"/>
              </a:lnSpc>
              <a:buNone/>
            </a:pPr>
            <a:r>
              <a:rPr lang="en-US" sz="75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47091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Промпт, уходящий в модель: тёмный блок моноширинным шрифтом. Это и есть «всё, что модель видит».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28232" y="57058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Серые полоски внутри белых и зелёных блоков — условное «здесь текст», а не пропущенное содержимое.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1: выписка по счёту — вопрос и поиск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случай из журнала сессии платформы: документ 01_vypiska_bank.txt и вопрос-классификатор к нему.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713232"/>
          </a:xfrm>
          <a:prstGeom prst="roundRect">
            <a:avLst>
              <a:gd name="adj" fmla="val 15385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36776"/>
            <a:ext cx="402336" cy="402336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67512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97864" y="1554480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 чате: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«Определи тип корпоративного документа одним словом из списка: regulation, contract, report, technical, policy, misc»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432304"/>
            <a:ext cx="5029200" cy="3063240"/>
          </a:xfrm>
          <a:prstGeom prst="roundRect">
            <a:avLst>
              <a:gd name="adj" fmla="val 2687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5968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в базе знаний   ·   01_vypiska_bank.txt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62656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ПАО «Тестбанк» — выписка по операциям на счёте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Счёт: 40702810123456789012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ООО «СеверСтройМонтаж», ИНН 772034556675, КПП 771201001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01.02.2026 – 28.02.2026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Входящий остаток: 1 250 300,00 RUB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05.02.2026 · Поступление · +3 450 000,00 RUB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Контрагент: ООО «Гранит-Опт», ИНН 5029136645,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40702810987654321012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42432" y="3803904"/>
            <a:ext cx="566928" cy="310896"/>
          </a:xfrm>
          <a:prstGeom prst="rightArrow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42062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смыслу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56832" y="2432304"/>
            <a:ext cx="5029200" cy="3063240"/>
          </a:xfrm>
          <a:prstGeom prst="roundRect">
            <a:avLst>
              <a:gd name="adj" fmla="val 2687"/>
            </a:avLst>
          </a:prstGeom>
          <a:solidFill>
            <a:srgbClr val="E7EFEA"/>
          </a:solidFill>
          <a:ln w="22225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39712" y="25968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Извлечённый фрагмент   ·   top-1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2962656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ПАО «Тестбанк» — выписка по операциям на счёте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Счёт: 40702810123456789012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ООО «СеверСтройМонтаж», ИНН 772034556675, КПП 771201001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01.02.2026 – 28.02.2026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Входящий остаток: 1 250 300,00 RUB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05.02.2026 · Поступление · +3 450 000,00 RUB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Контрагент: ООО «Гранит-Опт», ИНН 5029136645,</a:t>
            </a:r>
            <a:endParaRPr lang="en-US" sz="11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40702810987654321012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6692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Выписка короткая — весь её текст укладывается в один фрагмент, поэтому «фрагмент» и «документ» тут совпадают. В длинных документах так не бывает: см. пример 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1: обезличивание перед отправкой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Найденный фрагмент перед отправкой во внешнюю модель проходит обезличивание: значения заменяются метками, соответствие «метка → значение» остаётся внутри контура.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28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хранится и ищется внутри контура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75688"/>
            <a:ext cx="51206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ПАО «Тестбанк» — выписка по операциям на счёте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Счёт: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40702810123456789012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ООО «СеверСтройМонтаж», ИНН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772034556675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01.02.2026 – 28.02.2026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Входящий остаток: 1 250 300,00 RUB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05.02.2026 · Поступление ·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+3 450 000,00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RUB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Контрагент: ООО «Гранит-Опт», ИНН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5029136645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B0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40702810987654321012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35624" y="2756916"/>
            <a:ext cx="402336" cy="292608"/>
          </a:xfrm>
          <a:prstGeom prst="rightArrow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84264" y="1600200"/>
            <a:ext cx="5486400" cy="2606040"/>
          </a:xfrm>
          <a:prstGeom prst="roundRect">
            <a:avLst>
              <a:gd name="adj" fmla="val 3158"/>
            </a:avLst>
          </a:prstGeom>
          <a:solidFill>
            <a:srgbClr val="E7EFEA"/>
          </a:solidFill>
          <a:ln w="22225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67144" y="1728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фактически уходит во внешнюю модель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67144" y="2075688"/>
            <a:ext cx="512064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ПАО «Тестбанк» — выписка по операциям на счёте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Счёт: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[BANK_ACCOUNT_2]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Владелец: ООО «СеверСтройМонтаж», ИНН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[INN_2]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Период: 01.02.2026 – 28.02.2026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Входящий остаток: 1 250 300,00 RUB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05.02.2026 · Поступление ·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[PHONE_1]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RUB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Контрагент: ООО «Гранит-Опт», ИНН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[INN_1]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 </a:t>
            </a:r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[BANK_ACCOUNT_1]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11185855" cy="1207008"/>
          </a:xfrm>
          <a:prstGeom prst="roundRect">
            <a:avLst>
              <a:gd name="adj" fmla="val 6818"/>
            </a:avLst>
          </a:prstGeom>
          <a:solidFill>
            <a:srgbClr val="F1F6F3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526280"/>
            <a:ext cx="10820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соответствий — остаётся внутри контура, наружу не передаётся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37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[BANK_ACCOUNT_2]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40702810123456789012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837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[INN_2]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772034556675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4837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[BANK_ACCOUNT_1]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40702810987654321012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48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[INN_1]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5029136645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5148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[PHONE_1]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+3 450 000,00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5148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0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[PERSON_2]</a:t>
            </a:r>
            <a:pPr indent="0" marL="0">
              <a:buNone/>
            </a:pPr>
            <a:r>
              <a:rPr lang="en-US" sz="1000" dirty="0">
                <a:solidFill>
                  <a:srgbClr val="6373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 </a:t>
            </a:r>
            <a:pPr indent="0" marL="0">
              <a:buNone/>
            </a:pPr>
            <a:r>
              <a:rPr lang="en-US" sz="1000" dirty="0">
                <a:solidFill>
                  <a:srgbClr val="B05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Списа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реального лога. Названия организаций (ООО «СеверСтройМонтаж», ООО «Гранит-Опт») в этом прогоне остались без маски. Две последние строки таблицы — известные дефекты детектора, задокументированы отдельно: сумма +3 450 000,00 ошибочно принята за телефон, обрывок слова «Списа» — за имя человека.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1: как выглядит собранный промпт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трёх частей — и только из них. Ни базы знаний, ни соседних документов, ни исходных реквизитов в этом тексте нет.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5760" cy="36576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96696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Системная инструкция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19751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ассистента и правило «отвечай только по приведённым фрагментам». Задаётся платформой, не пользователем.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365760" cy="36576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029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3081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Извлечённый фрагмент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33467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Обезличенный текст выписки — результат шагов 3 и «между 4 и 5» с предыдущих слайдов.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96696" y="4453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сотрудника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96696" y="471830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Ровно тот текст, который был набран в чате.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1627632"/>
            <a:ext cx="7162495" cy="3977640"/>
          </a:xfrm>
          <a:prstGeom prst="roundRect">
            <a:avLst>
              <a:gd name="adj" fmla="val 2069"/>
            </a:avLst>
          </a:prstGeom>
          <a:solidFill>
            <a:srgbClr val="1A333A"/>
          </a:solidFill>
          <a:ln w="12700">
            <a:solidFill>
              <a:srgbClr val="1A333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64024" y="1847088"/>
            <a:ext cx="6687007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ПРОМПТ, УХОДЯЩИЙ В МОДЕЛЬ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Ты — корпоративный ассистент. Отвечай только на основе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приведённых ниже фрагментов. Если данных нет — так и скажи.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[КОНТЕКСТ · фрагмент 1 из 1 · 01_vypiska_bank.txt]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ПАО «Тестбанк» — выписка по операциям на счёте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Счёт: [BANK_ACCOUNT_2]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Владелец: ООО «СеверСтройМонтаж», ИНН [INN_2], КПП 771201001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Период: 01.02.2026 – 28.02.2026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05.02.2026 · Поступление · [PHONE_1] RUB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Контрагент: ООО «Гранит-Опт», ИНН [INN_1], счёт [BANK_ACCOUNT_1]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[ВОПРОС]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Определи тип корпоративного документа одним словом из списка: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regulation, contract, report, technical, policy, misc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Формулировки системной инструкции и разметка блоков — иллюстративные: точный шаблон промпта платформы у нас не задокументирован. Состав частей и обезличенные значения — реальные.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1: ответ и возврат значений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отвечает по обезличенному тексту. Если в ответе есть метки, они восстанавливаются обратно уже внутри контура — в том, что видит сотрудник.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1A333A"/>
          </a:solidFill>
          <a:ln w="12700">
            <a:solidFill>
              <a:srgbClr val="1A333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65960"/>
            <a:ext cx="384048" cy="384048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597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отвечает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35224"/>
            <a:ext cx="2331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  — один из вариантов списка, выбранный по содержимому фрагмента.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3218688" y="2903220"/>
            <a:ext cx="182880" cy="182880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78308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965960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02736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24597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приходит с метками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2935224"/>
            <a:ext cx="2331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модель процитировала реквизиты, в её ответе стоят [INN_2], [BANK_ACCOUNT_1] и т. п.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6135624" y="2903220"/>
            <a:ext cx="182880" cy="182880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6792" y="178308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E7EFEA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19672" y="1965960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19672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4597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Деанонимизация внутри контура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935224"/>
            <a:ext cx="2331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таблице соответствий метки заменяются обратно на настоящие значения.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9052560" y="2903220"/>
            <a:ext cx="182880" cy="182880"/>
          </a:xfrm>
          <a:prstGeom prst="triangl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53728" y="1783080"/>
            <a:ext cx="2697480" cy="2423160"/>
          </a:xfrm>
          <a:prstGeom prst="roundRect">
            <a:avLst>
              <a:gd name="adj" fmla="val 3396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36608" y="1965960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4366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436608" y="245973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Сотрудник видит нормальный текст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36608" y="2935224"/>
            <a:ext cx="2331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 — обычный ответ с реальными реквизитами, наружу они при этом не уходили.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498848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F1F6F3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2376" y="4617720"/>
            <a:ext cx="107469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описано в документации платформы: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чувствительные сущности обезличиваются на лету перед отправкой во внешнюю модель и восстанавливаются обратно только внутри контура — в ответе, который видит сотрудник. За это отвечает шлюз AI Guard, через который идёт вызов облачной модели.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74243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«report» — иллюстративная: фактический ярлык, возвращённый моделью в этом конкретном прогоне, у нас не зафиксирован. Корректность деанонимизации в ответе — отдельный пункт критерия приёмки, который на разобранной выборке ещё не проверялся.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2: многостраничный свод правил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механизм на документе, который целиком в промпт не поместится и не должен. Разделы такого документа между собой почти не связаны.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903720" cy="4069080"/>
          </a:xfrm>
          <a:prstGeom prst="roundRect">
            <a:avLst>
              <a:gd name="adj" fmla="val 2022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71907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 8.13130 «Системы противопожарной защиты» · условный конспект разделов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3969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Общие положения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37744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применения, термины и определения, ссылки на смежные нормативные документы.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22376" y="2862072"/>
            <a:ext cx="6492240" cy="0"/>
          </a:xfrm>
          <a:prstGeom prst="line">
            <a:avLst/>
          </a:prstGeom>
          <a:noFill/>
          <a:ln w="9525">
            <a:solidFill>
              <a:srgbClr val="D3E0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" y="300837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Требования к системам оповещения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32461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систем оповещения, зоны оповещения, требования к звуковым и световым оповещателям.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" y="3730752"/>
            <a:ext cx="6492240" cy="0"/>
          </a:xfrm>
          <a:prstGeom prst="line">
            <a:avLst/>
          </a:prstGeom>
          <a:noFill/>
          <a:ln w="9525">
            <a:solidFill>
              <a:srgbClr val="D3E0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" y="387705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Требования к путям эвакуации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41148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и высота путей, расчётное время эвакуации по классам функциональной пожарной опасности, аварийное освещение.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" y="4599432"/>
            <a:ext cx="6492240" cy="0"/>
          </a:xfrm>
          <a:prstGeom prst="line">
            <a:avLst/>
          </a:prstGeom>
          <a:noFill/>
          <a:ln w="9525">
            <a:solidFill>
              <a:srgbClr val="D3E0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4745736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Библиография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49834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нормативных документов, на которые даны ссылки в тексте.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99248" y="1554480"/>
            <a:ext cx="3986784" cy="1737360"/>
          </a:xfrm>
          <a:prstGeom prst="roundRect">
            <a:avLst>
              <a:gd name="adj" fmla="val 6316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2128" y="1737360"/>
            <a:ext cx="384048" cy="384048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8821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357616" y="17739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в чате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82128" y="230428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«Какое наименьшее время эвакуации допускается для зданий класса Ф1.1?»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99248" y="3493008"/>
            <a:ext cx="3986784" cy="2130552"/>
          </a:xfrm>
          <a:prstGeom prst="roundRect">
            <a:avLst>
              <a:gd name="adj" fmla="val 3863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18704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поиск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3968496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Сравнивает отпечаток смысла вопроса с отпечатком каждого фрагмента документа — по отдельности, а не с документом целиком.</a:t>
            </a:r>
            <a:endParaRPr lang="en-US" sz="1100" dirty="0"/>
          </a:p>
          <a:p>
            <a:pPr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«Время эвакуации» и «класс Ф1.1» по смыслу близки только к одному разделу из четырёх.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СП 8.13130 действительно входит в тестовый корпус проекта, но приведённый здесь конспект разделов — условный, а не цитата из текста стандарта.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2: в модель ушёл один раздел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остальных раздела не отправлялись, не оплачивались токенами и не могли повлиять на ответ — они остались лежать в базе знаний.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663440" cy="4023360"/>
          </a:xfrm>
          <a:prstGeom prst="roundRect">
            <a:avLst>
              <a:gd name="adj" fmla="val 2045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4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 8.13130 · четыре фрагмента в индексе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9224" y="2103120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4F6F5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Общие положения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523744"/>
            <a:ext cx="402336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60904"/>
            <a:ext cx="237744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6C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извлечён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9224" y="2999232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4F6F5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9067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Требования к системам оповещения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419856"/>
            <a:ext cx="402336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57016"/>
            <a:ext cx="237744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30998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6C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извлечён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" y="3895344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E7EFEA"/>
          </a:solidFill>
          <a:ln w="22225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398678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Требования к путям эвакуации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315968"/>
            <a:ext cx="4023360" cy="50292"/>
          </a:xfrm>
          <a:prstGeom prst="roundRect">
            <a:avLst>
              <a:gd name="adj" fmla="val 49091"/>
            </a:avLst>
          </a:prstGeom>
          <a:solidFill>
            <a:srgbClr val="C9DCD3"/>
          </a:solidFill>
          <a:ln w="12700">
            <a:solidFill>
              <a:srgbClr val="C9DC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453128"/>
            <a:ext cx="2377440" cy="50292"/>
          </a:xfrm>
          <a:prstGeom prst="roundRect">
            <a:avLst>
              <a:gd name="adj" fmla="val 49091"/>
            </a:avLst>
          </a:prstGeom>
          <a:solidFill>
            <a:srgbClr val="C9DCD3"/>
          </a:solidFill>
          <a:ln w="12700">
            <a:solidFill>
              <a:srgbClr val="C9DC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39959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9A2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→ в промпт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9224" y="4791456"/>
            <a:ext cx="4370832" cy="749808"/>
          </a:xfrm>
          <a:prstGeom prst="roundRect">
            <a:avLst>
              <a:gd name="adj" fmla="val 10976"/>
            </a:avLst>
          </a:prstGeom>
          <a:solidFill>
            <a:srgbClr val="F4F6F5"/>
          </a:solidFill>
          <a:ln w="12700">
            <a:solidFill>
              <a:srgbClr val="E4E9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88289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Библиография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212080"/>
            <a:ext cx="402336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349240"/>
            <a:ext cx="2377440" cy="50292"/>
          </a:xfrm>
          <a:prstGeom prst="roundRect">
            <a:avLst>
              <a:gd name="adj" fmla="val 49091"/>
            </a:avLst>
          </a:prstGeom>
          <a:solidFill>
            <a:srgbClr val="E8ECEA"/>
          </a:solidFill>
          <a:ln w="12700">
            <a:solidFill>
              <a:srgbClr val="E8EC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4892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B6C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извлечён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58384" y="3438144"/>
            <a:ext cx="502920" cy="292608"/>
          </a:xfrm>
          <a:prstGeom prst="rightArrow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53328" y="1572768"/>
            <a:ext cx="5635447" cy="4023360"/>
          </a:xfrm>
          <a:prstGeom prst="roundRect">
            <a:avLst>
              <a:gd name="adj" fmla="val 2045"/>
            </a:avLst>
          </a:prstGeom>
          <a:solidFill>
            <a:srgbClr val="1A333A"/>
          </a:solidFill>
          <a:ln w="12700">
            <a:solidFill>
              <a:srgbClr val="1A333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291072" y="1792224"/>
            <a:ext cx="5159959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ПРОМПТ, УХОДЯЩИЙ В МОДЕЛЬ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[SYSTEM]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Отвечай только на основе приведённых фрагментов.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[КОНТЕКСТ · фрагмент 3 из 4 · СП 8.13130, разд. 3]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Требования к путям эвакуации. Расчётное время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эвакуации для зданий класса функциональной пожарной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опасности Ф1.1 определяется как …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84B5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[ВОПРОС]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Какое наименьшее время эвакуации допускается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8D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зданий класса Ф1.1?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7E9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разделов 1, 2 и 4 в этом тексте нет вообще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фрагмента — условный: содержательную формулировку раздела мы не цитируем. Смысл слайда в том, какая часть документа попала в промпт, а не в конкретных нормативных значениях.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стоит между поиском и промптом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Найденное «похожее по смыслу» не всегда уместно, поэтому между шагами 3 и 4 есть ещё три механизма — они описаны в разделе «Калибровка → Политики поиска».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2093976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6426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Роутинг вопросов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008376"/>
            <a:ext cx="31546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до поиска решает, куда идти за ответом: посчитать по таблице (SQL), поискать в коде или искать по тексту документов. Настраивается триггерными фразами.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35424" y="2093976"/>
            <a:ext cx="420624" cy="420624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35424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35424" y="26426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Политики ранжирования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35424" y="3008376"/>
            <a:ext cx="31546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поиска отбрасывает или понижает фрагменты, формально похожие, но неуместные — например, сообщения коммитов в ответе на бизнес-вопрос. Таблицы, наоборот, поднимаются.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1874520"/>
            <a:ext cx="3593592" cy="3154680"/>
          </a:xfrm>
          <a:prstGeom prst="roundRect">
            <a:avLst>
              <a:gd name="adj" fmla="val 2609"/>
            </a:avLst>
          </a:prstGeom>
          <a:solidFill>
            <a:srgbClr val="FBFCFB"/>
          </a:solidFill>
          <a:ln w="12700">
            <a:solidFill>
              <a:srgbClr val="D3E0D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48472" y="2093976"/>
            <a:ext cx="420624" cy="420624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48472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6426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Планировщик и реплан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08376"/>
            <a:ext cx="31546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уверенность найденного ниже нижнего порога — вопрос автоматически повторяется в другом источнике. В «серой зоне» между порогами можно включить отдельную LLM-проверку релевантности.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257800"/>
            <a:ext cx="11185855" cy="822960"/>
          </a:xfrm>
          <a:prstGeom prst="roundRect">
            <a:avLst>
              <a:gd name="adj" fmla="val 10000"/>
            </a:avLst>
          </a:prstGeom>
          <a:solidFill>
            <a:srgbClr val="F1F6F3"/>
          </a:solidFill>
          <a:ln w="12700">
            <a:solidFill>
              <a:srgbClr val="D3E0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" y="5376672"/>
            <a:ext cx="107469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знать: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ответ вышел неполным, причина чаще не в модели, а в одном из этих трёх мест — не туда сходили, нужный фрагмент понизили или вообще не нашли.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практических следствия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того, что модель видит только извлечённые фрагменты, напрямую следуют два вывода — один про безопасность, второй про качество ответов.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3886200"/>
          </a:xfrm>
          <a:prstGeom prst="roundRect">
            <a:avLst>
              <a:gd name="adj" fmla="val 2118"/>
            </a:avLst>
          </a:prstGeom>
          <a:solidFill>
            <a:srgbClr val="F6EDE9"/>
          </a:solidFill>
          <a:ln w="12700">
            <a:solidFill>
              <a:srgbClr val="E2C7B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2020824"/>
            <a:ext cx="457200" cy="457200"/>
          </a:xfrm>
          <a:prstGeom prst="ellipse">
            <a:avLst/>
          </a:prstGeom>
          <a:solidFill>
            <a:srgbClr val="B0563F"/>
          </a:solidFill>
          <a:ln w="12700">
            <a:solidFill>
              <a:srgbClr val="B0563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0664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39112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Маскировать нужно то, что уходит наружу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79192"/>
            <a:ext cx="49377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заменяются метками не во всей базе знаний, а в том тексте, который отправляется во внешнюю модель.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внутри контура остаются настоящие значения — точный поиск по ИНН или номеру договора и проверка прав работают на нормальных данных, до шлюза.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так снято старое противоречие ТЗ «маскирование при индексации против точного поиска по ФИО/ИНН»: маскирование применяется только к тому, что уходит во внешнюю облачную модель.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486400" cy="3886200"/>
          </a:xfrm>
          <a:prstGeom prst="roundRect">
            <a:avLst>
              <a:gd name="adj" fmla="val 2118"/>
            </a:avLst>
          </a:prstGeom>
          <a:solidFill>
            <a:srgbClr val="F1F6F3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E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37376" y="2020824"/>
            <a:ext cx="457200" cy="457200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2039112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отвечает только по извлечённому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679192"/>
            <a:ext cx="4937760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нужный фрагмент не попал в промпт, ответ будет неполным или неверным — даже когда документ лежит в базе знаний и формально «всё загружено».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Причины обычно механические: неудачная нарезка, слабое совпадение по смыслу, слишком маленький top-K, понижающая политика ранжирования.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рабочая привычка: разбирая плохой ответ, сначала смотреть не на модель, а на то, какие фрагменты были извлечены.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37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следствия A опирается на архитектуру AI Guard, зафиксированную в разборе ТЗ пилота; следствие B — общее свойство механизма RAG, не особенность конкретной платформы.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4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шагов — одной страницей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41832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из презентации останется что-то одно, пусть это будет эта последовательность.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029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159105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990088" y="1591056"/>
            <a:ext cx="8698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пишет вопрос в чате обычными словами.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61288" y="2286000"/>
            <a:ext cx="10527487" cy="0"/>
          </a:xfrm>
          <a:prstGeom prst="line">
            <a:avLst/>
          </a:prstGeom>
          <a:noFill/>
          <a:ln w="9525">
            <a:solidFill>
              <a:srgbClr val="355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432304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29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" y="24505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990088" y="2450592"/>
            <a:ext cx="8698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превращается в отпечаток смысла — набор чисел.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61288" y="3145536"/>
            <a:ext cx="10527487" cy="0"/>
          </a:xfrm>
          <a:prstGeom prst="line">
            <a:avLst/>
          </a:prstGeom>
          <a:noFill/>
          <a:ln w="9525">
            <a:solidFill>
              <a:srgbClr val="3554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291840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3310128"/>
            <a:ext cx="8698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векторной базе находятся фрагменты документов, ближайшие по смыслу. Не документы целиком — фрагменты.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61288" y="4005072"/>
            <a:ext cx="10527487" cy="0"/>
          </a:xfrm>
          <a:prstGeom prst="line">
            <a:avLst/>
          </a:prstGeom>
          <a:noFill/>
          <a:ln w="9525">
            <a:solidFill>
              <a:srgbClr val="3554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151376"/>
            <a:ext cx="457200" cy="457200"/>
          </a:xfrm>
          <a:prstGeom prst="ellipse">
            <a:avLst/>
          </a:prstGeom>
          <a:solidFill>
            <a:srgbClr val="69A297"/>
          </a:solidFill>
          <a:ln w="12700">
            <a:solidFill>
              <a:srgbClr val="69A297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0292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" y="41696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Промпт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4169664"/>
            <a:ext cx="8698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лучших фрагментов подставляются в промпт вместе с инструкцией и вопросом. Перед отправкой во внешнюю модель персональные данные в этом тексте заменяются метками.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161288" y="4864608"/>
            <a:ext cx="10527487" cy="0"/>
          </a:xfrm>
          <a:prstGeom prst="line">
            <a:avLst/>
          </a:prstGeom>
          <a:noFill/>
          <a:ln w="9525">
            <a:solidFill>
              <a:srgbClr val="3554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5010912"/>
            <a:ext cx="457200" cy="45720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19050" dir="5400000">
              <a:srgbClr val="9AAEA8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029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4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" y="5029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2990088" y="5029200"/>
            <a:ext cx="86986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8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отвечает только по этому тексту. Метки восстанавливаются обратно уже внутри контура — в ответе, который видит сотрудник.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806440"/>
            <a:ext cx="11185855" cy="658368"/>
          </a:xfrm>
          <a:prstGeom prst="roundRect">
            <a:avLst>
              <a:gd name="adj" fmla="val 12500"/>
            </a:avLst>
          </a:prstGeom>
          <a:solidFill>
            <a:srgbClr val="2E5058"/>
          </a:solidFill>
          <a:ln w="12700">
            <a:solidFill>
              <a:srgbClr val="3C606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" y="5897880"/>
            <a:ext cx="107103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Одной фразой: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это не «модель прочитала все документы», а «поиск выбрал несколько абзацев и показал их модели».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работает RAG: от вопроса до промпта модели</dc:title>
  <dc:subject>PptxGenJS Presentation</dc:subject>
  <dc:creator>Аналитическая группа</dc:creator>
  <cp:lastModifiedBy>Аналитическая группа</cp:lastModifiedBy>
  <cp:revision>1</cp:revision>
  <dcterms:created xsi:type="dcterms:W3CDTF">2026-09-06T18:59:47Z</dcterms:created>
  <dcterms:modified xsi:type="dcterms:W3CDTF">2026-09-06T18:59:47Z</dcterms:modified>
</cp:coreProperties>
</file>