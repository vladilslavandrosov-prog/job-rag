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Титульный слайд. Обе темы этой колоды — не готовые функции платформы, а находки и предложения, которые я как аналитик планирую поднять на ближайшем разговоре с разработчиком «Камераты» по дорожной карте. Полный текст обоих вопросов уже зафиксирован во внутренних материалах для разработчика — эта колода делает их презентационно понятными коллеге, который не читал исходники.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Смысл слайда — сразу задать две разные позиции по двум темам, а не подавать обе как одинаково открытые вопросы. Часть 1 (локальный чат / агент рабочей станции, РМ-1): у меня как у аналитика есть сомнения, нужно ли это расширение в заявленном виде, пока не решён вопрос о защите данных на компьютере сотрудника — это диалог с разработчиком, а не отказ от функции. Часть 2 (иерархия каталогов): есть проработанная модель (дерево каталогов), которую я считаю достаточно зрелой, чтобы предлагать её в дорожную карту и обсуждать детали реализации с разработчиком, а не решать, стоит ли вообще что-то делать. Обе темы уже оформлены в материалах, которые я готовил для этого разговора с разработчиком.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Раздел-разделитель. Дальше — три плотных слайда о линии «Раб. места» дорожной карты (сознательно сокращено с восьми — часть 1 не должна разворачиваться дольше, чем нужно для передачи технического запроса): что это и какие четыре пункта в неё входят, четыре вопроса к разработчику, ответы на которые снимут или подтвердят сомнение, и почему сомнение вообще возникло — с закрывающим статусом. Тон намеренно мягкий: это не рекомендация отказаться от РМ-1, а вопрос, который разработчик может закрыть ответом.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объединяет «что это» и «четыре пункта роадмапа» в одну плотную карточку — раньше это были два отдельных слайда с большим количеством повторяющегося текста. Ключевая мысль сохранена: новое место исполнения — не улучшение серверного чата, а второй контур обработки данных (компьютер сотрудника). РМ-1 и РМ-2 — оба Q1 2027, уровень C (направление подтверждено, состав уточняется, не обязательство со сроками). РМ-3 — Q2 2027, C. РМ-4 — H2 2027, уровень D, пустая формулировка без состава — не читать в это ничего конкретного. Наши сомнения сосредоточены именно в РМ-1 (модель запретов и судьба разрешённого содержимого) — не в самой идее агента рабочей станции как таковой.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четыре формулировки — дословно из вопроса, который я готовлю к разработчику, содержание не сокращалось и не смягчалось. Порядок сохранён: (1) применяется ли то же маскирование, (2) действует ли то же правило про внешние/облачные модели, (3) кто задаёт запреты — админ или сам пользователь, (4) единый ли журнал аудита. Это основной содержательный слайд части 1: раньше подавался как «уточняющие вопросы к уже принятому пункту», теперь — как условия, при выполнении которых моё сомнение в необходимости РМ-1 снимается. Вокруг него специально убраны декоративные слайды-подводки.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моя внутренняя оценка как аналитика (не для передачи разработчику как есть, только для собственной подготовки к разговору) — из всех 35 пунктов дорожной карты это единственный, где рядом с новой функцией явно не упомянута уже заявленная модель защиты данных, и это главная опора моего сомнения в необходимости РМ-1 в текущем виде. Слайд объединяет аргумент «почему сомнение возникло» с закрывающим статусом части 1 — отдельного слайда-итога больше нет, статус дан одной строкой внизу: это открытый вопрос к разработчику, а не рекомендация отказаться от пункта; уровень C — не обязательство по срокам, так что сейчас подходящий момент спросить.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Раздел-разделитель. Дальше — десять слайдов: сегодняшняя плоская модель доменов/коллекций, где она упирается в реальный сценарий (с явным разделением на два разных вопроса — 2a и 2b, по итогам внутреннего пересмотра), дерево каталогов как готовое предложение по 2b с ключевой диаграммой, отдельный слайд про кросс-доменное пересечение коллекций (деталь, которую доработаем вместе с разработчиком при реализации), правило наследования, три персоны на новом дереве, почему предложение реалистично — с прецедентами из индустрии, и что остаётся в силе, пока идём к реализации. Тон части 2 — увереннее, чем части 1: это не вопрос «стоит ли», а предложение «вот модель, готов прорабатывать детали с разработчиком».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коллекции внутри домена «Кадры» на этой схеме — на одном уровне, это буквально описание модели «домен = плоский список коллекций». Дальше по слайдам будет видно, где это перестаёт хватать: коллекция «Оклады» здесь нарисована так же, как «Отпуска», хотя по чувствительности это совсем разные вещи.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Прямое сопоставление: RLS уже решает задачу «разная аудитория внутри одной сущности» для таблиц. Для документов эквивалента нет — единственный путь сегодня: дробление на новые коллекции/домены. Важное уточнение после независимой внутренней критики и исследования прецедентов: это на самом деле два разных вопроса, которые легко перепутать — 2a (гранулярность внутри одной коллекции, до уровня документа/раздела/тега — предложение дерева её НЕ решает, потому что домен по документированной сегодня архитектуре — неизменяемое после создания поле коллекции, значит любой узел дерева технически реализуем только как отдельная коллекция) и 2b (организация множества плоских доменов в управляемую иерархию — вот что дерево действительно даёт). Раньше колода не разделяла их явно — это исправлено по итогам внутреннего пересмотра.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Самая важная диаграмма всей колоды, полностью пересобрана под «алмазную» форму (diamond DAG) — сиблинги, сходящиеся в один общий лист, а не строгая цепочка и не плоский хаб. Она заменяет сразу два прежних варианта, оба с проблемами: (1) плоский хаб («Список сотрудников» как родитель, «Отпускные»/«Больничные»/«Оклады» как три его листа) утекал зарплатные данные в другие домены через общий хаб; (2) строгая цепочка в четыре уровня по прямой (Оклады→Больничные→Отпускные→Список сотрудников) эту утечку закрывала, но создавала новую проблему — тому, кому нужны только «Отпускные», приходилось структурно стоять «выше» и по дороге видеть ещё и «Больничные», хотя по чувствительности эти два узла не образуют строгий порядок относительно друг друга — неоправданно широкий грант. Алмаз решает обе проблемы разом: домен «Кадры» имеет ровно одного потомка — «Оклады» (самый чувствительный узел, наверху видимой цепочки); у «Оклады» — два сиблинга, «Больничные» и «Отпускные» (между собой не связаны, это две параллельные ветки, а не цепочка); оба сходятся в один общий лист — «Список сотрудников», у которого поэтому уже два родителя внутри одного домена. На следующем слайде тот же узел получит ещё двух родителей (домены «Маркетинг» и «Логистика») — итого четыре, но сам он остаётся листом: ничего чувствительного под ним не висит, так что неважно, через какого из родителей до него дошли. Пример теперь использует настоящие названия доменов платформы — «Кадры», «Маркетинг», «Логистика» — канонический список примеров самой платформы («Логистика», «Персонал», «Продажи»; «Персонал» здесь — «Кадры»). Директор по персоналу привязан к корню и наследует всё дерево — задокументированный во всех проверенных индустриальных аналогах инвариант корня (в Microsoft Purview права default-домена в принципе нельзя ограничить).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Полностью пересобранный слайд под новую форму: раньше общий узел «Список сотрудников» сам был хабом с тремя детьми, теперь он — лист, и это ключевое исправление по итогам ревью. Три независимых домена верхнего уровня — «Кадры», «Маркетинг», «Логистика» (канонические примеры платформы: «Логистика», «Персонал», «Продажи») — сходятся в одну и ту же точку четырьмя путями: «Кадры» доходит до неё через свою пару сиблингов «Больничные»/«Отпускные» (узел «Оклады», который стоит выше них на предыдущем слайде, здесь сознательно не перерисован — пометка рядом с доменным блоком отсылает к слайду 10); «Маркетинг» и «Логистика» — прямым ребром от своего корня. Итого у «Список сотрудников» четыре родителя, но сам он — лист без единого потомка: это и есть структурное исправление против прежней версии, где через общий хаб зарплатные данные утекали в другие домены. Обе вещи, которые независимый ревью просил сделать явными, есть на слайде: (1) легенда-напоминание в общем баре — узел на схеме означает узел плюс все его потомки, иначе «Оклады» на предыдущем слайде легко прочитать как «только сами оклады»; (2) новый открытый вопрос к разработчику о направлении обхода — что для узла с несколькими родителями видимость гарантированно обходится только вниз от точки привязки, а родительские рёбра при проверке доступа никогда не используются, вне зависимости от числа родителей; это нужно подтвердить как реальную гарантию реализации, а не молча предполагать. Старый открытый вопрос про «Маркетинг» — весь список или только свой отдел — сохранён дословно по сути (тот же класс вопроса, что и «2a»), но явно объявлено, что раньше сопутствовавший ему риск увидеть «Оклады» через общий хаб теперь закрыт структурно, потому что общий узел — лист.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Формулировка правила дословно из моего предложения разработчику: «видимость течёт вниз по дереву от узла привязки, вбок и вверх — не течёт». Схема показывает все три направления сразу: вниз (потомки) — разрешено сплошной зелёной линией, вверх (предки) и вбок (соседние ветки) — запрещено, показано пунктирной красной линией. Это правило целиком заменяет собой сегодняшнюю бинарную модель «у коллекции есть домен / домена нет».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строки — три персоны на алмазном дереве «Кадры» (пример строится на настоящих именах доменов платформы — «Кадры», «Маркетинг», «Логистика» — см. заметки к слайду с деревом). Первая строка — «Сотрудник кадров» — составная привязка сразу к двум узлам-сиблингам («Больничные» и «Отпускные»); это прямое продолжение того, как многодоменность уже работает сегодня без всякого дерева (в рабочей инструкции платформы — «выбрать домен(ы) из списка», множественное число), а не костыль поверх дерева. Через оба узла она нисходяще доходит и до общего листа «Список сотрудников». «Оклады» этой персоне не видны — это общий родитель «Больничные» и «Отпускные», стоит выше обоих, а видимость вверх не течёт. Вторая строка — «Начальник отдела маркетинга» — самая содержательная: персона привязана к корню СОВСЕМ ДРУГОГО домена, «Маркетинг», а не «Кадры» — и тем не менее через обычное нисходящее наследование внутри своего домена доходит до общего узла «Список сотрудников». Главное, что здесь нужно сказать прямо: «Оклады», «Больничные» и «Отпускные» ей НЕ видны — они существуют только внутри «Кадры» и с корня «Маркетинг» структурно недостижимы, потому что «Список сотрудников» — лист без потомков. Риск увидеть оклады всей компании через общий узел, который раньше был реальной проблемой (общий узел был хабом с детьми), теперь закрыт структурно, и это стоит проговорить явно, а не просто перестать упоминать. Остаётся открытым только более тонкий вопрос, тот же класс, что и «2a»: видит ли она «Список сотрудников» целиком или только свою часть — это про гранулярность внутри уже единственного общего узла, а не про то, дотягивается ли она до чего-то лишнего сверху. Третья строка — Директор по персоналу — на корне «Кадры», поэтому видит всё дерево домена целиком — «Оклады», «Больничные», «Отпускные» и «Список сотрудников»; это задокументированный во всех проверенных индустриальных аналогах инвариант корня (Microsoft Purview: права default-домена нельзя ограничить), а не удобная деталь примера.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Обновлено по итогам внутренней критики и исследования прецедентов: раньше средний пункт был непроверенным утверждением «давно стандартно в DMS/DAM-системах» без единого названного продукта (справедливо раскритиковано внутри команды). Теперь — конкретные, названные прецеденты: Microsoft Purview (самый близкий — есть буквально функция «Restrict inherited permissions» и тот же инвариант «корень нельзя ограничить»), Google Drive («Limited access»/«Expansive access»), SharePoint («break inheritance»), Databricks Unity Catalog (наследование по catalog.schema.table). Первый пункт также уточнён: предложение решает 2b (организация доменов), а не 2a (гранулярность внутри документа) — это два разных вопроса к разработчику, разница объяснена на предыдущем слайде. Это опора для уверенного тона части 2: я предлагаю разработчику не гипотезу, а модель, чьё поведение по умолчанию уже проверено в нескольких независимо развивавшихся системах.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Важно подчеркнуть: предложение не блокер для текущего пилота Д8 и не повод откладывать его до реализации дерева. Сегодняшний обходной путь (несколько коллекций с отдельными доменами вместо одного дерева) полностью рабочий, просто требует больше ручного планирования на старте и создаёт риск, что несколько независимых коллекций/доменов со временем разъедутся по составу прав — именно это неудобство и снимает предложенное дерево.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Формулировка статуса намеренная и увереннее, чем раньше: это готовое предложение к реализации, которое я как аналитик приношу разработчику как модель, предлагаемую в дорожную карту, а не жалоба на текущую функциональность и не гипотеза для обсуждения «стоит ли вообще». Открытые детали (двойное членство каталогов, реструктуризация дерева, множественная привязка персон) остаются реальными и честно названы на предыдущих слайдах — но как то, что дорабатывается вместе с разработчиком в процессе реализации, а не как причины сомневаться в самом предложении. Пункт явно не привязан к конкретному коду роадмапа — предполагаю линию «Каталог» (КАТ-) или «Надзор» (НАД-) как наиболее вероятных кандидатов.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Слайд-синтез, связывающий обе части и явно называющий две разные позиции по ним: и локальный чат, и иерархия каталогов — про одну и ту же границу между тем, что платформа уже гарантирует документированно, и тем, что нужно решить по мере роста поверхности платформы. Но решаются они по-разному: Часть 1 (новое место исполнения) — это открытый вопрос к разработчику, моё сомнение в необходимости; Часть 2 (более тонкая гранулярность доступа) — это моё предложение к реализации, которое я считаю готовым. Оба поднимаются заранее, пока ни один не стал контрактным обязательством.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Закрывающий слайд, явно фиксирующий две разные позиции колоды: Часть 1 — открытый вопрос к разработчику о необходимости РМ-1 в заявленном виде, ответа пока нет; Часть 2 — моё предложение к реализации, которое я считаю проработанным и готов обсуждать детали. Единственный источник фактов для обеих тем — материалы, которые я как аналитик подготовил для разговора с разработчиком; они же станут местом, куда будут добавлены его ответы по мере их получения, и куда попадут следующие вопросы по дорожной карте по мере разбора остальных пунктов.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AI/RAG-ПЛАТФОРМА «КАМЕРАТА» · АО «ИНВЕСТИЦИОННАЯ КОМПАНИЯ Д8»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6916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Два направления к дорожной карте:</a:t>
            </a:r>
            <a:endParaRPr lang="en-US" sz="27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локальный чат и иерархия каталогов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288036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аналитик, внимательно изучивший обе темы, поднимаю их с разработчиком платформы — направления, которые ещё не стали функциями и не зафиксированы в договоре, а обсуждаются на ближайшем roadmap-разговоре.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732520" y="1737360"/>
            <a:ext cx="2880360" cy="1783080"/>
          </a:xfrm>
          <a:prstGeom prst="roundRect">
            <a:avLst>
              <a:gd name="adj" fmla="val 4615"/>
            </a:avLst>
          </a:prstGeom>
          <a:solidFill>
            <a:srgbClr val="2C3140"/>
          </a:solidFill>
          <a:ln/>
        </p:spPr>
      </p:sp>
      <p:sp>
        <p:nvSpPr>
          <p:cNvPr id="6" name="Shape 4"/>
          <p:cNvSpPr/>
          <p:nvPr/>
        </p:nvSpPr>
        <p:spPr>
          <a:xfrm>
            <a:off x="9015984" y="2048256"/>
            <a:ext cx="566928" cy="566928"/>
          </a:xfrm>
          <a:prstGeom prst="ellipse">
            <a:avLst/>
          </a:prstGeom>
          <a:solidFill>
            <a:srgbClr val="32385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52047" y="2184319"/>
            <a:ext cx="294803" cy="29480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92640" y="19659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1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9692640" y="2212848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Локальный чат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 своими файлами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732520" y="3703320"/>
            <a:ext cx="2880360" cy="1783080"/>
          </a:xfrm>
          <a:prstGeom prst="roundRect">
            <a:avLst>
              <a:gd name="adj" fmla="val 4615"/>
            </a:avLst>
          </a:prstGeom>
          <a:solidFill>
            <a:srgbClr val="2C3140"/>
          </a:solidFill>
          <a:ln/>
        </p:spPr>
      </p:sp>
      <p:sp>
        <p:nvSpPr>
          <p:cNvPr id="11" name="Shape 8"/>
          <p:cNvSpPr/>
          <p:nvPr/>
        </p:nvSpPr>
        <p:spPr>
          <a:xfrm>
            <a:off x="9015984" y="4014216"/>
            <a:ext cx="566928" cy="566928"/>
          </a:xfrm>
          <a:prstGeom prst="ellipse">
            <a:avLst/>
          </a:prstGeom>
          <a:solidFill>
            <a:srgbClr val="3A331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2047" y="4150279"/>
            <a:ext cx="294803" cy="29480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692640" y="39319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9692640" y="4178808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Иерархия каталогов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внутри домена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Внутренний материал · сентябрь 2026 · подготовка к разговору с разработчиком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ЗАЧЕМ ЭТИ ДВЕ ТЕМЫ В ОДНОЙ КОЛОДЕ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6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Одна дорожная карта, две разные позиции: сомнение в необходимости и предложение к реализации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Платформа документирует контроль доступа для серверной части и на уровне целой коллекции документов. Но из этого не следует, что любое расширение этой границы стоит принимать как есть: по локальному чату у нас остаются сомнения, нужно ли расширение в заявленном виде; по иерархии каталогов — наоборот, есть проработанное предложение, которое мы считаем готовым двигать в реализацию.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5257800" cy="2880360"/>
          </a:xfrm>
          <a:prstGeom prst="roundRect">
            <a:avLst>
              <a:gd name="adj" fmla="val 2857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5820" y="2857500"/>
            <a:ext cx="777240" cy="777240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2358" y="3044038"/>
            <a:ext cx="404165" cy="40416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55648" y="2880360"/>
            <a:ext cx="3776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b="1" spc="80" kern="0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ЕСТЬ СОМНЕНИЯ В НЕОБХОДИМОСТИ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755648" y="3209544"/>
            <a:ext cx="3776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Часть 1 — локальный чат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68680" y="397764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Сегодня защита данных (маскирование PII/DLP) описана для серверной части. Роадмап добавляет второе место исполнения — компьютер сотрудника, — и работает ли там та же защита, не описано. Пока это не прояснится, необходимость этого расширения в заявленном виде для нас под вопросом.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17920" y="2606040"/>
            <a:ext cx="5257800" cy="2880360"/>
          </a:xfrm>
          <a:prstGeom prst="roundRect">
            <a:avLst>
              <a:gd name="adj" fmla="val 2857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15100" y="2857500"/>
            <a:ext cx="777240" cy="777240"/>
          </a:xfrm>
          <a:prstGeom prst="ellipse">
            <a:avLst/>
          </a:prstGeom>
          <a:solidFill>
            <a:srgbClr val="FBEED9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1638" y="3044038"/>
            <a:ext cx="404165" cy="40416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424928" y="2880360"/>
            <a:ext cx="3776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b="1" spc="8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ПРЕДЛОЖЕНИЕ К РЕАЛИЗАЦИИ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24928" y="3209544"/>
            <a:ext cx="3776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Часть 2 — иерархия каталогов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537960" y="397764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Сегодня доступ к документам делится по целой коллекции — внутри одной темы разную чувствительность данных не выразить. У нас есть проработанная модель дерева каталогов, которую мы предлагаем двигать в реализацию.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48640" y="5760720"/>
            <a:ext cx="11094415" cy="621792"/>
          </a:xfrm>
          <a:prstGeom prst="roundRect">
            <a:avLst>
              <a:gd name="adj" fmla="val 13235"/>
            </a:avLst>
          </a:prstGeom>
          <a:solidFill>
            <a:srgbClr val="EAEDF3"/>
          </a:solidFill>
          <a:ln w="9525">
            <a:solidFill>
              <a:srgbClr val="DCE1E9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40664" y="5879592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836" y="5971764"/>
            <a:ext cx="199705" cy="199705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234440" y="5760720"/>
            <a:ext cx="101800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 позиции уже оформлены как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материал для разговора с разработчиком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Часть 1 как открытый вопрос к разработчику, Часть 2 как предложение к обсуждению; материал остаётся живым документом, куда лягут ответы и детали реализации.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3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331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606040"/>
            <a:ext cx="8595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Локальный чат со своими</a:t>
            </a:r>
            <a:endParaRPr lang="en-US" sz="3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документами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411480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Линия «Раб. места» (РМ-1—РМ-4) — прежде чем это станет обязательством, у нас есть сомнения в необходимости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441180" y="2583180"/>
            <a:ext cx="1417320" cy="1417320"/>
          </a:xfrm>
          <a:prstGeom prst="ellipse">
            <a:avLst/>
          </a:prstGeom>
          <a:solidFill>
            <a:srgbClr val="2C314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1337" y="2923337"/>
            <a:ext cx="737006" cy="7370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1 · АГЕНТ РАБОЧЕЙ СТАНЦИИ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Новое место исполнения: 4 пункта линии «Раб. места»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517904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Сегодня платформа обрабатывает данные только на сервере. Дорожная карта добавляет агент, который выполняется прямо на компьютере сотрудника (Windows, macOS) и читает локальные файлы этой машины как контекст запроса — именно здесь у нас есть сомнения, нужно ли это расширение в заявленном виде (подробнее — на следующих слайдах).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97280" y="2395728"/>
            <a:ext cx="9997135" cy="0"/>
          </a:xfrm>
          <a:prstGeom prst="line">
            <a:avLst/>
          </a:prstGeom>
          <a:noFill/>
          <a:ln w="31750">
            <a:solidFill>
              <a:srgbClr val="DCE1E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16836" y="2295144"/>
            <a:ext cx="201168" cy="201168"/>
          </a:xfrm>
          <a:prstGeom prst="ellipse">
            <a:avLst/>
          </a:prstGeom>
          <a:solidFill>
            <a:srgbClr val="E8A33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761488"/>
            <a:ext cx="2240280" cy="2286000"/>
          </a:xfrm>
          <a:prstGeom prst="roundRect">
            <a:avLst>
              <a:gd name="adj" fmla="val 3673"/>
            </a:avLst>
          </a:prstGeom>
          <a:solidFill>
            <a:srgbClr val="FBEED9"/>
          </a:solidFill>
          <a:ln w="9525">
            <a:solidFill>
              <a:srgbClr val="E8A33D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298448" y="2926080"/>
            <a:ext cx="1837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РМ-1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441448" y="2944368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2487168" y="2944368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Ур. C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298448" y="3310128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298448" y="3621024"/>
            <a:ext cx="18379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Служба чтения локальных файлов (Windows, macOS) с явной моделью запретов.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02454" y="2295144"/>
            <a:ext cx="201168" cy="201168"/>
          </a:xfrm>
          <a:prstGeom prst="ellipse">
            <a:avLst/>
          </a:prstGeom>
          <a:solidFill>
            <a:srgbClr val="E8A33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82898" y="2761488"/>
            <a:ext cx="2240280" cy="2286000"/>
          </a:xfrm>
          <a:prstGeom prst="roundRect">
            <a:avLst>
              <a:gd name="adj" fmla="val 3673"/>
            </a:avLst>
          </a:prstGeom>
          <a:solidFill>
            <a:srgbClr val="FBEED9"/>
          </a:solidFill>
          <a:ln w="9525">
            <a:solidFill>
              <a:srgbClr val="E8A33D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884066" y="2926080"/>
            <a:ext cx="1837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РМ-2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027066" y="2944368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5072786" y="2944368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Ур. C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884066" y="3310128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884066" y="3621024"/>
            <a:ext cx="18379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Установка MSI, подпись корпоративным ЦС заказчика, управление через групповые политики.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288073" y="2295144"/>
            <a:ext cx="201168" cy="201168"/>
          </a:xfrm>
          <a:prstGeom prst="ellipse">
            <a:avLst/>
          </a:prstGeom>
          <a:solidFill>
            <a:srgbClr val="E8A33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68517" y="2761488"/>
            <a:ext cx="2240280" cy="2286000"/>
          </a:xfrm>
          <a:prstGeom prst="roundRect">
            <a:avLst>
              <a:gd name="adj" fmla="val 3673"/>
            </a:avLst>
          </a:prstGeom>
          <a:solidFill>
            <a:srgbClr val="FBEED9"/>
          </a:solidFill>
          <a:ln w="9525">
            <a:solidFill>
              <a:srgbClr val="E8A33D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69685" y="2926080"/>
            <a:ext cx="1837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РМ-3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7612685" y="2944368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7658405" y="2944368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Ур. C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69685" y="3310128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2027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469685" y="3621024"/>
            <a:ext cx="18379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Расширение сценариев работы с локальным контекстом пользователя.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9873691" y="2295144"/>
            <a:ext cx="201168" cy="201168"/>
          </a:xfrm>
          <a:prstGeom prst="ellipse">
            <a:avLst/>
          </a:prstGeom>
          <a:solidFill>
            <a:srgbClr val="8891A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854135" y="2761488"/>
            <a:ext cx="2240280" cy="2286000"/>
          </a:xfrm>
          <a:prstGeom prst="roundRect">
            <a:avLst>
              <a:gd name="adj" fmla="val 3673"/>
            </a:avLst>
          </a:prstGeom>
          <a:solidFill>
            <a:srgbClr val="EEF0F3"/>
          </a:solidFill>
          <a:ln w="9525">
            <a:solidFill>
              <a:srgbClr val="8891A0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9055303" y="2926080"/>
            <a:ext cx="1837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РМ-4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0198303" y="2944368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10244023" y="2944368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89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Ур. 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055303" y="3310128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2027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9055303" y="3621024"/>
            <a:ext cx="183794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«Дальнейшие фазы агента рабочего места» — заглушка, без состава.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48640" y="5248656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РМ-1 — то, где сосредоточены наши сомнения (следующий слайд). РМ-2 идёт с ним в один квартал технически, но сам по себе вопросов не поднимает. РМ-4 — уровень D, честно заявленная заглушка без состава.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1 · ВОПРОС К РАЗРАБОТЧИКУ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нужно узнать, чтобы сомнение по РМ-1 снялось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«Явная модель запретов» РМ-1 задаёт, какие папки и файлы агенту трогать нельзя, но не описывает, что происходит с содержимым разрешённых файлов на пути к LLM. Моё сомнение в необходимости РМ-1 в текущем виде снимается или подтверждается четырьмя ответами разработчика: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5257800" cy="1627632"/>
          </a:xfrm>
          <a:prstGeom prst="roundRect">
            <a:avLst>
              <a:gd name="adj" fmla="val 5056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56946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4ECFD"/>
          </a:solidFill>
          <a:ln/>
        </p:spPr>
      </p:sp>
      <p:sp>
        <p:nvSpPr>
          <p:cNvPr id="7" name="Text 5"/>
          <p:cNvSpPr/>
          <p:nvPr/>
        </p:nvSpPr>
        <p:spPr>
          <a:xfrm>
            <a:off x="850392" y="2569464"/>
            <a:ext cx="292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0" y="2496312"/>
            <a:ext cx="548640" cy="548640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0874" y="2627986"/>
            <a:ext cx="285293" cy="285293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25880" y="251460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 же маскирование?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804672" y="3008376"/>
            <a:ext cx="47457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3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Проходит ли содержимое локальных файлов через тот же PII Shield / dlp-secret, что уже применяется к серверному RAG-корпусу и чату?</a:t>
            </a:r>
            <a:endParaRPr lang="en-US" sz="1130" dirty="0"/>
          </a:p>
        </p:txBody>
      </p:sp>
      <p:sp>
        <p:nvSpPr>
          <p:cNvPr id="12" name="Shape 9"/>
          <p:cNvSpPr/>
          <p:nvPr/>
        </p:nvSpPr>
        <p:spPr>
          <a:xfrm>
            <a:off x="6217920" y="2331720"/>
            <a:ext cx="5257800" cy="1627632"/>
          </a:xfrm>
          <a:prstGeom prst="roundRect">
            <a:avLst>
              <a:gd name="adj" fmla="val 5056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473952" y="256946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4ECFD"/>
          </a:solidFill>
          <a:ln/>
        </p:spPr>
      </p:sp>
      <p:sp>
        <p:nvSpPr>
          <p:cNvPr id="14" name="Text 11"/>
          <p:cNvSpPr/>
          <p:nvPr/>
        </p:nvSpPr>
        <p:spPr>
          <a:xfrm>
            <a:off x="6519672" y="2569464"/>
            <a:ext cx="292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0698480" y="2496312"/>
            <a:ext cx="548640" cy="548640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0154" y="2627986"/>
            <a:ext cx="285293" cy="285293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995160" y="251460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 же правило для облака?</a:t>
            </a:r>
            <a:endParaRPr lang="en-US" sz="1450" dirty="0"/>
          </a:p>
        </p:txBody>
      </p:sp>
      <p:sp>
        <p:nvSpPr>
          <p:cNvPr id="18" name="Text 14"/>
          <p:cNvSpPr/>
          <p:nvPr/>
        </p:nvSpPr>
        <p:spPr>
          <a:xfrm>
            <a:off x="6473952" y="3008376"/>
            <a:ext cx="47457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3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Действует ли правило «маскирование обязательно только для внешней/облачной модели» — или для рабочей станции оно жёстче?</a:t>
            </a:r>
            <a:endParaRPr lang="en-US" sz="1130" dirty="0"/>
          </a:p>
        </p:txBody>
      </p:sp>
      <p:sp>
        <p:nvSpPr>
          <p:cNvPr id="19" name="Shape 15"/>
          <p:cNvSpPr/>
          <p:nvPr/>
        </p:nvSpPr>
        <p:spPr>
          <a:xfrm>
            <a:off x="548640" y="4187952"/>
            <a:ext cx="5257800" cy="1627632"/>
          </a:xfrm>
          <a:prstGeom prst="roundRect">
            <a:avLst>
              <a:gd name="adj" fmla="val 5056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04672" y="4425696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4ECFD"/>
          </a:solidFill>
          <a:ln/>
        </p:spPr>
      </p:sp>
      <p:sp>
        <p:nvSpPr>
          <p:cNvPr id="21" name="Text 17"/>
          <p:cNvSpPr/>
          <p:nvPr/>
        </p:nvSpPr>
        <p:spPr>
          <a:xfrm>
            <a:off x="850392" y="4425696"/>
            <a:ext cx="292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5029200" y="4352544"/>
            <a:ext cx="548640" cy="548640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0874" y="4484218"/>
            <a:ext cx="285293" cy="285293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325880" y="4370832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задаёт запреты?</a:t>
            </a:r>
            <a:endParaRPr lang="en-US" sz="1450" dirty="0"/>
          </a:p>
        </p:txBody>
      </p:sp>
      <p:sp>
        <p:nvSpPr>
          <p:cNvPr id="25" name="Text 20"/>
          <p:cNvSpPr/>
          <p:nvPr/>
        </p:nvSpPr>
        <p:spPr>
          <a:xfrm>
            <a:off x="804672" y="4864608"/>
            <a:ext cx="47457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3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запретов формирует администратор централизованно (групповые политики, вместе с РМ-2), или пользователь может расширять список сам?</a:t>
            </a:r>
            <a:endParaRPr lang="en-US" sz="1130" dirty="0"/>
          </a:p>
        </p:txBody>
      </p:sp>
      <p:sp>
        <p:nvSpPr>
          <p:cNvPr id="26" name="Shape 21"/>
          <p:cNvSpPr/>
          <p:nvPr/>
        </p:nvSpPr>
        <p:spPr>
          <a:xfrm>
            <a:off x="6217920" y="4187952"/>
            <a:ext cx="5257800" cy="1627632"/>
          </a:xfrm>
          <a:prstGeom prst="roundRect">
            <a:avLst>
              <a:gd name="adj" fmla="val 5056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6473952" y="4425696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4ECFD"/>
          </a:solidFill>
          <a:ln/>
        </p:spPr>
      </p:sp>
      <p:sp>
        <p:nvSpPr>
          <p:cNvPr id="28" name="Text 23"/>
          <p:cNvSpPr/>
          <p:nvPr/>
        </p:nvSpPr>
        <p:spPr>
          <a:xfrm>
            <a:off x="6519672" y="4425696"/>
            <a:ext cx="292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Shape 24"/>
          <p:cNvSpPr/>
          <p:nvPr/>
        </p:nvSpPr>
        <p:spPr>
          <a:xfrm>
            <a:off x="10698480" y="4352544"/>
            <a:ext cx="548640" cy="548640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0154" y="4484218"/>
            <a:ext cx="285293" cy="285293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6995160" y="4370832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Тот же журнал аудита?</a:t>
            </a:r>
            <a:endParaRPr lang="en-US" sz="1450" dirty="0"/>
          </a:p>
        </p:txBody>
      </p:sp>
      <p:sp>
        <p:nvSpPr>
          <p:cNvPr id="32" name="Text 26"/>
          <p:cNvSpPr/>
          <p:nvPr/>
        </p:nvSpPr>
        <p:spPr>
          <a:xfrm>
            <a:off x="6473952" y="4864608"/>
            <a:ext cx="47457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3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Обращения к локальным файлам попадают в тот же журнал DLP/audit-БД, что и серверные обращения, или предусмотрен отдельный журнал?</a:t>
            </a:r>
            <a:endParaRPr lang="en-US" sz="1130" dirty="0"/>
          </a:p>
        </p:txBody>
      </p:sp>
      <p:sp>
        <p:nvSpPr>
          <p:cNvPr id="33" name="Text 2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34" name="Text 28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1 · ПОЧЕМУ ОСТАЮТСЯ СОМНЕНИЯ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Единственный пункт дорожной карты, где защита данных пока не описана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291840" cy="2788920"/>
          </a:xfrm>
          <a:prstGeom prst="roundRect">
            <a:avLst>
              <a:gd name="adj" fmla="val 2951"/>
            </a:avLst>
          </a:prstGeom>
          <a:solidFill>
            <a:srgbClr val="2C3140"/>
          </a:solidFill>
          <a:ln/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219456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из 35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868680" y="3291840"/>
            <a:ext cx="2651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пунктов дорожной карты — с пока не описанной защитой данных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297680" y="1691640"/>
            <a:ext cx="73453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маскирование архитектурно не распространяется на локально читаемые файлы, агент рабочей станции рискует стать новым каналом в обход периметра AI Guard, выстроенного для серверной части. Это и есть та неопределённость, из-за которой у нас остаются сомнения в необходимости РМ-1 в текущем виде.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97680" y="2743200"/>
            <a:ext cx="7345375" cy="1005840"/>
          </a:xfrm>
          <a:prstGeom prst="roundRect">
            <a:avLst>
              <a:gd name="adj" fmla="val 8182"/>
            </a:avLst>
          </a:prstGeom>
          <a:solidFill>
            <a:srgbClr val="E4ECFD"/>
          </a:solidFill>
          <a:ln w="9525">
            <a:solidFill>
              <a:srgbClr val="2F6FED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49140" y="299466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9841" y="311536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212080" y="2743200"/>
            <a:ext cx="6248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Сервер: периметр AI Guard — маскирование гарантировано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97680" y="3931920"/>
            <a:ext cx="7345375" cy="1005840"/>
          </a:xfrm>
          <a:prstGeom prst="roundRect">
            <a:avLst>
              <a:gd name="adj" fmla="val 8182"/>
            </a:avLst>
          </a:prstGeom>
          <a:solidFill>
            <a:srgbClr val="FBEED9"/>
          </a:solidFill>
          <a:ln w="19050">
            <a:solidFill>
              <a:srgbClr val="E8A33D"/>
            </a:solidFill>
            <a:prstDash val="dash"/>
          </a:ln>
        </p:spPr>
      </p:sp>
      <p:sp>
        <p:nvSpPr>
          <p:cNvPr id="13" name="Shape 10"/>
          <p:cNvSpPr/>
          <p:nvPr/>
        </p:nvSpPr>
        <p:spPr>
          <a:xfrm>
            <a:off x="4549140" y="41833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9841" y="4304081"/>
            <a:ext cx="261518" cy="26151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212080" y="3931920"/>
            <a:ext cx="6248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Рабочая станция: маскирование не описано — под вопросом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548640" y="5193792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Статус: это не рекомендация отказаться от РМ-1 — необходимость этого расширения в заявленном виде пока не доказана, и ответы разработчика на предыдущем слайде её снимут или подтвердят. Уровень C означает подтверждённое направление, но не обязательство по срокам — самое время спросить, пока пункт не закрепился в договоре.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3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331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606040"/>
            <a:ext cx="8595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Иерархия каталогов</a:t>
            </a:r>
            <a:endParaRPr lang="en-US" sz="3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внутри домена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411480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Гранулярный доступ к документам — готовое предложение к реализации, а не открытый вопрос без ответа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441180" y="2583180"/>
            <a:ext cx="1417320" cy="1417320"/>
          </a:xfrm>
          <a:prstGeom prst="ellipse">
            <a:avLst/>
          </a:prstGeom>
          <a:solidFill>
            <a:srgbClr val="2C314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1337" y="2923337"/>
            <a:ext cx="737006" cy="7370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МОДЕЛЬ СЕГОДНЯ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Сегодня: домен — плоская тематическая область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 (например, «Кадры») — тематическая область данных. Коллекция — «папка» документов внутри платформы. У именованной коллекции есть ровно один домен — доступ к ней ограничен персонами этого домена; домена нет — коллекция считается общей и доступна всем.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11094415" cy="2148840"/>
          </a:xfrm>
          <a:prstGeom prst="roundRect">
            <a:avLst>
              <a:gd name="adj" fmla="val 4255"/>
            </a:avLst>
          </a:prstGeom>
          <a:solidFill>
            <a:srgbClr val="EAEDF3"/>
          </a:solidFill>
          <a:ln w="12700">
            <a:solidFill>
              <a:srgbClr val="DCE1E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8620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 «КАДРЫ»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3291840"/>
            <a:ext cx="23317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737360" y="3451860"/>
            <a:ext cx="502920" cy="502920"/>
          </a:xfrm>
          <a:prstGeom prst="ellipse">
            <a:avLst/>
          </a:prstGeom>
          <a:solidFill>
            <a:srgbClr val="FBEED9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8061" y="3572561"/>
            <a:ext cx="261518" cy="26151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14400" y="40690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Отпуска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560978" y="3291840"/>
            <a:ext cx="23317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475378" y="3451860"/>
            <a:ext cx="502920" cy="502920"/>
          </a:xfrm>
          <a:prstGeom prst="ellipse">
            <a:avLst/>
          </a:prstGeom>
          <a:solidFill>
            <a:srgbClr val="FBEED9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6079" y="3572561"/>
            <a:ext cx="261518" cy="26151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652418" y="40690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Больничные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298997" y="3291840"/>
            <a:ext cx="23317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213397" y="3451860"/>
            <a:ext cx="502920" cy="502920"/>
          </a:xfrm>
          <a:prstGeom prst="ellipse">
            <a:avLst/>
          </a:prstGeom>
          <a:solidFill>
            <a:srgbClr val="FBEED9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098" y="3572561"/>
            <a:ext cx="261518" cy="26151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390437" y="40690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Оклады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9037015" y="3291840"/>
            <a:ext cx="23317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951415" y="3451860"/>
            <a:ext cx="502920" cy="502920"/>
          </a:xfrm>
          <a:prstGeom prst="ellipse">
            <a:avLst/>
          </a:prstGeom>
          <a:solidFill>
            <a:srgbClr val="FBEED9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2116" y="3572561"/>
            <a:ext cx="261518" cy="26151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128455" y="40690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Справочники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548640" y="5120640"/>
            <a:ext cx="11094415" cy="685800"/>
          </a:xfrm>
          <a:prstGeom prst="roundRect">
            <a:avLst>
              <a:gd name="adj" fmla="val 12000"/>
            </a:avLst>
          </a:prstGeom>
          <a:solidFill>
            <a:srgbClr val="EEF0F3"/>
          </a:solidFill>
          <a:ln w="9525">
            <a:solidFill>
              <a:srgbClr val="DCE1E9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822960" y="51206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pPr indent="0" marL="0">
              <a:lnSpc>
                <a:spcPct val="115000"/>
              </a:lnSpc>
              <a:buNone/>
            </a:pPr>
            <a:r>
              <a:rPr lang="en-US" sz="1300" b="1" i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именованной коллекции есть домен — доступ ограничен; домена нет — коллекция считается общей</a:t>
            </a:r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 — из документации платформы Камерата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ГДЕ НУЖНО РЕШЕНИЕ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6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Внутри одной темы нужна разная аудитория — плоская модель это не выражает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Пример: в домене «Кадры» отпускные и больничные должны быть видны всем сотрудникам, а оклады — только узкому кругу лиц. Для табличных данных это решено штатно; для документов — нет.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5257800" cy="2331720"/>
          </a:xfrm>
          <a:prstGeom prst="roundRect">
            <a:avLst>
              <a:gd name="adj" fmla="val 3529"/>
            </a:avLst>
          </a:prstGeom>
          <a:solidFill>
            <a:srgbClr val="E1F3EA"/>
          </a:solidFill>
          <a:ln w="9525">
            <a:solidFill>
              <a:srgbClr val="2E9E6E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509114"/>
            <a:ext cx="285293" cy="28529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441448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Табличные данные (DWH)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68680" y="2971800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Решает RLS: на одной и той же таблице задаются разные row-фильтры и маски колонок для разных персон.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68680" y="406908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2E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таблица → разные срезы для разных персон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217920" y="2194560"/>
            <a:ext cx="5257800" cy="2331720"/>
          </a:xfrm>
          <a:prstGeom prst="roundRect">
            <a:avLst>
              <a:gd name="adj" fmla="val 3529"/>
            </a:avLst>
          </a:prstGeom>
          <a:solidFill>
            <a:srgbClr val="FBEED9"/>
          </a:solidFill>
          <a:ln w="9525">
            <a:solidFill>
              <a:srgbClr val="E8A33D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46520" y="237744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8194" y="2509114"/>
            <a:ext cx="285293" cy="28529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78040" y="2441448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Документы (RAG-корпус)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6537960" y="2971800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Единственный документированный способ сегодня — завести отдельную, более узкую коллекцию с собственным доменом, настраиваемым с нуля.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537960" y="4023360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i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Несколько несвязанных коллекций → нет общего «взгляда сверху»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48640" y="4754880"/>
            <a:ext cx="11094415" cy="1051560"/>
          </a:xfrm>
          <a:prstGeom prst="roundRect">
            <a:avLst>
              <a:gd name="adj" fmla="val 7826"/>
            </a:avLst>
          </a:prstGeom>
          <a:solidFill>
            <a:srgbClr val="EAEDF3"/>
          </a:solidFill>
          <a:ln w="9525">
            <a:solidFill>
              <a:srgbClr val="DCE1E9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22960" y="4754880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на самом деле два разных вопроса к разработчику: </a:t>
            </a:r>
            <a:pPr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2a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гранулярность </a:t>
            </a:r>
            <a:pPr indent="0" marL="0">
              <a:lnSpc>
                <a:spcPct val="128000"/>
              </a:lnSpc>
              <a:buNone/>
            </a:pPr>
            <a:r>
              <a:rPr lang="en-US" sz="1250" i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внутри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одной коллекции (документ/раздел/тег) — дерево каталогов её </a:t>
            </a:r>
            <a:pPr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даёт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pPr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2b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организация множества плоских доменов в структуру с наследованием — вот что решает предложение на следующих слайдах.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ПРЕДЛОЖЕНИЕ (2B)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5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Домен становится деревом каталогов, а не списком коллекций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096305" y="1984248"/>
            <a:ext cx="0" cy="411480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6305" y="2926080"/>
            <a:ext cx="0" cy="237744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78985" y="3163824"/>
            <a:ext cx="2834640" cy="0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78985" y="3163824"/>
            <a:ext cx="0" cy="237744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13625" y="3163824"/>
            <a:ext cx="0" cy="237744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78985" y="3931920"/>
            <a:ext cx="0" cy="251460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513625" y="3931920"/>
            <a:ext cx="0" cy="251460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78985" y="4183380"/>
            <a:ext cx="2834640" cy="0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6305" y="4183380"/>
            <a:ext cx="0" cy="251460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24705" y="1481328"/>
            <a:ext cx="2743200" cy="502920"/>
          </a:xfrm>
          <a:prstGeom prst="roundRect">
            <a:avLst>
              <a:gd name="adj" fmla="val 14545"/>
            </a:avLst>
          </a:prstGeom>
          <a:solidFill>
            <a:srgbClr val="2C3140"/>
          </a:solidFill>
          <a:ln w="19050">
            <a:solidFill>
              <a:srgbClr val="2C31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4705" y="148132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 «КАДРЫ»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907585" y="2395728"/>
            <a:ext cx="2377440" cy="530352"/>
          </a:xfrm>
          <a:prstGeom prst="roundRect">
            <a:avLst>
              <a:gd name="adj" fmla="val 13793"/>
            </a:avLst>
          </a:prstGeom>
          <a:solidFill>
            <a:srgbClr val="FBEED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07585" y="239572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Оклады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27425" y="3401568"/>
            <a:ext cx="2103120" cy="530352"/>
          </a:xfrm>
          <a:prstGeom prst="roundRect">
            <a:avLst>
              <a:gd name="adj" fmla="val 13793"/>
            </a:avLst>
          </a:prstGeom>
          <a:solidFill>
            <a:srgbClr val="E4ECFD"/>
          </a:solidFill>
          <a:ln w="19050">
            <a:solidFill>
              <a:srgbClr val="2F6F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27425" y="3401568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Больничные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62065" y="3401568"/>
            <a:ext cx="2103120" cy="530352"/>
          </a:xfrm>
          <a:prstGeom prst="roundRect">
            <a:avLst>
              <a:gd name="adj" fmla="val 13793"/>
            </a:avLst>
          </a:prstGeom>
          <a:solidFill>
            <a:srgbClr val="E4ECFD"/>
          </a:solidFill>
          <a:ln w="19050">
            <a:solidFill>
              <a:srgbClr val="2F6F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62065" y="3401568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Отпускные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41825" y="4434840"/>
            <a:ext cx="3108960" cy="566928"/>
          </a:xfrm>
          <a:prstGeom prst="roundRect">
            <a:avLst>
              <a:gd name="adj" fmla="val 12903"/>
            </a:avLst>
          </a:prstGeom>
          <a:solidFill>
            <a:srgbClr val="E4ECFD"/>
          </a:solidFill>
          <a:ln w="19050">
            <a:solidFill>
              <a:srgbClr val="2F6F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41825" y="443484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Список сотрудников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467905" y="1732788"/>
            <a:ext cx="457200" cy="0"/>
          </a:xfrm>
          <a:prstGeom prst="line">
            <a:avLst/>
          </a:prstGeom>
          <a:noFill/>
          <a:ln w="12700">
            <a:solidFill>
              <a:srgbClr val="8891A0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925105" y="1504188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2C3140"/>
          </a:solidFill>
          <a:ln/>
        </p:spPr>
      </p:sp>
      <p:sp>
        <p:nvSpPr>
          <p:cNvPr id="25" name="Text 23"/>
          <p:cNvSpPr/>
          <p:nvPr/>
        </p:nvSpPr>
        <p:spPr>
          <a:xfrm>
            <a:off x="8016545" y="150418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Директор по персоналу — весь домен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5202936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«Оклады» — единственный потомок домена «Кадры»; «Больничные» и «Отпускные» — его дети-сиблинги, между собой напрямую не связанные, и оба сходятся в общий лист «Список сотрудников» — у него уже два родителя внутри одного домена. Этот же узел получит ещё двух родителей — от доменов «Маркетинг» и «Логистика» — на следующем слайде.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8640" y="575157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 видит узел, к которому привязана, и всё, что вложено под ним — на любую глубину.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УТОЧНИМ ВМЕСТЕ ПРИ РЕАЛИЗАЦИИ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5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«Список сотрудников» — общий узел сразу трёх доменов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не обязан быть в одном дереве. «Список сотрудников» нужен трём доменам сразу — «Кадры» (через «Больничные»/«Отпускные»), «Маркетинг» и «Логистика» (прямым ребром от корня) — и сам является листом.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417320" y="2011680"/>
            <a:ext cx="2103120" cy="365760"/>
          </a:xfrm>
          <a:prstGeom prst="roundRect">
            <a:avLst>
              <a:gd name="adj" fmla="val 20000"/>
            </a:avLst>
          </a:prstGeom>
          <a:solidFill>
            <a:srgbClr val="2C3140"/>
          </a:solidFill>
          <a:ln/>
        </p:spPr>
      </p:sp>
      <p:sp>
        <p:nvSpPr>
          <p:cNvPr id="6" name="Text 4"/>
          <p:cNvSpPr/>
          <p:nvPr/>
        </p:nvSpPr>
        <p:spPr>
          <a:xfrm>
            <a:off x="1417320" y="2011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 «МАРКЕТИНГ»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44745" y="2011680"/>
            <a:ext cx="2103120" cy="365760"/>
          </a:xfrm>
          <a:prstGeom prst="roundRect">
            <a:avLst>
              <a:gd name="adj" fmla="val 20000"/>
            </a:avLst>
          </a:prstGeom>
          <a:solidFill>
            <a:srgbClr val="2C3140"/>
          </a:solidFill>
          <a:ln/>
        </p:spPr>
      </p:sp>
      <p:sp>
        <p:nvSpPr>
          <p:cNvPr id="8" name="Text 6"/>
          <p:cNvSpPr/>
          <p:nvPr/>
        </p:nvSpPr>
        <p:spPr>
          <a:xfrm>
            <a:off x="5044745" y="2011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 «КАДРЫ»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668512" y="2011680"/>
            <a:ext cx="2103120" cy="365760"/>
          </a:xfrm>
          <a:prstGeom prst="roundRect">
            <a:avLst>
              <a:gd name="adj" fmla="val 20000"/>
            </a:avLst>
          </a:prstGeom>
          <a:solidFill>
            <a:srgbClr val="2C3140"/>
          </a:solidFill>
          <a:ln/>
        </p:spPr>
      </p:sp>
      <p:sp>
        <p:nvSpPr>
          <p:cNvPr id="10" name="Text 8"/>
          <p:cNvSpPr/>
          <p:nvPr/>
        </p:nvSpPr>
        <p:spPr>
          <a:xfrm>
            <a:off x="8668512" y="2011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 «ЛОГИСТИКА»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202996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всё дерево показано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257593" y="202996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«Оклады» — выше, см. слайд 10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0863072" y="2029968"/>
            <a:ext cx="77998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всё дерево показано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096305" y="2377440"/>
            <a:ext cx="0" cy="182880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27625" y="2560320"/>
            <a:ext cx="1737360" cy="0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227625" y="2560320"/>
            <a:ext cx="0" cy="182880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64985" y="2560320"/>
            <a:ext cx="0" cy="182880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04665" y="2743200"/>
            <a:ext cx="1645920" cy="420624"/>
          </a:xfrm>
          <a:prstGeom prst="roundRect">
            <a:avLst>
              <a:gd name="adj" fmla="val 17391"/>
            </a:avLst>
          </a:prstGeom>
          <a:solidFill>
            <a:srgbClr val="E4ECFD"/>
          </a:solidFill>
          <a:ln w="19050">
            <a:solidFill>
              <a:srgbClr val="2F6F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04665" y="274320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Больничные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42025" y="2743200"/>
            <a:ext cx="1645920" cy="420624"/>
          </a:xfrm>
          <a:prstGeom prst="roundRect">
            <a:avLst>
              <a:gd name="adj" fmla="val 17391"/>
            </a:avLst>
          </a:prstGeom>
          <a:solidFill>
            <a:srgbClr val="E4ECFD"/>
          </a:solidFill>
          <a:ln w="19050">
            <a:solidFill>
              <a:srgbClr val="2F6F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42025" y="274320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Отпускные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227625" y="3163824"/>
            <a:ext cx="0" cy="315468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64985" y="3163824"/>
            <a:ext cx="0" cy="315468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227625" y="3479292"/>
            <a:ext cx="1737360" cy="0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96305" y="3479292"/>
            <a:ext cx="0" cy="315468"/>
          </a:xfrm>
          <a:prstGeom prst="line">
            <a:avLst/>
          </a:prstGeom>
          <a:noFill/>
          <a:ln w="19050">
            <a:solidFill>
              <a:srgbClr val="8891A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468880" y="2377440"/>
            <a:ext cx="2667305" cy="1417320"/>
          </a:xfrm>
          <a:prstGeom prst="line">
            <a:avLst/>
          </a:prstGeom>
          <a:noFill/>
          <a:ln w="25400">
            <a:solidFill>
              <a:srgbClr val="2F6FE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056425" y="2377440"/>
            <a:ext cx="2663647" cy="1417320"/>
          </a:xfrm>
          <a:prstGeom prst="line">
            <a:avLst/>
          </a:prstGeom>
          <a:noFill/>
          <a:ln w="25400">
            <a:solidFill>
              <a:srgbClr val="2F6F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70425" y="3794760"/>
            <a:ext cx="2651760" cy="502920"/>
          </a:xfrm>
          <a:prstGeom prst="roundRect">
            <a:avLst>
              <a:gd name="adj" fmla="val 16364"/>
            </a:avLst>
          </a:prstGeom>
          <a:solidFill>
            <a:srgbClr val="E4ECFD"/>
          </a:solidFill>
          <a:ln w="25400">
            <a:solidFill>
              <a:srgbClr val="2F6FE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70425" y="37947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4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Список сотрудников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48640" y="4407408"/>
            <a:ext cx="11094415" cy="502920"/>
          </a:xfrm>
          <a:prstGeom prst="roundRect">
            <a:avLst>
              <a:gd name="adj" fmla="val 16364"/>
            </a:avLst>
          </a:prstGeom>
          <a:solidFill>
            <a:srgbClr val="EAEDF3"/>
          </a:solidFill>
          <a:ln w="9525">
            <a:solidFill>
              <a:srgbClr val="DCE1E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4407408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«Список сотрудников» — четыре родителя (Больничные, Отпускные, Маркетинг, Логистика), но сам он — лист: потомков нет. </a:t>
            </a:r>
            <a:pPr algn="ctr" indent="0" marL="0">
              <a:lnSpc>
                <a:spcPct val="118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Напоминание: узел на этой и предыдущей схеме = он сам плюс все его потомки — поэтому «Оклады» на предыдущем слайде значит не только оклады, а всю ветку под ним.</a:t>
            </a:r>
            <a:endParaRPr lang="en-US" sz="1080" dirty="0"/>
          </a:p>
        </p:txBody>
      </p:sp>
      <p:sp>
        <p:nvSpPr>
          <p:cNvPr id="32" name="Shape 30"/>
          <p:cNvSpPr/>
          <p:nvPr/>
        </p:nvSpPr>
        <p:spPr>
          <a:xfrm>
            <a:off x="548640" y="5001768"/>
            <a:ext cx="11094415" cy="1188720"/>
          </a:xfrm>
          <a:prstGeom prst="roundRect">
            <a:avLst>
              <a:gd name="adj" fmla="val 6923"/>
            </a:avLst>
          </a:prstGeom>
          <a:solidFill>
            <a:srgbClr val="FBEED9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77240" y="5321808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5453482"/>
            <a:ext cx="285293" cy="285293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1463040" y="5111496"/>
            <a:ext cx="990569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Открытые вопросы к разработчику. </a:t>
            </a:r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Направление обхода: 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узла с несколькими родителями видимость должна обходиться строго вниз от точки привязки, а родительские рёбра при проверке доступа не использоваться — независимо от числа родителей у узла. Это нужно подтвердить как гарантию реализации, а не как наше предположение. </a:t>
            </a:r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 Гранулярность списка: 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 на корне «Маркетинг» обычным нисходящим наследованием доходит до «Список сотрудников» — видит ли она список целиком или только свой отдел? Тот же класс вопроса, что и «2a» ранее, остаётся открытым — в отличие от риска увидеть «Оклады» через этот узел: он закрыт структурно, поскольку «Список сотрудников» — лист.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ПРАВИЛО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Видимость течёт только вниз по дереву от узла привязки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724248" y="3360420"/>
            <a:ext cx="2743200" cy="777240"/>
          </a:xfrm>
          <a:prstGeom prst="roundRect">
            <a:avLst>
              <a:gd name="adj" fmla="val 11765"/>
            </a:avLst>
          </a:prstGeom>
          <a:solidFill>
            <a:srgbClr val="2C3140"/>
          </a:solidFill>
          <a:ln/>
        </p:spPr>
      </p:sp>
      <p:sp>
        <p:nvSpPr>
          <p:cNvPr id="5" name="Text 3"/>
          <p:cNvSpPr/>
          <p:nvPr/>
        </p:nvSpPr>
        <p:spPr>
          <a:xfrm>
            <a:off x="4724248" y="33604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Узел, к которому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привязана персона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449928" y="1783080"/>
            <a:ext cx="3291840" cy="777240"/>
          </a:xfrm>
          <a:prstGeom prst="roundRect">
            <a:avLst>
              <a:gd name="adj" fmla="val 11765"/>
            </a:avLst>
          </a:prstGeom>
          <a:solidFill>
            <a:srgbClr val="FBE6E9"/>
          </a:solidFill>
          <a:ln w="15875">
            <a:solidFill>
              <a:srgbClr val="D1495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4632808" y="18745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Предки узла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632808" y="2194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14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вверх — не видно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078828" y="192024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9528" y="2040941"/>
            <a:ext cx="261518" cy="26151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095848" y="2560320"/>
            <a:ext cx="0" cy="800100"/>
          </a:xfrm>
          <a:prstGeom prst="line">
            <a:avLst/>
          </a:prstGeom>
          <a:noFill/>
          <a:ln w="19050">
            <a:solidFill>
              <a:srgbClr val="D1495B"/>
            </a:solidFill>
            <a:prstDash val="dash"/>
          </a:ln>
        </p:spPr>
      </p:sp>
      <p:sp>
        <p:nvSpPr>
          <p:cNvPr id="12" name="Shape 9"/>
          <p:cNvSpPr/>
          <p:nvPr/>
        </p:nvSpPr>
        <p:spPr>
          <a:xfrm>
            <a:off x="4449928" y="4640580"/>
            <a:ext cx="3291840" cy="777240"/>
          </a:xfrm>
          <a:prstGeom prst="roundRect">
            <a:avLst>
              <a:gd name="adj" fmla="val 11765"/>
            </a:avLst>
          </a:prstGeom>
          <a:solidFill>
            <a:srgbClr val="E1F3EA"/>
          </a:solidFill>
          <a:ln w="19050">
            <a:solidFill>
              <a:srgbClr val="2E9E6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632808" y="47320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потомки узла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632808" y="50520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вниз — видно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078828" y="477774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528" y="4898441"/>
            <a:ext cx="261518" cy="261518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095848" y="4137660"/>
            <a:ext cx="0" cy="502920"/>
          </a:xfrm>
          <a:prstGeom prst="line">
            <a:avLst/>
          </a:prstGeom>
          <a:noFill/>
          <a:ln w="25400">
            <a:solidFill>
              <a:srgbClr val="2E9E6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31520" y="3291840"/>
            <a:ext cx="2880360" cy="914400"/>
          </a:xfrm>
          <a:prstGeom prst="roundRect">
            <a:avLst>
              <a:gd name="adj" fmla="val 10000"/>
            </a:avLst>
          </a:prstGeom>
          <a:solidFill>
            <a:srgbClr val="FBE6E9"/>
          </a:solidFill>
          <a:ln w="15875">
            <a:solidFill>
              <a:srgbClr val="D1495B"/>
            </a:solidFill>
            <a:prstDash val="dash"/>
          </a:ln>
        </p:spPr>
      </p:sp>
      <p:sp>
        <p:nvSpPr>
          <p:cNvPr id="19" name="Shape 15"/>
          <p:cNvSpPr/>
          <p:nvPr/>
        </p:nvSpPr>
        <p:spPr>
          <a:xfrm>
            <a:off x="937260" y="34975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1" y="3618281"/>
            <a:ext cx="261518" cy="26151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554480" y="340156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Соседние ветки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1554480" y="374904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14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вбок — не видно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3611880" y="3749040"/>
            <a:ext cx="1112368" cy="0"/>
          </a:xfrm>
          <a:prstGeom prst="line">
            <a:avLst/>
          </a:prstGeom>
          <a:noFill/>
          <a:ln w="19050">
            <a:solidFill>
              <a:srgbClr val="D1495B"/>
            </a:solidFill>
            <a:prstDash val="dash"/>
          </a:ln>
        </p:spPr>
      </p:sp>
      <p:sp>
        <p:nvSpPr>
          <p:cNvPr id="24" name="Shape 19"/>
          <p:cNvSpPr/>
          <p:nvPr/>
        </p:nvSpPr>
        <p:spPr>
          <a:xfrm>
            <a:off x="8579815" y="3291840"/>
            <a:ext cx="2880360" cy="914400"/>
          </a:xfrm>
          <a:prstGeom prst="roundRect">
            <a:avLst>
              <a:gd name="adj" fmla="val 10000"/>
            </a:avLst>
          </a:prstGeom>
          <a:solidFill>
            <a:srgbClr val="FBE6E9"/>
          </a:solidFill>
          <a:ln w="15875">
            <a:solidFill>
              <a:srgbClr val="D1495B"/>
            </a:solidFill>
            <a:prstDash val="dash"/>
          </a:ln>
        </p:spPr>
      </p:sp>
      <p:sp>
        <p:nvSpPr>
          <p:cNvPr id="25" name="Shape 20"/>
          <p:cNvSpPr/>
          <p:nvPr/>
        </p:nvSpPr>
        <p:spPr>
          <a:xfrm>
            <a:off x="8785555" y="34975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6256" y="3618281"/>
            <a:ext cx="261518" cy="26151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402775" y="340156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Соседние ветки</a:t>
            </a:r>
            <a:endParaRPr lang="en-US" sz="1200" dirty="0"/>
          </a:p>
        </p:txBody>
      </p:sp>
      <p:sp>
        <p:nvSpPr>
          <p:cNvPr id="28" name="Text 22"/>
          <p:cNvSpPr/>
          <p:nvPr/>
        </p:nvSpPr>
        <p:spPr>
          <a:xfrm>
            <a:off x="9402775" y="374904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14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вбок — не видно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7467448" y="3749040"/>
            <a:ext cx="1112368" cy="0"/>
          </a:xfrm>
          <a:prstGeom prst="line">
            <a:avLst/>
          </a:prstGeom>
          <a:noFill/>
          <a:ln w="19050">
            <a:solidFill>
              <a:srgbClr val="D1495B"/>
            </a:solidFill>
            <a:prstDash val="dash"/>
          </a:ln>
        </p:spPr>
      </p:sp>
      <p:sp>
        <p:nvSpPr>
          <p:cNvPr id="30" name="Text 24"/>
          <p:cNvSpPr/>
          <p:nvPr/>
        </p:nvSpPr>
        <p:spPr>
          <a:xfrm>
            <a:off x="548640" y="57378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 привязывается к одному узлу дерева и автоматически получает доступ ко всему, что вложено под ним — без ручной настройки на каждый вложенный каталог.</a:t>
            </a:r>
            <a:endParaRPr lang="en-US" sz="1250" dirty="0"/>
          </a:p>
        </p:txBody>
      </p:sp>
      <p:sp>
        <p:nvSpPr>
          <p:cNvPr id="31" name="Text 2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32" name="Text 26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КАК ЭТО РАБОТАЕТ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Три персоны — три разных пути к «Список сотрудников»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1481328"/>
          </a:xfrm>
          <a:prstGeom prst="roundRect">
            <a:avLst>
              <a:gd name="adj" fmla="val 5556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2029968"/>
            <a:ext cx="713232" cy="713232"/>
          </a:xfrm>
          <a:prstGeom prst="ellipse">
            <a:avLst/>
          </a:prstGeom>
          <a:solidFill>
            <a:srgbClr val="FBEED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128" y="2201144"/>
            <a:ext cx="370881" cy="37088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77393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Сотрудник кадров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1691640" y="2157984"/>
            <a:ext cx="3566160" cy="329184"/>
          </a:xfrm>
          <a:prstGeom prst="roundRect">
            <a:avLst>
              <a:gd name="adj" fmla="val 50000"/>
            </a:avLst>
          </a:prstGeom>
          <a:solidFill>
            <a:srgbClr val="FBEED9"/>
          </a:solidFill>
          <a:ln/>
        </p:spPr>
      </p:sp>
      <p:sp>
        <p:nvSpPr>
          <p:cNvPr id="9" name="Text 6"/>
          <p:cNvSpPr/>
          <p:nvPr/>
        </p:nvSpPr>
        <p:spPr>
          <a:xfrm>
            <a:off x="1737360" y="215798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Кадры / Оклады / Больничные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1691640" y="2560320"/>
            <a:ext cx="3566160" cy="329184"/>
          </a:xfrm>
          <a:prstGeom prst="roundRect">
            <a:avLst>
              <a:gd name="adj" fmla="val 50000"/>
            </a:avLst>
          </a:prstGeom>
          <a:solidFill>
            <a:srgbClr val="FBEED9"/>
          </a:solidFill>
          <a:ln/>
        </p:spPr>
      </p:sp>
      <p:sp>
        <p:nvSpPr>
          <p:cNvPr id="11" name="Text 8"/>
          <p:cNvSpPr/>
          <p:nvPr/>
        </p:nvSpPr>
        <p:spPr>
          <a:xfrm>
            <a:off x="173736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Кадры / Оклады / Отпускные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577840" y="1810512"/>
            <a:ext cx="5790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2E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Видит: </a:t>
            </a:r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«Больничные», «Отпускные» и общий лист «Список сотрудников» — через оба узла привязки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577840" y="2395728"/>
            <a:ext cx="5790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Составная привязка: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привязана сразу к двум узлам-сиблингам — явная множественная привязка, а не «переключение» между ролями. «Оклады» не видит: это их общий родитель, стоит выше обоих, а видимость вверх не течёт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48640" y="3291840"/>
            <a:ext cx="11094415" cy="1481328"/>
          </a:xfrm>
          <a:prstGeom prst="roundRect">
            <a:avLst>
              <a:gd name="adj" fmla="val 5556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58952" y="3675888"/>
            <a:ext cx="713232" cy="713232"/>
          </a:xfrm>
          <a:prstGeom prst="ellipse">
            <a:avLst/>
          </a:prstGeom>
          <a:solidFill>
            <a:srgbClr val="FBEED9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128" y="3847064"/>
            <a:ext cx="370881" cy="370881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691640" y="341985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Начальник отдела маркетинга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1691640" y="3803904"/>
            <a:ext cx="3566160" cy="329184"/>
          </a:xfrm>
          <a:prstGeom prst="roundRect">
            <a:avLst>
              <a:gd name="adj" fmla="val 50000"/>
            </a:avLst>
          </a:prstGeom>
          <a:solidFill>
            <a:srgbClr val="EEF0F3"/>
          </a:solidFill>
          <a:ln/>
        </p:spPr>
      </p:sp>
      <p:sp>
        <p:nvSpPr>
          <p:cNvPr id="19" name="Text 15"/>
          <p:cNvSpPr/>
          <p:nvPr/>
        </p:nvSpPr>
        <p:spPr>
          <a:xfrm>
            <a:off x="1737360" y="380390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Маркетинг (корень домена)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5577840" y="3456432"/>
            <a:ext cx="5790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2E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Видит: </a:t>
            </a:r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«Список сотрудников» — прямым ребром своего домена; узел лист, потомков за ним нет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5577840" y="4041648"/>
            <a:ext cx="5790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Явно не видит: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«Оклады», «Больничные», «Отпускные» — они существуют только внутри «Кадры» и недостижимы со стороны «Маркетинг». Открыто: весь список или только свой отдел — тот же вопрос, что и «2a»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548640" y="4937760"/>
            <a:ext cx="11094415" cy="1481328"/>
          </a:xfrm>
          <a:prstGeom prst="roundRect">
            <a:avLst>
              <a:gd name="adj" fmla="val 5556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758952" y="5321808"/>
            <a:ext cx="713232" cy="713232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128" y="5492984"/>
            <a:ext cx="370881" cy="370881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1691640" y="506577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Директор по персоналу</a:t>
            </a:r>
            <a:endParaRPr lang="en-US" sz="1400" dirty="0"/>
          </a:p>
        </p:txBody>
      </p:sp>
      <p:sp>
        <p:nvSpPr>
          <p:cNvPr id="26" name="Shape 21"/>
          <p:cNvSpPr/>
          <p:nvPr/>
        </p:nvSpPr>
        <p:spPr>
          <a:xfrm>
            <a:off x="1691640" y="5449824"/>
            <a:ext cx="3566160" cy="329184"/>
          </a:xfrm>
          <a:prstGeom prst="roundRect">
            <a:avLst>
              <a:gd name="adj" fmla="val 50000"/>
            </a:avLst>
          </a:prstGeom>
          <a:solidFill>
            <a:srgbClr val="EEF0F3"/>
          </a:solidFill>
          <a:ln/>
        </p:spPr>
      </p:sp>
      <p:sp>
        <p:nvSpPr>
          <p:cNvPr id="27" name="Text 22"/>
          <p:cNvSpPr/>
          <p:nvPr/>
        </p:nvSpPr>
        <p:spPr>
          <a:xfrm>
            <a:off x="1737360" y="544982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Кадры (корень домена)</a:t>
            </a:r>
            <a:endParaRPr lang="en-US" sz="950" dirty="0"/>
          </a:p>
        </p:txBody>
      </p:sp>
      <p:sp>
        <p:nvSpPr>
          <p:cNvPr id="28" name="Text 23"/>
          <p:cNvSpPr/>
          <p:nvPr/>
        </p:nvSpPr>
        <p:spPr>
          <a:xfrm>
            <a:off x="5577840" y="5102352"/>
            <a:ext cx="5790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2E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Видит: </a:t>
            </a:r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весь домен целиком — «Оклады», «Больничные», «Отпускные» и «Список сотрудников»</a:t>
            </a:r>
            <a:endParaRPr lang="en-US" sz="1150" dirty="0"/>
          </a:p>
        </p:txBody>
      </p:sp>
      <p:sp>
        <p:nvSpPr>
          <p:cNvPr id="29" name="Text 24"/>
          <p:cNvSpPr/>
          <p:nvPr/>
        </p:nvSpPr>
        <p:spPr>
          <a:xfrm>
            <a:off x="5577840" y="5687568"/>
            <a:ext cx="579089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Особенность корня: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привязан к корню — права default-узла в принципе нельзя сузить (тот же инвариант, что и в Microsoft Purview)</a:t>
            </a:r>
            <a:endParaRPr lang="en-US" sz="1150" dirty="0"/>
          </a:p>
        </p:txBody>
      </p:sp>
      <p:sp>
        <p:nvSpPr>
          <p:cNvPr id="30" name="Text 2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31" name="Text 26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ПОЧЕМУ ЭТО РЕАЛИСТИЧНОЕ ПРЕДЛОЖЕНИЕ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 просто идея — предложение подкреплено проверенными прецедентами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3063240"/>
          </a:xfrm>
          <a:prstGeom prst="roundRect">
            <a:avLst>
              <a:gd name="adj" fmla="val 2687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920240" y="2080260"/>
            <a:ext cx="777240" cy="777240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6778" y="2266798"/>
            <a:ext cx="404165" cy="4041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990088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Решает 2b, не изобретая ось заново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388620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Организацию множества плоских доменов (2b) — одной структурой, а не отдельными несвязанными доменами. Гранулярность внутри документа (2a) — отдельный, ещё открытый вопрос к разработчику.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34256" y="1783080"/>
            <a:ext cx="3520440" cy="3063240"/>
          </a:xfrm>
          <a:prstGeom prst="roundRect">
            <a:avLst>
              <a:gd name="adj" fmla="val 2687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705856" y="2080260"/>
            <a:ext cx="777240" cy="777240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2394" y="2266798"/>
            <a:ext cx="404165" cy="40416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62856" y="2990088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Проверено прецедентами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608576" y="388620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«вниз, не вбок и не вверх» — задокументированное поведение Microsoft Purview («Restrict inherited permissions»), Google Drive («Limited access»), SharePoint и Databricks Unity Catalog.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19872" y="1783080"/>
            <a:ext cx="3520440" cy="3063240"/>
          </a:xfrm>
          <a:prstGeom prst="roundRect">
            <a:avLst>
              <a:gd name="adj" fmla="val 2687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491472" y="2080260"/>
            <a:ext cx="777240" cy="777240"/>
          </a:xfrm>
          <a:prstGeom prst="ellipse">
            <a:avLst/>
          </a:prstGeom>
          <a:solidFill>
            <a:srgbClr val="E4ECFD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8010" y="2266798"/>
            <a:ext cx="404165" cy="40416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48472" y="2990088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Домен не меняется по сути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8394192" y="388620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Остаётся тематической единицей data mesh-подхода — просто получает внутреннюю структуру вместо плоского списка коллекций.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ДО РЕАЛИЗАЦИИ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остаётся в силе сегодня, пока предложение не реализовано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94415" cy="2103120"/>
          </a:xfrm>
          <a:prstGeom prst="roundRect">
            <a:avLst>
              <a:gd name="adj" fmla="val 3913"/>
            </a:avLst>
          </a:prstGeom>
          <a:solidFill>
            <a:srgbClr val="E1F3EA"/>
          </a:solidFill>
          <a:ln w="9525">
            <a:solidFill>
              <a:srgbClr val="2E9E6E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4231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805" y="2598725"/>
            <a:ext cx="380390" cy="3803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011680"/>
            <a:ext cx="9539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Обходной путь работает и не блокирует пилот Д8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828800" y="2514600"/>
            <a:ext cx="95399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Дробление одной темы на несколько отдельных коллекций с разными доменами (2b) — штатный, документированный способ развести уровни допуска уже сегодня. Для гранулярности внутри документа (2a) обходного пути пока нет вообще — только физическое разнесение по разным файлам.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4160520"/>
            <a:ext cx="5257800" cy="1463040"/>
          </a:xfrm>
          <a:prstGeom prst="roundRect">
            <a:avLst>
              <a:gd name="adj" fmla="val 5625"/>
            </a:avLst>
          </a:prstGeom>
          <a:solidFill>
            <a:srgbClr val="FBEED9"/>
          </a:solidFill>
          <a:ln w="9525">
            <a:solidFill>
              <a:srgbClr val="E8A33D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461772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4" y="474939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63040" y="4160520"/>
            <a:ext cx="4069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Требует тщательного планирования структуры доменов на старте.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217920" y="4160520"/>
            <a:ext cx="5257800" cy="1463040"/>
          </a:xfrm>
          <a:prstGeom prst="roundRect">
            <a:avLst>
              <a:gd name="adj" fmla="val 5625"/>
            </a:avLst>
          </a:prstGeom>
          <a:solidFill>
            <a:srgbClr val="FBEED9"/>
          </a:solidFill>
          <a:ln w="9525">
            <a:solidFill>
              <a:srgbClr val="E8A33D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00800" y="461772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2474" y="474939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132320" y="4160520"/>
            <a:ext cx="4069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Добавляет административную нагрузку — несколько коллекций/доменов на тему, риск разъезжания.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B8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ИТОГ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Статус: предложение к реализации, а не отчёт о дефекте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94415" cy="1920240"/>
          </a:xfrm>
          <a:prstGeom prst="roundRect">
            <a:avLst>
              <a:gd name="adj" fmla="val 4286"/>
            </a:avLst>
          </a:prstGeom>
          <a:solidFill>
            <a:srgbClr val="F3F5F8"/>
          </a:solidFill>
          <a:ln w="9525">
            <a:solidFill>
              <a:srgbClr val="DCE1E9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3063240" cy="457200"/>
          </a:xfrm>
          <a:prstGeom prst="roundRect">
            <a:avLst>
              <a:gd name="adj" fmla="val 50000"/>
            </a:avLst>
          </a:prstGeom>
          <a:solidFill>
            <a:srgbClr val="E4ECFD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031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Предложение к реализации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69748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не найденный баг и не пробел в тестировании — а естественное расширение сегодняшней модели «домен = тематическая область», подкреплённое конкретными прецедентами из индустрии. Предлагаю включить его в дорожную карту и готов прорабатывать детали реализации вместе с разработчиком.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40233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Вероятный кандидат в существующей структуре дорожной карты — линия «Каталог» (КАТ-) или «Надзор» (НАД-).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СИНТЕЗ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Одна и та же граница контроля доступа — два разных ответа: сомнение и предложение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257800" cy="3017520"/>
          </a:xfrm>
          <a:prstGeom prst="roundRect">
            <a:avLst>
              <a:gd name="adj" fmla="val 2727"/>
            </a:avLst>
          </a:prstGeom>
          <a:solidFill>
            <a:srgbClr val="E1F3EA"/>
          </a:solidFill>
          <a:ln w="9525">
            <a:solidFill>
              <a:srgbClr val="2E9E6E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4380" y="194310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026" y="20857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20116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Гарантировано сегодня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68680" y="2651760"/>
            <a:ext cx="4617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Маскирование PII/DLP — для серверной части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Контроль доступа — на уровне целой коллекции (флаг «домен есть / домена нет»)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17920" y="1737360"/>
            <a:ext cx="5257800" cy="3017520"/>
          </a:xfrm>
          <a:prstGeom prst="roundRect">
            <a:avLst>
              <a:gd name="adj" fmla="val 2727"/>
            </a:avLst>
          </a:prstGeom>
          <a:solidFill>
            <a:srgbClr val="FBEED9"/>
          </a:solidFill>
          <a:ln w="9525">
            <a:solidFill>
              <a:srgbClr val="E8A33D"/>
            </a:solidFill>
            <a:prstDash val="solid"/>
          </a:ln>
          <a:effectLst>
            <a:outerShdw sx="100000" sy="100000" kx="0" ky="0" algn="bl" rotWithShape="0" blurRad="101600" dist="25400" dir="5400000">
              <a:srgbClr val="6B728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23660" y="194310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6306" y="20857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23760" y="20116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E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Две разные позиции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6537960" y="2651760"/>
            <a:ext cx="4617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Часть 1 — сомнение в необходимости нового места исполнения (компьютер сотрудника); жду ответа разработчика</a:t>
            </a:r>
            <a:endParaRPr lang="en-US" sz="12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Часть 2 — предложение к реализации, снимающее ограничение плоского домена; готов дорабатывать вместе с разработчиком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548640" y="5029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i="1" dirty="0">
                <a:solidFill>
                  <a:srgbClr val="1B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1 остаётся открытым вопросом к разработчику, Часть 2 — предложением к реализации. Обе позиции поднимаются проактивно, до того как РМ-1 или «Каталог»/«Надзор» станут обязательством в договоре.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3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02775" y="1051560"/>
            <a:ext cx="1371600" cy="1371600"/>
          </a:xfrm>
          <a:prstGeom prst="ellipse">
            <a:avLst/>
          </a:prstGeom>
          <a:solidFill>
            <a:srgbClr val="2C314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1959" y="1380744"/>
            <a:ext cx="713232" cy="7132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1828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ЖИВОЙ ДОКУМЕНТ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21031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Сомнение и предложение — в одном файле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48640" y="3063240"/>
            <a:ext cx="8503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1 остаётся открытым вопросом о необходимости — жду точку зрения разработчика. Часть 2 — моё предложение к реализации, готовое дорабатывать вместе. Обе позиции зафиксированы в материалах, которые я подготовил для разговора с разработчиком, куда лягут его ответы и шаги к реализации.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48640" y="4526280"/>
            <a:ext cx="7863840" cy="777240"/>
          </a:xfrm>
          <a:prstGeom prst="roundRect">
            <a:avLst>
              <a:gd name="adj" fmla="val 10588"/>
            </a:avLst>
          </a:prstGeom>
          <a:solidFill>
            <a:srgbClr val="2C3140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452628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Вопросы и предложения к дорожной карте для разработчика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· Case 17 · Локальный чат и иерархия каталогов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2026-09-05T18:53:33Z</dcterms:created>
  <dcterms:modified xsi:type="dcterms:W3CDTF">2026-09-05T18:53:33Z</dcterms:modified>
</cp:coreProperties>
</file>