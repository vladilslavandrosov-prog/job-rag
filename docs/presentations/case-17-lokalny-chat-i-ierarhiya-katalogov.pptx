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Титульный слайд. Обе темы этой колоды — не готовые функции платформы, а находки и предложения, которые я как аналитик планирую поднять на ближайшем разговоре с разработчиком «Камераты» по дорожной карте. Полный текст обоих вопросов уже зафиксирован во внутренних материалах для разработчика — эта колода делает их презентационно понятными коллеге, который не читал исходники.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Смысл слайда — сразу задать две разные позиции по двум темам, а не подавать обе как одинаково открытые вопросы. Часть 1 (локальный чат / агент рабочей станции, РМ-1): у меня как у аналитика есть сомнения, нужно ли это расширение в заявленном виде, пока не решён вопрос о защите данных на компьютере сотрудника — это диалог с разработчиком, а не отказ от функции. Часть 2 (иерархия каталогов): есть проработанная модель (дерево каталогов), которую я считаю достаточно зрелой, чтобы предлагать её в дорожную карту и обсуждать детали реализации с разработчиком, а не решать, стоит ли вообще что-то делать. Обе темы уже оформлены в материалах, которые я готовил для этого разговора с разработчиком.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Раздел-разделитель. Дальше — три плотных слайда о линии «Раб. места» дорожной карты (сознательно сокращено с восьми — часть 1 не должна разворачиваться дольше, чем нужно для передачи технического запроса): что это и какие четыре пункта в неё входят, четыре вопроса к разработчику, ответы на которые снимут или подтвердят сомнение, и почему сомнение вообще возникло — с закрывающим статусом. Тон намеренно мягкий: это не рекомендация отказаться от РМ-1, а вопрос, который разработчик может закрыть ответом.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объединяет «что это» и «четыре пункта роадмапа» в одну плотную карточку — раньше это были два отдельных слайда с большим количеством повторяющегося текста. Ключевая мысль сохранена: новое место исполнения — не улучшение серверного чата, а второй контур обработки данных (компьютер сотрудника). РМ-1 и РМ-2 — оба Q1 2027, уровень C (направление подтверждено, состав уточняется, не обязательство со сроками). РМ-3 — Q2 2027, C. РМ-4 — H2 2027, уровень D, пустая формулировка без состава — не читать в это ничего конкретного. Наши сомнения сосредоточены именно в РМ-1 (модель запретов и судьба разрешённого содержимого) — не в самой идее агента рабочей станции как таковой.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Все четыре формулировки — дословно из вопроса, который я готовлю к разработчику, содержание не сокращалось и не смягчалось. Порядок сохранён: (1) применяется ли то же маскирование, (2) действует ли то же правило про внешние/облачные модели, (3) кто задаёт запреты — админ или сам пользователь, (4) единый ли журнал аудита. Это основной содержательный слайд части 1: раньше подавался как «уточняющие вопросы к уже принятому пункту», теперь — как условия, при выполнении которых моё сомнение в необходимости РМ-1 снимается. Вокруг него специально убраны декоративные слайды-подводки.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Это моя внутренняя оценка как аналитика (не для передачи разработчику как есть, только для собственной подготовки к разговору) — из всех 35 пунктов дорожной карты это единственный, где рядом с новой функцией явно не упомянута уже заявленная модель защиты данных, и это главная опора моего сомнения в необходимости РМ-1 в текущем виде. Слайд объединяет аргумент «почему сомнение возникло» с закрывающим статусом части 1 — отдельного слайда-итога больше нет, статус дан одной строкой внизу: это открытый вопрос к разработчику, а не рекомендация отказаться от пункта; уровень C — не обязательство по срокам, так что сейчас подходящий момент спросить.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Раздел-разделитель. Дальше — десять слайдов: сегодняшняя плоская модель доменов/коллекций, где она упирается в реальный сценарий (с явным разделением на два разных вопроса — 2a и 2b, по итогам внутреннего пересмотра), дерево каталогов как готовое предложение по 2b с ключевой диаграммой, отдельный слайд про кросс-доменное пересечение коллекций (деталь, которую доработаем вместе с разработчиком при реализации), правило наследования, три персоны на новом дереве, почему предложение реалистично — с прецедентами из индустрии, и что остаётся в силе, пока идём к реализации. Тон части 2 — увереннее, чем части 1: это не вопрос «стоит ли», а предложение «вот модель, готов прорабатывать детали с разработчиком».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Все коллекции внутри домена «Кадры» на этой схеме — на одном уровне, это буквально описание модели «домен = плоский список коллекций». Дальше по слайдам будет видно, где это перестаёт хватать: коллекция «Оклады» здесь нарисована так же, как «Отпуска», хотя по чувствительности это совсем разные вещи.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Прямое сопоставление: RLS уже решает задачу «разная аудитория внутри одной сущности» для таблиц. Для документов эквивалента нет — единственный путь сегодня: дробление на новые коллекции/домены. Важное уточнение после независимой внутренней критики и исследования прецедентов: это на самом деле два разных вопроса, которые легко перепутать — 2a (гранулярность внутри одной коллекции, до уровня документа/раздела/тега — предложение дерева её НЕ решает, потому что домен по документированной сегодня архитектуре — неизменяемое после создания поле коллекции, значит любой узел дерева технически реализуем только как отдельная коллекция) и 2b (организация множества плоских доменов в управляемую иерархию — вот что дерево действительно даёт). Раньше колода не разделяла их явно — это исправлено по итогам внутреннего пересмотра.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Самая важная диаграмма всей колоды, полностью пересобрана: пример теперь использует настоящие, а не изобретённые названия — «Кадры», «Маркетинг», «Логистика» — то есть в точности канонический список доменов-примеров самой платформы («Логистика», «Персонал», «Продажи»; «Персонал» здесь — «Кадры»). Прежний вариант нарочно уходил от этих имён, чтобы не путать пример с зарезервированными названиями доменов платформы, и вводил ради этого отделы, которых в реальности не будет («Отдел маркетинга», «Юридический отдел», «Бухгалтерия» как под-ветки «Оклады» внутри одного домена). Этот обходной приём был лишним и только всё усложнял — раз слайд 11 всё равно показывает «Маркетинг» и «Логистику» как отдельные домены, пример стало логичнее строить сразу на них. Дерево теперь проще и площе: домен «Кадры» имеет ровно одного потомка — «Список сотрудников» (справочник/реестр сотрудников, ключевой узел-хаб), а у него, в свою очередь, ровно три потомка — «Отпускные», «Больничные», «Оклады». «Оклады» выделены цветом как более чувствительный узел — это готовит слайд 13, где персона «Сотрудник кадров» его не видит. Директор по персоналу привязан к корню и наследует всё дерево — это не частная удобная деталь примера, а закреплённый во всех проверенных индустриальных аналогах инвариант корня (в Microsoft Purview права default-домена в принципе нельзя ограничить). Тот факт, что «Список сотрудников» — единственный узел на этом уровне, специально подчёркнут в подписи: именно он на следующем слайде окажется общим для трёх доменов сразу.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Полностью пересобранный слайд: раньше показывал два домена («Кадры» и «Продажи»), теперь — три («Кадры», «Маркетинг», «Логистика»), сходящихся к одному и тому же узлу «Список сотрудников», введённому на предыдущем слайде — включая три его дочерних узла («Отпускные», «Больничные», «Оклады»), показанные здесь ещё раз под общим узлом. «Маркетинг» и «Логистика» — не ветки «Кадры», а отдельные, независимые домены верхнего уровня, сиблинги «Кадры» — это те самые канонические примеры доменов платформы («Логистика», «Персонал», «Продажи»). Точная формулировка, которую важно не смазать: это НЕ исключение из правила «видимость течёт только вниз» — правило продолжает действовать независимо и полностью внутри каждого из трёх доменов (персона на корне любого из них видит «Список сотрудников» по обычному нисходящему наследованию). Новое — только то, что один и тот же узел нисходяще достижим сразу из трёх разных деревьев одновременно, то есть имеет три родителя, а не одного — расширение идеи «один узел, два родителя, два домена» с предыдущего слайда сразу на три домена. Отдельно, явно как открытый вопрос, а не решённый факт: если «Список сотрудников» — один физический узел, персона, привязанная к корню «Маркетинг», обычным нисходящим наследованием доходит до него — но видит ли она весь список целиком (по всем отделам) или только часть, относящуюся к своему отделу? Само дерево, как оно здесь нарисовано, ответа на это не даёт — я сознательно не решаю этот вопрос ни в одну сторону, а называю его прямым продолжением уже поднятого раньше вопроса «2a» (гранулярность внутри одной коллекции, тоньше, чем узел дерева). Это ровно та же деталь, что иллюстрируется персоной «Начальник отдела маркетинга» на следующем слайде.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Формулировка правила дословно из моего предложения разработчику: «видимость течёт вниз по дереву от узла привязки, вбок и вверх — не течёт». Схема показывает все три направления сразу: вниз (потомки) — разрешено сплошной зелёной линией, вверх (предки) и вбок (соседние ветки) — запрещено, показано пунктирной красной линией. Это правило целиком заменяет собой сегодняшнюю бинарную модель «у коллекции есть домен / домена нет».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Три строки — три персоны на переименованном дереве «Кадры» (пример теперь строится на настоящих именах доменов платформы — «Кадры», «Маркетинг», «Логистика» — без искусственного ухода от них, см. заметки к слайду с деревом). Первая строка — «Сотрудник кадров» — составная привязка сразу к двум соседним узлам («Отпускные» и «Больничные»); это прямое продолжение того, как многодоменность уже работает сегодня без всякого дерева (в рабочей инструкции платформы — «выбрать домен(ы) из списка», множественное число), а не костыль поверх дерева. «Оклады» этой персоне не видны — они не потомки ни «Отпускные», ни «Больничные», и по смыслу не входят в обычные обязанности кадрового специалиста. Вторая строка — «Начальник отдела маркетинга» — самая содержательная: персона привязана к корню СОВСЕМ ДРУГОГО домена, «Маркетинг», а не «Кадры» — и тем не менее через обычное нисходящее наследование внутри своего домена доходит до общего узла «Список сотрудников» и до всех его потомков, включая «Оклады». Это конкретная иллюстрация открытого вопроса с предыдущего слайда, и здесь он повторён явно, а не спрятан: видит ли начальник маркетинга оклады всей компании (потому что узел общий и не разбит дальше) или только своего отдела (потому что это разумно ожидалось бы) — дерево как оно есть не отвечает, это тот же класс вопроса, что и «2a» (гранулярность внутри одной коллекции). Третья строка — Директор по персоналу — на корне «Кадры», поэтому видит всё дерево домена целиком; это задокументированный во всех проверенных индустриальных аналогах инвариант корня (Microsoft Purview: права default-домена нельзя ограничить), а не удобная деталь примера.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Обновлено по итогам внутренней критики и исследования прецедентов: раньше средний пункт был непроверенным утверждением «давно стандартно в DMS/DAM-системах» без единого названного продукта (справедливо раскритиковано внутри команды). Теперь — конкретные, названные прецеденты: Microsoft Purview (самый близкий — есть буквально функция «Restrict inherited permissions» и тот же инвариант «корень нельзя ограничить»), Google Drive («Limited access»/«Expansive access»), SharePoint («break inheritance»), Databricks Unity Catalog (наследование по catalog.schema.table). Первый пункт также уточнён: предложение решает 2b (организация доменов), а не 2a (гранулярность внутри документа) — это два разных вопроса к разработчику, разница объяснена на предыдущем слайде. Это опора для уверенного тона части 2: я предлагаю разработчику не гипотезу, а модель, чьё поведение по умолчанию уже проверено в нескольких независимо развивавшихся системах.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Важно подчеркнуть: предложение не блокер для текущего пилота Д8 и не повод откладывать его до реализации дерева. Сегодняшний обходной путь (несколько коллекций с отдельными доменами вместо одного дерева) полностью рабочий, просто требует больше ручного планирования на старте и создаёт риск, что несколько независимых коллекций/доменов со временем разъедутся по составу прав — именно это неудобство и снимает предложенное дерево.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Формулировка статуса намеренная и увереннее, чем раньше: это готовое предложение к реализации, которое я как аналитик приношу разработчику как модель, предлагаемую в дорожную карту, а не жалоба на текущую функциональность и не гипотеза для обсуждения «стоит ли вообще». Открытые детали (двойное членство каталогов, реструктуризация дерева, множественная привязка персон) остаются реальными и честно названы на предыдущих слайдах — но как то, что дорабатывается вместе с разработчиком в процессе реализации, а не как причины сомневаться в самом предложении. Пункт явно не привязан к конкретному коду роадмапа — предполагаю линию «Каталог» (КАТ-) или «Надзор» (НАД-) как наиболее вероятных кандидатов.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Слайд-синтез, связывающий обе части и явно называющий две разные позиции по ним: и локальный чат, и иерархия каталогов — про одну и ту же границу между тем, что платформа уже гарантирует документированно, и тем, что нужно решить по мере роста поверхности платформы. Но решаются они по-разному: Часть 1 (новое место исполнения) — это открытый вопрос к разработчику, моё сомнение в необходимости; Часть 2 (более тонкая гранулярность доступа) — это моё предложение к реализации, которое я считаю готовым. Оба поднимаются заранее, пока ни один не стал контрактным обязательством.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Закрывающий слайд, явно фиксирующий две разные позиции колоды: Часть 1 — открытый вопрос к разработчику о необходимости РМ-1 в заявленном виде, ответа пока нет; Часть 2 — моё предложение к реализации, которое я считаю проработанным и готов обсуждать детали. Единственный источник фактов для обеих тем — материалы, которые я как аналитик подготовил для разговора с разработчиком; они же станут местом, куда будут добавлены его ответы по мере их получения, и куда попадут следующие вопросы по дорожной карте по мере разбора остальных пунктов.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733"/>
        </a:solidFill>
      </p:bgPr>
    </p:bg>
    <p:spTree>
      <p:nvGrpSpPr>
        <p:cNvPr id="1" name=""/>
        <p:cNvGrpSpPr/>
        <p:nvPr/>
      </p:nvGrpSpPr>
      <p:grpSpPr>
        <a:xfrm>
          <a:off x="0" y="0"/>
          <a:ext cx="0" cy="0"/>
          <a:chOff x="0" y="0"/>
          <a:chExt cx="0" cy="0"/>
        </a:xfrm>
      </p:grpSpPr>
      <p:sp>
        <p:nvSpPr>
          <p:cNvPr id="2" name="Text 0"/>
          <p:cNvSpPr/>
          <p:nvPr/>
        </p:nvSpPr>
        <p:spPr>
          <a:xfrm>
            <a:off x="548640" y="640080"/>
            <a:ext cx="9601200" cy="320040"/>
          </a:xfrm>
          <a:prstGeom prst="rect">
            <a:avLst/>
          </a:prstGeom>
          <a:noFill/>
          <a:ln/>
        </p:spPr>
        <p:txBody>
          <a:bodyPr wrap="square" lIns="0" tIns="0" rIns="0" bIns="0" rtlCol="0" anchor="ctr"/>
          <a:lstStyle/>
          <a:p>
            <a:pPr indent="0" marL="0">
              <a:buNone/>
            </a:pPr>
            <a:r>
              <a:rPr lang="en-US" sz="1200" b="1" spc="140" kern="0" dirty="0">
                <a:solidFill>
                  <a:srgbClr val="E8A33D"/>
                </a:solidFill>
                <a:latin typeface="Calibri" pitchFamily="34" charset="0"/>
                <a:ea typeface="Calibri" pitchFamily="34" charset="-122"/>
                <a:cs typeface="Calibri" pitchFamily="34" charset="-120"/>
              </a:rPr>
              <a:t>AI/RAG-ПЛАТФОРМА «КАМЕРАТА» · АО «ИНВЕСТИЦИОННАЯ КОМПАНИЯ Д8»</a:t>
            </a:r>
            <a:endParaRPr lang="en-US" sz="1200" dirty="0"/>
          </a:p>
        </p:txBody>
      </p:sp>
      <p:sp>
        <p:nvSpPr>
          <p:cNvPr id="3" name="Text 1"/>
          <p:cNvSpPr/>
          <p:nvPr/>
        </p:nvSpPr>
        <p:spPr>
          <a:xfrm>
            <a:off x="548640" y="1691640"/>
            <a:ext cx="8229600" cy="1005840"/>
          </a:xfrm>
          <a:prstGeom prst="rect">
            <a:avLst/>
          </a:prstGeom>
          <a:noFill/>
          <a:ln/>
        </p:spPr>
        <p:txBody>
          <a:bodyPr wrap="square" lIns="0" tIns="0" rIns="0" bIns="0" rtlCol="0" anchor="ctr"/>
          <a:lstStyle/>
          <a:p>
            <a:pPr indent="0" marL="0">
              <a:lnSpc>
                <a:spcPct val="112000"/>
              </a:lnSpc>
              <a:buNone/>
            </a:pPr>
            <a:r>
              <a:rPr lang="en-US" sz="2700" b="1" dirty="0">
                <a:solidFill>
                  <a:srgbClr val="FFFFFF"/>
                </a:solidFill>
                <a:latin typeface="Cambria" pitchFamily="34" charset="0"/>
                <a:ea typeface="Cambria" pitchFamily="34" charset="-122"/>
                <a:cs typeface="Cambria" pitchFamily="34" charset="-120"/>
              </a:rPr>
              <a:t>Два направления к дорожной карте:</a:t>
            </a:r>
            <a:endParaRPr lang="en-US" sz="2700" dirty="0"/>
          </a:p>
          <a:p>
            <a:pPr indent="0" marL="0">
              <a:lnSpc>
                <a:spcPct val="112000"/>
              </a:lnSpc>
              <a:buNone/>
            </a:pPr>
            <a:r>
              <a:rPr lang="en-US" sz="2700" b="1" dirty="0">
                <a:solidFill>
                  <a:srgbClr val="FFFFFF"/>
                </a:solidFill>
                <a:latin typeface="Cambria" pitchFamily="34" charset="0"/>
                <a:ea typeface="Cambria" pitchFamily="34" charset="-122"/>
                <a:cs typeface="Cambria" pitchFamily="34" charset="-120"/>
              </a:rPr>
              <a:t>локальный чат и иерархия каталогов</a:t>
            </a:r>
            <a:endParaRPr lang="en-US" sz="2700" dirty="0"/>
          </a:p>
        </p:txBody>
      </p:sp>
      <p:sp>
        <p:nvSpPr>
          <p:cNvPr id="4" name="Text 2"/>
          <p:cNvSpPr/>
          <p:nvPr/>
        </p:nvSpPr>
        <p:spPr>
          <a:xfrm>
            <a:off x="548640" y="2880360"/>
            <a:ext cx="7315200" cy="1371600"/>
          </a:xfrm>
          <a:prstGeom prst="rect">
            <a:avLst/>
          </a:prstGeom>
          <a:noFill/>
          <a:ln/>
        </p:spPr>
        <p:txBody>
          <a:bodyPr wrap="square" lIns="0" tIns="0" rIns="0" bIns="0" rtlCol="0" anchor="ctr"/>
          <a:lstStyle/>
          <a:p>
            <a:pPr indent="0" marL="0">
              <a:lnSpc>
                <a:spcPct val="125000"/>
              </a:lnSpc>
              <a:buNone/>
            </a:pPr>
            <a:r>
              <a:rPr lang="en-US" sz="1550" dirty="0">
                <a:solidFill>
                  <a:srgbClr val="AEB4C4"/>
                </a:solidFill>
                <a:latin typeface="Calibri" pitchFamily="34" charset="0"/>
                <a:ea typeface="Calibri" pitchFamily="34" charset="-122"/>
                <a:cs typeface="Calibri" pitchFamily="34" charset="-120"/>
              </a:rPr>
              <a:t>Как аналитик, внимательно изучивший обе темы, поднимаю их с разработчиком платформы — направления, которые ещё не стали функциями и не зафиксированы в договоре, а обсуждаются на ближайшем roadmap-разговоре.</a:t>
            </a:r>
            <a:endParaRPr lang="en-US" sz="1550" dirty="0"/>
          </a:p>
        </p:txBody>
      </p:sp>
      <p:sp>
        <p:nvSpPr>
          <p:cNvPr id="5" name="Shape 3"/>
          <p:cNvSpPr/>
          <p:nvPr/>
        </p:nvSpPr>
        <p:spPr>
          <a:xfrm>
            <a:off x="8732520" y="1737360"/>
            <a:ext cx="2880360" cy="1783080"/>
          </a:xfrm>
          <a:prstGeom prst="roundRect">
            <a:avLst>
              <a:gd name="adj" fmla="val 4615"/>
            </a:avLst>
          </a:prstGeom>
          <a:solidFill>
            <a:srgbClr val="2C3140"/>
          </a:solidFill>
          <a:ln/>
        </p:spPr>
      </p:sp>
      <p:sp>
        <p:nvSpPr>
          <p:cNvPr id="6" name="Shape 4"/>
          <p:cNvSpPr/>
          <p:nvPr/>
        </p:nvSpPr>
        <p:spPr>
          <a:xfrm>
            <a:off x="9015984" y="2048256"/>
            <a:ext cx="566928" cy="566928"/>
          </a:xfrm>
          <a:prstGeom prst="ellipse">
            <a:avLst/>
          </a:prstGeom>
          <a:solidFill>
            <a:srgbClr val="323852"/>
          </a:solidFill>
          <a:ln/>
        </p:spPr>
      </p:sp>
      <p:pic>
        <p:nvPicPr>
          <p:cNvPr id="7" name="Image 0" descr="preencoded.png">    </p:cNvPr>
          <p:cNvPicPr>
            <a:picLocks noChangeAspect="1"/>
          </p:cNvPicPr>
          <p:nvPr/>
        </p:nvPicPr>
        <p:blipFill>
          <a:blip r:embed="rId1"/>
          <a:stretch>
            <a:fillRect/>
          </a:stretch>
        </p:blipFill>
        <p:spPr>
          <a:xfrm>
            <a:off x="9152047" y="2184319"/>
            <a:ext cx="294803" cy="294803"/>
          </a:xfrm>
          <a:prstGeom prst="rect">
            <a:avLst/>
          </a:prstGeom>
        </p:spPr>
      </p:pic>
      <p:sp>
        <p:nvSpPr>
          <p:cNvPr id="8" name="Text 5"/>
          <p:cNvSpPr/>
          <p:nvPr/>
        </p:nvSpPr>
        <p:spPr>
          <a:xfrm>
            <a:off x="9692640" y="1965960"/>
            <a:ext cx="1783080" cy="274320"/>
          </a:xfrm>
          <a:prstGeom prst="rect">
            <a:avLst/>
          </a:prstGeom>
          <a:noFill/>
          <a:ln/>
        </p:spPr>
        <p:txBody>
          <a:bodyPr wrap="square" lIns="0" tIns="0" rIns="0" bIns="0" rtlCol="0" anchor="ctr"/>
          <a:lstStyle/>
          <a:p>
            <a:pPr indent="0" marL="0">
              <a:buNone/>
            </a:pPr>
            <a:r>
              <a:rPr lang="en-US" sz="1050" b="1" spc="100" kern="0" dirty="0">
                <a:solidFill>
                  <a:srgbClr val="2F6FED"/>
                </a:solidFill>
                <a:latin typeface="Calibri" pitchFamily="34" charset="0"/>
                <a:ea typeface="Calibri" pitchFamily="34" charset="-122"/>
                <a:cs typeface="Calibri" pitchFamily="34" charset="-120"/>
              </a:rPr>
              <a:t>Часть 1</a:t>
            </a:r>
            <a:endParaRPr lang="en-US" sz="1050" dirty="0"/>
          </a:p>
        </p:txBody>
      </p:sp>
      <p:sp>
        <p:nvSpPr>
          <p:cNvPr id="9" name="Text 6"/>
          <p:cNvSpPr/>
          <p:nvPr/>
        </p:nvSpPr>
        <p:spPr>
          <a:xfrm>
            <a:off x="9692640" y="2212848"/>
            <a:ext cx="1783080" cy="777240"/>
          </a:xfrm>
          <a:prstGeom prst="rect">
            <a:avLst/>
          </a:prstGeom>
          <a:noFill/>
          <a:ln/>
        </p:spPr>
        <p:txBody>
          <a:bodyPr wrap="square" lIns="0" tIns="0" rIns="0" bIns="0" rtlCol="0" anchor="ctr"/>
          <a:lstStyle/>
          <a:p>
            <a:pPr indent="0" marL="0">
              <a:lnSpc>
                <a:spcPct val="105000"/>
              </a:lnSpc>
              <a:buNone/>
            </a:pPr>
            <a:r>
              <a:rPr lang="en-US" sz="1500" b="1" dirty="0">
                <a:solidFill>
                  <a:srgbClr val="FFFFFF"/>
                </a:solidFill>
                <a:latin typeface="Cambria" pitchFamily="34" charset="0"/>
                <a:ea typeface="Cambria" pitchFamily="34" charset="-122"/>
                <a:cs typeface="Cambria" pitchFamily="34" charset="-120"/>
              </a:rPr>
              <a:t>Локальный чат</a:t>
            </a:r>
            <a:endParaRPr lang="en-US" sz="1500" dirty="0"/>
          </a:p>
          <a:p>
            <a:pPr indent="0" marL="0">
              <a:lnSpc>
                <a:spcPct val="105000"/>
              </a:lnSpc>
              <a:buNone/>
            </a:pPr>
            <a:r>
              <a:rPr lang="en-US" sz="1500" b="1" dirty="0">
                <a:solidFill>
                  <a:srgbClr val="FFFFFF"/>
                </a:solidFill>
                <a:latin typeface="Cambria" pitchFamily="34" charset="0"/>
                <a:ea typeface="Cambria" pitchFamily="34" charset="-122"/>
                <a:cs typeface="Cambria" pitchFamily="34" charset="-120"/>
              </a:rPr>
              <a:t>со своими файлами</a:t>
            </a:r>
            <a:endParaRPr lang="en-US" sz="1500" dirty="0"/>
          </a:p>
        </p:txBody>
      </p:sp>
      <p:sp>
        <p:nvSpPr>
          <p:cNvPr id="10" name="Shape 7"/>
          <p:cNvSpPr/>
          <p:nvPr/>
        </p:nvSpPr>
        <p:spPr>
          <a:xfrm>
            <a:off x="8732520" y="3703320"/>
            <a:ext cx="2880360" cy="1783080"/>
          </a:xfrm>
          <a:prstGeom prst="roundRect">
            <a:avLst>
              <a:gd name="adj" fmla="val 4615"/>
            </a:avLst>
          </a:prstGeom>
          <a:solidFill>
            <a:srgbClr val="2C3140"/>
          </a:solidFill>
          <a:ln/>
        </p:spPr>
      </p:sp>
      <p:sp>
        <p:nvSpPr>
          <p:cNvPr id="11" name="Shape 8"/>
          <p:cNvSpPr/>
          <p:nvPr/>
        </p:nvSpPr>
        <p:spPr>
          <a:xfrm>
            <a:off x="9015984" y="4014216"/>
            <a:ext cx="566928" cy="566928"/>
          </a:xfrm>
          <a:prstGeom prst="ellipse">
            <a:avLst/>
          </a:prstGeom>
          <a:solidFill>
            <a:srgbClr val="3A331F"/>
          </a:solidFill>
          <a:ln/>
        </p:spPr>
      </p:sp>
      <p:pic>
        <p:nvPicPr>
          <p:cNvPr id="12" name="Image 1" descr="preencoded.png">    </p:cNvPr>
          <p:cNvPicPr>
            <a:picLocks noChangeAspect="1"/>
          </p:cNvPicPr>
          <p:nvPr/>
        </p:nvPicPr>
        <p:blipFill>
          <a:blip r:embed="rId2"/>
          <a:stretch>
            <a:fillRect/>
          </a:stretch>
        </p:blipFill>
        <p:spPr>
          <a:xfrm>
            <a:off x="9152047" y="4150279"/>
            <a:ext cx="294803" cy="294803"/>
          </a:xfrm>
          <a:prstGeom prst="rect">
            <a:avLst/>
          </a:prstGeom>
        </p:spPr>
      </p:pic>
      <p:sp>
        <p:nvSpPr>
          <p:cNvPr id="13" name="Text 9"/>
          <p:cNvSpPr/>
          <p:nvPr/>
        </p:nvSpPr>
        <p:spPr>
          <a:xfrm>
            <a:off x="9692640" y="3931920"/>
            <a:ext cx="1783080" cy="274320"/>
          </a:xfrm>
          <a:prstGeom prst="rect">
            <a:avLst/>
          </a:prstGeom>
          <a:noFill/>
          <a:ln/>
        </p:spPr>
        <p:txBody>
          <a:bodyPr wrap="square" lIns="0" tIns="0" rIns="0" bIns="0" rtlCol="0" anchor="ctr"/>
          <a:lstStyle/>
          <a:p>
            <a:pPr indent="0" marL="0">
              <a:buNone/>
            </a:pPr>
            <a:r>
              <a:rPr lang="en-US" sz="1050" b="1" spc="100" kern="0" dirty="0">
                <a:solidFill>
                  <a:srgbClr val="E8A33D"/>
                </a:solidFill>
                <a:latin typeface="Calibri" pitchFamily="34" charset="0"/>
                <a:ea typeface="Calibri" pitchFamily="34" charset="-122"/>
                <a:cs typeface="Calibri" pitchFamily="34" charset="-120"/>
              </a:rPr>
              <a:t>Часть 2</a:t>
            </a:r>
            <a:endParaRPr lang="en-US" sz="1050" dirty="0"/>
          </a:p>
        </p:txBody>
      </p:sp>
      <p:sp>
        <p:nvSpPr>
          <p:cNvPr id="14" name="Text 10"/>
          <p:cNvSpPr/>
          <p:nvPr/>
        </p:nvSpPr>
        <p:spPr>
          <a:xfrm>
            <a:off x="9692640" y="4178808"/>
            <a:ext cx="1783080" cy="777240"/>
          </a:xfrm>
          <a:prstGeom prst="rect">
            <a:avLst/>
          </a:prstGeom>
          <a:noFill/>
          <a:ln/>
        </p:spPr>
        <p:txBody>
          <a:bodyPr wrap="square" lIns="0" tIns="0" rIns="0" bIns="0" rtlCol="0" anchor="ctr"/>
          <a:lstStyle/>
          <a:p>
            <a:pPr indent="0" marL="0">
              <a:lnSpc>
                <a:spcPct val="105000"/>
              </a:lnSpc>
              <a:buNone/>
            </a:pPr>
            <a:r>
              <a:rPr lang="en-US" sz="1500" b="1" dirty="0">
                <a:solidFill>
                  <a:srgbClr val="FFFFFF"/>
                </a:solidFill>
                <a:latin typeface="Cambria" pitchFamily="34" charset="0"/>
                <a:ea typeface="Cambria" pitchFamily="34" charset="-122"/>
                <a:cs typeface="Cambria" pitchFamily="34" charset="-120"/>
              </a:rPr>
              <a:t>Иерархия каталогов</a:t>
            </a:r>
            <a:endParaRPr lang="en-US" sz="1500" dirty="0"/>
          </a:p>
          <a:p>
            <a:pPr indent="0" marL="0">
              <a:lnSpc>
                <a:spcPct val="105000"/>
              </a:lnSpc>
              <a:buNone/>
            </a:pPr>
            <a:r>
              <a:rPr lang="en-US" sz="1500" b="1" dirty="0">
                <a:solidFill>
                  <a:srgbClr val="FFFFFF"/>
                </a:solidFill>
                <a:latin typeface="Cambria" pitchFamily="34" charset="0"/>
                <a:ea typeface="Cambria" pitchFamily="34" charset="-122"/>
                <a:cs typeface="Cambria" pitchFamily="34" charset="-120"/>
              </a:rPr>
              <a:t>внутри домена</a:t>
            </a:r>
            <a:endParaRPr lang="en-US" sz="1500" dirty="0"/>
          </a:p>
        </p:txBody>
      </p:sp>
      <p:sp>
        <p:nvSpPr>
          <p:cNvPr id="15" name="Text 11"/>
          <p:cNvSpPr/>
          <p:nvPr/>
        </p:nvSpPr>
        <p:spPr>
          <a:xfrm>
            <a:off x="548640" y="6355080"/>
            <a:ext cx="8229600" cy="274320"/>
          </a:xfrm>
          <a:prstGeom prst="rect">
            <a:avLst/>
          </a:prstGeom>
          <a:noFill/>
          <a:ln/>
        </p:spPr>
        <p:txBody>
          <a:bodyPr wrap="square" lIns="0" tIns="0" rIns="0" bIns="0" rtlCol="0" anchor="ctr"/>
          <a:lstStyle/>
          <a:p>
            <a:pPr indent="0" marL="0">
              <a:buNone/>
            </a:pPr>
            <a:r>
              <a:rPr lang="en-US" sz="1050" dirty="0">
                <a:solidFill>
                  <a:srgbClr val="AEB4C4"/>
                </a:solidFill>
                <a:latin typeface="Calibri" pitchFamily="34" charset="0"/>
                <a:ea typeface="Calibri" pitchFamily="34" charset="-122"/>
                <a:cs typeface="Calibri" pitchFamily="34" charset="-120"/>
              </a:rPr>
              <a:t>Внутренний материал · сентябрь 2026 · подготовка к разговору с разработчиком</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algn="l" indent="0" marL="0">
              <a:buNone/>
            </a:pPr>
            <a:r>
              <a:rPr lang="en-US" sz="1150" b="1" spc="140" kern="0" dirty="0">
                <a:solidFill>
                  <a:srgbClr val="2F6FED"/>
                </a:solidFill>
                <a:latin typeface="Calibri" pitchFamily="34" charset="0"/>
                <a:ea typeface="Calibri" pitchFamily="34" charset="-122"/>
                <a:cs typeface="Calibri" pitchFamily="34" charset="-120"/>
              </a:rPr>
              <a:t>ЗАЧЕМ ЭТИ ДВЕ ТЕМЫ В ОДНОЙ КОЛОДЕ</a:t>
            </a:r>
            <a:endParaRPr lang="en-US" sz="1150" dirty="0"/>
          </a:p>
        </p:txBody>
      </p:sp>
      <p:sp>
        <p:nvSpPr>
          <p:cNvPr id="3" name="Text 1"/>
          <p:cNvSpPr/>
          <p:nvPr/>
        </p:nvSpPr>
        <p:spPr>
          <a:xfrm>
            <a:off x="548640" y="658368"/>
            <a:ext cx="11094415" cy="777240"/>
          </a:xfrm>
          <a:prstGeom prst="rect">
            <a:avLst/>
          </a:prstGeom>
          <a:noFill/>
          <a:ln/>
        </p:spPr>
        <p:txBody>
          <a:bodyPr wrap="square" lIns="0" tIns="0" rIns="0" bIns="0" rtlCol="0" anchor="t"/>
          <a:lstStyle/>
          <a:p>
            <a:pPr algn="l" indent="0" marL="0">
              <a:lnSpc>
                <a:spcPct val="102000"/>
              </a:lnSpc>
              <a:buNone/>
            </a:pPr>
            <a:r>
              <a:rPr lang="en-US" sz="2600" b="1" dirty="0">
                <a:solidFill>
                  <a:srgbClr val="1B1E27"/>
                </a:solidFill>
                <a:latin typeface="Cambria" pitchFamily="34" charset="0"/>
                <a:ea typeface="Cambria" pitchFamily="34" charset="-122"/>
                <a:cs typeface="Cambria" pitchFamily="34" charset="-120"/>
              </a:rPr>
              <a:t>Одна дорожная карта, две разные позиции: сомнение в необходимости и предложение к реализации</a:t>
            </a:r>
            <a:endParaRPr lang="en-US" sz="2600" dirty="0"/>
          </a:p>
        </p:txBody>
      </p:sp>
      <p:sp>
        <p:nvSpPr>
          <p:cNvPr id="4" name="Text 2"/>
          <p:cNvSpPr/>
          <p:nvPr/>
        </p:nvSpPr>
        <p:spPr>
          <a:xfrm>
            <a:off x="548640" y="1600200"/>
            <a:ext cx="11094415" cy="777240"/>
          </a:xfrm>
          <a:prstGeom prst="rect">
            <a:avLst/>
          </a:prstGeom>
          <a:noFill/>
          <a:ln/>
        </p:spPr>
        <p:txBody>
          <a:bodyPr wrap="square" lIns="0" tIns="0" rIns="0" bIns="0" rtlCol="0" anchor="ctr"/>
          <a:lstStyle/>
          <a:p>
            <a:pPr indent="0" marL="0">
              <a:lnSpc>
                <a:spcPct val="128000"/>
              </a:lnSpc>
              <a:buNone/>
            </a:pPr>
            <a:r>
              <a:rPr lang="en-US" sz="1400" dirty="0">
                <a:solidFill>
                  <a:srgbClr val="5B6472"/>
                </a:solidFill>
                <a:latin typeface="Calibri" pitchFamily="34" charset="0"/>
                <a:ea typeface="Calibri" pitchFamily="34" charset="-122"/>
                <a:cs typeface="Calibri" pitchFamily="34" charset="-120"/>
              </a:rPr>
              <a:t>Платформа документирует контроль доступа для серверной части и на уровне целой коллекции документов. Но из этого не следует, что любое расширение этой границы стоит принимать как есть: по локальному чату у нас остаются сомнения, нужно ли расширение в заявленном виде; по иерархии каталогов — наоборот, есть проработанное предложение, которое мы считаем готовым двигать в реализацию.</a:t>
            </a:r>
            <a:endParaRPr lang="en-US" sz="1400" dirty="0"/>
          </a:p>
        </p:txBody>
      </p:sp>
      <p:sp>
        <p:nvSpPr>
          <p:cNvPr id="5" name="Shape 3"/>
          <p:cNvSpPr/>
          <p:nvPr/>
        </p:nvSpPr>
        <p:spPr>
          <a:xfrm>
            <a:off x="548640" y="2606040"/>
            <a:ext cx="5257800" cy="2880360"/>
          </a:xfrm>
          <a:prstGeom prst="roundRect">
            <a:avLst>
              <a:gd name="adj" fmla="val 2857"/>
            </a:avLst>
          </a:prstGeom>
          <a:solidFill>
            <a:srgbClr val="F3F5F8"/>
          </a:solidFill>
          <a:ln w="9525">
            <a:solidFill>
              <a:srgbClr val="DCE1E9"/>
            </a:solidFill>
            <a:prstDash val="solid"/>
          </a:ln>
          <a:effectLst>
            <a:outerShdw sx="100000" sy="100000" kx="0" ky="0" algn="bl" rotWithShape="0" blurRad="101600" dist="25400" dir="5400000">
              <a:srgbClr val="6B7280">
                <a:alpha val="16000"/>
              </a:srgbClr>
            </a:outerShdw>
          </a:effectLst>
        </p:spPr>
      </p:sp>
      <p:sp>
        <p:nvSpPr>
          <p:cNvPr id="6" name="Shape 4"/>
          <p:cNvSpPr/>
          <p:nvPr/>
        </p:nvSpPr>
        <p:spPr>
          <a:xfrm>
            <a:off x="845820" y="2857500"/>
            <a:ext cx="777240" cy="777240"/>
          </a:xfrm>
          <a:prstGeom prst="ellipse">
            <a:avLst/>
          </a:prstGeom>
          <a:solidFill>
            <a:srgbClr val="E4ECFD"/>
          </a:solidFill>
          <a:ln/>
        </p:spPr>
      </p:sp>
      <p:pic>
        <p:nvPicPr>
          <p:cNvPr id="7" name="Image 0" descr="preencoded.png">    </p:cNvPr>
          <p:cNvPicPr>
            <a:picLocks noChangeAspect="1"/>
          </p:cNvPicPr>
          <p:nvPr/>
        </p:nvPicPr>
        <p:blipFill>
          <a:blip r:embed="rId1"/>
          <a:stretch>
            <a:fillRect/>
          </a:stretch>
        </p:blipFill>
        <p:spPr>
          <a:xfrm>
            <a:off x="1032358" y="3044038"/>
            <a:ext cx="404165" cy="404165"/>
          </a:xfrm>
          <a:prstGeom prst="rect">
            <a:avLst/>
          </a:prstGeom>
        </p:spPr>
      </p:pic>
      <p:sp>
        <p:nvSpPr>
          <p:cNvPr id="8" name="Text 5"/>
          <p:cNvSpPr/>
          <p:nvPr/>
        </p:nvSpPr>
        <p:spPr>
          <a:xfrm>
            <a:off x="1755648" y="2880360"/>
            <a:ext cx="3776472" cy="329184"/>
          </a:xfrm>
          <a:prstGeom prst="rect">
            <a:avLst/>
          </a:prstGeom>
          <a:noFill/>
          <a:ln/>
        </p:spPr>
        <p:txBody>
          <a:bodyPr wrap="square" lIns="0" tIns="0" rIns="0" bIns="0" rtlCol="0" anchor="ctr"/>
          <a:lstStyle/>
          <a:p>
            <a:pPr indent="0" marL="0">
              <a:lnSpc>
                <a:spcPct val="100000"/>
              </a:lnSpc>
              <a:buNone/>
            </a:pPr>
            <a:r>
              <a:rPr lang="en-US" sz="1000" b="1" spc="80" kern="0" dirty="0">
                <a:solidFill>
                  <a:srgbClr val="2F6FED"/>
                </a:solidFill>
                <a:latin typeface="Calibri" pitchFamily="34" charset="0"/>
                <a:ea typeface="Calibri" pitchFamily="34" charset="-122"/>
                <a:cs typeface="Calibri" pitchFamily="34" charset="-120"/>
              </a:rPr>
              <a:t>ЕСТЬ СОМНЕНИЯ В НЕОБХОДИМОСТИ</a:t>
            </a:r>
            <a:endParaRPr lang="en-US" sz="1000" dirty="0"/>
          </a:p>
        </p:txBody>
      </p:sp>
      <p:sp>
        <p:nvSpPr>
          <p:cNvPr id="9" name="Text 6"/>
          <p:cNvSpPr/>
          <p:nvPr/>
        </p:nvSpPr>
        <p:spPr>
          <a:xfrm>
            <a:off x="1755648" y="3209544"/>
            <a:ext cx="3776472" cy="457200"/>
          </a:xfrm>
          <a:prstGeom prst="rect">
            <a:avLst/>
          </a:prstGeom>
          <a:noFill/>
          <a:ln/>
        </p:spPr>
        <p:txBody>
          <a:bodyPr wrap="square" lIns="0" tIns="0" rIns="0" bIns="0" rtlCol="0" anchor="ctr"/>
          <a:lstStyle/>
          <a:p>
            <a:pPr indent="0" marL="0">
              <a:buNone/>
            </a:pPr>
            <a:r>
              <a:rPr lang="en-US" sz="1600" b="1" dirty="0">
                <a:solidFill>
                  <a:srgbClr val="1B1E27"/>
                </a:solidFill>
                <a:latin typeface="Cambria" pitchFamily="34" charset="0"/>
                <a:ea typeface="Cambria" pitchFamily="34" charset="-122"/>
                <a:cs typeface="Cambria" pitchFamily="34" charset="-120"/>
              </a:rPr>
              <a:t>Часть 1 — локальный чат</a:t>
            </a:r>
            <a:endParaRPr lang="en-US" sz="1600" dirty="0"/>
          </a:p>
        </p:txBody>
      </p:sp>
      <p:sp>
        <p:nvSpPr>
          <p:cNvPr id="10" name="Text 7"/>
          <p:cNvSpPr/>
          <p:nvPr/>
        </p:nvSpPr>
        <p:spPr>
          <a:xfrm>
            <a:off x="868680" y="3977640"/>
            <a:ext cx="4617720" cy="1371600"/>
          </a:xfrm>
          <a:prstGeom prst="rect">
            <a:avLst/>
          </a:prstGeom>
          <a:noFill/>
          <a:ln/>
        </p:spPr>
        <p:txBody>
          <a:bodyPr wrap="square" lIns="0" tIns="0" rIns="0" bIns="0" rtlCol="0" anchor="ctr"/>
          <a:lstStyle/>
          <a:p>
            <a:pPr indent="0" marL="0">
              <a:lnSpc>
                <a:spcPct val="126000"/>
              </a:lnSpc>
              <a:buNone/>
            </a:pPr>
            <a:r>
              <a:rPr lang="en-US" sz="1250" dirty="0">
                <a:solidFill>
                  <a:srgbClr val="5B6472"/>
                </a:solidFill>
                <a:latin typeface="Calibri" pitchFamily="34" charset="0"/>
                <a:ea typeface="Calibri" pitchFamily="34" charset="-122"/>
                <a:cs typeface="Calibri" pitchFamily="34" charset="-120"/>
              </a:rPr>
              <a:t>Сегодня защита данных (маскирование PII/DLP) описана для серверной части. Роадмап добавляет второе место исполнения — компьютер сотрудника, — и работает ли там та же защита, не описано. Пока это не прояснится, необходимость этого расширения в заявленном виде для нас под вопросом.</a:t>
            </a:r>
            <a:endParaRPr lang="en-US" sz="1250" dirty="0"/>
          </a:p>
        </p:txBody>
      </p:sp>
      <p:sp>
        <p:nvSpPr>
          <p:cNvPr id="11" name="Shape 8"/>
          <p:cNvSpPr/>
          <p:nvPr/>
        </p:nvSpPr>
        <p:spPr>
          <a:xfrm>
            <a:off x="6217920" y="2606040"/>
            <a:ext cx="5257800" cy="2880360"/>
          </a:xfrm>
          <a:prstGeom prst="roundRect">
            <a:avLst>
              <a:gd name="adj" fmla="val 2857"/>
            </a:avLst>
          </a:prstGeom>
          <a:solidFill>
            <a:srgbClr val="F3F5F8"/>
          </a:solidFill>
          <a:ln w="9525">
            <a:solidFill>
              <a:srgbClr val="DCE1E9"/>
            </a:solidFill>
            <a:prstDash val="solid"/>
          </a:ln>
          <a:effectLst>
            <a:outerShdw sx="100000" sy="100000" kx="0" ky="0" algn="bl" rotWithShape="0" blurRad="101600" dist="25400" dir="5400000">
              <a:srgbClr val="6B7280">
                <a:alpha val="16000"/>
              </a:srgbClr>
            </a:outerShdw>
          </a:effectLst>
        </p:spPr>
      </p:sp>
      <p:sp>
        <p:nvSpPr>
          <p:cNvPr id="12" name="Shape 9"/>
          <p:cNvSpPr/>
          <p:nvPr/>
        </p:nvSpPr>
        <p:spPr>
          <a:xfrm>
            <a:off x="6515100" y="2857500"/>
            <a:ext cx="777240" cy="777240"/>
          </a:xfrm>
          <a:prstGeom prst="ellipse">
            <a:avLst/>
          </a:prstGeom>
          <a:solidFill>
            <a:srgbClr val="FBEED9"/>
          </a:solidFill>
          <a:ln/>
        </p:spPr>
      </p:sp>
      <p:pic>
        <p:nvPicPr>
          <p:cNvPr id="13" name="Image 1" descr="preencoded.png">    </p:cNvPr>
          <p:cNvPicPr>
            <a:picLocks noChangeAspect="1"/>
          </p:cNvPicPr>
          <p:nvPr/>
        </p:nvPicPr>
        <p:blipFill>
          <a:blip r:embed="rId2"/>
          <a:stretch>
            <a:fillRect/>
          </a:stretch>
        </p:blipFill>
        <p:spPr>
          <a:xfrm>
            <a:off x="6701638" y="3044038"/>
            <a:ext cx="404165" cy="404165"/>
          </a:xfrm>
          <a:prstGeom prst="rect">
            <a:avLst/>
          </a:prstGeom>
        </p:spPr>
      </p:pic>
      <p:sp>
        <p:nvSpPr>
          <p:cNvPr id="14" name="Text 10"/>
          <p:cNvSpPr/>
          <p:nvPr/>
        </p:nvSpPr>
        <p:spPr>
          <a:xfrm>
            <a:off x="7424928" y="2880360"/>
            <a:ext cx="3776472" cy="329184"/>
          </a:xfrm>
          <a:prstGeom prst="rect">
            <a:avLst/>
          </a:prstGeom>
          <a:noFill/>
          <a:ln/>
        </p:spPr>
        <p:txBody>
          <a:bodyPr wrap="square" lIns="0" tIns="0" rIns="0" bIns="0" rtlCol="0" anchor="ctr"/>
          <a:lstStyle/>
          <a:p>
            <a:pPr indent="0" marL="0">
              <a:lnSpc>
                <a:spcPct val="100000"/>
              </a:lnSpc>
              <a:buNone/>
            </a:pPr>
            <a:r>
              <a:rPr lang="en-US" sz="1000" b="1" spc="80" kern="0" dirty="0">
                <a:solidFill>
                  <a:srgbClr val="B87A1E"/>
                </a:solidFill>
                <a:latin typeface="Calibri" pitchFamily="34" charset="0"/>
                <a:ea typeface="Calibri" pitchFamily="34" charset="-122"/>
                <a:cs typeface="Calibri" pitchFamily="34" charset="-120"/>
              </a:rPr>
              <a:t>ПРЕДЛОЖЕНИЕ К РЕАЛИЗАЦИИ</a:t>
            </a:r>
            <a:endParaRPr lang="en-US" sz="1000" dirty="0"/>
          </a:p>
        </p:txBody>
      </p:sp>
      <p:sp>
        <p:nvSpPr>
          <p:cNvPr id="15" name="Text 11"/>
          <p:cNvSpPr/>
          <p:nvPr/>
        </p:nvSpPr>
        <p:spPr>
          <a:xfrm>
            <a:off x="7424928" y="3209544"/>
            <a:ext cx="3776472" cy="457200"/>
          </a:xfrm>
          <a:prstGeom prst="rect">
            <a:avLst/>
          </a:prstGeom>
          <a:noFill/>
          <a:ln/>
        </p:spPr>
        <p:txBody>
          <a:bodyPr wrap="square" lIns="0" tIns="0" rIns="0" bIns="0" rtlCol="0" anchor="ctr"/>
          <a:lstStyle/>
          <a:p>
            <a:pPr indent="0" marL="0">
              <a:buNone/>
            </a:pPr>
            <a:r>
              <a:rPr lang="en-US" sz="1600" b="1" dirty="0">
                <a:solidFill>
                  <a:srgbClr val="1B1E27"/>
                </a:solidFill>
                <a:latin typeface="Cambria" pitchFamily="34" charset="0"/>
                <a:ea typeface="Cambria" pitchFamily="34" charset="-122"/>
                <a:cs typeface="Cambria" pitchFamily="34" charset="-120"/>
              </a:rPr>
              <a:t>Часть 2 — иерархия каталогов</a:t>
            </a:r>
            <a:endParaRPr lang="en-US" sz="1600" dirty="0"/>
          </a:p>
        </p:txBody>
      </p:sp>
      <p:sp>
        <p:nvSpPr>
          <p:cNvPr id="16" name="Text 12"/>
          <p:cNvSpPr/>
          <p:nvPr/>
        </p:nvSpPr>
        <p:spPr>
          <a:xfrm>
            <a:off x="6537960" y="3977640"/>
            <a:ext cx="4617720" cy="1371600"/>
          </a:xfrm>
          <a:prstGeom prst="rect">
            <a:avLst/>
          </a:prstGeom>
          <a:noFill/>
          <a:ln/>
        </p:spPr>
        <p:txBody>
          <a:bodyPr wrap="square" lIns="0" tIns="0" rIns="0" bIns="0" rtlCol="0" anchor="ctr"/>
          <a:lstStyle/>
          <a:p>
            <a:pPr indent="0" marL="0">
              <a:lnSpc>
                <a:spcPct val="126000"/>
              </a:lnSpc>
              <a:buNone/>
            </a:pPr>
            <a:r>
              <a:rPr lang="en-US" sz="1250" dirty="0">
                <a:solidFill>
                  <a:srgbClr val="5B6472"/>
                </a:solidFill>
                <a:latin typeface="Calibri" pitchFamily="34" charset="0"/>
                <a:ea typeface="Calibri" pitchFamily="34" charset="-122"/>
                <a:cs typeface="Calibri" pitchFamily="34" charset="-120"/>
              </a:rPr>
              <a:t>Сегодня доступ к документам делится по целой коллекции — внутри одной темы разную чувствительность данных не выразить. У нас есть проработанная модель дерева каталогов, которую мы предлагаем двигать в реализацию.</a:t>
            </a:r>
            <a:endParaRPr lang="en-US" sz="1250" dirty="0"/>
          </a:p>
        </p:txBody>
      </p:sp>
      <p:sp>
        <p:nvSpPr>
          <p:cNvPr id="17" name="Shape 13"/>
          <p:cNvSpPr/>
          <p:nvPr/>
        </p:nvSpPr>
        <p:spPr>
          <a:xfrm>
            <a:off x="548640" y="5760720"/>
            <a:ext cx="11094415" cy="621792"/>
          </a:xfrm>
          <a:prstGeom prst="roundRect">
            <a:avLst>
              <a:gd name="adj" fmla="val 13235"/>
            </a:avLst>
          </a:prstGeom>
          <a:solidFill>
            <a:srgbClr val="EAEDF3"/>
          </a:solidFill>
          <a:ln w="9525">
            <a:solidFill>
              <a:srgbClr val="DCE1E9"/>
            </a:solidFill>
            <a:prstDash val="solid"/>
          </a:ln>
        </p:spPr>
      </p:sp>
      <p:sp>
        <p:nvSpPr>
          <p:cNvPr id="18" name="Shape 14"/>
          <p:cNvSpPr/>
          <p:nvPr/>
        </p:nvSpPr>
        <p:spPr>
          <a:xfrm>
            <a:off x="740664" y="5879592"/>
            <a:ext cx="384048" cy="384048"/>
          </a:xfrm>
          <a:prstGeom prst="ellipse">
            <a:avLst/>
          </a:prstGeom>
          <a:solidFill>
            <a:srgbClr val="FFFFFF"/>
          </a:solidFill>
          <a:ln/>
        </p:spPr>
      </p:sp>
      <p:pic>
        <p:nvPicPr>
          <p:cNvPr id="19" name="Image 2" descr="preencoded.png">    </p:cNvPr>
          <p:cNvPicPr>
            <a:picLocks noChangeAspect="1"/>
          </p:cNvPicPr>
          <p:nvPr/>
        </p:nvPicPr>
        <p:blipFill>
          <a:blip r:embed="rId3"/>
          <a:stretch>
            <a:fillRect/>
          </a:stretch>
        </p:blipFill>
        <p:spPr>
          <a:xfrm>
            <a:off x="832836" y="5971764"/>
            <a:ext cx="199705" cy="199705"/>
          </a:xfrm>
          <a:prstGeom prst="rect">
            <a:avLst/>
          </a:prstGeom>
        </p:spPr>
      </p:pic>
      <p:sp>
        <p:nvSpPr>
          <p:cNvPr id="20" name="Text 15"/>
          <p:cNvSpPr/>
          <p:nvPr/>
        </p:nvSpPr>
        <p:spPr>
          <a:xfrm>
            <a:off x="1234440" y="5760720"/>
            <a:ext cx="10180015" cy="621792"/>
          </a:xfrm>
          <a:prstGeom prst="rect">
            <a:avLst/>
          </a:prstGeom>
          <a:noFill/>
          <a:ln/>
        </p:spPr>
        <p:txBody>
          <a:bodyPr wrap="square" lIns="0" tIns="0" rIns="0" bIns="0" rtlCol="0" anchor="ctr"/>
          <a:lstStyle/>
          <a:p>
            <a:pPr indent="0" marL="0">
              <a:lnSpc>
                <a:spcPct val="115000"/>
              </a:lnSpc>
              <a:buNone/>
            </a:pPr>
            <a:r>
              <a:rPr lang="en-US" sz="1200" dirty="0">
                <a:solidFill>
                  <a:srgbClr val="1B1E27"/>
                </a:solidFill>
                <a:latin typeface="Calibri" pitchFamily="34" charset="0"/>
                <a:ea typeface="Calibri" pitchFamily="34" charset="-122"/>
                <a:cs typeface="Calibri" pitchFamily="34" charset="-120"/>
              </a:rPr>
              <a:t>Обе позиции уже оформлены как </a:t>
            </a:r>
            <a:pPr indent="0" marL="0">
              <a:lnSpc>
                <a:spcPct val="115000"/>
              </a:lnSpc>
              <a:buNone/>
            </a:pPr>
            <a:r>
              <a:rPr lang="en-US" sz="1200" b="1" dirty="0">
                <a:solidFill>
                  <a:srgbClr val="1E4FB8"/>
                </a:solidFill>
                <a:latin typeface="Calibri" pitchFamily="34" charset="0"/>
                <a:ea typeface="Calibri" pitchFamily="34" charset="-122"/>
                <a:cs typeface="Calibri" pitchFamily="34" charset="-120"/>
              </a:rPr>
              <a:t>материал для разговора с разработчиком</a:t>
            </a:r>
            <a:pPr indent="0" marL="0">
              <a:lnSpc>
                <a:spcPct val="115000"/>
              </a:lnSpc>
              <a:buNone/>
            </a:pPr>
            <a:r>
              <a:rPr lang="en-US" sz="1200" dirty="0">
                <a:solidFill>
                  <a:srgbClr val="1B1E27"/>
                </a:solidFill>
                <a:latin typeface="Calibri" pitchFamily="34" charset="0"/>
                <a:ea typeface="Calibri" pitchFamily="34" charset="-122"/>
                <a:cs typeface="Calibri" pitchFamily="34" charset="-120"/>
              </a:rPr>
              <a:t> — Часть 1 как открытый вопрос к разработчику, Часть 2 как предложение к обсуждению; материал остаётся живым документом, куда лягут ответы и детали реализации.</a:t>
            </a:r>
            <a:endParaRPr lang="en-US" sz="1200" dirty="0"/>
          </a:p>
        </p:txBody>
      </p:sp>
      <p:sp>
        <p:nvSpPr>
          <p:cNvPr id="21" name="Text 16"/>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Камерата · Case 17 · Локальный чат и иерархия каталогов</a:t>
            </a:r>
            <a:endParaRPr lang="en-US" sz="900" dirty="0"/>
          </a:p>
        </p:txBody>
      </p:sp>
      <p:sp>
        <p:nvSpPr>
          <p:cNvPr id="22" name="Text 17"/>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B647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32733"/>
        </a:solidFill>
      </p:bgPr>
    </p:bg>
    <p:spTree>
      <p:nvGrpSpPr>
        <p:cNvPr id="1" name=""/>
        <p:cNvGrpSpPr/>
        <p:nvPr/>
      </p:nvGrpSpPr>
      <p:grpSpPr>
        <a:xfrm>
          <a:off x="0" y="0"/>
          <a:ext cx="0" cy="0"/>
          <a:chOff x="0" y="0"/>
          <a:chExt cx="0" cy="0"/>
        </a:xfrm>
      </p:grpSpPr>
      <p:sp>
        <p:nvSpPr>
          <p:cNvPr id="2" name="Text 0"/>
          <p:cNvSpPr/>
          <p:nvPr/>
        </p:nvSpPr>
        <p:spPr>
          <a:xfrm>
            <a:off x="548640" y="2331720"/>
            <a:ext cx="5486400" cy="365760"/>
          </a:xfrm>
          <a:prstGeom prst="rect">
            <a:avLst/>
          </a:prstGeom>
          <a:noFill/>
          <a:ln/>
        </p:spPr>
        <p:txBody>
          <a:bodyPr wrap="square" lIns="0" tIns="0" rIns="0" bIns="0" rtlCol="0" anchor="ctr"/>
          <a:lstStyle/>
          <a:p>
            <a:pPr indent="0" marL="0">
              <a:buNone/>
            </a:pPr>
            <a:r>
              <a:rPr lang="en-US" sz="1400" b="1" spc="200" kern="0" dirty="0">
                <a:solidFill>
                  <a:srgbClr val="2F6FED"/>
                </a:solidFill>
                <a:latin typeface="Calibri" pitchFamily="34" charset="0"/>
                <a:ea typeface="Calibri" pitchFamily="34" charset="-122"/>
                <a:cs typeface="Calibri" pitchFamily="34" charset="-120"/>
              </a:rPr>
              <a:t>ЧАСТЬ 1</a:t>
            </a:r>
            <a:endParaRPr lang="en-US" sz="1400" dirty="0"/>
          </a:p>
        </p:txBody>
      </p:sp>
      <p:sp>
        <p:nvSpPr>
          <p:cNvPr id="3" name="Text 1"/>
          <p:cNvSpPr/>
          <p:nvPr/>
        </p:nvSpPr>
        <p:spPr>
          <a:xfrm>
            <a:off x="548640" y="2606040"/>
            <a:ext cx="8595360" cy="1417320"/>
          </a:xfrm>
          <a:prstGeom prst="rect">
            <a:avLst/>
          </a:prstGeom>
          <a:noFill/>
          <a:ln/>
        </p:spPr>
        <p:txBody>
          <a:bodyPr wrap="square" lIns="0" tIns="0" rIns="0" bIns="0" rtlCol="0" anchor="ctr"/>
          <a:lstStyle/>
          <a:p>
            <a:pPr indent="0" marL="0">
              <a:lnSpc>
                <a:spcPct val="115000"/>
              </a:lnSpc>
              <a:buNone/>
            </a:pPr>
            <a:r>
              <a:rPr lang="en-US" sz="3300" b="1" dirty="0">
                <a:solidFill>
                  <a:srgbClr val="FFFFFF"/>
                </a:solidFill>
                <a:latin typeface="Cambria" pitchFamily="34" charset="0"/>
                <a:ea typeface="Cambria" pitchFamily="34" charset="-122"/>
                <a:cs typeface="Cambria" pitchFamily="34" charset="-120"/>
              </a:rPr>
              <a:t>Локальный чат со своими</a:t>
            </a:r>
            <a:endParaRPr lang="en-US" sz="3300" dirty="0"/>
          </a:p>
          <a:p>
            <a:pPr indent="0" marL="0">
              <a:lnSpc>
                <a:spcPct val="115000"/>
              </a:lnSpc>
              <a:buNone/>
            </a:pPr>
            <a:r>
              <a:rPr lang="en-US" sz="3300" b="1" dirty="0">
                <a:solidFill>
                  <a:srgbClr val="FFFFFF"/>
                </a:solidFill>
                <a:latin typeface="Cambria" pitchFamily="34" charset="0"/>
                <a:ea typeface="Cambria" pitchFamily="34" charset="-122"/>
                <a:cs typeface="Cambria" pitchFamily="34" charset="-120"/>
              </a:rPr>
              <a:t>документами</a:t>
            </a:r>
            <a:endParaRPr lang="en-US" sz="3300" dirty="0"/>
          </a:p>
        </p:txBody>
      </p:sp>
      <p:sp>
        <p:nvSpPr>
          <p:cNvPr id="4" name="Text 2"/>
          <p:cNvSpPr/>
          <p:nvPr/>
        </p:nvSpPr>
        <p:spPr>
          <a:xfrm>
            <a:off x="548640" y="4114800"/>
            <a:ext cx="8686800" cy="640080"/>
          </a:xfrm>
          <a:prstGeom prst="rect">
            <a:avLst/>
          </a:prstGeom>
          <a:noFill/>
          <a:ln/>
        </p:spPr>
        <p:txBody>
          <a:bodyPr wrap="square" lIns="0" tIns="0" rIns="0" bIns="0" rtlCol="0" anchor="ctr"/>
          <a:lstStyle/>
          <a:p>
            <a:pPr indent="0" marL="0">
              <a:lnSpc>
                <a:spcPct val="125000"/>
              </a:lnSpc>
              <a:buNone/>
            </a:pPr>
            <a:r>
              <a:rPr lang="en-US" sz="1500" dirty="0">
                <a:solidFill>
                  <a:srgbClr val="AEB4C4"/>
                </a:solidFill>
                <a:latin typeface="Calibri" pitchFamily="34" charset="0"/>
                <a:ea typeface="Calibri" pitchFamily="34" charset="-122"/>
                <a:cs typeface="Calibri" pitchFamily="34" charset="-120"/>
              </a:rPr>
              <a:t>Линия «Раб. места» (РМ-1—РМ-4) — прежде чем это станет обязательством, у нас есть сомнения в необходимости</a:t>
            </a:r>
            <a:endParaRPr lang="en-US" sz="1500" dirty="0"/>
          </a:p>
        </p:txBody>
      </p:sp>
      <p:sp>
        <p:nvSpPr>
          <p:cNvPr id="5" name="Shape 3"/>
          <p:cNvSpPr/>
          <p:nvPr/>
        </p:nvSpPr>
        <p:spPr>
          <a:xfrm>
            <a:off x="9441180" y="2583180"/>
            <a:ext cx="1417320" cy="1417320"/>
          </a:xfrm>
          <a:prstGeom prst="ellipse">
            <a:avLst/>
          </a:prstGeom>
          <a:solidFill>
            <a:srgbClr val="2C3140"/>
          </a:solidFill>
          <a:ln/>
        </p:spPr>
      </p:sp>
      <p:pic>
        <p:nvPicPr>
          <p:cNvPr id="6" name="Image 0" descr="preencoded.png">    </p:cNvPr>
          <p:cNvPicPr>
            <a:picLocks noChangeAspect="1"/>
          </p:cNvPicPr>
          <p:nvPr/>
        </p:nvPicPr>
        <p:blipFill>
          <a:blip r:embed="rId1"/>
          <a:stretch>
            <a:fillRect/>
          </a:stretch>
        </p:blipFill>
        <p:spPr>
          <a:xfrm>
            <a:off x="9781337" y="2923337"/>
            <a:ext cx="737006" cy="737006"/>
          </a:xfrm>
          <a:prstGeom prst="rect">
            <a:avLst/>
          </a:prstGeom>
        </p:spPr>
      </p:pic>
      <p:sp>
        <p:nvSpPr>
          <p:cNvPr id="7" name="Text 4"/>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AEB4C4"/>
                </a:solidFill>
                <a:latin typeface="Calibri" pitchFamily="34" charset="0"/>
                <a:ea typeface="Calibri" pitchFamily="34" charset="-122"/>
                <a:cs typeface="Calibri" pitchFamily="34" charset="-120"/>
              </a:rPr>
              <a:t>Камерата · Case 17 · Локальный чат и иерархия каталогов</a:t>
            </a:r>
            <a:endParaRPr lang="en-US" sz="900" dirty="0"/>
          </a:p>
        </p:txBody>
      </p:sp>
      <p:sp>
        <p:nvSpPr>
          <p:cNvPr id="8" name="Text 5"/>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AEB4C4"/>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algn="l" indent="0" marL="0">
              <a:buNone/>
            </a:pPr>
            <a:r>
              <a:rPr lang="en-US" sz="1150" b="1" spc="140" kern="0" dirty="0">
                <a:solidFill>
                  <a:srgbClr val="2F6FED"/>
                </a:solidFill>
                <a:latin typeface="Calibri" pitchFamily="34" charset="0"/>
                <a:ea typeface="Calibri" pitchFamily="34" charset="-122"/>
                <a:cs typeface="Calibri" pitchFamily="34" charset="-120"/>
              </a:rPr>
              <a:t>ЧАСТЬ 1 · АГЕНТ РАБОЧЕЙ СТАНЦИИ</a:t>
            </a:r>
            <a:endParaRPr lang="en-US" sz="1150" dirty="0"/>
          </a:p>
        </p:txBody>
      </p:sp>
      <p:sp>
        <p:nvSpPr>
          <p:cNvPr id="3" name="Text 1"/>
          <p:cNvSpPr/>
          <p:nvPr/>
        </p:nvSpPr>
        <p:spPr>
          <a:xfrm>
            <a:off x="548640" y="658368"/>
            <a:ext cx="11094415" cy="777240"/>
          </a:xfrm>
          <a:prstGeom prst="rect">
            <a:avLst/>
          </a:prstGeom>
          <a:noFill/>
          <a:ln/>
        </p:spPr>
        <p:txBody>
          <a:bodyPr wrap="square" lIns="0" tIns="0" rIns="0" bIns="0" rtlCol="0" anchor="t"/>
          <a:lstStyle/>
          <a:p>
            <a:pPr algn="l" indent="0" marL="0">
              <a:lnSpc>
                <a:spcPct val="102000"/>
              </a:lnSpc>
              <a:buNone/>
            </a:pPr>
            <a:r>
              <a:rPr lang="en-US" sz="2900" b="1" dirty="0">
                <a:solidFill>
                  <a:srgbClr val="1B1E27"/>
                </a:solidFill>
                <a:latin typeface="Cambria" pitchFamily="34" charset="0"/>
                <a:ea typeface="Cambria" pitchFamily="34" charset="-122"/>
                <a:cs typeface="Cambria" pitchFamily="34" charset="-120"/>
              </a:rPr>
              <a:t>Новое место исполнения: 4 пункта линии «Раб. места»</a:t>
            </a:r>
            <a:endParaRPr lang="en-US" sz="2900" dirty="0"/>
          </a:p>
        </p:txBody>
      </p:sp>
      <p:sp>
        <p:nvSpPr>
          <p:cNvPr id="4" name="Text 2"/>
          <p:cNvSpPr/>
          <p:nvPr/>
        </p:nvSpPr>
        <p:spPr>
          <a:xfrm>
            <a:off x="548640" y="1517904"/>
            <a:ext cx="11094415" cy="640080"/>
          </a:xfrm>
          <a:prstGeom prst="rect">
            <a:avLst/>
          </a:prstGeom>
          <a:noFill/>
          <a:ln/>
        </p:spPr>
        <p:txBody>
          <a:bodyPr wrap="square" lIns="0" tIns="0" rIns="0" bIns="0" rtlCol="0" anchor="ctr"/>
          <a:lstStyle/>
          <a:p>
            <a:pPr indent="0" marL="0">
              <a:lnSpc>
                <a:spcPct val="126000"/>
              </a:lnSpc>
              <a:buNone/>
            </a:pPr>
            <a:r>
              <a:rPr lang="en-US" sz="1300" dirty="0">
                <a:solidFill>
                  <a:srgbClr val="5B6472"/>
                </a:solidFill>
                <a:latin typeface="Calibri" pitchFamily="34" charset="0"/>
                <a:ea typeface="Calibri" pitchFamily="34" charset="-122"/>
                <a:cs typeface="Calibri" pitchFamily="34" charset="-120"/>
              </a:rPr>
              <a:t>Сегодня платформа обрабатывает данные только на сервере. Дорожная карта добавляет агент, который выполняется прямо на компьютере сотрудника (Windows, macOS) и читает локальные файлы этой машины как контекст запроса — именно здесь у нас есть сомнения, нужно ли это расширение в заявленном виде (подробнее — на следующих слайдах).</a:t>
            </a:r>
            <a:endParaRPr lang="en-US" sz="1300" dirty="0"/>
          </a:p>
        </p:txBody>
      </p:sp>
      <p:sp>
        <p:nvSpPr>
          <p:cNvPr id="5" name="Shape 3"/>
          <p:cNvSpPr/>
          <p:nvPr/>
        </p:nvSpPr>
        <p:spPr>
          <a:xfrm>
            <a:off x="1097280" y="2395728"/>
            <a:ext cx="9997135" cy="0"/>
          </a:xfrm>
          <a:prstGeom prst="line">
            <a:avLst/>
          </a:prstGeom>
          <a:noFill/>
          <a:ln w="31750">
            <a:solidFill>
              <a:srgbClr val="DCE1E9"/>
            </a:solidFill>
            <a:prstDash val="solid"/>
          </a:ln>
        </p:spPr>
      </p:sp>
      <p:sp>
        <p:nvSpPr>
          <p:cNvPr id="6" name="Shape 4"/>
          <p:cNvSpPr/>
          <p:nvPr/>
        </p:nvSpPr>
        <p:spPr>
          <a:xfrm>
            <a:off x="2116836" y="2295144"/>
            <a:ext cx="201168" cy="201168"/>
          </a:xfrm>
          <a:prstGeom prst="ellipse">
            <a:avLst/>
          </a:prstGeom>
          <a:solidFill>
            <a:srgbClr val="E8A33D"/>
          </a:solidFill>
          <a:ln w="25400">
            <a:solidFill>
              <a:srgbClr val="FFFFFF"/>
            </a:solidFill>
            <a:prstDash val="solid"/>
          </a:ln>
        </p:spPr>
      </p:sp>
      <p:sp>
        <p:nvSpPr>
          <p:cNvPr id="7" name="Shape 5"/>
          <p:cNvSpPr/>
          <p:nvPr/>
        </p:nvSpPr>
        <p:spPr>
          <a:xfrm>
            <a:off x="1097280" y="2761488"/>
            <a:ext cx="2240280" cy="2286000"/>
          </a:xfrm>
          <a:prstGeom prst="roundRect">
            <a:avLst>
              <a:gd name="adj" fmla="val 3673"/>
            </a:avLst>
          </a:prstGeom>
          <a:solidFill>
            <a:srgbClr val="FBEED9"/>
          </a:solidFill>
          <a:ln w="9525">
            <a:solidFill>
              <a:srgbClr val="E8A33D"/>
            </a:solidFill>
            <a:prstDash val="solid"/>
          </a:ln>
          <a:effectLst>
            <a:outerShdw sx="100000" sy="100000" kx="0" ky="0" algn="bl" rotWithShape="0" blurRad="101600" dist="25400" dir="5400000">
              <a:srgbClr val="6B7280">
                <a:alpha val="16000"/>
              </a:srgbClr>
            </a:outerShdw>
          </a:effectLst>
        </p:spPr>
      </p:sp>
      <p:sp>
        <p:nvSpPr>
          <p:cNvPr id="8" name="Text 6"/>
          <p:cNvSpPr/>
          <p:nvPr/>
        </p:nvSpPr>
        <p:spPr>
          <a:xfrm>
            <a:off x="1298448" y="2926080"/>
            <a:ext cx="1837944" cy="347472"/>
          </a:xfrm>
          <a:prstGeom prst="rect">
            <a:avLst/>
          </a:prstGeom>
          <a:noFill/>
          <a:ln/>
        </p:spPr>
        <p:txBody>
          <a:bodyPr wrap="square" lIns="0" tIns="0" rIns="0" bIns="0" rtlCol="0" anchor="ctr"/>
          <a:lstStyle/>
          <a:p>
            <a:pPr indent="0" marL="0">
              <a:buNone/>
            </a:pPr>
            <a:r>
              <a:rPr lang="en-US" sz="1800" b="1" dirty="0">
                <a:solidFill>
                  <a:srgbClr val="1B1E27"/>
                </a:solidFill>
                <a:latin typeface="Cambria" pitchFamily="34" charset="0"/>
                <a:ea typeface="Cambria" pitchFamily="34" charset="-122"/>
                <a:cs typeface="Cambria" pitchFamily="34" charset="-120"/>
              </a:rPr>
              <a:t>РМ-1</a:t>
            </a:r>
            <a:endParaRPr lang="en-US" sz="1800" dirty="0"/>
          </a:p>
        </p:txBody>
      </p:sp>
      <p:sp>
        <p:nvSpPr>
          <p:cNvPr id="9" name="Shape 7"/>
          <p:cNvSpPr/>
          <p:nvPr/>
        </p:nvSpPr>
        <p:spPr>
          <a:xfrm>
            <a:off x="2441448" y="2944368"/>
            <a:ext cx="713232" cy="310896"/>
          </a:xfrm>
          <a:prstGeom prst="roundRect">
            <a:avLst>
              <a:gd name="adj" fmla="val 50000"/>
            </a:avLst>
          </a:prstGeom>
          <a:solidFill>
            <a:srgbClr val="FFFFFF"/>
          </a:solidFill>
          <a:ln/>
        </p:spPr>
      </p:sp>
      <p:sp>
        <p:nvSpPr>
          <p:cNvPr id="10" name="Text 8"/>
          <p:cNvSpPr/>
          <p:nvPr/>
        </p:nvSpPr>
        <p:spPr>
          <a:xfrm>
            <a:off x="2487168" y="2944368"/>
            <a:ext cx="621792" cy="310896"/>
          </a:xfrm>
          <a:prstGeom prst="rect">
            <a:avLst/>
          </a:prstGeom>
          <a:noFill/>
          <a:ln/>
        </p:spPr>
        <p:txBody>
          <a:bodyPr wrap="square" lIns="0" tIns="0" rIns="0" bIns="0" rtlCol="0" anchor="ctr"/>
          <a:lstStyle/>
          <a:p>
            <a:pPr algn="ctr" indent="0" marL="0">
              <a:buNone/>
            </a:pPr>
            <a:r>
              <a:rPr lang="en-US" sz="1050" b="1" dirty="0">
                <a:solidFill>
                  <a:srgbClr val="B87A1E"/>
                </a:solidFill>
                <a:latin typeface="Calibri" pitchFamily="34" charset="0"/>
                <a:ea typeface="Calibri" pitchFamily="34" charset="-122"/>
                <a:cs typeface="Calibri" pitchFamily="34" charset="-120"/>
              </a:rPr>
              <a:t>Ур. C</a:t>
            </a:r>
            <a:endParaRPr lang="en-US" sz="1050" dirty="0"/>
          </a:p>
        </p:txBody>
      </p:sp>
      <p:sp>
        <p:nvSpPr>
          <p:cNvPr id="11" name="Text 9"/>
          <p:cNvSpPr/>
          <p:nvPr/>
        </p:nvSpPr>
        <p:spPr>
          <a:xfrm>
            <a:off x="1298448" y="3310128"/>
            <a:ext cx="1837944" cy="256032"/>
          </a:xfrm>
          <a:prstGeom prst="rect">
            <a:avLst/>
          </a:prstGeom>
          <a:noFill/>
          <a:ln/>
        </p:spPr>
        <p:txBody>
          <a:bodyPr wrap="square" lIns="0" tIns="0" rIns="0" bIns="0" rtlCol="0" anchor="ctr"/>
          <a:lstStyle/>
          <a:p>
            <a:pPr indent="0" marL="0">
              <a:buNone/>
            </a:pPr>
            <a:r>
              <a:rPr lang="en-US" sz="1150" b="1" dirty="0">
                <a:solidFill>
                  <a:srgbClr val="5B6472"/>
                </a:solidFill>
                <a:latin typeface="Calibri" pitchFamily="34" charset="0"/>
                <a:ea typeface="Calibri" pitchFamily="34" charset="-122"/>
                <a:cs typeface="Calibri" pitchFamily="34" charset="-120"/>
              </a:rPr>
              <a:t>Q1 2027</a:t>
            </a:r>
            <a:endParaRPr lang="en-US" sz="1150" dirty="0"/>
          </a:p>
        </p:txBody>
      </p:sp>
      <p:sp>
        <p:nvSpPr>
          <p:cNvPr id="12" name="Text 10"/>
          <p:cNvSpPr/>
          <p:nvPr/>
        </p:nvSpPr>
        <p:spPr>
          <a:xfrm>
            <a:off x="1298448" y="3621024"/>
            <a:ext cx="1837944" cy="1298448"/>
          </a:xfrm>
          <a:prstGeom prst="rect">
            <a:avLst/>
          </a:prstGeom>
          <a:noFill/>
          <a:ln/>
        </p:spPr>
        <p:txBody>
          <a:bodyPr wrap="square" lIns="0" tIns="0" rIns="0" bIns="0" rtlCol="0" anchor="ctr"/>
          <a:lstStyle/>
          <a:p>
            <a:pPr indent="0" marL="0">
              <a:lnSpc>
                <a:spcPct val="120000"/>
              </a:lnSpc>
              <a:buNone/>
            </a:pPr>
            <a:r>
              <a:rPr lang="en-US" sz="1150" dirty="0">
                <a:solidFill>
                  <a:srgbClr val="1B1E27"/>
                </a:solidFill>
                <a:latin typeface="Calibri" pitchFamily="34" charset="0"/>
                <a:ea typeface="Calibri" pitchFamily="34" charset="-122"/>
                <a:cs typeface="Calibri" pitchFamily="34" charset="-120"/>
              </a:rPr>
              <a:t>Служба чтения локальных файлов (Windows, macOS) с явной моделью запретов.</a:t>
            </a:r>
            <a:endParaRPr lang="en-US" sz="1150" dirty="0"/>
          </a:p>
        </p:txBody>
      </p:sp>
      <p:sp>
        <p:nvSpPr>
          <p:cNvPr id="13" name="Shape 11"/>
          <p:cNvSpPr/>
          <p:nvPr/>
        </p:nvSpPr>
        <p:spPr>
          <a:xfrm>
            <a:off x="4702454" y="2295144"/>
            <a:ext cx="201168" cy="201168"/>
          </a:xfrm>
          <a:prstGeom prst="ellipse">
            <a:avLst/>
          </a:prstGeom>
          <a:solidFill>
            <a:srgbClr val="E8A33D"/>
          </a:solidFill>
          <a:ln w="25400">
            <a:solidFill>
              <a:srgbClr val="FFFFFF"/>
            </a:solidFill>
            <a:prstDash val="solid"/>
          </a:ln>
        </p:spPr>
      </p:sp>
      <p:sp>
        <p:nvSpPr>
          <p:cNvPr id="14" name="Shape 12"/>
          <p:cNvSpPr/>
          <p:nvPr/>
        </p:nvSpPr>
        <p:spPr>
          <a:xfrm>
            <a:off x="3682898" y="2761488"/>
            <a:ext cx="2240280" cy="2286000"/>
          </a:xfrm>
          <a:prstGeom prst="roundRect">
            <a:avLst>
              <a:gd name="adj" fmla="val 3673"/>
            </a:avLst>
          </a:prstGeom>
          <a:solidFill>
            <a:srgbClr val="FBEED9"/>
          </a:solidFill>
          <a:ln w="9525">
            <a:solidFill>
              <a:srgbClr val="E8A33D"/>
            </a:solidFill>
            <a:prstDash val="solid"/>
          </a:ln>
          <a:effectLst>
            <a:outerShdw sx="100000" sy="100000" kx="0" ky="0" algn="bl" rotWithShape="0" blurRad="101600" dist="25400" dir="5400000">
              <a:srgbClr val="6B7280">
                <a:alpha val="16000"/>
              </a:srgbClr>
            </a:outerShdw>
          </a:effectLst>
        </p:spPr>
      </p:sp>
      <p:sp>
        <p:nvSpPr>
          <p:cNvPr id="15" name="Text 13"/>
          <p:cNvSpPr/>
          <p:nvPr/>
        </p:nvSpPr>
        <p:spPr>
          <a:xfrm>
            <a:off x="3884066" y="2926080"/>
            <a:ext cx="1837944" cy="347472"/>
          </a:xfrm>
          <a:prstGeom prst="rect">
            <a:avLst/>
          </a:prstGeom>
          <a:noFill/>
          <a:ln/>
        </p:spPr>
        <p:txBody>
          <a:bodyPr wrap="square" lIns="0" tIns="0" rIns="0" bIns="0" rtlCol="0" anchor="ctr"/>
          <a:lstStyle/>
          <a:p>
            <a:pPr indent="0" marL="0">
              <a:buNone/>
            </a:pPr>
            <a:r>
              <a:rPr lang="en-US" sz="1800" b="1" dirty="0">
                <a:solidFill>
                  <a:srgbClr val="1B1E27"/>
                </a:solidFill>
                <a:latin typeface="Cambria" pitchFamily="34" charset="0"/>
                <a:ea typeface="Cambria" pitchFamily="34" charset="-122"/>
                <a:cs typeface="Cambria" pitchFamily="34" charset="-120"/>
              </a:rPr>
              <a:t>РМ-2</a:t>
            </a:r>
            <a:endParaRPr lang="en-US" sz="1800" dirty="0"/>
          </a:p>
        </p:txBody>
      </p:sp>
      <p:sp>
        <p:nvSpPr>
          <p:cNvPr id="16" name="Shape 14"/>
          <p:cNvSpPr/>
          <p:nvPr/>
        </p:nvSpPr>
        <p:spPr>
          <a:xfrm>
            <a:off x="5027066" y="2944368"/>
            <a:ext cx="713232" cy="310896"/>
          </a:xfrm>
          <a:prstGeom prst="roundRect">
            <a:avLst>
              <a:gd name="adj" fmla="val 50000"/>
            </a:avLst>
          </a:prstGeom>
          <a:solidFill>
            <a:srgbClr val="FFFFFF"/>
          </a:solidFill>
          <a:ln/>
        </p:spPr>
      </p:sp>
      <p:sp>
        <p:nvSpPr>
          <p:cNvPr id="17" name="Text 15"/>
          <p:cNvSpPr/>
          <p:nvPr/>
        </p:nvSpPr>
        <p:spPr>
          <a:xfrm>
            <a:off x="5072786" y="2944368"/>
            <a:ext cx="621792" cy="310896"/>
          </a:xfrm>
          <a:prstGeom prst="rect">
            <a:avLst/>
          </a:prstGeom>
          <a:noFill/>
          <a:ln/>
        </p:spPr>
        <p:txBody>
          <a:bodyPr wrap="square" lIns="0" tIns="0" rIns="0" bIns="0" rtlCol="0" anchor="ctr"/>
          <a:lstStyle/>
          <a:p>
            <a:pPr algn="ctr" indent="0" marL="0">
              <a:buNone/>
            </a:pPr>
            <a:r>
              <a:rPr lang="en-US" sz="1050" b="1" dirty="0">
                <a:solidFill>
                  <a:srgbClr val="B87A1E"/>
                </a:solidFill>
                <a:latin typeface="Calibri" pitchFamily="34" charset="0"/>
                <a:ea typeface="Calibri" pitchFamily="34" charset="-122"/>
                <a:cs typeface="Calibri" pitchFamily="34" charset="-120"/>
              </a:rPr>
              <a:t>Ур. C</a:t>
            </a:r>
            <a:endParaRPr lang="en-US" sz="1050" dirty="0"/>
          </a:p>
        </p:txBody>
      </p:sp>
      <p:sp>
        <p:nvSpPr>
          <p:cNvPr id="18" name="Text 16"/>
          <p:cNvSpPr/>
          <p:nvPr/>
        </p:nvSpPr>
        <p:spPr>
          <a:xfrm>
            <a:off x="3884066" y="3310128"/>
            <a:ext cx="1837944" cy="256032"/>
          </a:xfrm>
          <a:prstGeom prst="rect">
            <a:avLst/>
          </a:prstGeom>
          <a:noFill/>
          <a:ln/>
        </p:spPr>
        <p:txBody>
          <a:bodyPr wrap="square" lIns="0" tIns="0" rIns="0" bIns="0" rtlCol="0" anchor="ctr"/>
          <a:lstStyle/>
          <a:p>
            <a:pPr indent="0" marL="0">
              <a:buNone/>
            </a:pPr>
            <a:r>
              <a:rPr lang="en-US" sz="1150" b="1" dirty="0">
                <a:solidFill>
                  <a:srgbClr val="5B6472"/>
                </a:solidFill>
                <a:latin typeface="Calibri" pitchFamily="34" charset="0"/>
                <a:ea typeface="Calibri" pitchFamily="34" charset="-122"/>
                <a:cs typeface="Calibri" pitchFamily="34" charset="-120"/>
              </a:rPr>
              <a:t>Q1 2027</a:t>
            </a:r>
            <a:endParaRPr lang="en-US" sz="1150" dirty="0"/>
          </a:p>
        </p:txBody>
      </p:sp>
      <p:sp>
        <p:nvSpPr>
          <p:cNvPr id="19" name="Text 17"/>
          <p:cNvSpPr/>
          <p:nvPr/>
        </p:nvSpPr>
        <p:spPr>
          <a:xfrm>
            <a:off x="3884066" y="3621024"/>
            <a:ext cx="1837944" cy="1298448"/>
          </a:xfrm>
          <a:prstGeom prst="rect">
            <a:avLst/>
          </a:prstGeom>
          <a:noFill/>
          <a:ln/>
        </p:spPr>
        <p:txBody>
          <a:bodyPr wrap="square" lIns="0" tIns="0" rIns="0" bIns="0" rtlCol="0" anchor="ctr"/>
          <a:lstStyle/>
          <a:p>
            <a:pPr indent="0" marL="0">
              <a:lnSpc>
                <a:spcPct val="120000"/>
              </a:lnSpc>
              <a:buNone/>
            </a:pPr>
            <a:r>
              <a:rPr lang="en-US" sz="1150" dirty="0">
                <a:solidFill>
                  <a:srgbClr val="1B1E27"/>
                </a:solidFill>
                <a:latin typeface="Calibri" pitchFamily="34" charset="0"/>
                <a:ea typeface="Calibri" pitchFamily="34" charset="-122"/>
                <a:cs typeface="Calibri" pitchFamily="34" charset="-120"/>
              </a:rPr>
              <a:t>Установка MSI, подпись корпоративным ЦС заказчика, управление через групповые политики.</a:t>
            </a:r>
            <a:endParaRPr lang="en-US" sz="1150" dirty="0"/>
          </a:p>
        </p:txBody>
      </p:sp>
      <p:sp>
        <p:nvSpPr>
          <p:cNvPr id="20" name="Shape 18"/>
          <p:cNvSpPr/>
          <p:nvPr/>
        </p:nvSpPr>
        <p:spPr>
          <a:xfrm>
            <a:off x="7288073" y="2295144"/>
            <a:ext cx="201168" cy="201168"/>
          </a:xfrm>
          <a:prstGeom prst="ellipse">
            <a:avLst/>
          </a:prstGeom>
          <a:solidFill>
            <a:srgbClr val="E8A33D"/>
          </a:solidFill>
          <a:ln w="25400">
            <a:solidFill>
              <a:srgbClr val="FFFFFF"/>
            </a:solidFill>
            <a:prstDash val="solid"/>
          </a:ln>
        </p:spPr>
      </p:sp>
      <p:sp>
        <p:nvSpPr>
          <p:cNvPr id="21" name="Shape 19"/>
          <p:cNvSpPr/>
          <p:nvPr/>
        </p:nvSpPr>
        <p:spPr>
          <a:xfrm>
            <a:off x="6268517" y="2761488"/>
            <a:ext cx="2240280" cy="2286000"/>
          </a:xfrm>
          <a:prstGeom prst="roundRect">
            <a:avLst>
              <a:gd name="adj" fmla="val 3673"/>
            </a:avLst>
          </a:prstGeom>
          <a:solidFill>
            <a:srgbClr val="FBEED9"/>
          </a:solidFill>
          <a:ln w="9525">
            <a:solidFill>
              <a:srgbClr val="E8A33D"/>
            </a:solidFill>
            <a:prstDash val="solid"/>
          </a:ln>
          <a:effectLst>
            <a:outerShdw sx="100000" sy="100000" kx="0" ky="0" algn="bl" rotWithShape="0" blurRad="101600" dist="25400" dir="5400000">
              <a:srgbClr val="6B7280">
                <a:alpha val="16000"/>
              </a:srgbClr>
            </a:outerShdw>
          </a:effectLst>
        </p:spPr>
      </p:sp>
      <p:sp>
        <p:nvSpPr>
          <p:cNvPr id="22" name="Text 20"/>
          <p:cNvSpPr/>
          <p:nvPr/>
        </p:nvSpPr>
        <p:spPr>
          <a:xfrm>
            <a:off x="6469685" y="2926080"/>
            <a:ext cx="1837944" cy="347472"/>
          </a:xfrm>
          <a:prstGeom prst="rect">
            <a:avLst/>
          </a:prstGeom>
          <a:noFill/>
          <a:ln/>
        </p:spPr>
        <p:txBody>
          <a:bodyPr wrap="square" lIns="0" tIns="0" rIns="0" bIns="0" rtlCol="0" anchor="ctr"/>
          <a:lstStyle/>
          <a:p>
            <a:pPr indent="0" marL="0">
              <a:buNone/>
            </a:pPr>
            <a:r>
              <a:rPr lang="en-US" sz="1800" b="1" dirty="0">
                <a:solidFill>
                  <a:srgbClr val="1B1E27"/>
                </a:solidFill>
                <a:latin typeface="Cambria" pitchFamily="34" charset="0"/>
                <a:ea typeface="Cambria" pitchFamily="34" charset="-122"/>
                <a:cs typeface="Cambria" pitchFamily="34" charset="-120"/>
              </a:rPr>
              <a:t>РМ-3</a:t>
            </a:r>
            <a:endParaRPr lang="en-US" sz="1800" dirty="0"/>
          </a:p>
        </p:txBody>
      </p:sp>
      <p:sp>
        <p:nvSpPr>
          <p:cNvPr id="23" name="Shape 21"/>
          <p:cNvSpPr/>
          <p:nvPr/>
        </p:nvSpPr>
        <p:spPr>
          <a:xfrm>
            <a:off x="7612685" y="2944368"/>
            <a:ext cx="713232" cy="310896"/>
          </a:xfrm>
          <a:prstGeom prst="roundRect">
            <a:avLst>
              <a:gd name="adj" fmla="val 50000"/>
            </a:avLst>
          </a:prstGeom>
          <a:solidFill>
            <a:srgbClr val="FFFFFF"/>
          </a:solidFill>
          <a:ln/>
        </p:spPr>
      </p:sp>
      <p:sp>
        <p:nvSpPr>
          <p:cNvPr id="24" name="Text 22"/>
          <p:cNvSpPr/>
          <p:nvPr/>
        </p:nvSpPr>
        <p:spPr>
          <a:xfrm>
            <a:off x="7658405" y="2944368"/>
            <a:ext cx="621792" cy="310896"/>
          </a:xfrm>
          <a:prstGeom prst="rect">
            <a:avLst/>
          </a:prstGeom>
          <a:noFill/>
          <a:ln/>
        </p:spPr>
        <p:txBody>
          <a:bodyPr wrap="square" lIns="0" tIns="0" rIns="0" bIns="0" rtlCol="0" anchor="ctr"/>
          <a:lstStyle/>
          <a:p>
            <a:pPr algn="ctr" indent="0" marL="0">
              <a:buNone/>
            </a:pPr>
            <a:r>
              <a:rPr lang="en-US" sz="1050" b="1" dirty="0">
                <a:solidFill>
                  <a:srgbClr val="B87A1E"/>
                </a:solidFill>
                <a:latin typeface="Calibri" pitchFamily="34" charset="0"/>
                <a:ea typeface="Calibri" pitchFamily="34" charset="-122"/>
                <a:cs typeface="Calibri" pitchFamily="34" charset="-120"/>
              </a:rPr>
              <a:t>Ур. C</a:t>
            </a:r>
            <a:endParaRPr lang="en-US" sz="1050" dirty="0"/>
          </a:p>
        </p:txBody>
      </p:sp>
      <p:sp>
        <p:nvSpPr>
          <p:cNvPr id="25" name="Text 23"/>
          <p:cNvSpPr/>
          <p:nvPr/>
        </p:nvSpPr>
        <p:spPr>
          <a:xfrm>
            <a:off x="6469685" y="3310128"/>
            <a:ext cx="1837944" cy="256032"/>
          </a:xfrm>
          <a:prstGeom prst="rect">
            <a:avLst/>
          </a:prstGeom>
          <a:noFill/>
          <a:ln/>
        </p:spPr>
        <p:txBody>
          <a:bodyPr wrap="square" lIns="0" tIns="0" rIns="0" bIns="0" rtlCol="0" anchor="ctr"/>
          <a:lstStyle/>
          <a:p>
            <a:pPr indent="0" marL="0">
              <a:buNone/>
            </a:pPr>
            <a:r>
              <a:rPr lang="en-US" sz="1150" b="1" dirty="0">
                <a:solidFill>
                  <a:srgbClr val="5B6472"/>
                </a:solidFill>
                <a:latin typeface="Calibri" pitchFamily="34" charset="0"/>
                <a:ea typeface="Calibri" pitchFamily="34" charset="-122"/>
                <a:cs typeface="Calibri" pitchFamily="34" charset="-120"/>
              </a:rPr>
              <a:t>Q2 2027</a:t>
            </a:r>
            <a:endParaRPr lang="en-US" sz="1150" dirty="0"/>
          </a:p>
        </p:txBody>
      </p:sp>
      <p:sp>
        <p:nvSpPr>
          <p:cNvPr id="26" name="Text 24"/>
          <p:cNvSpPr/>
          <p:nvPr/>
        </p:nvSpPr>
        <p:spPr>
          <a:xfrm>
            <a:off x="6469685" y="3621024"/>
            <a:ext cx="1837944" cy="1298448"/>
          </a:xfrm>
          <a:prstGeom prst="rect">
            <a:avLst/>
          </a:prstGeom>
          <a:noFill/>
          <a:ln/>
        </p:spPr>
        <p:txBody>
          <a:bodyPr wrap="square" lIns="0" tIns="0" rIns="0" bIns="0" rtlCol="0" anchor="ctr"/>
          <a:lstStyle/>
          <a:p>
            <a:pPr indent="0" marL="0">
              <a:lnSpc>
                <a:spcPct val="120000"/>
              </a:lnSpc>
              <a:buNone/>
            </a:pPr>
            <a:r>
              <a:rPr lang="en-US" sz="1150" dirty="0">
                <a:solidFill>
                  <a:srgbClr val="1B1E27"/>
                </a:solidFill>
                <a:latin typeface="Calibri" pitchFamily="34" charset="0"/>
                <a:ea typeface="Calibri" pitchFamily="34" charset="-122"/>
                <a:cs typeface="Calibri" pitchFamily="34" charset="-120"/>
              </a:rPr>
              <a:t>Расширение сценариев работы с локальным контекстом пользователя.</a:t>
            </a:r>
            <a:endParaRPr lang="en-US" sz="1150" dirty="0"/>
          </a:p>
        </p:txBody>
      </p:sp>
      <p:sp>
        <p:nvSpPr>
          <p:cNvPr id="27" name="Shape 25"/>
          <p:cNvSpPr/>
          <p:nvPr/>
        </p:nvSpPr>
        <p:spPr>
          <a:xfrm>
            <a:off x="9873691" y="2295144"/>
            <a:ext cx="201168" cy="201168"/>
          </a:xfrm>
          <a:prstGeom prst="ellipse">
            <a:avLst/>
          </a:prstGeom>
          <a:solidFill>
            <a:srgbClr val="8891A0"/>
          </a:solidFill>
          <a:ln w="25400">
            <a:solidFill>
              <a:srgbClr val="FFFFFF"/>
            </a:solidFill>
            <a:prstDash val="solid"/>
          </a:ln>
        </p:spPr>
      </p:sp>
      <p:sp>
        <p:nvSpPr>
          <p:cNvPr id="28" name="Shape 26"/>
          <p:cNvSpPr/>
          <p:nvPr/>
        </p:nvSpPr>
        <p:spPr>
          <a:xfrm>
            <a:off x="8854135" y="2761488"/>
            <a:ext cx="2240280" cy="2286000"/>
          </a:xfrm>
          <a:prstGeom prst="roundRect">
            <a:avLst>
              <a:gd name="adj" fmla="val 3673"/>
            </a:avLst>
          </a:prstGeom>
          <a:solidFill>
            <a:srgbClr val="EEF0F3"/>
          </a:solidFill>
          <a:ln w="9525">
            <a:solidFill>
              <a:srgbClr val="8891A0"/>
            </a:solidFill>
            <a:prstDash val="solid"/>
          </a:ln>
          <a:effectLst>
            <a:outerShdw sx="100000" sy="100000" kx="0" ky="0" algn="bl" rotWithShape="0" blurRad="101600" dist="25400" dir="5400000">
              <a:srgbClr val="6B7280">
                <a:alpha val="16000"/>
              </a:srgbClr>
            </a:outerShdw>
          </a:effectLst>
        </p:spPr>
      </p:sp>
      <p:sp>
        <p:nvSpPr>
          <p:cNvPr id="29" name="Text 27"/>
          <p:cNvSpPr/>
          <p:nvPr/>
        </p:nvSpPr>
        <p:spPr>
          <a:xfrm>
            <a:off x="9055303" y="2926080"/>
            <a:ext cx="1837944" cy="347472"/>
          </a:xfrm>
          <a:prstGeom prst="rect">
            <a:avLst/>
          </a:prstGeom>
          <a:noFill/>
          <a:ln/>
        </p:spPr>
        <p:txBody>
          <a:bodyPr wrap="square" lIns="0" tIns="0" rIns="0" bIns="0" rtlCol="0" anchor="ctr"/>
          <a:lstStyle/>
          <a:p>
            <a:pPr indent="0" marL="0">
              <a:buNone/>
            </a:pPr>
            <a:r>
              <a:rPr lang="en-US" sz="1800" b="1" dirty="0">
                <a:solidFill>
                  <a:srgbClr val="1B1E27"/>
                </a:solidFill>
                <a:latin typeface="Cambria" pitchFamily="34" charset="0"/>
                <a:ea typeface="Cambria" pitchFamily="34" charset="-122"/>
                <a:cs typeface="Cambria" pitchFamily="34" charset="-120"/>
              </a:rPr>
              <a:t>РМ-4</a:t>
            </a:r>
            <a:endParaRPr lang="en-US" sz="1800" dirty="0"/>
          </a:p>
        </p:txBody>
      </p:sp>
      <p:sp>
        <p:nvSpPr>
          <p:cNvPr id="30" name="Shape 28"/>
          <p:cNvSpPr/>
          <p:nvPr/>
        </p:nvSpPr>
        <p:spPr>
          <a:xfrm>
            <a:off x="10198303" y="2944368"/>
            <a:ext cx="713232" cy="310896"/>
          </a:xfrm>
          <a:prstGeom prst="roundRect">
            <a:avLst>
              <a:gd name="adj" fmla="val 50000"/>
            </a:avLst>
          </a:prstGeom>
          <a:solidFill>
            <a:srgbClr val="FFFFFF"/>
          </a:solidFill>
          <a:ln/>
        </p:spPr>
      </p:sp>
      <p:sp>
        <p:nvSpPr>
          <p:cNvPr id="31" name="Text 29"/>
          <p:cNvSpPr/>
          <p:nvPr/>
        </p:nvSpPr>
        <p:spPr>
          <a:xfrm>
            <a:off x="10244023" y="2944368"/>
            <a:ext cx="621792" cy="310896"/>
          </a:xfrm>
          <a:prstGeom prst="rect">
            <a:avLst/>
          </a:prstGeom>
          <a:noFill/>
          <a:ln/>
        </p:spPr>
        <p:txBody>
          <a:bodyPr wrap="square" lIns="0" tIns="0" rIns="0" bIns="0" rtlCol="0" anchor="ctr"/>
          <a:lstStyle/>
          <a:p>
            <a:pPr algn="ctr" indent="0" marL="0">
              <a:buNone/>
            </a:pPr>
            <a:r>
              <a:rPr lang="en-US" sz="1050" b="1" dirty="0">
                <a:solidFill>
                  <a:srgbClr val="8891A0"/>
                </a:solidFill>
                <a:latin typeface="Calibri" pitchFamily="34" charset="0"/>
                <a:ea typeface="Calibri" pitchFamily="34" charset="-122"/>
                <a:cs typeface="Calibri" pitchFamily="34" charset="-120"/>
              </a:rPr>
              <a:t>Ур. D</a:t>
            </a:r>
            <a:endParaRPr lang="en-US" sz="1050" dirty="0"/>
          </a:p>
        </p:txBody>
      </p:sp>
      <p:sp>
        <p:nvSpPr>
          <p:cNvPr id="32" name="Text 30"/>
          <p:cNvSpPr/>
          <p:nvPr/>
        </p:nvSpPr>
        <p:spPr>
          <a:xfrm>
            <a:off x="9055303" y="3310128"/>
            <a:ext cx="1837944" cy="256032"/>
          </a:xfrm>
          <a:prstGeom prst="rect">
            <a:avLst/>
          </a:prstGeom>
          <a:noFill/>
          <a:ln/>
        </p:spPr>
        <p:txBody>
          <a:bodyPr wrap="square" lIns="0" tIns="0" rIns="0" bIns="0" rtlCol="0" anchor="ctr"/>
          <a:lstStyle/>
          <a:p>
            <a:pPr indent="0" marL="0">
              <a:buNone/>
            </a:pPr>
            <a:r>
              <a:rPr lang="en-US" sz="1150" b="1" dirty="0">
                <a:solidFill>
                  <a:srgbClr val="5B6472"/>
                </a:solidFill>
                <a:latin typeface="Calibri" pitchFamily="34" charset="0"/>
                <a:ea typeface="Calibri" pitchFamily="34" charset="-122"/>
                <a:cs typeface="Calibri" pitchFamily="34" charset="-120"/>
              </a:rPr>
              <a:t>H2 2027</a:t>
            </a:r>
            <a:endParaRPr lang="en-US" sz="1150" dirty="0"/>
          </a:p>
        </p:txBody>
      </p:sp>
      <p:sp>
        <p:nvSpPr>
          <p:cNvPr id="33" name="Text 31"/>
          <p:cNvSpPr/>
          <p:nvPr/>
        </p:nvSpPr>
        <p:spPr>
          <a:xfrm>
            <a:off x="9055303" y="3621024"/>
            <a:ext cx="1837944" cy="1298448"/>
          </a:xfrm>
          <a:prstGeom prst="rect">
            <a:avLst/>
          </a:prstGeom>
          <a:noFill/>
          <a:ln/>
        </p:spPr>
        <p:txBody>
          <a:bodyPr wrap="square" lIns="0" tIns="0" rIns="0" bIns="0" rtlCol="0" anchor="ctr"/>
          <a:lstStyle/>
          <a:p>
            <a:pPr indent="0" marL="0">
              <a:lnSpc>
                <a:spcPct val="120000"/>
              </a:lnSpc>
              <a:buNone/>
            </a:pPr>
            <a:r>
              <a:rPr lang="en-US" sz="1150" dirty="0">
                <a:solidFill>
                  <a:srgbClr val="1B1E27"/>
                </a:solidFill>
                <a:latin typeface="Calibri" pitchFamily="34" charset="0"/>
                <a:ea typeface="Calibri" pitchFamily="34" charset="-122"/>
                <a:cs typeface="Calibri" pitchFamily="34" charset="-120"/>
              </a:rPr>
              <a:t>«Дальнейшие фазы агента рабочего места» — заглушка, без состава.</a:t>
            </a:r>
            <a:endParaRPr lang="en-US" sz="1150" dirty="0"/>
          </a:p>
        </p:txBody>
      </p:sp>
      <p:sp>
        <p:nvSpPr>
          <p:cNvPr id="34" name="Text 32"/>
          <p:cNvSpPr/>
          <p:nvPr/>
        </p:nvSpPr>
        <p:spPr>
          <a:xfrm>
            <a:off x="548640" y="5248656"/>
            <a:ext cx="11094415" cy="365760"/>
          </a:xfrm>
          <a:prstGeom prst="rect">
            <a:avLst/>
          </a:prstGeom>
          <a:noFill/>
          <a:ln/>
        </p:spPr>
        <p:txBody>
          <a:bodyPr wrap="square" lIns="0" tIns="0" rIns="0" bIns="0" rtlCol="0" anchor="ctr"/>
          <a:lstStyle/>
          <a:p>
            <a:pPr indent="0" marL="0">
              <a:buNone/>
            </a:pPr>
            <a:r>
              <a:rPr lang="en-US" sz="1150" i="1" dirty="0">
                <a:solidFill>
                  <a:srgbClr val="5B6472"/>
                </a:solidFill>
                <a:latin typeface="Calibri" pitchFamily="34" charset="0"/>
                <a:ea typeface="Calibri" pitchFamily="34" charset="-122"/>
                <a:cs typeface="Calibri" pitchFamily="34" charset="-120"/>
              </a:rPr>
              <a:t>РМ-1 — то, где сосредоточены наши сомнения (следующий слайд). РМ-2 идёт с ним в один квартал технически, но сам по себе вопросов не поднимает. РМ-4 — уровень D, честно заявленная заглушка без состава.</a:t>
            </a:r>
            <a:endParaRPr lang="en-US" sz="1150" dirty="0"/>
          </a:p>
        </p:txBody>
      </p:sp>
      <p:sp>
        <p:nvSpPr>
          <p:cNvPr id="35" name="Text 33"/>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Камерата · Case 17 · Локальный чат и иерархия каталогов</a:t>
            </a:r>
            <a:endParaRPr lang="en-US" sz="900" dirty="0"/>
          </a:p>
        </p:txBody>
      </p:sp>
      <p:sp>
        <p:nvSpPr>
          <p:cNvPr id="36" name="Text 34"/>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B647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algn="l" indent="0" marL="0">
              <a:buNone/>
            </a:pPr>
            <a:r>
              <a:rPr lang="en-US" sz="1150" b="1" spc="140" kern="0" dirty="0">
                <a:solidFill>
                  <a:srgbClr val="B87A1E"/>
                </a:solidFill>
                <a:latin typeface="Calibri" pitchFamily="34" charset="0"/>
                <a:ea typeface="Calibri" pitchFamily="34" charset="-122"/>
                <a:cs typeface="Calibri" pitchFamily="34" charset="-120"/>
              </a:rPr>
              <a:t>ЧАСТЬ 1 · ВОПРОС К РАЗРАБОТЧИКУ</a:t>
            </a:r>
            <a:endParaRPr lang="en-US" sz="1150" dirty="0"/>
          </a:p>
        </p:txBody>
      </p:sp>
      <p:sp>
        <p:nvSpPr>
          <p:cNvPr id="3" name="Text 1"/>
          <p:cNvSpPr/>
          <p:nvPr/>
        </p:nvSpPr>
        <p:spPr>
          <a:xfrm>
            <a:off x="548640" y="658368"/>
            <a:ext cx="11094415" cy="777240"/>
          </a:xfrm>
          <a:prstGeom prst="rect">
            <a:avLst/>
          </a:prstGeom>
          <a:noFill/>
          <a:ln/>
        </p:spPr>
        <p:txBody>
          <a:bodyPr wrap="square" lIns="0" tIns="0" rIns="0" bIns="0" rtlCol="0" anchor="t"/>
          <a:lstStyle/>
          <a:p>
            <a:pPr algn="l" indent="0" marL="0">
              <a:lnSpc>
                <a:spcPct val="102000"/>
              </a:lnSpc>
              <a:buNone/>
            </a:pPr>
            <a:r>
              <a:rPr lang="en-US" sz="2700" b="1" dirty="0">
                <a:solidFill>
                  <a:srgbClr val="1B1E27"/>
                </a:solidFill>
                <a:latin typeface="Cambria" pitchFamily="34" charset="0"/>
                <a:ea typeface="Cambria" pitchFamily="34" charset="-122"/>
                <a:cs typeface="Cambria" pitchFamily="34" charset="-120"/>
              </a:rPr>
              <a:t>Что нужно узнать, чтобы сомнение по РМ-1 снялось</a:t>
            </a:r>
            <a:endParaRPr lang="en-US" sz="2700" dirty="0"/>
          </a:p>
        </p:txBody>
      </p:sp>
      <p:sp>
        <p:nvSpPr>
          <p:cNvPr id="4" name="Text 2"/>
          <p:cNvSpPr/>
          <p:nvPr/>
        </p:nvSpPr>
        <p:spPr>
          <a:xfrm>
            <a:off x="548640" y="1691640"/>
            <a:ext cx="11094415" cy="502920"/>
          </a:xfrm>
          <a:prstGeom prst="rect">
            <a:avLst/>
          </a:prstGeom>
          <a:noFill/>
          <a:ln/>
        </p:spPr>
        <p:txBody>
          <a:bodyPr wrap="square" lIns="0" tIns="0" rIns="0" bIns="0" rtlCol="0" anchor="ctr"/>
          <a:lstStyle/>
          <a:p>
            <a:pPr indent="0" marL="0">
              <a:lnSpc>
                <a:spcPct val="122000"/>
              </a:lnSpc>
              <a:buNone/>
            </a:pPr>
            <a:r>
              <a:rPr lang="en-US" sz="1250" dirty="0">
                <a:solidFill>
                  <a:srgbClr val="5B6472"/>
                </a:solidFill>
                <a:latin typeface="Calibri" pitchFamily="34" charset="0"/>
                <a:ea typeface="Calibri" pitchFamily="34" charset="-122"/>
                <a:cs typeface="Calibri" pitchFamily="34" charset="-120"/>
              </a:rPr>
              <a:t>«Явная модель запретов» РМ-1 задаёт, какие папки и файлы агенту трогать нельзя, но не описывает, что происходит с содержимым разрешённых файлов на пути к LLM. Моё сомнение в необходимости РМ-1 в текущем виде снимается или подтверждается четырьмя ответами разработчика:</a:t>
            </a:r>
            <a:endParaRPr lang="en-US" sz="1250" dirty="0"/>
          </a:p>
        </p:txBody>
      </p:sp>
      <p:sp>
        <p:nvSpPr>
          <p:cNvPr id="5" name="Shape 3"/>
          <p:cNvSpPr/>
          <p:nvPr/>
        </p:nvSpPr>
        <p:spPr>
          <a:xfrm>
            <a:off x="548640" y="2331720"/>
            <a:ext cx="5257800" cy="1627632"/>
          </a:xfrm>
          <a:prstGeom prst="roundRect">
            <a:avLst>
              <a:gd name="adj" fmla="val 5056"/>
            </a:avLst>
          </a:prstGeom>
          <a:solidFill>
            <a:srgbClr val="F3F5F8"/>
          </a:solidFill>
          <a:ln w="9525">
            <a:solidFill>
              <a:srgbClr val="DCE1E9"/>
            </a:solidFill>
            <a:prstDash val="solid"/>
          </a:ln>
          <a:effectLst>
            <a:outerShdw sx="100000" sy="100000" kx="0" ky="0" algn="bl" rotWithShape="0" blurRad="101600" dist="25400" dir="5400000">
              <a:srgbClr val="6B7280">
                <a:alpha val="16000"/>
              </a:srgbClr>
            </a:outerShdw>
          </a:effectLst>
        </p:spPr>
      </p:sp>
      <p:sp>
        <p:nvSpPr>
          <p:cNvPr id="6" name="Shape 4"/>
          <p:cNvSpPr/>
          <p:nvPr/>
        </p:nvSpPr>
        <p:spPr>
          <a:xfrm>
            <a:off x="804672" y="2569464"/>
            <a:ext cx="384048" cy="384048"/>
          </a:xfrm>
          <a:prstGeom prst="roundRect">
            <a:avLst>
              <a:gd name="adj" fmla="val 50000"/>
            </a:avLst>
          </a:prstGeom>
          <a:solidFill>
            <a:srgbClr val="E4ECFD"/>
          </a:solidFill>
          <a:ln/>
        </p:spPr>
      </p:sp>
      <p:sp>
        <p:nvSpPr>
          <p:cNvPr id="7" name="Text 5"/>
          <p:cNvSpPr/>
          <p:nvPr/>
        </p:nvSpPr>
        <p:spPr>
          <a:xfrm>
            <a:off x="850392" y="2569464"/>
            <a:ext cx="292608" cy="384048"/>
          </a:xfrm>
          <a:prstGeom prst="rect">
            <a:avLst/>
          </a:prstGeom>
          <a:noFill/>
          <a:ln/>
        </p:spPr>
        <p:txBody>
          <a:bodyPr wrap="square" lIns="0" tIns="0" rIns="0" bIns="0" rtlCol="0" anchor="ctr"/>
          <a:lstStyle/>
          <a:p>
            <a:pPr algn="ctr" indent="0" marL="0">
              <a:buNone/>
            </a:pPr>
            <a:r>
              <a:rPr lang="en-US" sz="1400" b="1" dirty="0">
                <a:solidFill>
                  <a:srgbClr val="1E4FB8"/>
                </a:solidFill>
                <a:latin typeface="Calibri" pitchFamily="34" charset="0"/>
                <a:ea typeface="Calibri" pitchFamily="34" charset="-122"/>
                <a:cs typeface="Calibri" pitchFamily="34" charset="-120"/>
              </a:rPr>
              <a:t>1</a:t>
            </a:r>
            <a:endParaRPr lang="en-US" sz="1400" dirty="0"/>
          </a:p>
        </p:txBody>
      </p:sp>
      <p:sp>
        <p:nvSpPr>
          <p:cNvPr id="8" name="Shape 6"/>
          <p:cNvSpPr/>
          <p:nvPr/>
        </p:nvSpPr>
        <p:spPr>
          <a:xfrm>
            <a:off x="5029200" y="2496312"/>
            <a:ext cx="548640" cy="548640"/>
          </a:xfrm>
          <a:prstGeom prst="ellipse">
            <a:avLst/>
          </a:prstGeom>
          <a:solidFill>
            <a:srgbClr val="E4ECFD"/>
          </a:solidFill>
          <a:ln/>
        </p:spPr>
      </p:sp>
      <p:pic>
        <p:nvPicPr>
          <p:cNvPr id="9" name="Image 0" descr="preencoded.png">    </p:cNvPr>
          <p:cNvPicPr>
            <a:picLocks noChangeAspect="1"/>
          </p:cNvPicPr>
          <p:nvPr/>
        </p:nvPicPr>
        <p:blipFill>
          <a:blip r:embed="rId1"/>
          <a:stretch>
            <a:fillRect/>
          </a:stretch>
        </p:blipFill>
        <p:spPr>
          <a:xfrm>
            <a:off x="5160874" y="2627986"/>
            <a:ext cx="285293" cy="285293"/>
          </a:xfrm>
          <a:prstGeom prst="rect">
            <a:avLst/>
          </a:prstGeom>
        </p:spPr>
      </p:pic>
      <p:sp>
        <p:nvSpPr>
          <p:cNvPr id="10" name="Text 7"/>
          <p:cNvSpPr/>
          <p:nvPr/>
        </p:nvSpPr>
        <p:spPr>
          <a:xfrm>
            <a:off x="1325880" y="2514600"/>
            <a:ext cx="3886200" cy="365760"/>
          </a:xfrm>
          <a:prstGeom prst="rect">
            <a:avLst/>
          </a:prstGeom>
          <a:noFill/>
          <a:ln/>
        </p:spPr>
        <p:txBody>
          <a:bodyPr wrap="square" lIns="0" tIns="0" rIns="0" bIns="0" rtlCol="0" anchor="ctr"/>
          <a:lstStyle/>
          <a:p>
            <a:pPr indent="0" marL="0">
              <a:buNone/>
            </a:pPr>
            <a:r>
              <a:rPr lang="en-US" sz="1450" b="1" dirty="0">
                <a:solidFill>
                  <a:srgbClr val="1B1E27"/>
                </a:solidFill>
                <a:latin typeface="Cambria" pitchFamily="34" charset="0"/>
                <a:ea typeface="Cambria" pitchFamily="34" charset="-122"/>
                <a:cs typeface="Cambria" pitchFamily="34" charset="-120"/>
              </a:rPr>
              <a:t>То же маскирование?</a:t>
            </a:r>
            <a:endParaRPr lang="en-US" sz="1450" dirty="0"/>
          </a:p>
        </p:txBody>
      </p:sp>
      <p:sp>
        <p:nvSpPr>
          <p:cNvPr id="11" name="Text 8"/>
          <p:cNvSpPr/>
          <p:nvPr/>
        </p:nvSpPr>
        <p:spPr>
          <a:xfrm>
            <a:off x="804672" y="3008376"/>
            <a:ext cx="4745736" cy="804672"/>
          </a:xfrm>
          <a:prstGeom prst="rect">
            <a:avLst/>
          </a:prstGeom>
          <a:noFill/>
          <a:ln/>
        </p:spPr>
        <p:txBody>
          <a:bodyPr wrap="square" lIns="0" tIns="0" rIns="0" bIns="0" rtlCol="0" anchor="ctr"/>
          <a:lstStyle/>
          <a:p>
            <a:pPr indent="0" marL="0">
              <a:lnSpc>
                <a:spcPct val="122000"/>
              </a:lnSpc>
              <a:buNone/>
            </a:pPr>
            <a:r>
              <a:rPr lang="en-US" sz="1130" dirty="0">
                <a:solidFill>
                  <a:srgbClr val="5B6472"/>
                </a:solidFill>
                <a:latin typeface="Calibri" pitchFamily="34" charset="0"/>
                <a:ea typeface="Calibri" pitchFamily="34" charset="-122"/>
                <a:cs typeface="Calibri" pitchFamily="34" charset="-120"/>
              </a:rPr>
              <a:t>Проходит ли содержимое локальных файлов через тот же PII Shield / dlp-secret, что уже применяется к серверному RAG-корпусу и чату?</a:t>
            </a:r>
            <a:endParaRPr lang="en-US" sz="1130" dirty="0"/>
          </a:p>
        </p:txBody>
      </p:sp>
      <p:sp>
        <p:nvSpPr>
          <p:cNvPr id="12" name="Shape 9"/>
          <p:cNvSpPr/>
          <p:nvPr/>
        </p:nvSpPr>
        <p:spPr>
          <a:xfrm>
            <a:off x="6217920" y="2331720"/>
            <a:ext cx="5257800" cy="1627632"/>
          </a:xfrm>
          <a:prstGeom prst="roundRect">
            <a:avLst>
              <a:gd name="adj" fmla="val 5056"/>
            </a:avLst>
          </a:prstGeom>
          <a:solidFill>
            <a:srgbClr val="F3F5F8"/>
          </a:solidFill>
          <a:ln w="9525">
            <a:solidFill>
              <a:srgbClr val="DCE1E9"/>
            </a:solidFill>
            <a:prstDash val="solid"/>
          </a:ln>
          <a:effectLst>
            <a:outerShdw sx="100000" sy="100000" kx="0" ky="0" algn="bl" rotWithShape="0" blurRad="101600" dist="25400" dir="5400000">
              <a:srgbClr val="6B7280">
                <a:alpha val="16000"/>
              </a:srgbClr>
            </a:outerShdw>
          </a:effectLst>
        </p:spPr>
      </p:sp>
      <p:sp>
        <p:nvSpPr>
          <p:cNvPr id="13" name="Shape 10"/>
          <p:cNvSpPr/>
          <p:nvPr/>
        </p:nvSpPr>
        <p:spPr>
          <a:xfrm>
            <a:off x="6473952" y="2569464"/>
            <a:ext cx="384048" cy="384048"/>
          </a:xfrm>
          <a:prstGeom prst="roundRect">
            <a:avLst>
              <a:gd name="adj" fmla="val 50000"/>
            </a:avLst>
          </a:prstGeom>
          <a:solidFill>
            <a:srgbClr val="E4ECFD"/>
          </a:solidFill>
          <a:ln/>
        </p:spPr>
      </p:sp>
      <p:sp>
        <p:nvSpPr>
          <p:cNvPr id="14" name="Text 11"/>
          <p:cNvSpPr/>
          <p:nvPr/>
        </p:nvSpPr>
        <p:spPr>
          <a:xfrm>
            <a:off x="6519672" y="2569464"/>
            <a:ext cx="292608" cy="384048"/>
          </a:xfrm>
          <a:prstGeom prst="rect">
            <a:avLst/>
          </a:prstGeom>
          <a:noFill/>
          <a:ln/>
        </p:spPr>
        <p:txBody>
          <a:bodyPr wrap="square" lIns="0" tIns="0" rIns="0" bIns="0" rtlCol="0" anchor="ctr"/>
          <a:lstStyle/>
          <a:p>
            <a:pPr algn="ctr" indent="0" marL="0">
              <a:buNone/>
            </a:pPr>
            <a:r>
              <a:rPr lang="en-US" sz="1400" b="1" dirty="0">
                <a:solidFill>
                  <a:srgbClr val="1E4FB8"/>
                </a:solidFill>
                <a:latin typeface="Calibri" pitchFamily="34" charset="0"/>
                <a:ea typeface="Calibri" pitchFamily="34" charset="-122"/>
                <a:cs typeface="Calibri" pitchFamily="34" charset="-120"/>
              </a:rPr>
              <a:t>2</a:t>
            </a:r>
            <a:endParaRPr lang="en-US" sz="1400" dirty="0"/>
          </a:p>
        </p:txBody>
      </p:sp>
      <p:sp>
        <p:nvSpPr>
          <p:cNvPr id="15" name="Shape 12"/>
          <p:cNvSpPr/>
          <p:nvPr/>
        </p:nvSpPr>
        <p:spPr>
          <a:xfrm>
            <a:off x="10698480" y="2496312"/>
            <a:ext cx="548640" cy="548640"/>
          </a:xfrm>
          <a:prstGeom prst="ellipse">
            <a:avLst/>
          </a:prstGeom>
          <a:solidFill>
            <a:srgbClr val="E4ECFD"/>
          </a:solidFill>
          <a:ln/>
        </p:spPr>
      </p:sp>
      <p:pic>
        <p:nvPicPr>
          <p:cNvPr id="16" name="Image 1" descr="preencoded.png">    </p:cNvPr>
          <p:cNvPicPr>
            <a:picLocks noChangeAspect="1"/>
          </p:cNvPicPr>
          <p:nvPr/>
        </p:nvPicPr>
        <p:blipFill>
          <a:blip r:embed="rId2"/>
          <a:stretch>
            <a:fillRect/>
          </a:stretch>
        </p:blipFill>
        <p:spPr>
          <a:xfrm>
            <a:off x="10830154" y="2627986"/>
            <a:ext cx="285293" cy="285293"/>
          </a:xfrm>
          <a:prstGeom prst="rect">
            <a:avLst/>
          </a:prstGeom>
        </p:spPr>
      </p:pic>
      <p:sp>
        <p:nvSpPr>
          <p:cNvPr id="17" name="Text 13"/>
          <p:cNvSpPr/>
          <p:nvPr/>
        </p:nvSpPr>
        <p:spPr>
          <a:xfrm>
            <a:off x="6995160" y="2514600"/>
            <a:ext cx="3886200" cy="365760"/>
          </a:xfrm>
          <a:prstGeom prst="rect">
            <a:avLst/>
          </a:prstGeom>
          <a:noFill/>
          <a:ln/>
        </p:spPr>
        <p:txBody>
          <a:bodyPr wrap="square" lIns="0" tIns="0" rIns="0" bIns="0" rtlCol="0" anchor="ctr"/>
          <a:lstStyle/>
          <a:p>
            <a:pPr indent="0" marL="0">
              <a:buNone/>
            </a:pPr>
            <a:r>
              <a:rPr lang="en-US" sz="1450" b="1" dirty="0">
                <a:solidFill>
                  <a:srgbClr val="1B1E27"/>
                </a:solidFill>
                <a:latin typeface="Cambria" pitchFamily="34" charset="0"/>
                <a:ea typeface="Cambria" pitchFamily="34" charset="-122"/>
                <a:cs typeface="Cambria" pitchFamily="34" charset="-120"/>
              </a:rPr>
              <a:t>То же правило для облака?</a:t>
            </a:r>
            <a:endParaRPr lang="en-US" sz="1450" dirty="0"/>
          </a:p>
        </p:txBody>
      </p:sp>
      <p:sp>
        <p:nvSpPr>
          <p:cNvPr id="18" name="Text 14"/>
          <p:cNvSpPr/>
          <p:nvPr/>
        </p:nvSpPr>
        <p:spPr>
          <a:xfrm>
            <a:off x="6473952" y="3008376"/>
            <a:ext cx="4745736" cy="804672"/>
          </a:xfrm>
          <a:prstGeom prst="rect">
            <a:avLst/>
          </a:prstGeom>
          <a:noFill/>
          <a:ln/>
        </p:spPr>
        <p:txBody>
          <a:bodyPr wrap="square" lIns="0" tIns="0" rIns="0" bIns="0" rtlCol="0" anchor="ctr"/>
          <a:lstStyle/>
          <a:p>
            <a:pPr indent="0" marL="0">
              <a:lnSpc>
                <a:spcPct val="122000"/>
              </a:lnSpc>
              <a:buNone/>
            </a:pPr>
            <a:r>
              <a:rPr lang="en-US" sz="1130" dirty="0">
                <a:solidFill>
                  <a:srgbClr val="5B6472"/>
                </a:solidFill>
                <a:latin typeface="Calibri" pitchFamily="34" charset="0"/>
                <a:ea typeface="Calibri" pitchFamily="34" charset="-122"/>
                <a:cs typeface="Calibri" pitchFamily="34" charset="-120"/>
              </a:rPr>
              <a:t>Действует ли правило «маскирование обязательно только для внешней/облачной модели» — или для рабочей станции оно жёстче?</a:t>
            </a:r>
            <a:endParaRPr lang="en-US" sz="1130" dirty="0"/>
          </a:p>
        </p:txBody>
      </p:sp>
      <p:sp>
        <p:nvSpPr>
          <p:cNvPr id="19" name="Shape 15"/>
          <p:cNvSpPr/>
          <p:nvPr/>
        </p:nvSpPr>
        <p:spPr>
          <a:xfrm>
            <a:off x="548640" y="4187952"/>
            <a:ext cx="5257800" cy="1627632"/>
          </a:xfrm>
          <a:prstGeom prst="roundRect">
            <a:avLst>
              <a:gd name="adj" fmla="val 5056"/>
            </a:avLst>
          </a:prstGeom>
          <a:solidFill>
            <a:srgbClr val="F3F5F8"/>
          </a:solidFill>
          <a:ln w="9525">
            <a:solidFill>
              <a:srgbClr val="DCE1E9"/>
            </a:solidFill>
            <a:prstDash val="solid"/>
          </a:ln>
          <a:effectLst>
            <a:outerShdw sx="100000" sy="100000" kx="0" ky="0" algn="bl" rotWithShape="0" blurRad="101600" dist="25400" dir="5400000">
              <a:srgbClr val="6B7280">
                <a:alpha val="16000"/>
              </a:srgbClr>
            </a:outerShdw>
          </a:effectLst>
        </p:spPr>
      </p:sp>
      <p:sp>
        <p:nvSpPr>
          <p:cNvPr id="20" name="Shape 16"/>
          <p:cNvSpPr/>
          <p:nvPr/>
        </p:nvSpPr>
        <p:spPr>
          <a:xfrm>
            <a:off x="804672" y="4425696"/>
            <a:ext cx="384048" cy="384048"/>
          </a:xfrm>
          <a:prstGeom prst="roundRect">
            <a:avLst>
              <a:gd name="adj" fmla="val 50000"/>
            </a:avLst>
          </a:prstGeom>
          <a:solidFill>
            <a:srgbClr val="E4ECFD"/>
          </a:solidFill>
          <a:ln/>
        </p:spPr>
      </p:sp>
      <p:sp>
        <p:nvSpPr>
          <p:cNvPr id="21" name="Text 17"/>
          <p:cNvSpPr/>
          <p:nvPr/>
        </p:nvSpPr>
        <p:spPr>
          <a:xfrm>
            <a:off x="850392" y="4425696"/>
            <a:ext cx="292608" cy="384048"/>
          </a:xfrm>
          <a:prstGeom prst="rect">
            <a:avLst/>
          </a:prstGeom>
          <a:noFill/>
          <a:ln/>
        </p:spPr>
        <p:txBody>
          <a:bodyPr wrap="square" lIns="0" tIns="0" rIns="0" bIns="0" rtlCol="0" anchor="ctr"/>
          <a:lstStyle/>
          <a:p>
            <a:pPr algn="ctr" indent="0" marL="0">
              <a:buNone/>
            </a:pPr>
            <a:r>
              <a:rPr lang="en-US" sz="1400" b="1" dirty="0">
                <a:solidFill>
                  <a:srgbClr val="1E4FB8"/>
                </a:solidFill>
                <a:latin typeface="Calibri" pitchFamily="34" charset="0"/>
                <a:ea typeface="Calibri" pitchFamily="34" charset="-122"/>
                <a:cs typeface="Calibri" pitchFamily="34" charset="-120"/>
              </a:rPr>
              <a:t>3</a:t>
            </a:r>
            <a:endParaRPr lang="en-US" sz="1400" dirty="0"/>
          </a:p>
        </p:txBody>
      </p:sp>
      <p:sp>
        <p:nvSpPr>
          <p:cNvPr id="22" name="Shape 18"/>
          <p:cNvSpPr/>
          <p:nvPr/>
        </p:nvSpPr>
        <p:spPr>
          <a:xfrm>
            <a:off x="5029200" y="4352544"/>
            <a:ext cx="548640" cy="548640"/>
          </a:xfrm>
          <a:prstGeom prst="ellipse">
            <a:avLst/>
          </a:prstGeom>
          <a:solidFill>
            <a:srgbClr val="E4ECFD"/>
          </a:solidFill>
          <a:ln/>
        </p:spPr>
      </p:sp>
      <p:pic>
        <p:nvPicPr>
          <p:cNvPr id="23" name="Image 2" descr="preencoded.png">    </p:cNvPr>
          <p:cNvPicPr>
            <a:picLocks noChangeAspect="1"/>
          </p:cNvPicPr>
          <p:nvPr/>
        </p:nvPicPr>
        <p:blipFill>
          <a:blip r:embed="rId3"/>
          <a:stretch>
            <a:fillRect/>
          </a:stretch>
        </p:blipFill>
        <p:spPr>
          <a:xfrm>
            <a:off x="5160874" y="4484218"/>
            <a:ext cx="285293" cy="285293"/>
          </a:xfrm>
          <a:prstGeom prst="rect">
            <a:avLst/>
          </a:prstGeom>
        </p:spPr>
      </p:pic>
      <p:sp>
        <p:nvSpPr>
          <p:cNvPr id="24" name="Text 19"/>
          <p:cNvSpPr/>
          <p:nvPr/>
        </p:nvSpPr>
        <p:spPr>
          <a:xfrm>
            <a:off x="1325880" y="4370832"/>
            <a:ext cx="3886200" cy="365760"/>
          </a:xfrm>
          <a:prstGeom prst="rect">
            <a:avLst/>
          </a:prstGeom>
          <a:noFill/>
          <a:ln/>
        </p:spPr>
        <p:txBody>
          <a:bodyPr wrap="square" lIns="0" tIns="0" rIns="0" bIns="0" rtlCol="0" anchor="ctr"/>
          <a:lstStyle/>
          <a:p>
            <a:pPr indent="0" marL="0">
              <a:buNone/>
            </a:pPr>
            <a:r>
              <a:rPr lang="en-US" sz="1450" b="1" dirty="0">
                <a:solidFill>
                  <a:srgbClr val="1B1E27"/>
                </a:solidFill>
                <a:latin typeface="Cambria" pitchFamily="34" charset="0"/>
                <a:ea typeface="Cambria" pitchFamily="34" charset="-122"/>
                <a:cs typeface="Cambria" pitchFamily="34" charset="-120"/>
              </a:rPr>
              <a:t>Кто задаёт запреты?</a:t>
            </a:r>
            <a:endParaRPr lang="en-US" sz="1450" dirty="0"/>
          </a:p>
        </p:txBody>
      </p:sp>
      <p:sp>
        <p:nvSpPr>
          <p:cNvPr id="25" name="Text 20"/>
          <p:cNvSpPr/>
          <p:nvPr/>
        </p:nvSpPr>
        <p:spPr>
          <a:xfrm>
            <a:off x="804672" y="4864608"/>
            <a:ext cx="4745736" cy="804672"/>
          </a:xfrm>
          <a:prstGeom prst="rect">
            <a:avLst/>
          </a:prstGeom>
          <a:noFill/>
          <a:ln/>
        </p:spPr>
        <p:txBody>
          <a:bodyPr wrap="square" lIns="0" tIns="0" rIns="0" bIns="0" rtlCol="0" anchor="ctr"/>
          <a:lstStyle/>
          <a:p>
            <a:pPr indent="0" marL="0">
              <a:lnSpc>
                <a:spcPct val="122000"/>
              </a:lnSpc>
              <a:buNone/>
            </a:pPr>
            <a:r>
              <a:rPr lang="en-US" sz="1130" dirty="0">
                <a:solidFill>
                  <a:srgbClr val="5B6472"/>
                </a:solidFill>
                <a:latin typeface="Calibri" pitchFamily="34" charset="0"/>
                <a:ea typeface="Calibri" pitchFamily="34" charset="-122"/>
                <a:cs typeface="Calibri" pitchFamily="34" charset="-120"/>
              </a:rPr>
              <a:t>Модель запретов формирует администратор централизованно (групповые политики, вместе с РМ-2), или пользователь может расширять список сам?</a:t>
            </a:r>
            <a:endParaRPr lang="en-US" sz="1130" dirty="0"/>
          </a:p>
        </p:txBody>
      </p:sp>
      <p:sp>
        <p:nvSpPr>
          <p:cNvPr id="26" name="Shape 21"/>
          <p:cNvSpPr/>
          <p:nvPr/>
        </p:nvSpPr>
        <p:spPr>
          <a:xfrm>
            <a:off x="6217920" y="4187952"/>
            <a:ext cx="5257800" cy="1627632"/>
          </a:xfrm>
          <a:prstGeom prst="roundRect">
            <a:avLst>
              <a:gd name="adj" fmla="val 5056"/>
            </a:avLst>
          </a:prstGeom>
          <a:solidFill>
            <a:srgbClr val="F3F5F8"/>
          </a:solidFill>
          <a:ln w="9525">
            <a:solidFill>
              <a:srgbClr val="DCE1E9"/>
            </a:solidFill>
            <a:prstDash val="solid"/>
          </a:ln>
          <a:effectLst>
            <a:outerShdw sx="100000" sy="100000" kx="0" ky="0" algn="bl" rotWithShape="0" blurRad="101600" dist="25400" dir="5400000">
              <a:srgbClr val="6B7280">
                <a:alpha val="16000"/>
              </a:srgbClr>
            </a:outerShdw>
          </a:effectLst>
        </p:spPr>
      </p:sp>
      <p:sp>
        <p:nvSpPr>
          <p:cNvPr id="27" name="Shape 22"/>
          <p:cNvSpPr/>
          <p:nvPr/>
        </p:nvSpPr>
        <p:spPr>
          <a:xfrm>
            <a:off x="6473952" y="4425696"/>
            <a:ext cx="384048" cy="384048"/>
          </a:xfrm>
          <a:prstGeom prst="roundRect">
            <a:avLst>
              <a:gd name="adj" fmla="val 50000"/>
            </a:avLst>
          </a:prstGeom>
          <a:solidFill>
            <a:srgbClr val="E4ECFD"/>
          </a:solidFill>
          <a:ln/>
        </p:spPr>
      </p:sp>
      <p:sp>
        <p:nvSpPr>
          <p:cNvPr id="28" name="Text 23"/>
          <p:cNvSpPr/>
          <p:nvPr/>
        </p:nvSpPr>
        <p:spPr>
          <a:xfrm>
            <a:off x="6519672" y="4425696"/>
            <a:ext cx="292608" cy="384048"/>
          </a:xfrm>
          <a:prstGeom prst="rect">
            <a:avLst/>
          </a:prstGeom>
          <a:noFill/>
          <a:ln/>
        </p:spPr>
        <p:txBody>
          <a:bodyPr wrap="square" lIns="0" tIns="0" rIns="0" bIns="0" rtlCol="0" anchor="ctr"/>
          <a:lstStyle/>
          <a:p>
            <a:pPr algn="ctr" indent="0" marL="0">
              <a:buNone/>
            </a:pPr>
            <a:r>
              <a:rPr lang="en-US" sz="1400" b="1" dirty="0">
                <a:solidFill>
                  <a:srgbClr val="1E4FB8"/>
                </a:solidFill>
                <a:latin typeface="Calibri" pitchFamily="34" charset="0"/>
                <a:ea typeface="Calibri" pitchFamily="34" charset="-122"/>
                <a:cs typeface="Calibri" pitchFamily="34" charset="-120"/>
              </a:rPr>
              <a:t>4</a:t>
            </a:r>
            <a:endParaRPr lang="en-US" sz="1400" dirty="0"/>
          </a:p>
        </p:txBody>
      </p:sp>
      <p:sp>
        <p:nvSpPr>
          <p:cNvPr id="29" name="Shape 24"/>
          <p:cNvSpPr/>
          <p:nvPr/>
        </p:nvSpPr>
        <p:spPr>
          <a:xfrm>
            <a:off x="10698480" y="4352544"/>
            <a:ext cx="548640" cy="548640"/>
          </a:xfrm>
          <a:prstGeom prst="ellipse">
            <a:avLst/>
          </a:prstGeom>
          <a:solidFill>
            <a:srgbClr val="E4ECFD"/>
          </a:solidFill>
          <a:ln/>
        </p:spPr>
      </p:sp>
      <p:pic>
        <p:nvPicPr>
          <p:cNvPr id="30" name="Image 3" descr="preencoded.png">    </p:cNvPr>
          <p:cNvPicPr>
            <a:picLocks noChangeAspect="1"/>
          </p:cNvPicPr>
          <p:nvPr/>
        </p:nvPicPr>
        <p:blipFill>
          <a:blip r:embed="rId4"/>
          <a:stretch>
            <a:fillRect/>
          </a:stretch>
        </p:blipFill>
        <p:spPr>
          <a:xfrm>
            <a:off x="10830154" y="4484218"/>
            <a:ext cx="285293" cy="285293"/>
          </a:xfrm>
          <a:prstGeom prst="rect">
            <a:avLst/>
          </a:prstGeom>
        </p:spPr>
      </p:pic>
      <p:sp>
        <p:nvSpPr>
          <p:cNvPr id="31" name="Text 25"/>
          <p:cNvSpPr/>
          <p:nvPr/>
        </p:nvSpPr>
        <p:spPr>
          <a:xfrm>
            <a:off x="6995160" y="4370832"/>
            <a:ext cx="3886200" cy="365760"/>
          </a:xfrm>
          <a:prstGeom prst="rect">
            <a:avLst/>
          </a:prstGeom>
          <a:noFill/>
          <a:ln/>
        </p:spPr>
        <p:txBody>
          <a:bodyPr wrap="square" lIns="0" tIns="0" rIns="0" bIns="0" rtlCol="0" anchor="ctr"/>
          <a:lstStyle/>
          <a:p>
            <a:pPr indent="0" marL="0">
              <a:buNone/>
            </a:pPr>
            <a:r>
              <a:rPr lang="en-US" sz="1450" b="1" dirty="0">
                <a:solidFill>
                  <a:srgbClr val="1B1E27"/>
                </a:solidFill>
                <a:latin typeface="Cambria" pitchFamily="34" charset="0"/>
                <a:ea typeface="Cambria" pitchFamily="34" charset="-122"/>
                <a:cs typeface="Cambria" pitchFamily="34" charset="-120"/>
              </a:rPr>
              <a:t>Тот же журнал аудита?</a:t>
            </a:r>
            <a:endParaRPr lang="en-US" sz="1450" dirty="0"/>
          </a:p>
        </p:txBody>
      </p:sp>
      <p:sp>
        <p:nvSpPr>
          <p:cNvPr id="32" name="Text 26"/>
          <p:cNvSpPr/>
          <p:nvPr/>
        </p:nvSpPr>
        <p:spPr>
          <a:xfrm>
            <a:off x="6473952" y="4864608"/>
            <a:ext cx="4745736" cy="804672"/>
          </a:xfrm>
          <a:prstGeom prst="rect">
            <a:avLst/>
          </a:prstGeom>
          <a:noFill/>
          <a:ln/>
        </p:spPr>
        <p:txBody>
          <a:bodyPr wrap="square" lIns="0" tIns="0" rIns="0" bIns="0" rtlCol="0" anchor="ctr"/>
          <a:lstStyle/>
          <a:p>
            <a:pPr indent="0" marL="0">
              <a:lnSpc>
                <a:spcPct val="122000"/>
              </a:lnSpc>
              <a:buNone/>
            </a:pPr>
            <a:r>
              <a:rPr lang="en-US" sz="1130" dirty="0">
                <a:solidFill>
                  <a:srgbClr val="5B6472"/>
                </a:solidFill>
                <a:latin typeface="Calibri" pitchFamily="34" charset="0"/>
                <a:ea typeface="Calibri" pitchFamily="34" charset="-122"/>
                <a:cs typeface="Calibri" pitchFamily="34" charset="-120"/>
              </a:rPr>
              <a:t>Обращения к локальным файлам попадают в тот же журнал DLP/audit-БД, что и серверные обращения, или предусмотрен отдельный журнал?</a:t>
            </a:r>
            <a:endParaRPr lang="en-US" sz="1130" dirty="0"/>
          </a:p>
        </p:txBody>
      </p:sp>
      <p:sp>
        <p:nvSpPr>
          <p:cNvPr id="33" name="Text 27"/>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Камерата · Case 17 · Локальный чат и иерархия каталогов</a:t>
            </a:r>
            <a:endParaRPr lang="en-US" sz="900" dirty="0"/>
          </a:p>
        </p:txBody>
      </p:sp>
      <p:sp>
        <p:nvSpPr>
          <p:cNvPr id="34" name="Text 28"/>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B6472"/>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algn="l" indent="0" marL="0">
              <a:buNone/>
            </a:pPr>
            <a:r>
              <a:rPr lang="en-US" sz="1150" b="1" spc="140" kern="0" dirty="0">
                <a:solidFill>
                  <a:srgbClr val="B87A1E"/>
                </a:solidFill>
                <a:latin typeface="Calibri" pitchFamily="34" charset="0"/>
                <a:ea typeface="Calibri" pitchFamily="34" charset="-122"/>
                <a:cs typeface="Calibri" pitchFamily="34" charset="-120"/>
              </a:rPr>
              <a:t>ЧАСТЬ 1 · ПОЧЕМУ ОСТАЮТСЯ СОМНЕНИЯ</a:t>
            </a:r>
            <a:endParaRPr lang="en-US" sz="1150" dirty="0"/>
          </a:p>
        </p:txBody>
      </p:sp>
      <p:sp>
        <p:nvSpPr>
          <p:cNvPr id="3" name="Text 1"/>
          <p:cNvSpPr/>
          <p:nvPr/>
        </p:nvSpPr>
        <p:spPr>
          <a:xfrm>
            <a:off x="548640" y="658368"/>
            <a:ext cx="11094415" cy="777240"/>
          </a:xfrm>
          <a:prstGeom prst="rect">
            <a:avLst/>
          </a:prstGeom>
          <a:noFill/>
          <a:ln/>
        </p:spPr>
        <p:txBody>
          <a:bodyPr wrap="square" lIns="0" tIns="0" rIns="0" bIns="0" rtlCol="0" anchor="t"/>
          <a:lstStyle/>
          <a:p>
            <a:pPr algn="l" indent="0" marL="0">
              <a:lnSpc>
                <a:spcPct val="102000"/>
              </a:lnSpc>
              <a:buNone/>
            </a:pPr>
            <a:r>
              <a:rPr lang="en-US" sz="2700" b="1" dirty="0">
                <a:solidFill>
                  <a:srgbClr val="1B1E27"/>
                </a:solidFill>
                <a:latin typeface="Cambria" pitchFamily="34" charset="0"/>
                <a:ea typeface="Cambria" pitchFamily="34" charset="-122"/>
                <a:cs typeface="Cambria" pitchFamily="34" charset="-120"/>
              </a:rPr>
              <a:t>Единственный пункт дорожной карты, где защита данных пока не описана</a:t>
            </a:r>
            <a:endParaRPr lang="en-US" sz="2700" dirty="0"/>
          </a:p>
        </p:txBody>
      </p:sp>
      <p:sp>
        <p:nvSpPr>
          <p:cNvPr id="4" name="Shape 2"/>
          <p:cNvSpPr/>
          <p:nvPr/>
        </p:nvSpPr>
        <p:spPr>
          <a:xfrm>
            <a:off x="548640" y="1691640"/>
            <a:ext cx="3291840" cy="2788920"/>
          </a:xfrm>
          <a:prstGeom prst="roundRect">
            <a:avLst>
              <a:gd name="adj" fmla="val 2951"/>
            </a:avLst>
          </a:prstGeom>
          <a:solidFill>
            <a:srgbClr val="2C3140"/>
          </a:solidFill>
          <a:ln/>
          <a:effectLst>
            <a:outerShdw sx="100000" sy="100000" kx="0" ky="0" algn="bl" rotWithShape="0" blurRad="101600" dist="25400" dir="5400000">
              <a:srgbClr val="6B7280">
                <a:alpha val="16000"/>
              </a:srgbClr>
            </a:outerShdw>
          </a:effectLst>
        </p:spPr>
      </p:sp>
      <p:sp>
        <p:nvSpPr>
          <p:cNvPr id="5" name="Text 3"/>
          <p:cNvSpPr/>
          <p:nvPr/>
        </p:nvSpPr>
        <p:spPr>
          <a:xfrm>
            <a:off x="548640" y="2194560"/>
            <a:ext cx="3291840" cy="1005840"/>
          </a:xfrm>
          <a:prstGeom prst="rect">
            <a:avLst/>
          </a:prstGeom>
          <a:noFill/>
          <a:ln/>
        </p:spPr>
        <p:txBody>
          <a:bodyPr wrap="square" lIns="0" tIns="0" rIns="0" bIns="0" rtlCol="0" anchor="ctr"/>
          <a:lstStyle/>
          <a:p>
            <a:pPr algn="ctr" indent="0" marL="0">
              <a:buNone/>
            </a:pPr>
            <a:r>
              <a:rPr lang="en-US" sz="5200" b="1" dirty="0">
                <a:solidFill>
                  <a:srgbClr val="E8A33D"/>
                </a:solidFill>
                <a:latin typeface="Cambria" pitchFamily="34" charset="0"/>
                <a:ea typeface="Cambria" pitchFamily="34" charset="-122"/>
                <a:cs typeface="Cambria" pitchFamily="34" charset="-120"/>
              </a:rPr>
              <a:t>1 из 35</a:t>
            </a:r>
            <a:endParaRPr lang="en-US" sz="5200" dirty="0"/>
          </a:p>
        </p:txBody>
      </p:sp>
      <p:sp>
        <p:nvSpPr>
          <p:cNvPr id="6" name="Text 4"/>
          <p:cNvSpPr/>
          <p:nvPr/>
        </p:nvSpPr>
        <p:spPr>
          <a:xfrm>
            <a:off x="868680" y="3291840"/>
            <a:ext cx="2651760" cy="1051560"/>
          </a:xfrm>
          <a:prstGeom prst="rect">
            <a:avLst/>
          </a:prstGeom>
          <a:noFill/>
          <a:ln/>
        </p:spPr>
        <p:txBody>
          <a:bodyPr wrap="square" lIns="0" tIns="0" rIns="0" bIns="0" rtlCol="0" anchor="ctr"/>
          <a:lstStyle/>
          <a:p>
            <a:pPr algn="ctr" indent="0" marL="0">
              <a:lnSpc>
                <a:spcPct val="125000"/>
              </a:lnSpc>
              <a:buNone/>
            </a:pPr>
            <a:r>
              <a:rPr lang="en-US" sz="1300" dirty="0">
                <a:solidFill>
                  <a:srgbClr val="FFFFFF"/>
                </a:solidFill>
                <a:latin typeface="Calibri" pitchFamily="34" charset="0"/>
                <a:ea typeface="Calibri" pitchFamily="34" charset="-122"/>
                <a:cs typeface="Calibri" pitchFamily="34" charset="-120"/>
              </a:rPr>
              <a:t>пунктов дорожной карты — с пока не описанной защитой данных</a:t>
            </a:r>
            <a:endParaRPr lang="en-US" sz="1300" dirty="0"/>
          </a:p>
        </p:txBody>
      </p:sp>
      <p:sp>
        <p:nvSpPr>
          <p:cNvPr id="7" name="Text 5"/>
          <p:cNvSpPr/>
          <p:nvPr/>
        </p:nvSpPr>
        <p:spPr>
          <a:xfrm>
            <a:off x="4297680" y="1691640"/>
            <a:ext cx="7345375" cy="1051560"/>
          </a:xfrm>
          <a:prstGeom prst="rect">
            <a:avLst/>
          </a:prstGeom>
          <a:noFill/>
          <a:ln/>
        </p:spPr>
        <p:txBody>
          <a:bodyPr wrap="square" lIns="0" tIns="0" rIns="0" bIns="0" rtlCol="0" anchor="ctr"/>
          <a:lstStyle/>
          <a:p>
            <a:pPr indent="0" marL="0">
              <a:lnSpc>
                <a:spcPct val="126000"/>
              </a:lnSpc>
              <a:buNone/>
            </a:pPr>
            <a:r>
              <a:rPr lang="en-US" sz="1250" dirty="0">
                <a:solidFill>
                  <a:srgbClr val="1B1E27"/>
                </a:solidFill>
                <a:latin typeface="Calibri" pitchFamily="34" charset="0"/>
                <a:ea typeface="Calibri" pitchFamily="34" charset="-122"/>
                <a:cs typeface="Calibri" pitchFamily="34" charset="-120"/>
              </a:rPr>
              <a:t>Если маскирование архитектурно не распространяется на локально читаемые файлы, агент рабочей станции рискует стать новым каналом в обход периметра AI Guard, выстроенного для серверной части. Это и есть та неопределённость, из-за которой у нас остаются сомнения в необходимости РМ-1 в текущем виде.</a:t>
            </a:r>
            <a:endParaRPr lang="en-US" sz="1250" dirty="0"/>
          </a:p>
        </p:txBody>
      </p:sp>
      <p:sp>
        <p:nvSpPr>
          <p:cNvPr id="8" name="Shape 6"/>
          <p:cNvSpPr/>
          <p:nvPr/>
        </p:nvSpPr>
        <p:spPr>
          <a:xfrm>
            <a:off x="4297680" y="2743200"/>
            <a:ext cx="7345375" cy="1005840"/>
          </a:xfrm>
          <a:prstGeom prst="roundRect">
            <a:avLst>
              <a:gd name="adj" fmla="val 8182"/>
            </a:avLst>
          </a:prstGeom>
          <a:solidFill>
            <a:srgbClr val="E4ECFD"/>
          </a:solidFill>
          <a:ln w="9525">
            <a:solidFill>
              <a:srgbClr val="2F6FED"/>
            </a:solidFill>
            <a:prstDash val="solid"/>
          </a:ln>
          <a:effectLst>
            <a:outerShdw sx="100000" sy="100000" kx="0" ky="0" algn="bl" rotWithShape="0" blurRad="101600" dist="25400" dir="5400000">
              <a:srgbClr val="6B7280">
                <a:alpha val="16000"/>
              </a:srgbClr>
            </a:outerShdw>
          </a:effectLst>
        </p:spPr>
      </p:sp>
      <p:sp>
        <p:nvSpPr>
          <p:cNvPr id="9" name="Shape 7"/>
          <p:cNvSpPr/>
          <p:nvPr/>
        </p:nvSpPr>
        <p:spPr>
          <a:xfrm>
            <a:off x="4549140" y="2994660"/>
            <a:ext cx="502920" cy="502920"/>
          </a:xfrm>
          <a:prstGeom prst="ellipse">
            <a:avLst/>
          </a:prstGeom>
          <a:solidFill>
            <a:srgbClr val="FFFFFF"/>
          </a:solidFill>
          <a:ln/>
        </p:spPr>
      </p:sp>
      <p:pic>
        <p:nvPicPr>
          <p:cNvPr id="10" name="Image 0" descr="preencoded.png">    </p:cNvPr>
          <p:cNvPicPr>
            <a:picLocks noChangeAspect="1"/>
          </p:cNvPicPr>
          <p:nvPr/>
        </p:nvPicPr>
        <p:blipFill>
          <a:blip r:embed="rId1"/>
          <a:stretch>
            <a:fillRect/>
          </a:stretch>
        </p:blipFill>
        <p:spPr>
          <a:xfrm>
            <a:off x="4669841" y="3115361"/>
            <a:ext cx="261518" cy="261518"/>
          </a:xfrm>
          <a:prstGeom prst="rect">
            <a:avLst/>
          </a:prstGeom>
        </p:spPr>
      </p:pic>
      <p:sp>
        <p:nvSpPr>
          <p:cNvPr id="11" name="Text 8"/>
          <p:cNvSpPr/>
          <p:nvPr/>
        </p:nvSpPr>
        <p:spPr>
          <a:xfrm>
            <a:off x="5212080" y="2743200"/>
            <a:ext cx="6248095" cy="1005840"/>
          </a:xfrm>
          <a:prstGeom prst="rect">
            <a:avLst/>
          </a:prstGeom>
          <a:noFill/>
          <a:ln/>
        </p:spPr>
        <p:txBody>
          <a:bodyPr wrap="square" lIns="0" tIns="0" rIns="0" bIns="0" rtlCol="0" anchor="ctr"/>
          <a:lstStyle/>
          <a:p>
            <a:pPr indent="0" marL="0">
              <a:lnSpc>
                <a:spcPct val="120000"/>
              </a:lnSpc>
              <a:buNone/>
            </a:pPr>
            <a:r>
              <a:rPr lang="en-US" sz="1200" b="1" dirty="0">
                <a:solidFill>
                  <a:srgbClr val="1E4FB8"/>
                </a:solidFill>
                <a:latin typeface="Calibri" pitchFamily="34" charset="0"/>
                <a:ea typeface="Calibri" pitchFamily="34" charset="-122"/>
                <a:cs typeface="Calibri" pitchFamily="34" charset="-120"/>
              </a:rPr>
              <a:t>Сервер: периметр AI Guard — маскирование гарантировано</a:t>
            </a:r>
            <a:endParaRPr lang="en-US" sz="1200" dirty="0"/>
          </a:p>
        </p:txBody>
      </p:sp>
      <p:sp>
        <p:nvSpPr>
          <p:cNvPr id="12" name="Shape 9"/>
          <p:cNvSpPr/>
          <p:nvPr/>
        </p:nvSpPr>
        <p:spPr>
          <a:xfrm>
            <a:off x="4297680" y="3931920"/>
            <a:ext cx="7345375" cy="1005840"/>
          </a:xfrm>
          <a:prstGeom prst="roundRect">
            <a:avLst>
              <a:gd name="adj" fmla="val 8182"/>
            </a:avLst>
          </a:prstGeom>
          <a:solidFill>
            <a:srgbClr val="FBEED9"/>
          </a:solidFill>
          <a:ln w="19050">
            <a:solidFill>
              <a:srgbClr val="E8A33D"/>
            </a:solidFill>
            <a:prstDash val="dash"/>
          </a:ln>
        </p:spPr>
      </p:sp>
      <p:sp>
        <p:nvSpPr>
          <p:cNvPr id="13" name="Shape 10"/>
          <p:cNvSpPr/>
          <p:nvPr/>
        </p:nvSpPr>
        <p:spPr>
          <a:xfrm>
            <a:off x="4549140" y="4183380"/>
            <a:ext cx="502920" cy="502920"/>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4669841" y="4304081"/>
            <a:ext cx="261518" cy="261518"/>
          </a:xfrm>
          <a:prstGeom prst="rect">
            <a:avLst/>
          </a:prstGeom>
        </p:spPr>
      </p:pic>
      <p:sp>
        <p:nvSpPr>
          <p:cNvPr id="15" name="Text 11"/>
          <p:cNvSpPr/>
          <p:nvPr/>
        </p:nvSpPr>
        <p:spPr>
          <a:xfrm>
            <a:off x="5212080" y="3931920"/>
            <a:ext cx="6248095" cy="1005840"/>
          </a:xfrm>
          <a:prstGeom prst="rect">
            <a:avLst/>
          </a:prstGeom>
          <a:noFill/>
          <a:ln/>
        </p:spPr>
        <p:txBody>
          <a:bodyPr wrap="square" lIns="0" tIns="0" rIns="0" bIns="0" rtlCol="0" anchor="ctr"/>
          <a:lstStyle/>
          <a:p>
            <a:pPr indent="0" marL="0">
              <a:lnSpc>
                <a:spcPct val="120000"/>
              </a:lnSpc>
              <a:buNone/>
            </a:pPr>
            <a:r>
              <a:rPr lang="en-US" sz="1200" b="1" dirty="0">
                <a:solidFill>
                  <a:srgbClr val="B87A1E"/>
                </a:solidFill>
                <a:latin typeface="Calibri" pitchFamily="34" charset="0"/>
                <a:ea typeface="Calibri" pitchFamily="34" charset="-122"/>
                <a:cs typeface="Calibri" pitchFamily="34" charset="-120"/>
              </a:rPr>
              <a:t>Рабочая станция: маскирование не описано — под вопросом</a:t>
            </a:r>
            <a:endParaRPr lang="en-US" sz="1200" dirty="0"/>
          </a:p>
        </p:txBody>
      </p:sp>
      <p:sp>
        <p:nvSpPr>
          <p:cNvPr id="16" name="Text 12"/>
          <p:cNvSpPr/>
          <p:nvPr/>
        </p:nvSpPr>
        <p:spPr>
          <a:xfrm>
            <a:off x="548640" y="5193792"/>
            <a:ext cx="11094415" cy="502920"/>
          </a:xfrm>
          <a:prstGeom prst="rect">
            <a:avLst/>
          </a:prstGeom>
          <a:noFill/>
          <a:ln/>
        </p:spPr>
        <p:txBody>
          <a:bodyPr wrap="square" lIns="0" tIns="0" rIns="0" bIns="0" rtlCol="0" anchor="ctr"/>
          <a:lstStyle/>
          <a:p>
            <a:pPr indent="0" marL="0">
              <a:lnSpc>
                <a:spcPct val="122000"/>
              </a:lnSpc>
              <a:buNone/>
            </a:pPr>
            <a:r>
              <a:rPr lang="en-US" sz="1200" i="1" dirty="0">
                <a:solidFill>
                  <a:srgbClr val="5B6472"/>
                </a:solidFill>
                <a:latin typeface="Calibri" pitchFamily="34" charset="0"/>
                <a:ea typeface="Calibri" pitchFamily="34" charset="-122"/>
                <a:cs typeface="Calibri" pitchFamily="34" charset="-120"/>
              </a:rPr>
              <a:t>Статус: это не рекомендация отказаться от РМ-1 — необходимость этого расширения в заявленном виде пока не доказана, и ответы разработчика на предыдущем слайде её снимут или подтвердят. Уровень C означает подтверждённое направление, но не обязательство по срокам — самое время спросить, пока пункт не закрепился в договоре.</a:t>
            </a:r>
            <a:endParaRPr lang="en-US" sz="1200" dirty="0"/>
          </a:p>
        </p:txBody>
      </p:sp>
      <p:sp>
        <p:nvSpPr>
          <p:cNvPr id="17" name="Text 13"/>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Камерата · Case 17 · Локальный чат и иерархия каталогов</a:t>
            </a:r>
            <a:endParaRPr lang="en-US" sz="900" dirty="0"/>
          </a:p>
        </p:txBody>
      </p:sp>
      <p:sp>
        <p:nvSpPr>
          <p:cNvPr id="18" name="Text 14"/>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B647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32733"/>
        </a:solidFill>
      </p:bgPr>
    </p:bg>
    <p:spTree>
      <p:nvGrpSpPr>
        <p:cNvPr id="1" name=""/>
        <p:cNvGrpSpPr/>
        <p:nvPr/>
      </p:nvGrpSpPr>
      <p:grpSpPr>
        <a:xfrm>
          <a:off x="0" y="0"/>
          <a:ext cx="0" cy="0"/>
          <a:chOff x="0" y="0"/>
          <a:chExt cx="0" cy="0"/>
        </a:xfrm>
      </p:grpSpPr>
      <p:sp>
        <p:nvSpPr>
          <p:cNvPr id="2" name="Text 0"/>
          <p:cNvSpPr/>
          <p:nvPr/>
        </p:nvSpPr>
        <p:spPr>
          <a:xfrm>
            <a:off x="548640" y="2331720"/>
            <a:ext cx="5486400" cy="365760"/>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ЧАСТЬ 2</a:t>
            </a:r>
            <a:endParaRPr lang="en-US" sz="1400" dirty="0"/>
          </a:p>
        </p:txBody>
      </p:sp>
      <p:sp>
        <p:nvSpPr>
          <p:cNvPr id="3" name="Text 1"/>
          <p:cNvSpPr/>
          <p:nvPr/>
        </p:nvSpPr>
        <p:spPr>
          <a:xfrm>
            <a:off x="548640" y="2606040"/>
            <a:ext cx="8595360" cy="1417320"/>
          </a:xfrm>
          <a:prstGeom prst="rect">
            <a:avLst/>
          </a:prstGeom>
          <a:noFill/>
          <a:ln/>
        </p:spPr>
        <p:txBody>
          <a:bodyPr wrap="square" lIns="0" tIns="0" rIns="0" bIns="0" rtlCol="0" anchor="ctr"/>
          <a:lstStyle/>
          <a:p>
            <a:pPr indent="0" marL="0">
              <a:lnSpc>
                <a:spcPct val="115000"/>
              </a:lnSpc>
              <a:buNone/>
            </a:pPr>
            <a:r>
              <a:rPr lang="en-US" sz="3300" b="1" dirty="0">
                <a:solidFill>
                  <a:srgbClr val="FFFFFF"/>
                </a:solidFill>
                <a:latin typeface="Cambria" pitchFamily="34" charset="0"/>
                <a:ea typeface="Cambria" pitchFamily="34" charset="-122"/>
                <a:cs typeface="Cambria" pitchFamily="34" charset="-120"/>
              </a:rPr>
              <a:t>Иерархия каталогов</a:t>
            </a:r>
            <a:endParaRPr lang="en-US" sz="3300" dirty="0"/>
          </a:p>
          <a:p>
            <a:pPr indent="0" marL="0">
              <a:lnSpc>
                <a:spcPct val="115000"/>
              </a:lnSpc>
              <a:buNone/>
            </a:pPr>
            <a:r>
              <a:rPr lang="en-US" sz="3300" b="1" dirty="0">
                <a:solidFill>
                  <a:srgbClr val="FFFFFF"/>
                </a:solidFill>
                <a:latin typeface="Cambria" pitchFamily="34" charset="0"/>
                <a:ea typeface="Cambria" pitchFamily="34" charset="-122"/>
                <a:cs typeface="Cambria" pitchFamily="34" charset="-120"/>
              </a:rPr>
              <a:t>внутри домена</a:t>
            </a:r>
            <a:endParaRPr lang="en-US" sz="3300" dirty="0"/>
          </a:p>
        </p:txBody>
      </p:sp>
      <p:sp>
        <p:nvSpPr>
          <p:cNvPr id="4" name="Text 2"/>
          <p:cNvSpPr/>
          <p:nvPr/>
        </p:nvSpPr>
        <p:spPr>
          <a:xfrm>
            <a:off x="548640" y="4114800"/>
            <a:ext cx="8686800" cy="640080"/>
          </a:xfrm>
          <a:prstGeom prst="rect">
            <a:avLst/>
          </a:prstGeom>
          <a:noFill/>
          <a:ln/>
        </p:spPr>
        <p:txBody>
          <a:bodyPr wrap="square" lIns="0" tIns="0" rIns="0" bIns="0" rtlCol="0" anchor="ctr"/>
          <a:lstStyle/>
          <a:p>
            <a:pPr indent="0" marL="0">
              <a:lnSpc>
                <a:spcPct val="125000"/>
              </a:lnSpc>
              <a:buNone/>
            </a:pPr>
            <a:r>
              <a:rPr lang="en-US" sz="1500" dirty="0">
                <a:solidFill>
                  <a:srgbClr val="AEB4C4"/>
                </a:solidFill>
                <a:latin typeface="Calibri" pitchFamily="34" charset="0"/>
                <a:ea typeface="Calibri" pitchFamily="34" charset="-122"/>
                <a:cs typeface="Calibri" pitchFamily="34" charset="-120"/>
              </a:rPr>
              <a:t>Гранулярный доступ к документам — готовое предложение к реализации, а не открытый вопрос без ответа</a:t>
            </a:r>
            <a:endParaRPr lang="en-US" sz="1500" dirty="0"/>
          </a:p>
        </p:txBody>
      </p:sp>
      <p:sp>
        <p:nvSpPr>
          <p:cNvPr id="5" name="Shape 3"/>
          <p:cNvSpPr/>
          <p:nvPr/>
        </p:nvSpPr>
        <p:spPr>
          <a:xfrm>
            <a:off x="9441180" y="2583180"/>
            <a:ext cx="1417320" cy="1417320"/>
          </a:xfrm>
          <a:prstGeom prst="ellipse">
            <a:avLst/>
          </a:prstGeom>
          <a:solidFill>
            <a:srgbClr val="2C3140"/>
          </a:solidFill>
          <a:ln/>
        </p:spPr>
      </p:sp>
      <p:pic>
        <p:nvPicPr>
          <p:cNvPr id="6" name="Image 0" descr="preencoded.png">    </p:cNvPr>
          <p:cNvPicPr>
            <a:picLocks noChangeAspect="1"/>
          </p:cNvPicPr>
          <p:nvPr/>
        </p:nvPicPr>
        <p:blipFill>
          <a:blip r:embed="rId1"/>
          <a:stretch>
            <a:fillRect/>
          </a:stretch>
        </p:blipFill>
        <p:spPr>
          <a:xfrm>
            <a:off x="9781337" y="2923337"/>
            <a:ext cx="737006" cy="737006"/>
          </a:xfrm>
          <a:prstGeom prst="rect">
            <a:avLst/>
          </a:prstGeom>
        </p:spPr>
      </p:pic>
      <p:sp>
        <p:nvSpPr>
          <p:cNvPr id="7" name="Text 4"/>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AEB4C4"/>
                </a:solidFill>
                <a:latin typeface="Calibri" pitchFamily="34" charset="0"/>
                <a:ea typeface="Calibri" pitchFamily="34" charset="-122"/>
                <a:cs typeface="Calibri" pitchFamily="34" charset="-120"/>
              </a:rPr>
              <a:t>Камерата · Case 17 · Локальный чат и иерархия каталогов</a:t>
            </a:r>
            <a:endParaRPr lang="en-US" sz="900" dirty="0"/>
          </a:p>
        </p:txBody>
      </p:sp>
      <p:sp>
        <p:nvSpPr>
          <p:cNvPr id="8" name="Text 5"/>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AEB4C4"/>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algn="l" indent="0" marL="0">
              <a:buNone/>
            </a:pPr>
            <a:r>
              <a:rPr lang="en-US" sz="1150" b="1" spc="140" kern="0" dirty="0">
                <a:solidFill>
                  <a:srgbClr val="B87A1E"/>
                </a:solidFill>
                <a:latin typeface="Calibri" pitchFamily="34" charset="0"/>
                <a:ea typeface="Calibri" pitchFamily="34" charset="-122"/>
                <a:cs typeface="Calibri" pitchFamily="34" charset="-120"/>
              </a:rPr>
              <a:t>ЧАСТЬ 2 · МОДЕЛЬ СЕГОДНЯ</a:t>
            </a:r>
            <a:endParaRPr lang="en-US" sz="1150" dirty="0"/>
          </a:p>
        </p:txBody>
      </p:sp>
      <p:sp>
        <p:nvSpPr>
          <p:cNvPr id="3" name="Text 1"/>
          <p:cNvSpPr/>
          <p:nvPr/>
        </p:nvSpPr>
        <p:spPr>
          <a:xfrm>
            <a:off x="548640" y="658368"/>
            <a:ext cx="11094415" cy="777240"/>
          </a:xfrm>
          <a:prstGeom prst="rect">
            <a:avLst/>
          </a:prstGeom>
          <a:noFill/>
          <a:ln/>
        </p:spPr>
        <p:txBody>
          <a:bodyPr wrap="square" lIns="0" tIns="0" rIns="0" bIns="0" rtlCol="0" anchor="t"/>
          <a:lstStyle/>
          <a:p>
            <a:pPr algn="l" indent="0" marL="0">
              <a:lnSpc>
                <a:spcPct val="102000"/>
              </a:lnSpc>
              <a:buNone/>
            </a:pPr>
            <a:r>
              <a:rPr lang="en-US" sz="2900" b="1" dirty="0">
                <a:solidFill>
                  <a:srgbClr val="1B1E27"/>
                </a:solidFill>
                <a:latin typeface="Cambria" pitchFamily="34" charset="0"/>
                <a:ea typeface="Cambria" pitchFamily="34" charset="-122"/>
                <a:cs typeface="Cambria" pitchFamily="34" charset="-120"/>
              </a:rPr>
              <a:t>Сегодня: домен — плоская тематическая область</a:t>
            </a:r>
            <a:endParaRPr lang="en-US" sz="2900" dirty="0"/>
          </a:p>
        </p:txBody>
      </p:sp>
      <p:sp>
        <p:nvSpPr>
          <p:cNvPr id="4" name="Text 2"/>
          <p:cNvSpPr/>
          <p:nvPr/>
        </p:nvSpPr>
        <p:spPr>
          <a:xfrm>
            <a:off x="548640" y="1554480"/>
            <a:ext cx="11094415" cy="914400"/>
          </a:xfrm>
          <a:prstGeom prst="rect">
            <a:avLst/>
          </a:prstGeom>
          <a:noFill/>
          <a:ln/>
        </p:spPr>
        <p:txBody>
          <a:bodyPr wrap="square" lIns="0" tIns="0" rIns="0" bIns="0" rtlCol="0" anchor="ctr"/>
          <a:lstStyle/>
          <a:p>
            <a:pPr indent="0" marL="0">
              <a:lnSpc>
                <a:spcPct val="130000"/>
              </a:lnSpc>
              <a:buNone/>
            </a:pPr>
            <a:r>
              <a:rPr lang="en-US" sz="1400" dirty="0">
                <a:solidFill>
                  <a:srgbClr val="5B6472"/>
                </a:solidFill>
                <a:latin typeface="Calibri" pitchFamily="34" charset="0"/>
                <a:ea typeface="Calibri" pitchFamily="34" charset="-122"/>
                <a:cs typeface="Calibri" pitchFamily="34" charset="-120"/>
              </a:rPr>
              <a:t>Домен (например, «Кадры») — тематическая область данных. Коллекция — «папка» документов внутри платформы. У именованной коллекции есть ровно один домен — доступ к ней ограничен персонами этого домена; домена нет — коллекция считается общей и доступна всем.</a:t>
            </a:r>
            <a:endParaRPr lang="en-US" sz="1400" dirty="0"/>
          </a:p>
        </p:txBody>
      </p:sp>
      <p:sp>
        <p:nvSpPr>
          <p:cNvPr id="5" name="Shape 3"/>
          <p:cNvSpPr/>
          <p:nvPr/>
        </p:nvSpPr>
        <p:spPr>
          <a:xfrm>
            <a:off x="548640" y="2697480"/>
            <a:ext cx="11094415" cy="2148840"/>
          </a:xfrm>
          <a:prstGeom prst="roundRect">
            <a:avLst>
              <a:gd name="adj" fmla="val 4255"/>
            </a:avLst>
          </a:prstGeom>
          <a:solidFill>
            <a:srgbClr val="EAEDF3"/>
          </a:solidFill>
          <a:ln w="12700">
            <a:solidFill>
              <a:srgbClr val="DCE1E9"/>
            </a:solidFill>
            <a:prstDash val="solid"/>
          </a:ln>
        </p:spPr>
      </p:sp>
      <p:sp>
        <p:nvSpPr>
          <p:cNvPr id="6" name="Text 4"/>
          <p:cNvSpPr/>
          <p:nvPr/>
        </p:nvSpPr>
        <p:spPr>
          <a:xfrm>
            <a:off x="822960" y="2862072"/>
            <a:ext cx="4572000" cy="274320"/>
          </a:xfrm>
          <a:prstGeom prst="rect">
            <a:avLst/>
          </a:prstGeom>
          <a:noFill/>
          <a:ln/>
        </p:spPr>
        <p:txBody>
          <a:bodyPr wrap="square" lIns="0" tIns="0" rIns="0" bIns="0" rtlCol="0" anchor="ctr"/>
          <a:lstStyle/>
          <a:p>
            <a:pPr indent="0" marL="0">
              <a:buNone/>
            </a:pPr>
            <a:r>
              <a:rPr lang="en-US" sz="1150" b="1" spc="100" kern="0" dirty="0">
                <a:solidFill>
                  <a:srgbClr val="5B6472"/>
                </a:solidFill>
                <a:latin typeface="Calibri" pitchFamily="34" charset="0"/>
                <a:ea typeface="Calibri" pitchFamily="34" charset="-122"/>
                <a:cs typeface="Calibri" pitchFamily="34" charset="-120"/>
              </a:rPr>
              <a:t>ДОМЕН «КАДРЫ»</a:t>
            </a:r>
            <a:endParaRPr lang="en-US" sz="1150" dirty="0"/>
          </a:p>
        </p:txBody>
      </p:sp>
      <p:sp>
        <p:nvSpPr>
          <p:cNvPr id="7" name="Shape 5"/>
          <p:cNvSpPr/>
          <p:nvPr/>
        </p:nvSpPr>
        <p:spPr>
          <a:xfrm>
            <a:off x="822960" y="3291840"/>
            <a:ext cx="2331720" cy="1234440"/>
          </a:xfrm>
          <a:prstGeom prst="roundRect">
            <a:avLst>
              <a:gd name="adj" fmla="val 6667"/>
            </a:avLst>
          </a:prstGeom>
          <a:solidFill>
            <a:srgbClr val="FFFFFF"/>
          </a:solidFill>
          <a:ln w="9525">
            <a:solidFill>
              <a:srgbClr val="DCE1E9"/>
            </a:solidFill>
            <a:prstDash val="solid"/>
          </a:ln>
          <a:effectLst>
            <a:outerShdw sx="100000" sy="100000" kx="0" ky="0" algn="bl" rotWithShape="0" blurRad="101600" dist="25400" dir="5400000">
              <a:srgbClr val="6B7280">
                <a:alpha val="16000"/>
              </a:srgbClr>
            </a:outerShdw>
          </a:effectLst>
        </p:spPr>
      </p:sp>
      <p:sp>
        <p:nvSpPr>
          <p:cNvPr id="8" name="Shape 6"/>
          <p:cNvSpPr/>
          <p:nvPr/>
        </p:nvSpPr>
        <p:spPr>
          <a:xfrm>
            <a:off x="1737360" y="3451860"/>
            <a:ext cx="502920" cy="502920"/>
          </a:xfrm>
          <a:prstGeom prst="ellipse">
            <a:avLst/>
          </a:prstGeom>
          <a:solidFill>
            <a:srgbClr val="FBEED9"/>
          </a:solidFill>
          <a:ln/>
        </p:spPr>
      </p:sp>
      <p:pic>
        <p:nvPicPr>
          <p:cNvPr id="9" name="Image 0" descr="preencoded.png">    </p:cNvPr>
          <p:cNvPicPr>
            <a:picLocks noChangeAspect="1"/>
          </p:cNvPicPr>
          <p:nvPr/>
        </p:nvPicPr>
        <p:blipFill>
          <a:blip r:embed="rId1"/>
          <a:stretch>
            <a:fillRect/>
          </a:stretch>
        </p:blipFill>
        <p:spPr>
          <a:xfrm>
            <a:off x="1858061" y="3572561"/>
            <a:ext cx="261518" cy="261518"/>
          </a:xfrm>
          <a:prstGeom prst="rect">
            <a:avLst/>
          </a:prstGeom>
        </p:spPr>
      </p:pic>
      <p:sp>
        <p:nvSpPr>
          <p:cNvPr id="10" name="Text 7"/>
          <p:cNvSpPr/>
          <p:nvPr/>
        </p:nvSpPr>
        <p:spPr>
          <a:xfrm>
            <a:off x="914400" y="4069080"/>
            <a:ext cx="2148840" cy="365760"/>
          </a:xfrm>
          <a:prstGeom prst="rect">
            <a:avLst/>
          </a:prstGeom>
          <a:noFill/>
          <a:ln/>
        </p:spPr>
        <p:txBody>
          <a:bodyPr wrap="square" lIns="0" tIns="0" rIns="0" bIns="0" rtlCol="0" anchor="ctr"/>
          <a:lstStyle/>
          <a:p>
            <a:pPr algn="ctr" indent="0" marL="0">
              <a:buNone/>
            </a:pPr>
            <a:r>
              <a:rPr lang="en-US" sz="1200" b="1" dirty="0">
                <a:solidFill>
                  <a:srgbClr val="1B1E27"/>
                </a:solidFill>
                <a:latin typeface="Calibri" pitchFamily="34" charset="0"/>
                <a:ea typeface="Calibri" pitchFamily="34" charset="-122"/>
                <a:cs typeface="Calibri" pitchFamily="34" charset="-120"/>
              </a:rPr>
              <a:t>Отпуска</a:t>
            </a:r>
            <a:endParaRPr lang="en-US" sz="1200" dirty="0"/>
          </a:p>
        </p:txBody>
      </p:sp>
      <p:sp>
        <p:nvSpPr>
          <p:cNvPr id="11" name="Shape 8"/>
          <p:cNvSpPr/>
          <p:nvPr/>
        </p:nvSpPr>
        <p:spPr>
          <a:xfrm>
            <a:off x="3560978" y="3291840"/>
            <a:ext cx="2331720" cy="1234440"/>
          </a:xfrm>
          <a:prstGeom prst="roundRect">
            <a:avLst>
              <a:gd name="adj" fmla="val 6667"/>
            </a:avLst>
          </a:prstGeom>
          <a:solidFill>
            <a:srgbClr val="FFFFFF"/>
          </a:solidFill>
          <a:ln w="9525">
            <a:solidFill>
              <a:srgbClr val="DCE1E9"/>
            </a:solidFill>
            <a:prstDash val="solid"/>
          </a:ln>
          <a:effectLst>
            <a:outerShdw sx="100000" sy="100000" kx="0" ky="0" algn="bl" rotWithShape="0" blurRad="101600" dist="25400" dir="5400000">
              <a:srgbClr val="6B7280">
                <a:alpha val="16000"/>
              </a:srgbClr>
            </a:outerShdw>
          </a:effectLst>
        </p:spPr>
      </p:sp>
      <p:sp>
        <p:nvSpPr>
          <p:cNvPr id="12" name="Shape 9"/>
          <p:cNvSpPr/>
          <p:nvPr/>
        </p:nvSpPr>
        <p:spPr>
          <a:xfrm>
            <a:off x="4475378" y="3451860"/>
            <a:ext cx="502920" cy="502920"/>
          </a:xfrm>
          <a:prstGeom prst="ellipse">
            <a:avLst/>
          </a:prstGeom>
          <a:solidFill>
            <a:srgbClr val="FBEED9"/>
          </a:solidFill>
          <a:ln/>
        </p:spPr>
      </p:sp>
      <p:pic>
        <p:nvPicPr>
          <p:cNvPr id="13" name="Image 1" descr="preencoded.png">    </p:cNvPr>
          <p:cNvPicPr>
            <a:picLocks noChangeAspect="1"/>
          </p:cNvPicPr>
          <p:nvPr/>
        </p:nvPicPr>
        <p:blipFill>
          <a:blip r:embed="rId2"/>
          <a:stretch>
            <a:fillRect/>
          </a:stretch>
        </p:blipFill>
        <p:spPr>
          <a:xfrm>
            <a:off x="4596079" y="3572561"/>
            <a:ext cx="261518" cy="261518"/>
          </a:xfrm>
          <a:prstGeom prst="rect">
            <a:avLst/>
          </a:prstGeom>
        </p:spPr>
      </p:pic>
      <p:sp>
        <p:nvSpPr>
          <p:cNvPr id="14" name="Text 10"/>
          <p:cNvSpPr/>
          <p:nvPr/>
        </p:nvSpPr>
        <p:spPr>
          <a:xfrm>
            <a:off x="3652418" y="4069080"/>
            <a:ext cx="2148840" cy="365760"/>
          </a:xfrm>
          <a:prstGeom prst="rect">
            <a:avLst/>
          </a:prstGeom>
          <a:noFill/>
          <a:ln/>
        </p:spPr>
        <p:txBody>
          <a:bodyPr wrap="square" lIns="0" tIns="0" rIns="0" bIns="0" rtlCol="0" anchor="ctr"/>
          <a:lstStyle/>
          <a:p>
            <a:pPr algn="ctr" indent="0" marL="0">
              <a:buNone/>
            </a:pPr>
            <a:r>
              <a:rPr lang="en-US" sz="1200" b="1" dirty="0">
                <a:solidFill>
                  <a:srgbClr val="1B1E27"/>
                </a:solidFill>
                <a:latin typeface="Calibri" pitchFamily="34" charset="0"/>
                <a:ea typeface="Calibri" pitchFamily="34" charset="-122"/>
                <a:cs typeface="Calibri" pitchFamily="34" charset="-120"/>
              </a:rPr>
              <a:t>Больничные</a:t>
            </a:r>
            <a:endParaRPr lang="en-US" sz="1200" dirty="0"/>
          </a:p>
        </p:txBody>
      </p:sp>
      <p:sp>
        <p:nvSpPr>
          <p:cNvPr id="15" name="Shape 11"/>
          <p:cNvSpPr/>
          <p:nvPr/>
        </p:nvSpPr>
        <p:spPr>
          <a:xfrm>
            <a:off x="6298997" y="3291840"/>
            <a:ext cx="2331720" cy="1234440"/>
          </a:xfrm>
          <a:prstGeom prst="roundRect">
            <a:avLst>
              <a:gd name="adj" fmla="val 6667"/>
            </a:avLst>
          </a:prstGeom>
          <a:solidFill>
            <a:srgbClr val="FFFFFF"/>
          </a:solidFill>
          <a:ln w="9525">
            <a:solidFill>
              <a:srgbClr val="DCE1E9"/>
            </a:solidFill>
            <a:prstDash val="solid"/>
          </a:ln>
          <a:effectLst>
            <a:outerShdw sx="100000" sy="100000" kx="0" ky="0" algn="bl" rotWithShape="0" blurRad="101600" dist="25400" dir="5400000">
              <a:srgbClr val="6B7280">
                <a:alpha val="16000"/>
              </a:srgbClr>
            </a:outerShdw>
          </a:effectLst>
        </p:spPr>
      </p:sp>
      <p:sp>
        <p:nvSpPr>
          <p:cNvPr id="16" name="Shape 12"/>
          <p:cNvSpPr/>
          <p:nvPr/>
        </p:nvSpPr>
        <p:spPr>
          <a:xfrm>
            <a:off x="7213397" y="3451860"/>
            <a:ext cx="502920" cy="502920"/>
          </a:xfrm>
          <a:prstGeom prst="ellipse">
            <a:avLst/>
          </a:prstGeom>
          <a:solidFill>
            <a:srgbClr val="FBEED9"/>
          </a:solidFill>
          <a:ln/>
        </p:spPr>
      </p:sp>
      <p:pic>
        <p:nvPicPr>
          <p:cNvPr id="17" name="Image 2" descr="preencoded.png">    </p:cNvPr>
          <p:cNvPicPr>
            <a:picLocks noChangeAspect="1"/>
          </p:cNvPicPr>
          <p:nvPr/>
        </p:nvPicPr>
        <p:blipFill>
          <a:blip r:embed="rId3"/>
          <a:stretch>
            <a:fillRect/>
          </a:stretch>
        </p:blipFill>
        <p:spPr>
          <a:xfrm>
            <a:off x="7334098" y="3572561"/>
            <a:ext cx="261518" cy="261518"/>
          </a:xfrm>
          <a:prstGeom prst="rect">
            <a:avLst/>
          </a:prstGeom>
        </p:spPr>
      </p:pic>
      <p:sp>
        <p:nvSpPr>
          <p:cNvPr id="18" name="Text 13"/>
          <p:cNvSpPr/>
          <p:nvPr/>
        </p:nvSpPr>
        <p:spPr>
          <a:xfrm>
            <a:off x="6390437" y="4069080"/>
            <a:ext cx="2148840" cy="365760"/>
          </a:xfrm>
          <a:prstGeom prst="rect">
            <a:avLst/>
          </a:prstGeom>
          <a:noFill/>
          <a:ln/>
        </p:spPr>
        <p:txBody>
          <a:bodyPr wrap="square" lIns="0" tIns="0" rIns="0" bIns="0" rtlCol="0" anchor="ctr"/>
          <a:lstStyle/>
          <a:p>
            <a:pPr algn="ctr" indent="0" marL="0">
              <a:buNone/>
            </a:pPr>
            <a:r>
              <a:rPr lang="en-US" sz="1200" b="1" dirty="0">
                <a:solidFill>
                  <a:srgbClr val="1B1E27"/>
                </a:solidFill>
                <a:latin typeface="Calibri" pitchFamily="34" charset="0"/>
                <a:ea typeface="Calibri" pitchFamily="34" charset="-122"/>
                <a:cs typeface="Calibri" pitchFamily="34" charset="-120"/>
              </a:rPr>
              <a:t>Оклады</a:t>
            </a:r>
            <a:endParaRPr lang="en-US" sz="1200" dirty="0"/>
          </a:p>
        </p:txBody>
      </p:sp>
      <p:sp>
        <p:nvSpPr>
          <p:cNvPr id="19" name="Shape 14"/>
          <p:cNvSpPr/>
          <p:nvPr/>
        </p:nvSpPr>
        <p:spPr>
          <a:xfrm>
            <a:off x="9037015" y="3291840"/>
            <a:ext cx="2331720" cy="1234440"/>
          </a:xfrm>
          <a:prstGeom prst="roundRect">
            <a:avLst>
              <a:gd name="adj" fmla="val 6667"/>
            </a:avLst>
          </a:prstGeom>
          <a:solidFill>
            <a:srgbClr val="FFFFFF"/>
          </a:solidFill>
          <a:ln w="9525">
            <a:solidFill>
              <a:srgbClr val="DCE1E9"/>
            </a:solidFill>
            <a:prstDash val="solid"/>
          </a:ln>
          <a:effectLst>
            <a:outerShdw sx="100000" sy="100000" kx="0" ky="0" algn="bl" rotWithShape="0" blurRad="101600" dist="25400" dir="5400000">
              <a:srgbClr val="6B7280">
                <a:alpha val="16000"/>
              </a:srgbClr>
            </a:outerShdw>
          </a:effectLst>
        </p:spPr>
      </p:sp>
      <p:sp>
        <p:nvSpPr>
          <p:cNvPr id="20" name="Shape 15"/>
          <p:cNvSpPr/>
          <p:nvPr/>
        </p:nvSpPr>
        <p:spPr>
          <a:xfrm>
            <a:off x="9951415" y="3451860"/>
            <a:ext cx="502920" cy="502920"/>
          </a:xfrm>
          <a:prstGeom prst="ellipse">
            <a:avLst/>
          </a:prstGeom>
          <a:solidFill>
            <a:srgbClr val="FBEED9"/>
          </a:solidFill>
          <a:ln/>
        </p:spPr>
      </p:sp>
      <p:pic>
        <p:nvPicPr>
          <p:cNvPr id="21" name="Image 3" descr="preencoded.png">    </p:cNvPr>
          <p:cNvPicPr>
            <a:picLocks noChangeAspect="1"/>
          </p:cNvPicPr>
          <p:nvPr/>
        </p:nvPicPr>
        <p:blipFill>
          <a:blip r:embed="rId4"/>
          <a:stretch>
            <a:fillRect/>
          </a:stretch>
        </p:blipFill>
        <p:spPr>
          <a:xfrm>
            <a:off x="10072116" y="3572561"/>
            <a:ext cx="261518" cy="261518"/>
          </a:xfrm>
          <a:prstGeom prst="rect">
            <a:avLst/>
          </a:prstGeom>
        </p:spPr>
      </p:pic>
      <p:sp>
        <p:nvSpPr>
          <p:cNvPr id="22" name="Text 16"/>
          <p:cNvSpPr/>
          <p:nvPr/>
        </p:nvSpPr>
        <p:spPr>
          <a:xfrm>
            <a:off x="9128455" y="4069080"/>
            <a:ext cx="2148840" cy="365760"/>
          </a:xfrm>
          <a:prstGeom prst="rect">
            <a:avLst/>
          </a:prstGeom>
          <a:noFill/>
          <a:ln/>
        </p:spPr>
        <p:txBody>
          <a:bodyPr wrap="square" lIns="0" tIns="0" rIns="0" bIns="0" rtlCol="0" anchor="ctr"/>
          <a:lstStyle/>
          <a:p>
            <a:pPr algn="ctr" indent="0" marL="0">
              <a:buNone/>
            </a:pPr>
            <a:r>
              <a:rPr lang="en-US" sz="1200" b="1" dirty="0">
                <a:solidFill>
                  <a:srgbClr val="1B1E27"/>
                </a:solidFill>
                <a:latin typeface="Calibri" pitchFamily="34" charset="0"/>
                <a:ea typeface="Calibri" pitchFamily="34" charset="-122"/>
                <a:cs typeface="Calibri" pitchFamily="34" charset="-120"/>
              </a:rPr>
              <a:t>Справочники</a:t>
            </a:r>
            <a:endParaRPr lang="en-US" sz="1200" dirty="0"/>
          </a:p>
        </p:txBody>
      </p:sp>
      <p:sp>
        <p:nvSpPr>
          <p:cNvPr id="23" name="Shape 17"/>
          <p:cNvSpPr/>
          <p:nvPr/>
        </p:nvSpPr>
        <p:spPr>
          <a:xfrm>
            <a:off x="548640" y="5120640"/>
            <a:ext cx="11094415" cy="685800"/>
          </a:xfrm>
          <a:prstGeom prst="roundRect">
            <a:avLst>
              <a:gd name="adj" fmla="val 12000"/>
            </a:avLst>
          </a:prstGeom>
          <a:solidFill>
            <a:srgbClr val="EEF0F3"/>
          </a:solidFill>
          <a:ln w="9525">
            <a:solidFill>
              <a:srgbClr val="DCE1E9"/>
            </a:solidFill>
            <a:prstDash val="solid"/>
          </a:ln>
        </p:spPr>
      </p:sp>
      <p:sp>
        <p:nvSpPr>
          <p:cNvPr id="24" name="Text 18"/>
          <p:cNvSpPr/>
          <p:nvPr/>
        </p:nvSpPr>
        <p:spPr>
          <a:xfrm>
            <a:off x="822960" y="5120640"/>
            <a:ext cx="10545775" cy="685800"/>
          </a:xfrm>
          <a:prstGeom prst="rect">
            <a:avLst/>
          </a:prstGeom>
          <a:noFill/>
          <a:ln/>
        </p:spPr>
        <p:txBody>
          <a:bodyPr wrap="square" lIns="0" tIns="0" rIns="0" bIns="0" rtlCol="0" anchor="ctr"/>
          <a:lstStyle/>
          <a:p>
            <a:pPr indent="0" marL="0">
              <a:lnSpc>
                <a:spcPct val="115000"/>
              </a:lnSpc>
              <a:buNone/>
            </a:pPr>
            <a:r>
              <a:rPr lang="en-US" sz="1300" b="1" dirty="0">
                <a:solidFill>
                  <a:srgbClr val="1B1E27"/>
                </a:solidFill>
                <a:latin typeface="Calibri" pitchFamily="34" charset="0"/>
                <a:ea typeface="Calibri" pitchFamily="34" charset="-122"/>
                <a:cs typeface="Calibri" pitchFamily="34" charset="-120"/>
              </a:rPr>
              <a:t>«</a:t>
            </a:r>
            <a:pPr indent="0" marL="0">
              <a:lnSpc>
                <a:spcPct val="115000"/>
              </a:lnSpc>
              <a:buNone/>
            </a:pPr>
            <a:r>
              <a:rPr lang="en-US" sz="1300" b="1" i="1" dirty="0">
                <a:solidFill>
                  <a:srgbClr val="1B1E27"/>
                </a:solidFill>
                <a:latin typeface="Calibri" pitchFamily="34" charset="0"/>
                <a:ea typeface="Calibri" pitchFamily="34" charset="-122"/>
                <a:cs typeface="Calibri" pitchFamily="34" charset="-120"/>
              </a:rPr>
              <a:t>у именованной коллекции есть домен — доступ ограничен; домена нет — коллекция считается общей</a:t>
            </a:r>
            <a:pPr indent="0" marL="0">
              <a:lnSpc>
                <a:spcPct val="115000"/>
              </a:lnSpc>
              <a:buNone/>
            </a:pPr>
            <a:r>
              <a:rPr lang="en-US" sz="1100" i="1" dirty="0">
                <a:solidFill>
                  <a:srgbClr val="5B6472"/>
                </a:solidFill>
                <a:latin typeface="Calibri" pitchFamily="34" charset="0"/>
                <a:ea typeface="Calibri" pitchFamily="34" charset="-122"/>
                <a:cs typeface="Calibri" pitchFamily="34" charset="-120"/>
              </a:rPr>
              <a:t>» — из документации платформы Камерата</a:t>
            </a:r>
            <a:endParaRPr lang="en-US" sz="1300" dirty="0"/>
          </a:p>
        </p:txBody>
      </p:sp>
      <p:sp>
        <p:nvSpPr>
          <p:cNvPr id="25" name="Text 19"/>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Камерата · Case 17 · Локальный чат и иерархия каталогов</a:t>
            </a:r>
            <a:endParaRPr lang="en-US" sz="900" dirty="0"/>
          </a:p>
        </p:txBody>
      </p:sp>
      <p:sp>
        <p:nvSpPr>
          <p:cNvPr id="26" name="Text 20"/>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B647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algn="l" indent="0" marL="0">
              <a:buNone/>
            </a:pPr>
            <a:r>
              <a:rPr lang="en-US" sz="1150" b="1" spc="140" kern="0" dirty="0">
                <a:solidFill>
                  <a:srgbClr val="B87A1E"/>
                </a:solidFill>
                <a:latin typeface="Calibri" pitchFamily="34" charset="0"/>
                <a:ea typeface="Calibri" pitchFamily="34" charset="-122"/>
                <a:cs typeface="Calibri" pitchFamily="34" charset="-120"/>
              </a:rPr>
              <a:t>ЧАСТЬ 2 · ГДЕ НУЖНО РЕШЕНИЕ</a:t>
            </a:r>
            <a:endParaRPr lang="en-US" sz="1150" dirty="0"/>
          </a:p>
        </p:txBody>
      </p:sp>
      <p:sp>
        <p:nvSpPr>
          <p:cNvPr id="3" name="Text 1"/>
          <p:cNvSpPr/>
          <p:nvPr/>
        </p:nvSpPr>
        <p:spPr>
          <a:xfrm>
            <a:off x="548640" y="658368"/>
            <a:ext cx="11094415" cy="777240"/>
          </a:xfrm>
          <a:prstGeom prst="rect">
            <a:avLst/>
          </a:prstGeom>
          <a:noFill/>
          <a:ln/>
        </p:spPr>
        <p:txBody>
          <a:bodyPr wrap="square" lIns="0" tIns="0" rIns="0" bIns="0" rtlCol="0" anchor="t"/>
          <a:lstStyle/>
          <a:p>
            <a:pPr algn="l" indent="0" marL="0">
              <a:lnSpc>
                <a:spcPct val="102000"/>
              </a:lnSpc>
              <a:buNone/>
            </a:pPr>
            <a:r>
              <a:rPr lang="en-US" sz="2600" b="1" dirty="0">
                <a:solidFill>
                  <a:srgbClr val="1B1E27"/>
                </a:solidFill>
                <a:latin typeface="Cambria" pitchFamily="34" charset="0"/>
                <a:ea typeface="Cambria" pitchFamily="34" charset="-122"/>
                <a:cs typeface="Cambria" pitchFamily="34" charset="-120"/>
              </a:rPr>
              <a:t>Внутри одной темы нужна разная аудитория — плоская модель это не выражает</a:t>
            </a:r>
            <a:endParaRPr lang="en-US" sz="2600" dirty="0"/>
          </a:p>
        </p:txBody>
      </p:sp>
      <p:sp>
        <p:nvSpPr>
          <p:cNvPr id="4" name="Text 2"/>
          <p:cNvSpPr/>
          <p:nvPr/>
        </p:nvSpPr>
        <p:spPr>
          <a:xfrm>
            <a:off x="548640" y="1444752"/>
            <a:ext cx="11094415" cy="685800"/>
          </a:xfrm>
          <a:prstGeom prst="rect">
            <a:avLst/>
          </a:prstGeom>
          <a:noFill/>
          <a:ln/>
        </p:spPr>
        <p:txBody>
          <a:bodyPr wrap="square" lIns="0" tIns="0" rIns="0" bIns="0" rtlCol="0" anchor="ctr"/>
          <a:lstStyle/>
          <a:p>
            <a:pPr indent="0" marL="0">
              <a:lnSpc>
                <a:spcPct val="126000"/>
              </a:lnSpc>
              <a:buNone/>
            </a:pPr>
            <a:r>
              <a:rPr lang="en-US" sz="1300" dirty="0">
                <a:solidFill>
                  <a:srgbClr val="5B6472"/>
                </a:solidFill>
                <a:latin typeface="Calibri" pitchFamily="34" charset="0"/>
                <a:ea typeface="Calibri" pitchFamily="34" charset="-122"/>
                <a:cs typeface="Calibri" pitchFamily="34" charset="-120"/>
              </a:rPr>
              <a:t>Пример: в домене «Кадры» отпускные и больничные должны быть видны всем сотрудникам, а оклады — только узкому кругу лиц. Для табличных данных это решено штатно; для документов — нет.</a:t>
            </a:r>
            <a:endParaRPr lang="en-US" sz="1300" dirty="0"/>
          </a:p>
        </p:txBody>
      </p:sp>
      <p:sp>
        <p:nvSpPr>
          <p:cNvPr id="5" name="Shape 3"/>
          <p:cNvSpPr/>
          <p:nvPr/>
        </p:nvSpPr>
        <p:spPr>
          <a:xfrm>
            <a:off x="548640" y="2194560"/>
            <a:ext cx="5257800" cy="2331720"/>
          </a:xfrm>
          <a:prstGeom prst="roundRect">
            <a:avLst>
              <a:gd name="adj" fmla="val 3529"/>
            </a:avLst>
          </a:prstGeom>
          <a:solidFill>
            <a:srgbClr val="E1F3EA"/>
          </a:solidFill>
          <a:ln w="9525">
            <a:solidFill>
              <a:srgbClr val="2E9E6E"/>
            </a:solidFill>
            <a:prstDash val="solid"/>
          </a:ln>
          <a:effectLst>
            <a:outerShdw sx="100000" sy="100000" kx="0" ky="0" algn="bl" rotWithShape="0" blurRad="101600" dist="25400" dir="5400000">
              <a:srgbClr val="6B7280">
                <a:alpha val="16000"/>
              </a:srgbClr>
            </a:outerShdw>
          </a:effectLst>
        </p:spPr>
      </p:sp>
      <p:sp>
        <p:nvSpPr>
          <p:cNvPr id="6" name="Shape 4"/>
          <p:cNvSpPr/>
          <p:nvPr/>
        </p:nvSpPr>
        <p:spPr>
          <a:xfrm>
            <a:off x="777240" y="2377440"/>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08914" y="2509114"/>
            <a:ext cx="285293" cy="285293"/>
          </a:xfrm>
          <a:prstGeom prst="rect">
            <a:avLst/>
          </a:prstGeom>
        </p:spPr>
      </p:pic>
      <p:sp>
        <p:nvSpPr>
          <p:cNvPr id="8" name="Text 5"/>
          <p:cNvSpPr/>
          <p:nvPr/>
        </p:nvSpPr>
        <p:spPr>
          <a:xfrm>
            <a:off x="1508760" y="2441448"/>
            <a:ext cx="4023360" cy="411480"/>
          </a:xfrm>
          <a:prstGeom prst="rect">
            <a:avLst/>
          </a:prstGeom>
          <a:noFill/>
          <a:ln/>
        </p:spPr>
        <p:txBody>
          <a:bodyPr wrap="square" lIns="0" tIns="0" rIns="0" bIns="0" rtlCol="0" anchor="ctr"/>
          <a:lstStyle/>
          <a:p>
            <a:pPr indent="0" marL="0">
              <a:buNone/>
            </a:pPr>
            <a:r>
              <a:rPr lang="en-US" sz="1450" b="1" dirty="0">
                <a:solidFill>
                  <a:srgbClr val="1B1E27"/>
                </a:solidFill>
                <a:latin typeface="Cambria" pitchFamily="34" charset="0"/>
                <a:ea typeface="Cambria" pitchFamily="34" charset="-122"/>
                <a:cs typeface="Cambria" pitchFamily="34" charset="-120"/>
              </a:rPr>
              <a:t>Табличные данные (DWH)</a:t>
            </a:r>
            <a:endParaRPr lang="en-US" sz="1450" dirty="0"/>
          </a:p>
        </p:txBody>
      </p:sp>
      <p:sp>
        <p:nvSpPr>
          <p:cNvPr id="9" name="Text 6"/>
          <p:cNvSpPr/>
          <p:nvPr/>
        </p:nvSpPr>
        <p:spPr>
          <a:xfrm>
            <a:off x="868680" y="2971800"/>
            <a:ext cx="4617720" cy="685800"/>
          </a:xfrm>
          <a:prstGeom prst="rect">
            <a:avLst/>
          </a:prstGeom>
          <a:noFill/>
          <a:ln/>
        </p:spPr>
        <p:txBody>
          <a:bodyPr wrap="square" lIns="0" tIns="0" rIns="0" bIns="0" rtlCol="0" anchor="ctr"/>
          <a:lstStyle/>
          <a:p>
            <a:pPr indent="0" marL="0">
              <a:lnSpc>
                <a:spcPct val="122000"/>
              </a:lnSpc>
              <a:buNone/>
            </a:pPr>
            <a:r>
              <a:rPr lang="en-US" sz="1200" dirty="0">
                <a:solidFill>
                  <a:srgbClr val="1B1E27"/>
                </a:solidFill>
                <a:latin typeface="Calibri" pitchFamily="34" charset="0"/>
                <a:ea typeface="Calibri" pitchFamily="34" charset="-122"/>
                <a:cs typeface="Calibri" pitchFamily="34" charset="-120"/>
              </a:rPr>
              <a:t>Решает RLS: на одной и той же таблице задаются разные row-фильтры и маски колонок для разных персон.</a:t>
            </a:r>
            <a:endParaRPr lang="en-US" sz="1200" dirty="0"/>
          </a:p>
        </p:txBody>
      </p:sp>
      <p:sp>
        <p:nvSpPr>
          <p:cNvPr id="10" name="Text 7"/>
          <p:cNvSpPr/>
          <p:nvPr/>
        </p:nvSpPr>
        <p:spPr>
          <a:xfrm>
            <a:off x="868680" y="4069080"/>
            <a:ext cx="4617720" cy="365760"/>
          </a:xfrm>
          <a:prstGeom prst="rect">
            <a:avLst/>
          </a:prstGeom>
          <a:noFill/>
          <a:ln/>
        </p:spPr>
        <p:txBody>
          <a:bodyPr wrap="square" lIns="0" tIns="0" rIns="0" bIns="0" rtlCol="0" anchor="ctr"/>
          <a:lstStyle/>
          <a:p>
            <a:pPr indent="0" marL="0">
              <a:buNone/>
            </a:pPr>
            <a:r>
              <a:rPr lang="en-US" sz="1100" b="1" i="1" dirty="0">
                <a:solidFill>
                  <a:srgbClr val="2E9E6E"/>
                </a:solidFill>
                <a:latin typeface="Calibri" pitchFamily="34" charset="0"/>
                <a:ea typeface="Calibri" pitchFamily="34" charset="-122"/>
                <a:cs typeface="Calibri" pitchFamily="34" charset="-120"/>
              </a:rPr>
              <a:t>Одна таблица → разные срезы для разных персон</a:t>
            </a:r>
            <a:endParaRPr lang="en-US" sz="1100" dirty="0"/>
          </a:p>
        </p:txBody>
      </p:sp>
      <p:sp>
        <p:nvSpPr>
          <p:cNvPr id="11" name="Shape 8"/>
          <p:cNvSpPr/>
          <p:nvPr/>
        </p:nvSpPr>
        <p:spPr>
          <a:xfrm>
            <a:off x="6217920" y="2194560"/>
            <a:ext cx="5257800" cy="2331720"/>
          </a:xfrm>
          <a:prstGeom prst="roundRect">
            <a:avLst>
              <a:gd name="adj" fmla="val 3529"/>
            </a:avLst>
          </a:prstGeom>
          <a:solidFill>
            <a:srgbClr val="FBEED9"/>
          </a:solidFill>
          <a:ln w="9525">
            <a:solidFill>
              <a:srgbClr val="E8A33D"/>
            </a:solidFill>
            <a:prstDash val="solid"/>
          </a:ln>
          <a:effectLst>
            <a:outerShdw sx="100000" sy="100000" kx="0" ky="0" algn="bl" rotWithShape="0" blurRad="101600" dist="25400" dir="5400000">
              <a:srgbClr val="6B7280">
                <a:alpha val="16000"/>
              </a:srgbClr>
            </a:outerShdw>
          </a:effectLst>
        </p:spPr>
      </p:sp>
      <p:sp>
        <p:nvSpPr>
          <p:cNvPr id="12" name="Shape 9"/>
          <p:cNvSpPr/>
          <p:nvPr/>
        </p:nvSpPr>
        <p:spPr>
          <a:xfrm>
            <a:off x="6446520" y="2377440"/>
            <a:ext cx="548640" cy="548640"/>
          </a:xfrm>
          <a:prstGeom prst="ellipse">
            <a:avLst/>
          </a:prstGeom>
          <a:solidFill>
            <a:srgbClr val="FFFFFF"/>
          </a:solidFill>
          <a:ln/>
        </p:spPr>
      </p:sp>
      <p:pic>
        <p:nvPicPr>
          <p:cNvPr id="13" name="Image 1" descr="preencoded.png">    </p:cNvPr>
          <p:cNvPicPr>
            <a:picLocks noChangeAspect="1"/>
          </p:cNvPicPr>
          <p:nvPr/>
        </p:nvPicPr>
        <p:blipFill>
          <a:blip r:embed="rId2"/>
          <a:stretch>
            <a:fillRect/>
          </a:stretch>
        </p:blipFill>
        <p:spPr>
          <a:xfrm>
            <a:off x="6578194" y="2509114"/>
            <a:ext cx="285293" cy="285293"/>
          </a:xfrm>
          <a:prstGeom prst="rect">
            <a:avLst/>
          </a:prstGeom>
        </p:spPr>
      </p:pic>
      <p:sp>
        <p:nvSpPr>
          <p:cNvPr id="14" name="Text 10"/>
          <p:cNvSpPr/>
          <p:nvPr/>
        </p:nvSpPr>
        <p:spPr>
          <a:xfrm>
            <a:off x="7178040" y="2441448"/>
            <a:ext cx="4023360" cy="411480"/>
          </a:xfrm>
          <a:prstGeom prst="rect">
            <a:avLst/>
          </a:prstGeom>
          <a:noFill/>
          <a:ln/>
        </p:spPr>
        <p:txBody>
          <a:bodyPr wrap="square" lIns="0" tIns="0" rIns="0" bIns="0" rtlCol="0" anchor="ctr"/>
          <a:lstStyle/>
          <a:p>
            <a:pPr indent="0" marL="0">
              <a:buNone/>
            </a:pPr>
            <a:r>
              <a:rPr lang="en-US" sz="1450" b="1" dirty="0">
                <a:solidFill>
                  <a:srgbClr val="1B1E27"/>
                </a:solidFill>
                <a:latin typeface="Cambria" pitchFamily="34" charset="0"/>
                <a:ea typeface="Cambria" pitchFamily="34" charset="-122"/>
                <a:cs typeface="Cambria" pitchFamily="34" charset="-120"/>
              </a:rPr>
              <a:t>Документы (RAG-корпус)</a:t>
            </a:r>
            <a:endParaRPr lang="en-US" sz="1450" dirty="0"/>
          </a:p>
        </p:txBody>
      </p:sp>
      <p:sp>
        <p:nvSpPr>
          <p:cNvPr id="15" name="Text 11"/>
          <p:cNvSpPr/>
          <p:nvPr/>
        </p:nvSpPr>
        <p:spPr>
          <a:xfrm>
            <a:off x="6537960" y="2971800"/>
            <a:ext cx="4617720" cy="685800"/>
          </a:xfrm>
          <a:prstGeom prst="rect">
            <a:avLst/>
          </a:prstGeom>
          <a:noFill/>
          <a:ln/>
        </p:spPr>
        <p:txBody>
          <a:bodyPr wrap="square" lIns="0" tIns="0" rIns="0" bIns="0" rtlCol="0" anchor="ctr"/>
          <a:lstStyle/>
          <a:p>
            <a:pPr indent="0" marL="0">
              <a:lnSpc>
                <a:spcPct val="122000"/>
              </a:lnSpc>
              <a:buNone/>
            </a:pPr>
            <a:r>
              <a:rPr lang="en-US" sz="1200" dirty="0">
                <a:solidFill>
                  <a:srgbClr val="1B1E27"/>
                </a:solidFill>
                <a:latin typeface="Calibri" pitchFamily="34" charset="0"/>
                <a:ea typeface="Calibri" pitchFamily="34" charset="-122"/>
                <a:cs typeface="Calibri" pitchFamily="34" charset="-120"/>
              </a:rPr>
              <a:t>Единственный документированный способ сегодня — завести отдельную, более узкую коллекцию с собственным доменом, настраиваемым с нуля.</a:t>
            </a:r>
            <a:endParaRPr lang="en-US" sz="1200" dirty="0"/>
          </a:p>
        </p:txBody>
      </p:sp>
      <p:sp>
        <p:nvSpPr>
          <p:cNvPr id="16" name="Text 12"/>
          <p:cNvSpPr/>
          <p:nvPr/>
        </p:nvSpPr>
        <p:spPr>
          <a:xfrm>
            <a:off x="6537960" y="4023360"/>
            <a:ext cx="4617720" cy="438912"/>
          </a:xfrm>
          <a:prstGeom prst="rect">
            <a:avLst/>
          </a:prstGeom>
          <a:noFill/>
          <a:ln/>
        </p:spPr>
        <p:txBody>
          <a:bodyPr wrap="square" lIns="0" tIns="0" rIns="0" bIns="0" rtlCol="0" anchor="ctr"/>
          <a:lstStyle/>
          <a:p>
            <a:pPr indent="0" marL="0">
              <a:lnSpc>
                <a:spcPct val="112000"/>
              </a:lnSpc>
              <a:buNone/>
            </a:pPr>
            <a:r>
              <a:rPr lang="en-US" sz="1100" b="1" i="1" dirty="0">
                <a:solidFill>
                  <a:srgbClr val="B87A1E"/>
                </a:solidFill>
                <a:latin typeface="Calibri" pitchFamily="34" charset="0"/>
                <a:ea typeface="Calibri" pitchFamily="34" charset="-122"/>
                <a:cs typeface="Calibri" pitchFamily="34" charset="-120"/>
              </a:rPr>
              <a:t>Несколько несвязанных коллекций → нет общего «взгляда сверху»</a:t>
            </a:r>
            <a:endParaRPr lang="en-US" sz="1100" dirty="0"/>
          </a:p>
        </p:txBody>
      </p:sp>
      <p:sp>
        <p:nvSpPr>
          <p:cNvPr id="17" name="Shape 13"/>
          <p:cNvSpPr/>
          <p:nvPr/>
        </p:nvSpPr>
        <p:spPr>
          <a:xfrm>
            <a:off x="548640" y="4754880"/>
            <a:ext cx="11094415" cy="1051560"/>
          </a:xfrm>
          <a:prstGeom prst="roundRect">
            <a:avLst>
              <a:gd name="adj" fmla="val 7826"/>
            </a:avLst>
          </a:prstGeom>
          <a:solidFill>
            <a:srgbClr val="EAEDF3"/>
          </a:solidFill>
          <a:ln w="9525">
            <a:solidFill>
              <a:srgbClr val="DCE1E9"/>
            </a:solidFill>
            <a:prstDash val="solid"/>
          </a:ln>
        </p:spPr>
      </p:sp>
      <p:sp>
        <p:nvSpPr>
          <p:cNvPr id="18" name="Text 14"/>
          <p:cNvSpPr/>
          <p:nvPr/>
        </p:nvSpPr>
        <p:spPr>
          <a:xfrm>
            <a:off x="822960" y="4754880"/>
            <a:ext cx="10545775" cy="1051560"/>
          </a:xfrm>
          <a:prstGeom prst="rect">
            <a:avLst/>
          </a:prstGeom>
          <a:noFill/>
          <a:ln/>
        </p:spPr>
        <p:txBody>
          <a:bodyPr wrap="square" lIns="0" tIns="0" rIns="0" bIns="0" rtlCol="0" anchor="ctr"/>
          <a:lstStyle/>
          <a:p>
            <a:pPr indent="0" marL="0">
              <a:lnSpc>
                <a:spcPct val="128000"/>
              </a:lnSpc>
              <a:buNone/>
            </a:pPr>
            <a:r>
              <a:rPr lang="en-US" sz="1250" b="1" dirty="0">
                <a:solidFill>
                  <a:srgbClr val="1B1E27"/>
                </a:solidFill>
                <a:latin typeface="Calibri" pitchFamily="34" charset="0"/>
                <a:ea typeface="Calibri" pitchFamily="34" charset="-122"/>
                <a:cs typeface="Calibri" pitchFamily="34" charset="-120"/>
              </a:rPr>
              <a:t>Это на самом деле два разных вопроса к разработчику: </a:t>
            </a:r>
            <a:pPr indent="0" marL="0">
              <a:lnSpc>
                <a:spcPct val="128000"/>
              </a:lnSpc>
              <a:buNone/>
            </a:pPr>
            <a:r>
              <a:rPr lang="en-US" sz="1250" b="1" dirty="0">
                <a:solidFill>
                  <a:srgbClr val="B87A1E"/>
                </a:solidFill>
                <a:latin typeface="Calibri" pitchFamily="34" charset="0"/>
                <a:ea typeface="Calibri" pitchFamily="34" charset="-122"/>
                <a:cs typeface="Calibri" pitchFamily="34" charset="-120"/>
              </a:rPr>
              <a:t>2a</a:t>
            </a:r>
            <a:pPr indent="0" marL="0">
              <a:lnSpc>
                <a:spcPct val="128000"/>
              </a:lnSpc>
              <a:buNone/>
            </a:pPr>
            <a:r>
              <a:rPr lang="en-US" sz="1250" dirty="0">
                <a:solidFill>
                  <a:srgbClr val="1B1E27"/>
                </a:solidFill>
                <a:latin typeface="Calibri" pitchFamily="34" charset="0"/>
                <a:ea typeface="Calibri" pitchFamily="34" charset="-122"/>
                <a:cs typeface="Calibri" pitchFamily="34" charset="-120"/>
              </a:rPr>
              <a:t> — гранулярность </a:t>
            </a:r>
            <a:pPr indent="0" marL="0">
              <a:lnSpc>
                <a:spcPct val="128000"/>
              </a:lnSpc>
              <a:buNone/>
            </a:pPr>
            <a:r>
              <a:rPr lang="en-US" sz="1250" i="1" dirty="0">
                <a:solidFill>
                  <a:srgbClr val="1B1E27"/>
                </a:solidFill>
                <a:latin typeface="Calibri" pitchFamily="34" charset="0"/>
                <a:ea typeface="Calibri" pitchFamily="34" charset="-122"/>
                <a:cs typeface="Calibri" pitchFamily="34" charset="-120"/>
              </a:rPr>
              <a:t>внутри</a:t>
            </a:r>
            <a:pPr indent="0" marL="0">
              <a:lnSpc>
                <a:spcPct val="128000"/>
              </a:lnSpc>
              <a:buNone/>
            </a:pPr>
            <a:r>
              <a:rPr lang="en-US" sz="1250" dirty="0">
                <a:solidFill>
                  <a:srgbClr val="1B1E27"/>
                </a:solidFill>
                <a:latin typeface="Calibri" pitchFamily="34" charset="0"/>
                <a:ea typeface="Calibri" pitchFamily="34" charset="-122"/>
                <a:cs typeface="Calibri" pitchFamily="34" charset="-120"/>
              </a:rPr>
              <a:t> одной коллекции (документ/раздел/тег) — дерево каталогов её </a:t>
            </a:r>
            <a:pPr indent="0" marL="0">
              <a:lnSpc>
                <a:spcPct val="128000"/>
              </a:lnSpc>
              <a:buNone/>
            </a:pPr>
            <a:r>
              <a:rPr lang="en-US" sz="1250" b="1" dirty="0">
                <a:solidFill>
                  <a:srgbClr val="1B1E27"/>
                </a:solidFill>
                <a:latin typeface="Calibri" pitchFamily="34" charset="0"/>
                <a:ea typeface="Calibri" pitchFamily="34" charset="-122"/>
                <a:cs typeface="Calibri" pitchFamily="34" charset="-120"/>
              </a:rPr>
              <a:t>не даёт</a:t>
            </a:r>
            <a:pPr indent="0" marL="0">
              <a:lnSpc>
                <a:spcPct val="128000"/>
              </a:lnSpc>
              <a:buNone/>
            </a:pPr>
            <a:r>
              <a:rPr lang="en-US" sz="1250" dirty="0">
                <a:solidFill>
                  <a:srgbClr val="1B1E27"/>
                </a:solidFill>
                <a:latin typeface="Calibri" pitchFamily="34" charset="0"/>
                <a:ea typeface="Calibri" pitchFamily="34" charset="-122"/>
                <a:cs typeface="Calibri" pitchFamily="34" charset="-120"/>
              </a:rPr>
              <a:t>; </a:t>
            </a:r>
            <a:pPr indent="0" marL="0">
              <a:lnSpc>
                <a:spcPct val="128000"/>
              </a:lnSpc>
              <a:buNone/>
            </a:pPr>
            <a:r>
              <a:rPr lang="en-US" sz="1250" b="1" dirty="0">
                <a:solidFill>
                  <a:srgbClr val="1E4FB8"/>
                </a:solidFill>
                <a:latin typeface="Calibri" pitchFamily="34" charset="0"/>
                <a:ea typeface="Calibri" pitchFamily="34" charset="-122"/>
                <a:cs typeface="Calibri" pitchFamily="34" charset="-120"/>
              </a:rPr>
              <a:t>2b</a:t>
            </a:r>
            <a:pPr indent="0" marL="0">
              <a:lnSpc>
                <a:spcPct val="128000"/>
              </a:lnSpc>
              <a:buNone/>
            </a:pPr>
            <a:r>
              <a:rPr lang="en-US" sz="1250" dirty="0">
                <a:solidFill>
                  <a:srgbClr val="1B1E27"/>
                </a:solidFill>
                <a:latin typeface="Calibri" pitchFamily="34" charset="0"/>
                <a:ea typeface="Calibri" pitchFamily="34" charset="-122"/>
                <a:cs typeface="Calibri" pitchFamily="34" charset="-120"/>
              </a:rPr>
              <a:t> — организация множества плоских доменов в структуру с наследованием — вот что решает предложение на следующих слайдах.</a:t>
            </a:r>
            <a:endParaRPr lang="en-US" sz="1250" dirty="0"/>
          </a:p>
        </p:txBody>
      </p:sp>
      <p:sp>
        <p:nvSpPr>
          <p:cNvPr id="19" name="Text 15"/>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Камерата · Case 17 · Локальный чат и иерархия каталогов</a:t>
            </a:r>
            <a:endParaRPr lang="en-US" sz="900" dirty="0"/>
          </a:p>
        </p:txBody>
      </p:sp>
      <p:sp>
        <p:nvSpPr>
          <p:cNvPr id="20" name="Text 16"/>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B6472"/>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algn="l" indent="0" marL="0">
              <a:buNone/>
            </a:pPr>
            <a:r>
              <a:rPr lang="en-US" sz="1150" b="1" spc="140" kern="0" dirty="0">
                <a:solidFill>
                  <a:srgbClr val="B87A1E"/>
                </a:solidFill>
                <a:latin typeface="Calibri" pitchFamily="34" charset="0"/>
                <a:ea typeface="Calibri" pitchFamily="34" charset="-122"/>
                <a:cs typeface="Calibri" pitchFamily="34" charset="-120"/>
              </a:rPr>
              <a:t>ЧАСТЬ 2 · ПРЕДЛОЖЕНИЕ (2B)</a:t>
            </a:r>
            <a:endParaRPr lang="en-US" sz="1150" dirty="0"/>
          </a:p>
        </p:txBody>
      </p:sp>
      <p:sp>
        <p:nvSpPr>
          <p:cNvPr id="3" name="Text 1"/>
          <p:cNvSpPr/>
          <p:nvPr/>
        </p:nvSpPr>
        <p:spPr>
          <a:xfrm>
            <a:off x="548640" y="658368"/>
            <a:ext cx="11094415" cy="777240"/>
          </a:xfrm>
          <a:prstGeom prst="rect">
            <a:avLst/>
          </a:prstGeom>
          <a:noFill/>
          <a:ln/>
        </p:spPr>
        <p:txBody>
          <a:bodyPr wrap="square" lIns="0" tIns="0" rIns="0" bIns="0" rtlCol="0" anchor="t"/>
          <a:lstStyle/>
          <a:p>
            <a:pPr algn="l" indent="0" marL="0">
              <a:lnSpc>
                <a:spcPct val="102000"/>
              </a:lnSpc>
              <a:buNone/>
            </a:pPr>
            <a:r>
              <a:rPr lang="en-US" sz="2500" b="1" dirty="0">
                <a:solidFill>
                  <a:srgbClr val="1B1E27"/>
                </a:solidFill>
                <a:latin typeface="Cambria" pitchFamily="34" charset="0"/>
                <a:ea typeface="Cambria" pitchFamily="34" charset="-122"/>
                <a:cs typeface="Cambria" pitchFamily="34" charset="-120"/>
              </a:rPr>
              <a:t>Домен становится деревом каталогов, а не списком коллекций</a:t>
            </a:r>
            <a:endParaRPr lang="en-US" sz="2500" dirty="0"/>
          </a:p>
        </p:txBody>
      </p:sp>
      <p:sp>
        <p:nvSpPr>
          <p:cNvPr id="4" name="Shape 2"/>
          <p:cNvSpPr/>
          <p:nvPr/>
        </p:nvSpPr>
        <p:spPr>
          <a:xfrm>
            <a:off x="6096305" y="2057400"/>
            <a:ext cx="0" cy="548640"/>
          </a:xfrm>
          <a:prstGeom prst="line">
            <a:avLst/>
          </a:prstGeom>
          <a:noFill/>
          <a:ln w="19050">
            <a:solidFill>
              <a:srgbClr val="8891A0"/>
            </a:solidFill>
            <a:prstDash val="solid"/>
          </a:ln>
        </p:spPr>
      </p:sp>
      <p:sp>
        <p:nvSpPr>
          <p:cNvPr id="5" name="Shape 3"/>
          <p:cNvSpPr/>
          <p:nvPr/>
        </p:nvSpPr>
        <p:spPr>
          <a:xfrm>
            <a:off x="6096305" y="3246120"/>
            <a:ext cx="0" cy="411480"/>
          </a:xfrm>
          <a:prstGeom prst="line">
            <a:avLst/>
          </a:prstGeom>
          <a:noFill/>
          <a:ln w="19050">
            <a:solidFill>
              <a:srgbClr val="8891A0"/>
            </a:solidFill>
            <a:prstDash val="solid"/>
          </a:ln>
        </p:spPr>
      </p:sp>
      <p:sp>
        <p:nvSpPr>
          <p:cNvPr id="6" name="Shape 4"/>
          <p:cNvSpPr/>
          <p:nvPr/>
        </p:nvSpPr>
        <p:spPr>
          <a:xfrm>
            <a:off x="1737360" y="3657600"/>
            <a:ext cx="8716975" cy="0"/>
          </a:xfrm>
          <a:prstGeom prst="line">
            <a:avLst/>
          </a:prstGeom>
          <a:noFill/>
          <a:ln w="19050">
            <a:solidFill>
              <a:srgbClr val="8891A0"/>
            </a:solidFill>
            <a:prstDash val="solid"/>
          </a:ln>
        </p:spPr>
      </p:sp>
      <p:sp>
        <p:nvSpPr>
          <p:cNvPr id="7" name="Shape 5"/>
          <p:cNvSpPr/>
          <p:nvPr/>
        </p:nvSpPr>
        <p:spPr>
          <a:xfrm>
            <a:off x="1737360" y="3657600"/>
            <a:ext cx="0" cy="411480"/>
          </a:xfrm>
          <a:prstGeom prst="line">
            <a:avLst/>
          </a:prstGeom>
          <a:noFill/>
          <a:ln w="19050">
            <a:solidFill>
              <a:srgbClr val="8891A0"/>
            </a:solidFill>
            <a:prstDash val="solid"/>
          </a:ln>
        </p:spPr>
      </p:sp>
      <p:sp>
        <p:nvSpPr>
          <p:cNvPr id="8" name="Shape 6"/>
          <p:cNvSpPr/>
          <p:nvPr/>
        </p:nvSpPr>
        <p:spPr>
          <a:xfrm>
            <a:off x="6096305" y="3657600"/>
            <a:ext cx="0" cy="411480"/>
          </a:xfrm>
          <a:prstGeom prst="line">
            <a:avLst/>
          </a:prstGeom>
          <a:noFill/>
          <a:ln w="19050">
            <a:solidFill>
              <a:srgbClr val="8891A0"/>
            </a:solidFill>
            <a:prstDash val="solid"/>
          </a:ln>
        </p:spPr>
      </p:sp>
      <p:sp>
        <p:nvSpPr>
          <p:cNvPr id="9" name="Shape 7"/>
          <p:cNvSpPr/>
          <p:nvPr/>
        </p:nvSpPr>
        <p:spPr>
          <a:xfrm>
            <a:off x="10454335" y="3657600"/>
            <a:ext cx="0" cy="411480"/>
          </a:xfrm>
          <a:prstGeom prst="line">
            <a:avLst/>
          </a:prstGeom>
          <a:noFill/>
          <a:ln w="19050">
            <a:solidFill>
              <a:srgbClr val="8891A0"/>
            </a:solidFill>
            <a:prstDash val="solid"/>
          </a:ln>
        </p:spPr>
      </p:sp>
      <p:sp>
        <p:nvSpPr>
          <p:cNvPr id="10" name="Shape 8"/>
          <p:cNvSpPr/>
          <p:nvPr/>
        </p:nvSpPr>
        <p:spPr>
          <a:xfrm>
            <a:off x="4724705" y="1554480"/>
            <a:ext cx="2743200" cy="502920"/>
          </a:xfrm>
          <a:prstGeom prst="roundRect">
            <a:avLst>
              <a:gd name="adj" fmla="val 14545"/>
            </a:avLst>
          </a:prstGeom>
          <a:solidFill>
            <a:srgbClr val="2C3140"/>
          </a:solidFill>
          <a:ln w="19050">
            <a:solidFill>
              <a:srgbClr val="2C3140"/>
            </a:solidFill>
            <a:prstDash val="solid"/>
          </a:ln>
        </p:spPr>
      </p:sp>
      <p:sp>
        <p:nvSpPr>
          <p:cNvPr id="11" name="Text 9"/>
          <p:cNvSpPr/>
          <p:nvPr/>
        </p:nvSpPr>
        <p:spPr>
          <a:xfrm>
            <a:off x="4724705" y="1554480"/>
            <a:ext cx="2743200" cy="502920"/>
          </a:xfrm>
          <a:prstGeom prst="rect">
            <a:avLst/>
          </a:prstGeom>
          <a:noFill/>
          <a:ln/>
        </p:spPr>
        <p:txBody>
          <a:bodyPr wrap="square" lIns="0" tIns="0" rIns="0" bIns="0" rtlCol="0" anchor="ctr"/>
          <a:lstStyle/>
          <a:p>
            <a:pPr algn="ctr" indent="0" marL="0">
              <a:lnSpc>
                <a:spcPct val="105000"/>
              </a:lnSpc>
              <a:buNone/>
            </a:pPr>
            <a:r>
              <a:rPr lang="en-US" sz="1350" b="1" dirty="0">
                <a:solidFill>
                  <a:srgbClr val="FFFFFF"/>
                </a:solidFill>
                <a:latin typeface="Calibri" pitchFamily="34" charset="0"/>
                <a:ea typeface="Calibri" pitchFamily="34" charset="-122"/>
                <a:cs typeface="Calibri" pitchFamily="34" charset="-120"/>
              </a:rPr>
              <a:t>ДОМЕН «КАДРЫ»</a:t>
            </a:r>
            <a:endParaRPr lang="en-US" sz="1350" dirty="0"/>
          </a:p>
        </p:txBody>
      </p:sp>
      <p:sp>
        <p:nvSpPr>
          <p:cNvPr id="12" name="Shape 10"/>
          <p:cNvSpPr/>
          <p:nvPr/>
        </p:nvSpPr>
        <p:spPr>
          <a:xfrm>
            <a:off x="4587545" y="2606040"/>
            <a:ext cx="3017520" cy="640080"/>
          </a:xfrm>
          <a:prstGeom prst="roundRect">
            <a:avLst>
              <a:gd name="adj" fmla="val 11429"/>
            </a:avLst>
          </a:prstGeom>
          <a:solidFill>
            <a:srgbClr val="E4ECFD"/>
          </a:solidFill>
          <a:ln w="19050">
            <a:solidFill>
              <a:srgbClr val="2F6FED"/>
            </a:solidFill>
            <a:prstDash val="solid"/>
          </a:ln>
        </p:spPr>
      </p:sp>
      <p:sp>
        <p:nvSpPr>
          <p:cNvPr id="13" name="Text 11"/>
          <p:cNvSpPr/>
          <p:nvPr/>
        </p:nvSpPr>
        <p:spPr>
          <a:xfrm>
            <a:off x="4587545" y="2606040"/>
            <a:ext cx="3017520" cy="640080"/>
          </a:xfrm>
          <a:prstGeom prst="rect">
            <a:avLst/>
          </a:prstGeom>
          <a:noFill/>
          <a:ln/>
        </p:spPr>
        <p:txBody>
          <a:bodyPr wrap="square" lIns="0" tIns="0" rIns="0" bIns="0" rtlCol="0" anchor="ctr"/>
          <a:lstStyle/>
          <a:p>
            <a:pPr algn="ctr" indent="0" marL="0">
              <a:lnSpc>
                <a:spcPct val="105000"/>
              </a:lnSpc>
              <a:buNone/>
            </a:pPr>
            <a:r>
              <a:rPr lang="en-US" sz="1600" b="1" dirty="0">
                <a:solidFill>
                  <a:srgbClr val="1E4FB8"/>
                </a:solidFill>
                <a:latin typeface="Calibri" pitchFamily="34" charset="0"/>
                <a:ea typeface="Calibri" pitchFamily="34" charset="-122"/>
                <a:cs typeface="Calibri" pitchFamily="34" charset="-120"/>
              </a:rPr>
              <a:t>Список сотрудников</a:t>
            </a:r>
            <a:endParaRPr lang="en-US" sz="1600" dirty="0"/>
          </a:p>
        </p:txBody>
      </p:sp>
      <p:sp>
        <p:nvSpPr>
          <p:cNvPr id="14" name="Shape 12"/>
          <p:cNvSpPr/>
          <p:nvPr/>
        </p:nvSpPr>
        <p:spPr>
          <a:xfrm>
            <a:off x="822960" y="4069080"/>
            <a:ext cx="1828800" cy="685800"/>
          </a:xfrm>
          <a:prstGeom prst="roundRect">
            <a:avLst>
              <a:gd name="adj" fmla="val 10667"/>
            </a:avLst>
          </a:prstGeom>
          <a:solidFill>
            <a:srgbClr val="E4ECFD"/>
          </a:solidFill>
          <a:ln w="19050">
            <a:solidFill>
              <a:srgbClr val="2F6FED"/>
            </a:solidFill>
            <a:prstDash val="solid"/>
          </a:ln>
        </p:spPr>
      </p:sp>
      <p:sp>
        <p:nvSpPr>
          <p:cNvPr id="15" name="Text 13"/>
          <p:cNvSpPr/>
          <p:nvPr/>
        </p:nvSpPr>
        <p:spPr>
          <a:xfrm>
            <a:off x="822960" y="4069080"/>
            <a:ext cx="1828800" cy="685800"/>
          </a:xfrm>
          <a:prstGeom prst="rect">
            <a:avLst/>
          </a:prstGeom>
          <a:noFill/>
          <a:ln/>
        </p:spPr>
        <p:txBody>
          <a:bodyPr wrap="square" lIns="0" tIns="0" rIns="0" bIns="0" rtlCol="0" anchor="ctr"/>
          <a:lstStyle/>
          <a:p>
            <a:pPr algn="ctr" indent="0" marL="0">
              <a:lnSpc>
                <a:spcPct val="105000"/>
              </a:lnSpc>
              <a:buNone/>
            </a:pPr>
            <a:r>
              <a:rPr lang="en-US" sz="1300" b="1" dirty="0">
                <a:solidFill>
                  <a:srgbClr val="1E4FB8"/>
                </a:solidFill>
                <a:latin typeface="Calibri" pitchFamily="34" charset="0"/>
                <a:ea typeface="Calibri" pitchFamily="34" charset="-122"/>
                <a:cs typeface="Calibri" pitchFamily="34" charset="-120"/>
              </a:rPr>
              <a:t>Отпускные</a:t>
            </a:r>
            <a:endParaRPr lang="en-US" sz="1300" dirty="0"/>
          </a:p>
        </p:txBody>
      </p:sp>
      <p:sp>
        <p:nvSpPr>
          <p:cNvPr id="16" name="Shape 14"/>
          <p:cNvSpPr/>
          <p:nvPr/>
        </p:nvSpPr>
        <p:spPr>
          <a:xfrm>
            <a:off x="5181905" y="4069080"/>
            <a:ext cx="1828800" cy="685800"/>
          </a:xfrm>
          <a:prstGeom prst="roundRect">
            <a:avLst>
              <a:gd name="adj" fmla="val 10667"/>
            </a:avLst>
          </a:prstGeom>
          <a:solidFill>
            <a:srgbClr val="E4ECFD"/>
          </a:solidFill>
          <a:ln w="19050">
            <a:solidFill>
              <a:srgbClr val="2F6FED"/>
            </a:solidFill>
            <a:prstDash val="solid"/>
          </a:ln>
        </p:spPr>
      </p:sp>
      <p:sp>
        <p:nvSpPr>
          <p:cNvPr id="17" name="Text 15"/>
          <p:cNvSpPr/>
          <p:nvPr/>
        </p:nvSpPr>
        <p:spPr>
          <a:xfrm>
            <a:off x="5181905" y="4069080"/>
            <a:ext cx="1828800" cy="685800"/>
          </a:xfrm>
          <a:prstGeom prst="rect">
            <a:avLst/>
          </a:prstGeom>
          <a:noFill/>
          <a:ln/>
        </p:spPr>
        <p:txBody>
          <a:bodyPr wrap="square" lIns="0" tIns="0" rIns="0" bIns="0" rtlCol="0" anchor="ctr"/>
          <a:lstStyle/>
          <a:p>
            <a:pPr algn="ctr" indent="0" marL="0">
              <a:lnSpc>
                <a:spcPct val="105000"/>
              </a:lnSpc>
              <a:buNone/>
            </a:pPr>
            <a:r>
              <a:rPr lang="en-US" sz="1300" b="1" dirty="0">
                <a:solidFill>
                  <a:srgbClr val="1E4FB8"/>
                </a:solidFill>
                <a:latin typeface="Calibri" pitchFamily="34" charset="0"/>
                <a:ea typeface="Calibri" pitchFamily="34" charset="-122"/>
                <a:cs typeface="Calibri" pitchFamily="34" charset="-120"/>
              </a:rPr>
              <a:t>Больничные</a:t>
            </a:r>
            <a:endParaRPr lang="en-US" sz="1300" dirty="0"/>
          </a:p>
        </p:txBody>
      </p:sp>
      <p:sp>
        <p:nvSpPr>
          <p:cNvPr id="18" name="Shape 16"/>
          <p:cNvSpPr/>
          <p:nvPr/>
        </p:nvSpPr>
        <p:spPr>
          <a:xfrm>
            <a:off x="9539935" y="4069080"/>
            <a:ext cx="1828800" cy="685800"/>
          </a:xfrm>
          <a:prstGeom prst="roundRect">
            <a:avLst>
              <a:gd name="adj" fmla="val 10667"/>
            </a:avLst>
          </a:prstGeom>
          <a:solidFill>
            <a:srgbClr val="FBEED9"/>
          </a:solidFill>
          <a:ln w="19050">
            <a:solidFill>
              <a:srgbClr val="E8A33D"/>
            </a:solidFill>
            <a:prstDash val="solid"/>
          </a:ln>
        </p:spPr>
      </p:sp>
      <p:sp>
        <p:nvSpPr>
          <p:cNvPr id="19" name="Text 17"/>
          <p:cNvSpPr/>
          <p:nvPr/>
        </p:nvSpPr>
        <p:spPr>
          <a:xfrm>
            <a:off x="9539935" y="4069080"/>
            <a:ext cx="1828800" cy="685800"/>
          </a:xfrm>
          <a:prstGeom prst="rect">
            <a:avLst/>
          </a:prstGeom>
          <a:noFill/>
          <a:ln/>
        </p:spPr>
        <p:txBody>
          <a:bodyPr wrap="square" lIns="0" tIns="0" rIns="0" bIns="0" rtlCol="0" anchor="ctr"/>
          <a:lstStyle/>
          <a:p>
            <a:pPr algn="ctr" indent="0" marL="0">
              <a:lnSpc>
                <a:spcPct val="105000"/>
              </a:lnSpc>
              <a:buNone/>
            </a:pPr>
            <a:r>
              <a:rPr lang="en-US" sz="1300" b="1" dirty="0">
                <a:solidFill>
                  <a:srgbClr val="B87A1E"/>
                </a:solidFill>
                <a:latin typeface="Calibri" pitchFamily="34" charset="0"/>
                <a:ea typeface="Calibri" pitchFamily="34" charset="-122"/>
                <a:cs typeface="Calibri" pitchFamily="34" charset="-120"/>
              </a:rPr>
              <a:t>Оклады</a:t>
            </a:r>
            <a:endParaRPr lang="en-US" sz="1300" dirty="0"/>
          </a:p>
        </p:txBody>
      </p:sp>
      <p:sp>
        <p:nvSpPr>
          <p:cNvPr id="20" name="Shape 18"/>
          <p:cNvSpPr/>
          <p:nvPr/>
        </p:nvSpPr>
        <p:spPr>
          <a:xfrm>
            <a:off x="7467905" y="1805940"/>
            <a:ext cx="502920" cy="0"/>
          </a:xfrm>
          <a:prstGeom prst="line">
            <a:avLst/>
          </a:prstGeom>
          <a:noFill/>
          <a:ln w="12700">
            <a:solidFill>
              <a:srgbClr val="8891A0"/>
            </a:solidFill>
            <a:prstDash val="dash"/>
          </a:ln>
        </p:spPr>
      </p:sp>
      <p:sp>
        <p:nvSpPr>
          <p:cNvPr id="21" name="Shape 19"/>
          <p:cNvSpPr/>
          <p:nvPr/>
        </p:nvSpPr>
        <p:spPr>
          <a:xfrm>
            <a:off x="7970825" y="1577340"/>
            <a:ext cx="2377440" cy="457200"/>
          </a:xfrm>
          <a:prstGeom prst="roundRect">
            <a:avLst>
              <a:gd name="adj" fmla="val 50000"/>
            </a:avLst>
          </a:prstGeom>
          <a:solidFill>
            <a:srgbClr val="2C3140"/>
          </a:solidFill>
          <a:ln/>
        </p:spPr>
      </p:sp>
      <p:sp>
        <p:nvSpPr>
          <p:cNvPr id="22" name="Text 20"/>
          <p:cNvSpPr/>
          <p:nvPr/>
        </p:nvSpPr>
        <p:spPr>
          <a:xfrm>
            <a:off x="8062265" y="1577340"/>
            <a:ext cx="2194560" cy="457200"/>
          </a:xfrm>
          <a:prstGeom prst="rect">
            <a:avLst/>
          </a:prstGeom>
          <a:noFill/>
          <a:ln/>
        </p:spPr>
        <p:txBody>
          <a:bodyPr wrap="square" lIns="0" tIns="0" rIns="0" bIns="0" rtlCol="0" anchor="ctr"/>
          <a:lstStyle/>
          <a:p>
            <a:pPr algn="ctr" indent="0" marL="0">
              <a:lnSpc>
                <a:spcPct val="105000"/>
              </a:lnSpc>
              <a:buNone/>
            </a:pPr>
            <a:r>
              <a:rPr lang="en-US" sz="1000" b="1" dirty="0">
                <a:solidFill>
                  <a:srgbClr val="FFFFFF"/>
                </a:solidFill>
                <a:latin typeface="Calibri" pitchFamily="34" charset="0"/>
                <a:ea typeface="Calibri" pitchFamily="34" charset="-122"/>
                <a:cs typeface="Calibri" pitchFamily="34" charset="-120"/>
              </a:rPr>
              <a:t>Директор по персоналу — весь домен</a:t>
            </a:r>
            <a:endParaRPr lang="en-US" sz="1000" dirty="0"/>
          </a:p>
        </p:txBody>
      </p:sp>
      <p:sp>
        <p:nvSpPr>
          <p:cNvPr id="23" name="Text 21"/>
          <p:cNvSpPr/>
          <p:nvPr/>
        </p:nvSpPr>
        <p:spPr>
          <a:xfrm>
            <a:off x="548640" y="4983480"/>
            <a:ext cx="11094415" cy="502920"/>
          </a:xfrm>
          <a:prstGeom prst="rect">
            <a:avLst/>
          </a:prstGeom>
          <a:noFill/>
          <a:ln/>
        </p:spPr>
        <p:txBody>
          <a:bodyPr wrap="square" lIns="0" tIns="0" rIns="0" bIns="0" rtlCol="0" anchor="ctr"/>
          <a:lstStyle/>
          <a:p>
            <a:pPr algn="ctr" indent="0" marL="0">
              <a:lnSpc>
                <a:spcPct val="120000"/>
              </a:lnSpc>
              <a:buNone/>
            </a:pPr>
            <a:r>
              <a:rPr lang="en-US" sz="1200" i="1" dirty="0">
                <a:solidFill>
                  <a:srgbClr val="5B6472"/>
                </a:solidFill>
                <a:latin typeface="Calibri" pitchFamily="34" charset="0"/>
                <a:ea typeface="Calibri" pitchFamily="34" charset="-122"/>
                <a:cs typeface="Calibri" pitchFamily="34" charset="-120"/>
              </a:rPr>
              <a:t>«Список сотрудников» — единственный потомок домена «Кадры»; «Отпускные», «Больничные» и «Оклады» — единственные потомки «Список сотрудников». Этот же узел появится ещё в двух доменах на следующем слайде.</a:t>
            </a:r>
            <a:endParaRPr lang="en-US" sz="1200" dirty="0"/>
          </a:p>
        </p:txBody>
      </p:sp>
      <p:sp>
        <p:nvSpPr>
          <p:cNvPr id="24" name="Text 22"/>
          <p:cNvSpPr/>
          <p:nvPr/>
        </p:nvSpPr>
        <p:spPr>
          <a:xfrm>
            <a:off x="548640" y="5559552"/>
            <a:ext cx="11094415" cy="320040"/>
          </a:xfrm>
          <a:prstGeom prst="rect">
            <a:avLst/>
          </a:prstGeom>
          <a:noFill/>
          <a:ln/>
        </p:spPr>
        <p:txBody>
          <a:bodyPr wrap="square" lIns="0" tIns="0" rIns="0" bIns="0" rtlCol="0" anchor="ctr"/>
          <a:lstStyle/>
          <a:p>
            <a:pPr algn="ctr" indent="0" marL="0">
              <a:buNone/>
            </a:pPr>
            <a:r>
              <a:rPr lang="en-US" sz="1300" b="1" dirty="0">
                <a:solidFill>
                  <a:srgbClr val="1B1E27"/>
                </a:solidFill>
                <a:latin typeface="Calibri" pitchFamily="34" charset="0"/>
                <a:ea typeface="Calibri" pitchFamily="34" charset="-122"/>
                <a:cs typeface="Calibri" pitchFamily="34" charset="-120"/>
              </a:rPr>
              <a:t>Персона видит узел, к которому привязана, и всё, что вложено под ним — на любую глубину.</a:t>
            </a:r>
            <a:endParaRPr lang="en-US" sz="1300" dirty="0"/>
          </a:p>
        </p:txBody>
      </p:sp>
      <p:sp>
        <p:nvSpPr>
          <p:cNvPr id="25" name="Text 23"/>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Камерата · Case 17 · Локальный чат и иерархия каталогов</a:t>
            </a:r>
            <a:endParaRPr lang="en-US" sz="900" dirty="0"/>
          </a:p>
        </p:txBody>
      </p:sp>
      <p:sp>
        <p:nvSpPr>
          <p:cNvPr id="26" name="Text 24"/>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B647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algn="l" indent="0" marL="0">
              <a:buNone/>
            </a:pPr>
            <a:r>
              <a:rPr lang="en-US" sz="1150" b="1" spc="140" kern="0" dirty="0">
                <a:solidFill>
                  <a:srgbClr val="B87A1E"/>
                </a:solidFill>
                <a:latin typeface="Calibri" pitchFamily="34" charset="0"/>
                <a:ea typeface="Calibri" pitchFamily="34" charset="-122"/>
                <a:cs typeface="Calibri" pitchFamily="34" charset="-120"/>
              </a:rPr>
              <a:t>ЧАСТЬ 2 · УТОЧНИМ ВМЕСТЕ ПРИ РЕАЛИЗАЦИИ</a:t>
            </a:r>
            <a:endParaRPr lang="en-US" sz="1150" dirty="0"/>
          </a:p>
        </p:txBody>
      </p:sp>
      <p:sp>
        <p:nvSpPr>
          <p:cNvPr id="3" name="Text 1"/>
          <p:cNvSpPr/>
          <p:nvPr/>
        </p:nvSpPr>
        <p:spPr>
          <a:xfrm>
            <a:off x="548640" y="658368"/>
            <a:ext cx="11094415" cy="777240"/>
          </a:xfrm>
          <a:prstGeom prst="rect">
            <a:avLst/>
          </a:prstGeom>
          <a:noFill/>
          <a:ln/>
        </p:spPr>
        <p:txBody>
          <a:bodyPr wrap="square" lIns="0" tIns="0" rIns="0" bIns="0" rtlCol="0" anchor="t"/>
          <a:lstStyle/>
          <a:p>
            <a:pPr algn="l" indent="0" marL="0">
              <a:lnSpc>
                <a:spcPct val="102000"/>
              </a:lnSpc>
              <a:buNone/>
            </a:pPr>
            <a:r>
              <a:rPr lang="en-US" sz="2500" b="1" dirty="0">
                <a:solidFill>
                  <a:srgbClr val="1B1E27"/>
                </a:solidFill>
                <a:latin typeface="Cambria" pitchFamily="34" charset="0"/>
                <a:ea typeface="Cambria" pitchFamily="34" charset="-122"/>
                <a:cs typeface="Cambria" pitchFamily="34" charset="-120"/>
              </a:rPr>
              <a:t>«Список сотрудников» — общий узел сразу трёх доменов</a:t>
            </a:r>
            <a:endParaRPr lang="en-US" sz="2500" dirty="0"/>
          </a:p>
        </p:txBody>
      </p:sp>
      <p:sp>
        <p:nvSpPr>
          <p:cNvPr id="4" name="Text 2"/>
          <p:cNvSpPr/>
          <p:nvPr/>
        </p:nvSpPr>
        <p:spPr>
          <a:xfrm>
            <a:off x="548640" y="1481328"/>
            <a:ext cx="11094415" cy="475488"/>
          </a:xfrm>
          <a:prstGeom prst="rect">
            <a:avLst/>
          </a:prstGeom>
          <a:noFill/>
          <a:ln/>
        </p:spPr>
        <p:txBody>
          <a:bodyPr wrap="square" lIns="0" tIns="0" rIns="0" bIns="0" rtlCol="0" anchor="ctr"/>
          <a:lstStyle/>
          <a:p>
            <a:pPr indent="0" marL="0">
              <a:lnSpc>
                <a:spcPct val="124000"/>
              </a:lnSpc>
              <a:buNone/>
            </a:pPr>
            <a:r>
              <a:rPr lang="en-US" sz="1250" dirty="0">
                <a:solidFill>
                  <a:srgbClr val="5B6472"/>
                </a:solidFill>
                <a:latin typeface="Calibri" pitchFamily="34" charset="0"/>
                <a:ea typeface="Calibri" pitchFamily="34" charset="-122"/>
                <a:cs typeface="Calibri" pitchFamily="34" charset="-120"/>
              </a:rPr>
              <a:t>Каталог не обязан быть листом только одного домена. «Список сотрудников» одновременно нужен трём независимым доменам — «Кадры», «Маркетинг», «Логистика» — и наследуется в каждом сверху вниз, как обычно.</a:t>
            </a:r>
            <a:endParaRPr lang="en-US" sz="1250" dirty="0"/>
          </a:p>
        </p:txBody>
      </p:sp>
      <p:sp>
        <p:nvSpPr>
          <p:cNvPr id="5" name="Shape 3"/>
          <p:cNvSpPr/>
          <p:nvPr/>
        </p:nvSpPr>
        <p:spPr>
          <a:xfrm>
            <a:off x="1417320" y="2048256"/>
            <a:ext cx="2103120" cy="384048"/>
          </a:xfrm>
          <a:prstGeom prst="roundRect">
            <a:avLst>
              <a:gd name="adj" fmla="val 19048"/>
            </a:avLst>
          </a:prstGeom>
          <a:solidFill>
            <a:srgbClr val="2C3140"/>
          </a:solidFill>
          <a:ln/>
        </p:spPr>
      </p:sp>
      <p:sp>
        <p:nvSpPr>
          <p:cNvPr id="6" name="Text 4"/>
          <p:cNvSpPr/>
          <p:nvPr/>
        </p:nvSpPr>
        <p:spPr>
          <a:xfrm>
            <a:off x="1417320" y="2048256"/>
            <a:ext cx="210312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ДОМЕН «МАРКЕТИНГ»</a:t>
            </a:r>
            <a:endParaRPr lang="en-US" sz="1100" dirty="0"/>
          </a:p>
        </p:txBody>
      </p:sp>
      <p:sp>
        <p:nvSpPr>
          <p:cNvPr id="7" name="Shape 5"/>
          <p:cNvSpPr/>
          <p:nvPr/>
        </p:nvSpPr>
        <p:spPr>
          <a:xfrm>
            <a:off x="5044745" y="2048256"/>
            <a:ext cx="2103120" cy="384048"/>
          </a:xfrm>
          <a:prstGeom prst="roundRect">
            <a:avLst>
              <a:gd name="adj" fmla="val 19048"/>
            </a:avLst>
          </a:prstGeom>
          <a:solidFill>
            <a:srgbClr val="2C3140"/>
          </a:solidFill>
          <a:ln/>
        </p:spPr>
      </p:sp>
      <p:sp>
        <p:nvSpPr>
          <p:cNvPr id="8" name="Text 6"/>
          <p:cNvSpPr/>
          <p:nvPr/>
        </p:nvSpPr>
        <p:spPr>
          <a:xfrm>
            <a:off x="5044745" y="2048256"/>
            <a:ext cx="210312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ДОМЕН «КАДРЫ»</a:t>
            </a:r>
            <a:endParaRPr lang="en-US" sz="1100" dirty="0"/>
          </a:p>
        </p:txBody>
      </p:sp>
      <p:sp>
        <p:nvSpPr>
          <p:cNvPr id="9" name="Shape 7"/>
          <p:cNvSpPr/>
          <p:nvPr/>
        </p:nvSpPr>
        <p:spPr>
          <a:xfrm>
            <a:off x="8668512" y="2048256"/>
            <a:ext cx="2103120" cy="384048"/>
          </a:xfrm>
          <a:prstGeom prst="roundRect">
            <a:avLst>
              <a:gd name="adj" fmla="val 19048"/>
            </a:avLst>
          </a:prstGeom>
          <a:solidFill>
            <a:srgbClr val="2C3140"/>
          </a:solidFill>
          <a:ln/>
        </p:spPr>
      </p:sp>
      <p:sp>
        <p:nvSpPr>
          <p:cNvPr id="10" name="Text 8"/>
          <p:cNvSpPr/>
          <p:nvPr/>
        </p:nvSpPr>
        <p:spPr>
          <a:xfrm>
            <a:off x="8668512" y="2048256"/>
            <a:ext cx="210312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ДОМЕН «ЛОГИСТИКА»</a:t>
            </a:r>
            <a:endParaRPr lang="en-US" sz="1100" dirty="0"/>
          </a:p>
        </p:txBody>
      </p:sp>
      <p:sp>
        <p:nvSpPr>
          <p:cNvPr id="11" name="Text 9"/>
          <p:cNvSpPr/>
          <p:nvPr/>
        </p:nvSpPr>
        <p:spPr>
          <a:xfrm>
            <a:off x="548640" y="2066544"/>
            <a:ext cx="777240" cy="347472"/>
          </a:xfrm>
          <a:prstGeom prst="rect">
            <a:avLst/>
          </a:prstGeom>
          <a:noFill/>
          <a:ln/>
        </p:spPr>
        <p:txBody>
          <a:bodyPr wrap="square" lIns="0" tIns="0" rIns="0" bIns="0" rtlCol="0" anchor="ctr"/>
          <a:lstStyle/>
          <a:p>
            <a:pPr algn="r" indent="0" marL="0">
              <a:lnSpc>
                <a:spcPct val="100000"/>
              </a:lnSpc>
              <a:buNone/>
            </a:pPr>
            <a:r>
              <a:rPr lang="en-US" sz="800" i="1" dirty="0">
                <a:solidFill>
                  <a:srgbClr val="5B6472"/>
                </a:solidFill>
                <a:latin typeface="Calibri" pitchFamily="34" charset="0"/>
                <a:ea typeface="Calibri" pitchFamily="34" charset="-122"/>
                <a:cs typeface="Calibri" pitchFamily="34" charset="-120"/>
              </a:rPr>
              <a:t>не всё дерево показано</a:t>
            </a:r>
            <a:endParaRPr lang="en-US" sz="800" dirty="0"/>
          </a:p>
        </p:txBody>
      </p:sp>
      <p:sp>
        <p:nvSpPr>
          <p:cNvPr id="12" name="Text 10"/>
          <p:cNvSpPr/>
          <p:nvPr/>
        </p:nvSpPr>
        <p:spPr>
          <a:xfrm>
            <a:off x="10863072" y="2066544"/>
            <a:ext cx="779983" cy="347472"/>
          </a:xfrm>
          <a:prstGeom prst="rect">
            <a:avLst/>
          </a:prstGeom>
          <a:noFill/>
          <a:ln/>
        </p:spPr>
        <p:txBody>
          <a:bodyPr wrap="square" lIns="0" tIns="0" rIns="0" bIns="0" rtlCol="0" anchor="ctr"/>
          <a:lstStyle/>
          <a:p>
            <a:pPr algn="l" indent="0" marL="0">
              <a:lnSpc>
                <a:spcPct val="100000"/>
              </a:lnSpc>
              <a:buNone/>
            </a:pPr>
            <a:r>
              <a:rPr lang="en-US" sz="800" i="1" dirty="0">
                <a:solidFill>
                  <a:srgbClr val="5B6472"/>
                </a:solidFill>
                <a:latin typeface="Calibri" pitchFamily="34" charset="0"/>
                <a:ea typeface="Calibri" pitchFamily="34" charset="-122"/>
                <a:cs typeface="Calibri" pitchFamily="34" charset="-120"/>
              </a:rPr>
              <a:t>не всё дерево показано</a:t>
            </a:r>
            <a:endParaRPr lang="en-US" sz="800" dirty="0"/>
          </a:p>
        </p:txBody>
      </p:sp>
      <p:sp>
        <p:nvSpPr>
          <p:cNvPr id="13" name="Shape 11"/>
          <p:cNvSpPr/>
          <p:nvPr/>
        </p:nvSpPr>
        <p:spPr>
          <a:xfrm>
            <a:off x="2468880" y="2432304"/>
            <a:ext cx="2438705" cy="777240"/>
          </a:xfrm>
          <a:prstGeom prst="line">
            <a:avLst/>
          </a:prstGeom>
          <a:noFill/>
          <a:ln w="25400">
            <a:solidFill>
              <a:srgbClr val="2F6FED"/>
            </a:solidFill>
            <a:prstDash val="solid"/>
          </a:ln>
        </p:spPr>
      </p:sp>
      <p:sp>
        <p:nvSpPr>
          <p:cNvPr id="14" name="Shape 12"/>
          <p:cNvSpPr/>
          <p:nvPr/>
        </p:nvSpPr>
        <p:spPr>
          <a:xfrm>
            <a:off x="6096305" y="2432304"/>
            <a:ext cx="0" cy="777240"/>
          </a:xfrm>
          <a:prstGeom prst="line">
            <a:avLst/>
          </a:prstGeom>
          <a:noFill/>
          <a:ln w="25400">
            <a:solidFill>
              <a:srgbClr val="2F6FED"/>
            </a:solidFill>
            <a:prstDash val="solid"/>
          </a:ln>
        </p:spPr>
      </p:sp>
      <p:sp>
        <p:nvSpPr>
          <p:cNvPr id="15" name="Shape 13"/>
          <p:cNvSpPr/>
          <p:nvPr/>
        </p:nvSpPr>
        <p:spPr>
          <a:xfrm>
            <a:off x="7285025" y="2432304"/>
            <a:ext cx="2435047" cy="777240"/>
          </a:xfrm>
          <a:prstGeom prst="line">
            <a:avLst/>
          </a:prstGeom>
          <a:noFill/>
          <a:ln w="25400">
            <a:solidFill>
              <a:srgbClr val="2F6FED"/>
            </a:solidFill>
            <a:prstDash val="solid"/>
          </a:ln>
        </p:spPr>
      </p:sp>
      <p:sp>
        <p:nvSpPr>
          <p:cNvPr id="16" name="Shape 14"/>
          <p:cNvSpPr/>
          <p:nvPr/>
        </p:nvSpPr>
        <p:spPr>
          <a:xfrm>
            <a:off x="4541825" y="3209544"/>
            <a:ext cx="3108960" cy="502920"/>
          </a:xfrm>
          <a:prstGeom prst="roundRect">
            <a:avLst>
              <a:gd name="adj" fmla="val 16364"/>
            </a:avLst>
          </a:prstGeom>
          <a:solidFill>
            <a:srgbClr val="E4ECFD"/>
          </a:solidFill>
          <a:ln w="25400">
            <a:solidFill>
              <a:srgbClr val="2F6FED"/>
            </a:solidFill>
            <a:prstDash val="solid"/>
          </a:ln>
        </p:spPr>
      </p:sp>
      <p:sp>
        <p:nvSpPr>
          <p:cNvPr id="17" name="Text 15"/>
          <p:cNvSpPr/>
          <p:nvPr/>
        </p:nvSpPr>
        <p:spPr>
          <a:xfrm>
            <a:off x="4541825" y="3209544"/>
            <a:ext cx="3108960" cy="502920"/>
          </a:xfrm>
          <a:prstGeom prst="rect">
            <a:avLst/>
          </a:prstGeom>
          <a:noFill/>
          <a:ln/>
        </p:spPr>
        <p:txBody>
          <a:bodyPr wrap="square" lIns="0" tIns="0" rIns="0" bIns="0" rtlCol="0" anchor="ctr"/>
          <a:lstStyle/>
          <a:p>
            <a:pPr algn="ctr" indent="0" marL="0">
              <a:buNone/>
            </a:pPr>
            <a:r>
              <a:rPr lang="en-US" sz="1450" b="1" dirty="0">
                <a:solidFill>
                  <a:srgbClr val="1E4FB8"/>
                </a:solidFill>
                <a:latin typeface="Cambria" pitchFamily="34" charset="0"/>
                <a:ea typeface="Cambria" pitchFamily="34" charset="-122"/>
                <a:cs typeface="Cambria" pitchFamily="34" charset="-120"/>
              </a:rPr>
              <a:t>Список сотрудников</a:t>
            </a:r>
            <a:endParaRPr lang="en-US" sz="1450" dirty="0"/>
          </a:p>
        </p:txBody>
      </p:sp>
      <p:sp>
        <p:nvSpPr>
          <p:cNvPr id="18" name="Shape 16"/>
          <p:cNvSpPr/>
          <p:nvPr/>
        </p:nvSpPr>
        <p:spPr>
          <a:xfrm>
            <a:off x="6096305" y="3712464"/>
            <a:ext cx="0" cy="137160"/>
          </a:xfrm>
          <a:prstGeom prst="line">
            <a:avLst/>
          </a:prstGeom>
          <a:noFill/>
          <a:ln w="19050">
            <a:solidFill>
              <a:srgbClr val="8891A0"/>
            </a:solidFill>
            <a:prstDash val="solid"/>
          </a:ln>
        </p:spPr>
      </p:sp>
      <p:sp>
        <p:nvSpPr>
          <p:cNvPr id="19" name="Shape 17"/>
          <p:cNvSpPr/>
          <p:nvPr/>
        </p:nvSpPr>
        <p:spPr>
          <a:xfrm>
            <a:off x="1737360" y="3849624"/>
            <a:ext cx="8716975" cy="0"/>
          </a:xfrm>
          <a:prstGeom prst="line">
            <a:avLst/>
          </a:prstGeom>
          <a:noFill/>
          <a:ln w="19050">
            <a:solidFill>
              <a:srgbClr val="8891A0"/>
            </a:solidFill>
            <a:prstDash val="solid"/>
          </a:ln>
        </p:spPr>
      </p:sp>
      <p:sp>
        <p:nvSpPr>
          <p:cNvPr id="20" name="Shape 18"/>
          <p:cNvSpPr/>
          <p:nvPr/>
        </p:nvSpPr>
        <p:spPr>
          <a:xfrm>
            <a:off x="1737360" y="3849624"/>
            <a:ext cx="0" cy="137160"/>
          </a:xfrm>
          <a:prstGeom prst="line">
            <a:avLst/>
          </a:prstGeom>
          <a:noFill/>
          <a:ln w="19050">
            <a:solidFill>
              <a:srgbClr val="8891A0"/>
            </a:solidFill>
            <a:prstDash val="solid"/>
          </a:ln>
        </p:spPr>
      </p:sp>
      <p:sp>
        <p:nvSpPr>
          <p:cNvPr id="21" name="Shape 19"/>
          <p:cNvSpPr/>
          <p:nvPr/>
        </p:nvSpPr>
        <p:spPr>
          <a:xfrm>
            <a:off x="6096305" y="3849624"/>
            <a:ext cx="0" cy="137160"/>
          </a:xfrm>
          <a:prstGeom prst="line">
            <a:avLst/>
          </a:prstGeom>
          <a:noFill/>
          <a:ln w="19050">
            <a:solidFill>
              <a:srgbClr val="8891A0"/>
            </a:solidFill>
            <a:prstDash val="solid"/>
          </a:ln>
        </p:spPr>
      </p:sp>
      <p:sp>
        <p:nvSpPr>
          <p:cNvPr id="22" name="Shape 20"/>
          <p:cNvSpPr/>
          <p:nvPr/>
        </p:nvSpPr>
        <p:spPr>
          <a:xfrm>
            <a:off x="10454335" y="3849624"/>
            <a:ext cx="0" cy="137160"/>
          </a:xfrm>
          <a:prstGeom prst="line">
            <a:avLst/>
          </a:prstGeom>
          <a:noFill/>
          <a:ln w="19050">
            <a:solidFill>
              <a:srgbClr val="8891A0"/>
            </a:solidFill>
            <a:prstDash val="solid"/>
          </a:ln>
        </p:spPr>
      </p:sp>
      <p:sp>
        <p:nvSpPr>
          <p:cNvPr id="23" name="Shape 21"/>
          <p:cNvSpPr/>
          <p:nvPr/>
        </p:nvSpPr>
        <p:spPr>
          <a:xfrm>
            <a:off x="822960" y="3986784"/>
            <a:ext cx="1828800" cy="475488"/>
          </a:xfrm>
          <a:prstGeom prst="roundRect">
            <a:avLst>
              <a:gd name="adj" fmla="val 15385"/>
            </a:avLst>
          </a:prstGeom>
          <a:solidFill>
            <a:srgbClr val="E4ECFD"/>
          </a:solidFill>
          <a:ln w="19050">
            <a:solidFill>
              <a:srgbClr val="2F6FED"/>
            </a:solidFill>
            <a:prstDash val="solid"/>
          </a:ln>
        </p:spPr>
      </p:sp>
      <p:sp>
        <p:nvSpPr>
          <p:cNvPr id="24" name="Text 22"/>
          <p:cNvSpPr/>
          <p:nvPr/>
        </p:nvSpPr>
        <p:spPr>
          <a:xfrm>
            <a:off x="822960" y="3986784"/>
            <a:ext cx="1828800" cy="475488"/>
          </a:xfrm>
          <a:prstGeom prst="rect">
            <a:avLst/>
          </a:prstGeom>
          <a:noFill/>
          <a:ln/>
        </p:spPr>
        <p:txBody>
          <a:bodyPr wrap="square" lIns="0" tIns="0" rIns="0" bIns="0" rtlCol="0" anchor="ctr"/>
          <a:lstStyle/>
          <a:p>
            <a:pPr algn="ctr" indent="0" marL="0">
              <a:buNone/>
            </a:pPr>
            <a:r>
              <a:rPr lang="en-US" sz="1200" b="1" dirty="0">
                <a:solidFill>
                  <a:srgbClr val="1E4FB8"/>
                </a:solidFill>
                <a:latin typeface="Calibri" pitchFamily="34" charset="0"/>
                <a:ea typeface="Calibri" pitchFamily="34" charset="-122"/>
                <a:cs typeface="Calibri" pitchFamily="34" charset="-120"/>
              </a:rPr>
              <a:t>Отпускные</a:t>
            </a:r>
            <a:endParaRPr lang="en-US" sz="1200" dirty="0"/>
          </a:p>
        </p:txBody>
      </p:sp>
      <p:sp>
        <p:nvSpPr>
          <p:cNvPr id="25" name="Shape 23"/>
          <p:cNvSpPr/>
          <p:nvPr/>
        </p:nvSpPr>
        <p:spPr>
          <a:xfrm>
            <a:off x="5181905" y="3986784"/>
            <a:ext cx="1828800" cy="475488"/>
          </a:xfrm>
          <a:prstGeom prst="roundRect">
            <a:avLst>
              <a:gd name="adj" fmla="val 15385"/>
            </a:avLst>
          </a:prstGeom>
          <a:solidFill>
            <a:srgbClr val="E4ECFD"/>
          </a:solidFill>
          <a:ln w="19050">
            <a:solidFill>
              <a:srgbClr val="2F6FED"/>
            </a:solidFill>
            <a:prstDash val="solid"/>
          </a:ln>
        </p:spPr>
      </p:sp>
      <p:sp>
        <p:nvSpPr>
          <p:cNvPr id="26" name="Text 24"/>
          <p:cNvSpPr/>
          <p:nvPr/>
        </p:nvSpPr>
        <p:spPr>
          <a:xfrm>
            <a:off x="5181905" y="3986784"/>
            <a:ext cx="1828800" cy="475488"/>
          </a:xfrm>
          <a:prstGeom prst="rect">
            <a:avLst/>
          </a:prstGeom>
          <a:noFill/>
          <a:ln/>
        </p:spPr>
        <p:txBody>
          <a:bodyPr wrap="square" lIns="0" tIns="0" rIns="0" bIns="0" rtlCol="0" anchor="ctr"/>
          <a:lstStyle/>
          <a:p>
            <a:pPr algn="ctr" indent="0" marL="0">
              <a:buNone/>
            </a:pPr>
            <a:r>
              <a:rPr lang="en-US" sz="1200" b="1" dirty="0">
                <a:solidFill>
                  <a:srgbClr val="1E4FB8"/>
                </a:solidFill>
                <a:latin typeface="Calibri" pitchFamily="34" charset="0"/>
                <a:ea typeface="Calibri" pitchFamily="34" charset="-122"/>
                <a:cs typeface="Calibri" pitchFamily="34" charset="-120"/>
              </a:rPr>
              <a:t>Больничные</a:t>
            </a:r>
            <a:endParaRPr lang="en-US" sz="1200" dirty="0"/>
          </a:p>
        </p:txBody>
      </p:sp>
      <p:sp>
        <p:nvSpPr>
          <p:cNvPr id="27" name="Shape 25"/>
          <p:cNvSpPr/>
          <p:nvPr/>
        </p:nvSpPr>
        <p:spPr>
          <a:xfrm>
            <a:off x="9539935" y="3986784"/>
            <a:ext cx="1828800" cy="475488"/>
          </a:xfrm>
          <a:prstGeom prst="roundRect">
            <a:avLst>
              <a:gd name="adj" fmla="val 15385"/>
            </a:avLst>
          </a:prstGeom>
          <a:solidFill>
            <a:srgbClr val="FBEED9"/>
          </a:solidFill>
          <a:ln w="19050">
            <a:solidFill>
              <a:srgbClr val="E8A33D"/>
            </a:solidFill>
            <a:prstDash val="solid"/>
          </a:ln>
        </p:spPr>
      </p:sp>
      <p:sp>
        <p:nvSpPr>
          <p:cNvPr id="28" name="Text 26"/>
          <p:cNvSpPr/>
          <p:nvPr/>
        </p:nvSpPr>
        <p:spPr>
          <a:xfrm>
            <a:off x="9539935" y="3986784"/>
            <a:ext cx="1828800" cy="475488"/>
          </a:xfrm>
          <a:prstGeom prst="rect">
            <a:avLst/>
          </a:prstGeom>
          <a:noFill/>
          <a:ln/>
        </p:spPr>
        <p:txBody>
          <a:bodyPr wrap="square" lIns="0" tIns="0" rIns="0" bIns="0" rtlCol="0" anchor="ctr"/>
          <a:lstStyle/>
          <a:p>
            <a:pPr algn="ctr" indent="0" marL="0">
              <a:buNone/>
            </a:pPr>
            <a:r>
              <a:rPr lang="en-US" sz="1200" b="1" dirty="0">
                <a:solidFill>
                  <a:srgbClr val="B87A1E"/>
                </a:solidFill>
                <a:latin typeface="Calibri" pitchFamily="34" charset="0"/>
                <a:ea typeface="Calibri" pitchFamily="34" charset="-122"/>
                <a:cs typeface="Calibri" pitchFamily="34" charset="-120"/>
              </a:rPr>
              <a:t>Оклады</a:t>
            </a:r>
            <a:endParaRPr lang="en-US" sz="1200" dirty="0"/>
          </a:p>
        </p:txBody>
      </p:sp>
      <p:sp>
        <p:nvSpPr>
          <p:cNvPr id="29" name="Shape 27"/>
          <p:cNvSpPr/>
          <p:nvPr/>
        </p:nvSpPr>
        <p:spPr>
          <a:xfrm>
            <a:off x="548640" y="4590288"/>
            <a:ext cx="11094415" cy="347472"/>
          </a:xfrm>
          <a:prstGeom prst="roundRect">
            <a:avLst>
              <a:gd name="adj" fmla="val 23684"/>
            </a:avLst>
          </a:prstGeom>
          <a:solidFill>
            <a:srgbClr val="EAEDF3"/>
          </a:solidFill>
          <a:ln w="9525">
            <a:solidFill>
              <a:srgbClr val="DCE1E9"/>
            </a:solidFill>
            <a:prstDash val="solid"/>
          </a:ln>
        </p:spPr>
      </p:sp>
      <p:sp>
        <p:nvSpPr>
          <p:cNvPr id="30" name="Text 28"/>
          <p:cNvSpPr/>
          <p:nvPr/>
        </p:nvSpPr>
        <p:spPr>
          <a:xfrm>
            <a:off x="777240" y="4590288"/>
            <a:ext cx="10637215" cy="347472"/>
          </a:xfrm>
          <a:prstGeom prst="rect">
            <a:avLst/>
          </a:prstGeom>
          <a:noFill/>
          <a:ln/>
        </p:spPr>
        <p:txBody>
          <a:bodyPr wrap="square" lIns="0" tIns="0" rIns="0" bIns="0" rtlCol="0" anchor="ctr"/>
          <a:lstStyle/>
          <a:p>
            <a:pPr algn="ctr" indent="0" marL="0">
              <a:lnSpc>
                <a:spcPct val="110000"/>
              </a:lnSpc>
              <a:buNone/>
            </a:pPr>
            <a:r>
              <a:rPr lang="en-US" sz="1100" b="1" dirty="0">
                <a:solidFill>
                  <a:srgbClr val="1B1E27"/>
                </a:solidFill>
                <a:latin typeface="Calibri" pitchFamily="34" charset="0"/>
                <a:ea typeface="Calibri" pitchFamily="34" charset="-122"/>
                <a:cs typeface="Calibri" pitchFamily="34" charset="-120"/>
              </a:rPr>
              <a:t>У узла — три родителя, по одному в каждом дереве. Правило «вниз» не нарушено ни в одном из трёх доменов — оно действует независимо и полностью в каждом, как на предыдущем слайде.</a:t>
            </a:r>
            <a:endParaRPr lang="en-US" sz="1100" dirty="0"/>
          </a:p>
        </p:txBody>
      </p:sp>
      <p:sp>
        <p:nvSpPr>
          <p:cNvPr id="31" name="Shape 29"/>
          <p:cNvSpPr/>
          <p:nvPr/>
        </p:nvSpPr>
        <p:spPr>
          <a:xfrm>
            <a:off x="548640" y="5029200"/>
            <a:ext cx="11094415" cy="1097280"/>
          </a:xfrm>
          <a:prstGeom prst="roundRect">
            <a:avLst>
              <a:gd name="adj" fmla="val 7500"/>
            </a:avLst>
          </a:prstGeom>
          <a:solidFill>
            <a:srgbClr val="FBEED9"/>
          </a:solidFill>
          <a:ln w="9525">
            <a:solidFill>
              <a:srgbClr val="E8A33D"/>
            </a:solidFill>
            <a:prstDash val="solid"/>
          </a:ln>
        </p:spPr>
      </p:sp>
      <p:sp>
        <p:nvSpPr>
          <p:cNvPr id="32" name="Shape 30"/>
          <p:cNvSpPr/>
          <p:nvPr/>
        </p:nvSpPr>
        <p:spPr>
          <a:xfrm>
            <a:off x="777240" y="5303520"/>
            <a:ext cx="548640" cy="548640"/>
          </a:xfrm>
          <a:prstGeom prst="ellipse">
            <a:avLst/>
          </a:prstGeom>
          <a:solidFill>
            <a:srgbClr val="FFFFFF"/>
          </a:solidFill>
          <a:ln/>
        </p:spPr>
      </p:sp>
      <p:pic>
        <p:nvPicPr>
          <p:cNvPr id="33" name="Image 0" descr="preencoded.png">    </p:cNvPr>
          <p:cNvPicPr>
            <a:picLocks noChangeAspect="1"/>
          </p:cNvPicPr>
          <p:nvPr/>
        </p:nvPicPr>
        <p:blipFill>
          <a:blip r:embed="rId1"/>
          <a:stretch>
            <a:fillRect/>
          </a:stretch>
        </p:blipFill>
        <p:spPr>
          <a:xfrm>
            <a:off x="908914" y="5435194"/>
            <a:ext cx="285293" cy="285293"/>
          </a:xfrm>
          <a:prstGeom prst="rect">
            <a:avLst/>
          </a:prstGeom>
        </p:spPr>
      </p:pic>
      <p:sp>
        <p:nvSpPr>
          <p:cNvPr id="34" name="Text 31"/>
          <p:cNvSpPr/>
          <p:nvPr/>
        </p:nvSpPr>
        <p:spPr>
          <a:xfrm>
            <a:off x="1463040" y="5157216"/>
            <a:ext cx="9905695" cy="841248"/>
          </a:xfrm>
          <a:prstGeom prst="rect">
            <a:avLst/>
          </a:prstGeom>
          <a:noFill/>
          <a:ln/>
        </p:spPr>
        <p:txBody>
          <a:bodyPr wrap="square" lIns="0" tIns="0" rIns="0" bIns="0" rtlCol="0" anchor="ctr"/>
          <a:lstStyle/>
          <a:p>
            <a:pPr indent="0" marL="0">
              <a:lnSpc>
                <a:spcPct val="122000"/>
              </a:lnSpc>
              <a:buNone/>
            </a:pPr>
            <a:r>
              <a:rPr lang="en-US" sz="1050" b="1" dirty="0">
                <a:solidFill>
                  <a:srgbClr val="B87A1E"/>
                </a:solidFill>
                <a:latin typeface="Calibri" pitchFamily="34" charset="0"/>
                <a:ea typeface="Calibri" pitchFamily="34" charset="-122"/>
                <a:cs typeface="Calibri" pitchFamily="34" charset="-120"/>
              </a:rPr>
              <a:t>Открытый вопрос для совместной проработки: </a:t>
            </a:r>
            <a:pPr indent="0" marL="0">
              <a:lnSpc>
                <a:spcPct val="122000"/>
              </a:lnSpc>
              <a:buNone/>
            </a:pPr>
            <a:r>
              <a:rPr lang="en-US" sz="1050" dirty="0">
                <a:solidFill>
                  <a:srgbClr val="1B1E27"/>
                </a:solidFill>
                <a:latin typeface="Calibri" pitchFamily="34" charset="0"/>
                <a:ea typeface="Calibri" pitchFamily="34" charset="-122"/>
                <a:cs typeface="Calibri" pitchFamily="34" charset="-120"/>
              </a:rPr>
              <a:t>если «Список сотрудников» — один общий узел, персона на корне «Маркетинг» обычным нисходящим наследованием доходит до него — но видит ли она весь список целиком, или только часть, относящуюся к своему отделу? Дерево само по себе на этот вопрос не отвечает — это тот же класс вопроса, что и «2a» (гранулярность </a:t>
            </a:r>
            <a:pPr indent="0" marL="0">
              <a:lnSpc>
                <a:spcPct val="122000"/>
              </a:lnSpc>
              <a:buNone/>
            </a:pPr>
            <a:r>
              <a:rPr lang="en-US" sz="1050" i="1" dirty="0">
                <a:solidFill>
                  <a:srgbClr val="1B1E27"/>
                </a:solidFill>
                <a:latin typeface="Calibri" pitchFamily="34" charset="0"/>
                <a:ea typeface="Calibri" pitchFamily="34" charset="-122"/>
                <a:cs typeface="Calibri" pitchFamily="34" charset="-120"/>
              </a:rPr>
              <a:t>внутри</a:t>
            </a:r>
            <a:pPr indent="0" marL="0">
              <a:lnSpc>
                <a:spcPct val="122000"/>
              </a:lnSpc>
              <a:buNone/>
            </a:pPr>
            <a:r>
              <a:rPr lang="en-US" sz="1050" dirty="0">
                <a:solidFill>
                  <a:srgbClr val="1B1E27"/>
                </a:solidFill>
                <a:latin typeface="Calibri" pitchFamily="34" charset="0"/>
                <a:ea typeface="Calibri" pitchFamily="34" charset="-122"/>
                <a:cs typeface="Calibri" pitchFamily="34" charset="-120"/>
              </a:rPr>
              <a:t> одной коллекции), рассмотренный раньше. Предложение дерева от этого не меняется — вопрос стоит решить вместе с разработчиком.</a:t>
            </a:r>
            <a:endParaRPr lang="en-US" sz="1050" dirty="0"/>
          </a:p>
        </p:txBody>
      </p:sp>
      <p:sp>
        <p:nvSpPr>
          <p:cNvPr id="35" name="Text 32"/>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Камерата · Case 17 · Локальный чат и иерархия каталогов</a:t>
            </a:r>
            <a:endParaRPr lang="en-US" sz="900" dirty="0"/>
          </a:p>
        </p:txBody>
      </p:sp>
      <p:sp>
        <p:nvSpPr>
          <p:cNvPr id="36" name="Text 33"/>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B6472"/>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algn="l" indent="0" marL="0">
              <a:buNone/>
            </a:pPr>
            <a:r>
              <a:rPr lang="en-US" sz="1150" b="1" spc="140" kern="0" dirty="0">
                <a:solidFill>
                  <a:srgbClr val="B87A1E"/>
                </a:solidFill>
                <a:latin typeface="Calibri" pitchFamily="34" charset="0"/>
                <a:ea typeface="Calibri" pitchFamily="34" charset="-122"/>
                <a:cs typeface="Calibri" pitchFamily="34" charset="-120"/>
              </a:rPr>
              <a:t>ЧАСТЬ 2 · ПРАВИЛО</a:t>
            </a:r>
            <a:endParaRPr lang="en-US" sz="1150" dirty="0"/>
          </a:p>
        </p:txBody>
      </p:sp>
      <p:sp>
        <p:nvSpPr>
          <p:cNvPr id="3" name="Text 1"/>
          <p:cNvSpPr/>
          <p:nvPr/>
        </p:nvSpPr>
        <p:spPr>
          <a:xfrm>
            <a:off x="548640" y="658368"/>
            <a:ext cx="11094415" cy="777240"/>
          </a:xfrm>
          <a:prstGeom prst="rect">
            <a:avLst/>
          </a:prstGeom>
          <a:noFill/>
          <a:ln/>
        </p:spPr>
        <p:txBody>
          <a:bodyPr wrap="square" lIns="0" tIns="0" rIns="0" bIns="0" rtlCol="0" anchor="t"/>
          <a:lstStyle/>
          <a:p>
            <a:pPr algn="l" indent="0" marL="0">
              <a:lnSpc>
                <a:spcPct val="102000"/>
              </a:lnSpc>
              <a:buNone/>
            </a:pPr>
            <a:r>
              <a:rPr lang="en-US" sz="2900" b="1" dirty="0">
                <a:solidFill>
                  <a:srgbClr val="1B1E27"/>
                </a:solidFill>
                <a:latin typeface="Cambria" pitchFamily="34" charset="0"/>
                <a:ea typeface="Cambria" pitchFamily="34" charset="-122"/>
                <a:cs typeface="Cambria" pitchFamily="34" charset="-120"/>
              </a:rPr>
              <a:t>Видимость течёт только вниз по дереву от узла привязки</a:t>
            </a:r>
            <a:endParaRPr lang="en-US" sz="2900" dirty="0"/>
          </a:p>
        </p:txBody>
      </p:sp>
      <p:sp>
        <p:nvSpPr>
          <p:cNvPr id="4" name="Shape 2"/>
          <p:cNvSpPr/>
          <p:nvPr/>
        </p:nvSpPr>
        <p:spPr>
          <a:xfrm>
            <a:off x="4724248" y="3360420"/>
            <a:ext cx="2743200" cy="777240"/>
          </a:xfrm>
          <a:prstGeom prst="roundRect">
            <a:avLst>
              <a:gd name="adj" fmla="val 11765"/>
            </a:avLst>
          </a:prstGeom>
          <a:solidFill>
            <a:srgbClr val="2C3140"/>
          </a:solidFill>
          <a:ln/>
        </p:spPr>
      </p:sp>
      <p:sp>
        <p:nvSpPr>
          <p:cNvPr id="5" name="Text 3"/>
          <p:cNvSpPr/>
          <p:nvPr/>
        </p:nvSpPr>
        <p:spPr>
          <a:xfrm>
            <a:off x="4724248" y="3360420"/>
            <a:ext cx="2743200" cy="777240"/>
          </a:xfrm>
          <a:prstGeom prst="rect">
            <a:avLst/>
          </a:prstGeom>
          <a:noFill/>
          <a:ln/>
        </p:spPr>
        <p:txBody>
          <a:bodyPr wrap="square" lIns="0" tIns="0" rIns="0" bIns="0" rtlCol="0" anchor="ctr"/>
          <a:lstStyle/>
          <a:p>
            <a:pPr algn="ctr" indent="0" marL="0">
              <a:lnSpc>
                <a:spcPct val="110000"/>
              </a:lnSpc>
              <a:buNone/>
            </a:pPr>
            <a:r>
              <a:rPr lang="en-US" sz="1300" b="1" dirty="0">
                <a:solidFill>
                  <a:srgbClr val="FFFFFF"/>
                </a:solidFill>
                <a:latin typeface="Calibri" pitchFamily="34" charset="0"/>
                <a:ea typeface="Calibri" pitchFamily="34" charset="-122"/>
                <a:cs typeface="Calibri" pitchFamily="34" charset="-120"/>
              </a:rPr>
              <a:t>Узел, к которому</a:t>
            </a:r>
            <a:endParaRPr lang="en-US" sz="1300" dirty="0"/>
          </a:p>
          <a:p>
            <a:pPr algn="ctr" indent="0" marL="0">
              <a:lnSpc>
                <a:spcPct val="110000"/>
              </a:lnSpc>
              <a:buNone/>
            </a:pPr>
            <a:r>
              <a:rPr lang="en-US" sz="1300" b="1" dirty="0">
                <a:solidFill>
                  <a:srgbClr val="FFFFFF"/>
                </a:solidFill>
                <a:latin typeface="Calibri" pitchFamily="34" charset="0"/>
                <a:ea typeface="Calibri" pitchFamily="34" charset="-122"/>
                <a:cs typeface="Calibri" pitchFamily="34" charset="-120"/>
              </a:rPr>
              <a:t>привязана персона</a:t>
            </a:r>
            <a:endParaRPr lang="en-US" sz="1300" dirty="0"/>
          </a:p>
        </p:txBody>
      </p:sp>
      <p:sp>
        <p:nvSpPr>
          <p:cNvPr id="6" name="Shape 4"/>
          <p:cNvSpPr/>
          <p:nvPr/>
        </p:nvSpPr>
        <p:spPr>
          <a:xfrm>
            <a:off x="4449928" y="1783080"/>
            <a:ext cx="3291840" cy="777240"/>
          </a:xfrm>
          <a:prstGeom prst="roundRect">
            <a:avLst>
              <a:gd name="adj" fmla="val 11765"/>
            </a:avLst>
          </a:prstGeom>
          <a:solidFill>
            <a:srgbClr val="FBE6E9"/>
          </a:solidFill>
          <a:ln w="15875">
            <a:solidFill>
              <a:srgbClr val="D1495B"/>
            </a:solidFill>
            <a:prstDash val="dash"/>
          </a:ln>
        </p:spPr>
      </p:sp>
      <p:sp>
        <p:nvSpPr>
          <p:cNvPr id="7" name="Text 5"/>
          <p:cNvSpPr/>
          <p:nvPr/>
        </p:nvSpPr>
        <p:spPr>
          <a:xfrm>
            <a:off x="4632808" y="1874520"/>
            <a:ext cx="2377440" cy="320040"/>
          </a:xfrm>
          <a:prstGeom prst="rect">
            <a:avLst/>
          </a:prstGeom>
          <a:noFill/>
          <a:ln/>
        </p:spPr>
        <p:txBody>
          <a:bodyPr wrap="square" lIns="0" tIns="0" rIns="0" bIns="0" rtlCol="0" anchor="ctr"/>
          <a:lstStyle/>
          <a:p>
            <a:pPr indent="0" marL="0">
              <a:buNone/>
            </a:pPr>
            <a:r>
              <a:rPr lang="en-US" sz="1200" b="1" dirty="0">
                <a:solidFill>
                  <a:srgbClr val="1B1E27"/>
                </a:solidFill>
                <a:latin typeface="Calibri" pitchFamily="34" charset="0"/>
                <a:ea typeface="Calibri" pitchFamily="34" charset="-122"/>
                <a:cs typeface="Calibri" pitchFamily="34" charset="-120"/>
              </a:rPr>
              <a:t>Предки узла</a:t>
            </a:r>
            <a:endParaRPr lang="en-US" sz="1200" dirty="0"/>
          </a:p>
        </p:txBody>
      </p:sp>
      <p:sp>
        <p:nvSpPr>
          <p:cNvPr id="8" name="Text 6"/>
          <p:cNvSpPr/>
          <p:nvPr/>
        </p:nvSpPr>
        <p:spPr>
          <a:xfrm>
            <a:off x="4632808" y="2194560"/>
            <a:ext cx="2377440" cy="274320"/>
          </a:xfrm>
          <a:prstGeom prst="rect">
            <a:avLst/>
          </a:prstGeom>
          <a:noFill/>
          <a:ln/>
        </p:spPr>
        <p:txBody>
          <a:bodyPr wrap="square" lIns="0" tIns="0" rIns="0" bIns="0" rtlCol="0" anchor="ctr"/>
          <a:lstStyle/>
          <a:p>
            <a:pPr indent="0" marL="0">
              <a:buNone/>
            </a:pPr>
            <a:r>
              <a:rPr lang="en-US" sz="1100" b="1" dirty="0">
                <a:solidFill>
                  <a:srgbClr val="D1495B"/>
                </a:solidFill>
                <a:latin typeface="Calibri" pitchFamily="34" charset="0"/>
                <a:ea typeface="Calibri" pitchFamily="34" charset="-122"/>
                <a:cs typeface="Calibri" pitchFamily="34" charset="-120"/>
              </a:rPr>
              <a:t>вверх — не видно</a:t>
            </a:r>
            <a:endParaRPr lang="en-US" sz="1100" dirty="0"/>
          </a:p>
        </p:txBody>
      </p:sp>
      <p:sp>
        <p:nvSpPr>
          <p:cNvPr id="9" name="Shape 7"/>
          <p:cNvSpPr/>
          <p:nvPr/>
        </p:nvSpPr>
        <p:spPr>
          <a:xfrm>
            <a:off x="7078828" y="1920240"/>
            <a:ext cx="502920" cy="502920"/>
          </a:xfrm>
          <a:prstGeom prst="ellipse">
            <a:avLst/>
          </a:prstGeom>
          <a:solidFill>
            <a:srgbClr val="FFFFFF"/>
          </a:solidFill>
          <a:ln/>
        </p:spPr>
      </p:sp>
      <p:pic>
        <p:nvPicPr>
          <p:cNvPr id="10" name="Image 0" descr="preencoded.png">    </p:cNvPr>
          <p:cNvPicPr>
            <a:picLocks noChangeAspect="1"/>
          </p:cNvPicPr>
          <p:nvPr/>
        </p:nvPicPr>
        <p:blipFill>
          <a:blip r:embed="rId1"/>
          <a:stretch>
            <a:fillRect/>
          </a:stretch>
        </p:blipFill>
        <p:spPr>
          <a:xfrm>
            <a:off x="7199528" y="2040941"/>
            <a:ext cx="261518" cy="261518"/>
          </a:xfrm>
          <a:prstGeom prst="rect">
            <a:avLst/>
          </a:prstGeom>
        </p:spPr>
      </p:pic>
      <p:sp>
        <p:nvSpPr>
          <p:cNvPr id="11" name="Shape 8"/>
          <p:cNvSpPr/>
          <p:nvPr/>
        </p:nvSpPr>
        <p:spPr>
          <a:xfrm>
            <a:off x="6095848" y="2560320"/>
            <a:ext cx="0" cy="800100"/>
          </a:xfrm>
          <a:prstGeom prst="line">
            <a:avLst/>
          </a:prstGeom>
          <a:noFill/>
          <a:ln w="19050">
            <a:solidFill>
              <a:srgbClr val="D1495B"/>
            </a:solidFill>
            <a:prstDash val="dash"/>
          </a:ln>
        </p:spPr>
      </p:sp>
      <p:sp>
        <p:nvSpPr>
          <p:cNvPr id="12" name="Shape 9"/>
          <p:cNvSpPr/>
          <p:nvPr/>
        </p:nvSpPr>
        <p:spPr>
          <a:xfrm>
            <a:off x="4449928" y="4640580"/>
            <a:ext cx="3291840" cy="777240"/>
          </a:xfrm>
          <a:prstGeom prst="roundRect">
            <a:avLst>
              <a:gd name="adj" fmla="val 11765"/>
            </a:avLst>
          </a:prstGeom>
          <a:solidFill>
            <a:srgbClr val="E1F3EA"/>
          </a:solidFill>
          <a:ln w="19050">
            <a:solidFill>
              <a:srgbClr val="2E9E6E"/>
            </a:solidFill>
            <a:prstDash val="solid"/>
          </a:ln>
        </p:spPr>
      </p:sp>
      <p:sp>
        <p:nvSpPr>
          <p:cNvPr id="13" name="Text 10"/>
          <p:cNvSpPr/>
          <p:nvPr/>
        </p:nvSpPr>
        <p:spPr>
          <a:xfrm>
            <a:off x="4632808" y="4732020"/>
            <a:ext cx="2377440" cy="320040"/>
          </a:xfrm>
          <a:prstGeom prst="rect">
            <a:avLst/>
          </a:prstGeom>
          <a:noFill/>
          <a:ln/>
        </p:spPr>
        <p:txBody>
          <a:bodyPr wrap="square" lIns="0" tIns="0" rIns="0" bIns="0" rtlCol="0" anchor="ctr"/>
          <a:lstStyle/>
          <a:p>
            <a:pPr indent="0" marL="0">
              <a:buNone/>
            </a:pPr>
            <a:r>
              <a:rPr lang="en-US" sz="1200" b="1" dirty="0">
                <a:solidFill>
                  <a:srgbClr val="1B1E27"/>
                </a:solidFill>
                <a:latin typeface="Calibri" pitchFamily="34" charset="0"/>
                <a:ea typeface="Calibri" pitchFamily="34" charset="-122"/>
                <a:cs typeface="Calibri" pitchFamily="34" charset="-120"/>
              </a:rPr>
              <a:t>Все потомки узла</a:t>
            </a:r>
            <a:endParaRPr lang="en-US" sz="1200" dirty="0"/>
          </a:p>
        </p:txBody>
      </p:sp>
      <p:sp>
        <p:nvSpPr>
          <p:cNvPr id="14" name="Text 11"/>
          <p:cNvSpPr/>
          <p:nvPr/>
        </p:nvSpPr>
        <p:spPr>
          <a:xfrm>
            <a:off x="4632808" y="5052060"/>
            <a:ext cx="2377440" cy="274320"/>
          </a:xfrm>
          <a:prstGeom prst="rect">
            <a:avLst/>
          </a:prstGeom>
          <a:noFill/>
          <a:ln/>
        </p:spPr>
        <p:txBody>
          <a:bodyPr wrap="square" lIns="0" tIns="0" rIns="0" bIns="0" rtlCol="0" anchor="ctr"/>
          <a:lstStyle/>
          <a:p>
            <a:pPr indent="0" marL="0">
              <a:buNone/>
            </a:pPr>
            <a:r>
              <a:rPr lang="en-US" sz="1100" b="1" dirty="0">
                <a:solidFill>
                  <a:srgbClr val="2E9E6E"/>
                </a:solidFill>
                <a:latin typeface="Calibri" pitchFamily="34" charset="0"/>
                <a:ea typeface="Calibri" pitchFamily="34" charset="-122"/>
                <a:cs typeface="Calibri" pitchFamily="34" charset="-120"/>
              </a:rPr>
              <a:t>вниз — видно</a:t>
            </a:r>
            <a:endParaRPr lang="en-US" sz="1100" dirty="0"/>
          </a:p>
        </p:txBody>
      </p:sp>
      <p:sp>
        <p:nvSpPr>
          <p:cNvPr id="15" name="Shape 12"/>
          <p:cNvSpPr/>
          <p:nvPr/>
        </p:nvSpPr>
        <p:spPr>
          <a:xfrm>
            <a:off x="7078828" y="4777740"/>
            <a:ext cx="502920" cy="502920"/>
          </a:xfrm>
          <a:prstGeom prst="ellipse">
            <a:avLst/>
          </a:prstGeom>
          <a:solidFill>
            <a:srgbClr val="FFFFFF"/>
          </a:solidFill>
          <a:ln/>
        </p:spPr>
      </p:sp>
      <p:pic>
        <p:nvPicPr>
          <p:cNvPr id="16" name="Image 1" descr="preencoded.png">    </p:cNvPr>
          <p:cNvPicPr>
            <a:picLocks noChangeAspect="1"/>
          </p:cNvPicPr>
          <p:nvPr/>
        </p:nvPicPr>
        <p:blipFill>
          <a:blip r:embed="rId2"/>
          <a:stretch>
            <a:fillRect/>
          </a:stretch>
        </p:blipFill>
        <p:spPr>
          <a:xfrm>
            <a:off x="7199528" y="4898441"/>
            <a:ext cx="261518" cy="261518"/>
          </a:xfrm>
          <a:prstGeom prst="rect">
            <a:avLst/>
          </a:prstGeom>
        </p:spPr>
      </p:pic>
      <p:sp>
        <p:nvSpPr>
          <p:cNvPr id="17" name="Shape 13"/>
          <p:cNvSpPr/>
          <p:nvPr/>
        </p:nvSpPr>
        <p:spPr>
          <a:xfrm>
            <a:off x="6095848" y="4137660"/>
            <a:ext cx="0" cy="502920"/>
          </a:xfrm>
          <a:prstGeom prst="line">
            <a:avLst/>
          </a:prstGeom>
          <a:noFill/>
          <a:ln w="25400">
            <a:solidFill>
              <a:srgbClr val="2E9E6E"/>
            </a:solidFill>
            <a:prstDash val="solid"/>
          </a:ln>
        </p:spPr>
      </p:sp>
      <p:sp>
        <p:nvSpPr>
          <p:cNvPr id="18" name="Shape 14"/>
          <p:cNvSpPr/>
          <p:nvPr/>
        </p:nvSpPr>
        <p:spPr>
          <a:xfrm>
            <a:off x="731520" y="3291840"/>
            <a:ext cx="2880360" cy="914400"/>
          </a:xfrm>
          <a:prstGeom prst="roundRect">
            <a:avLst>
              <a:gd name="adj" fmla="val 10000"/>
            </a:avLst>
          </a:prstGeom>
          <a:solidFill>
            <a:srgbClr val="FBE6E9"/>
          </a:solidFill>
          <a:ln w="15875">
            <a:solidFill>
              <a:srgbClr val="D1495B"/>
            </a:solidFill>
            <a:prstDash val="dash"/>
          </a:ln>
        </p:spPr>
      </p:sp>
      <p:sp>
        <p:nvSpPr>
          <p:cNvPr id="19" name="Shape 15"/>
          <p:cNvSpPr/>
          <p:nvPr/>
        </p:nvSpPr>
        <p:spPr>
          <a:xfrm>
            <a:off x="937260" y="3497580"/>
            <a:ext cx="502920" cy="502920"/>
          </a:xfrm>
          <a:prstGeom prst="ellipse">
            <a:avLst/>
          </a:prstGeom>
          <a:solidFill>
            <a:srgbClr val="FFFFFF"/>
          </a:solidFill>
          <a:ln/>
        </p:spPr>
      </p:sp>
      <p:pic>
        <p:nvPicPr>
          <p:cNvPr id="20" name="Image 2" descr="preencoded.png">    </p:cNvPr>
          <p:cNvPicPr>
            <a:picLocks noChangeAspect="1"/>
          </p:cNvPicPr>
          <p:nvPr/>
        </p:nvPicPr>
        <p:blipFill>
          <a:blip r:embed="rId3"/>
          <a:stretch>
            <a:fillRect/>
          </a:stretch>
        </p:blipFill>
        <p:spPr>
          <a:xfrm>
            <a:off x="1057961" y="3618281"/>
            <a:ext cx="261518" cy="261518"/>
          </a:xfrm>
          <a:prstGeom prst="rect">
            <a:avLst/>
          </a:prstGeom>
        </p:spPr>
      </p:pic>
      <p:sp>
        <p:nvSpPr>
          <p:cNvPr id="21" name="Text 16"/>
          <p:cNvSpPr/>
          <p:nvPr/>
        </p:nvSpPr>
        <p:spPr>
          <a:xfrm>
            <a:off x="1554480" y="3401568"/>
            <a:ext cx="1874520" cy="320040"/>
          </a:xfrm>
          <a:prstGeom prst="rect">
            <a:avLst/>
          </a:prstGeom>
          <a:noFill/>
          <a:ln/>
        </p:spPr>
        <p:txBody>
          <a:bodyPr wrap="square" lIns="0" tIns="0" rIns="0" bIns="0" rtlCol="0" anchor="ctr"/>
          <a:lstStyle/>
          <a:p>
            <a:pPr indent="0" marL="0">
              <a:buNone/>
            </a:pPr>
            <a:r>
              <a:rPr lang="en-US" sz="1200" b="1" dirty="0">
                <a:solidFill>
                  <a:srgbClr val="1B1E27"/>
                </a:solidFill>
                <a:latin typeface="Calibri" pitchFamily="34" charset="0"/>
                <a:ea typeface="Calibri" pitchFamily="34" charset="-122"/>
                <a:cs typeface="Calibri" pitchFamily="34" charset="-120"/>
              </a:rPr>
              <a:t>Соседние ветки</a:t>
            </a:r>
            <a:endParaRPr lang="en-US" sz="1200" dirty="0"/>
          </a:p>
        </p:txBody>
      </p:sp>
      <p:sp>
        <p:nvSpPr>
          <p:cNvPr id="22" name="Text 17"/>
          <p:cNvSpPr/>
          <p:nvPr/>
        </p:nvSpPr>
        <p:spPr>
          <a:xfrm>
            <a:off x="1554480" y="3749040"/>
            <a:ext cx="1874520" cy="274320"/>
          </a:xfrm>
          <a:prstGeom prst="rect">
            <a:avLst/>
          </a:prstGeom>
          <a:noFill/>
          <a:ln/>
        </p:spPr>
        <p:txBody>
          <a:bodyPr wrap="square" lIns="0" tIns="0" rIns="0" bIns="0" rtlCol="0" anchor="ctr"/>
          <a:lstStyle/>
          <a:p>
            <a:pPr indent="0" marL="0">
              <a:buNone/>
            </a:pPr>
            <a:r>
              <a:rPr lang="en-US" sz="1100" b="1" dirty="0">
                <a:solidFill>
                  <a:srgbClr val="D1495B"/>
                </a:solidFill>
                <a:latin typeface="Calibri" pitchFamily="34" charset="0"/>
                <a:ea typeface="Calibri" pitchFamily="34" charset="-122"/>
                <a:cs typeface="Calibri" pitchFamily="34" charset="-120"/>
              </a:rPr>
              <a:t>вбок — не видно</a:t>
            </a:r>
            <a:endParaRPr lang="en-US" sz="1100" dirty="0"/>
          </a:p>
        </p:txBody>
      </p:sp>
      <p:sp>
        <p:nvSpPr>
          <p:cNvPr id="23" name="Shape 18"/>
          <p:cNvSpPr/>
          <p:nvPr/>
        </p:nvSpPr>
        <p:spPr>
          <a:xfrm>
            <a:off x="3611880" y="3749040"/>
            <a:ext cx="1112368" cy="0"/>
          </a:xfrm>
          <a:prstGeom prst="line">
            <a:avLst/>
          </a:prstGeom>
          <a:noFill/>
          <a:ln w="19050">
            <a:solidFill>
              <a:srgbClr val="D1495B"/>
            </a:solidFill>
            <a:prstDash val="dash"/>
          </a:ln>
        </p:spPr>
      </p:sp>
      <p:sp>
        <p:nvSpPr>
          <p:cNvPr id="24" name="Shape 19"/>
          <p:cNvSpPr/>
          <p:nvPr/>
        </p:nvSpPr>
        <p:spPr>
          <a:xfrm>
            <a:off x="8579815" y="3291840"/>
            <a:ext cx="2880360" cy="914400"/>
          </a:xfrm>
          <a:prstGeom prst="roundRect">
            <a:avLst>
              <a:gd name="adj" fmla="val 10000"/>
            </a:avLst>
          </a:prstGeom>
          <a:solidFill>
            <a:srgbClr val="FBE6E9"/>
          </a:solidFill>
          <a:ln w="15875">
            <a:solidFill>
              <a:srgbClr val="D1495B"/>
            </a:solidFill>
            <a:prstDash val="dash"/>
          </a:ln>
        </p:spPr>
      </p:sp>
      <p:sp>
        <p:nvSpPr>
          <p:cNvPr id="25" name="Shape 20"/>
          <p:cNvSpPr/>
          <p:nvPr/>
        </p:nvSpPr>
        <p:spPr>
          <a:xfrm>
            <a:off x="8785555" y="3497580"/>
            <a:ext cx="502920" cy="502920"/>
          </a:xfrm>
          <a:prstGeom prst="ellipse">
            <a:avLst/>
          </a:prstGeom>
          <a:solidFill>
            <a:srgbClr val="FFFFFF"/>
          </a:solidFill>
          <a:ln/>
        </p:spPr>
      </p:sp>
      <p:pic>
        <p:nvPicPr>
          <p:cNvPr id="26" name="Image 3" descr="preencoded.png">    </p:cNvPr>
          <p:cNvPicPr>
            <a:picLocks noChangeAspect="1"/>
          </p:cNvPicPr>
          <p:nvPr/>
        </p:nvPicPr>
        <p:blipFill>
          <a:blip r:embed="rId4"/>
          <a:stretch>
            <a:fillRect/>
          </a:stretch>
        </p:blipFill>
        <p:spPr>
          <a:xfrm>
            <a:off x="8906256" y="3618281"/>
            <a:ext cx="261518" cy="261518"/>
          </a:xfrm>
          <a:prstGeom prst="rect">
            <a:avLst/>
          </a:prstGeom>
        </p:spPr>
      </p:pic>
      <p:sp>
        <p:nvSpPr>
          <p:cNvPr id="27" name="Text 21"/>
          <p:cNvSpPr/>
          <p:nvPr/>
        </p:nvSpPr>
        <p:spPr>
          <a:xfrm>
            <a:off x="9402775" y="3401568"/>
            <a:ext cx="1874520" cy="320040"/>
          </a:xfrm>
          <a:prstGeom prst="rect">
            <a:avLst/>
          </a:prstGeom>
          <a:noFill/>
          <a:ln/>
        </p:spPr>
        <p:txBody>
          <a:bodyPr wrap="square" lIns="0" tIns="0" rIns="0" bIns="0" rtlCol="0" anchor="ctr"/>
          <a:lstStyle/>
          <a:p>
            <a:pPr indent="0" marL="0">
              <a:buNone/>
            </a:pPr>
            <a:r>
              <a:rPr lang="en-US" sz="1200" b="1" dirty="0">
                <a:solidFill>
                  <a:srgbClr val="1B1E27"/>
                </a:solidFill>
                <a:latin typeface="Calibri" pitchFamily="34" charset="0"/>
                <a:ea typeface="Calibri" pitchFamily="34" charset="-122"/>
                <a:cs typeface="Calibri" pitchFamily="34" charset="-120"/>
              </a:rPr>
              <a:t>Соседние ветки</a:t>
            </a:r>
            <a:endParaRPr lang="en-US" sz="1200" dirty="0"/>
          </a:p>
        </p:txBody>
      </p:sp>
      <p:sp>
        <p:nvSpPr>
          <p:cNvPr id="28" name="Text 22"/>
          <p:cNvSpPr/>
          <p:nvPr/>
        </p:nvSpPr>
        <p:spPr>
          <a:xfrm>
            <a:off x="9402775" y="3749040"/>
            <a:ext cx="1874520" cy="274320"/>
          </a:xfrm>
          <a:prstGeom prst="rect">
            <a:avLst/>
          </a:prstGeom>
          <a:noFill/>
          <a:ln/>
        </p:spPr>
        <p:txBody>
          <a:bodyPr wrap="square" lIns="0" tIns="0" rIns="0" bIns="0" rtlCol="0" anchor="ctr"/>
          <a:lstStyle/>
          <a:p>
            <a:pPr indent="0" marL="0">
              <a:buNone/>
            </a:pPr>
            <a:r>
              <a:rPr lang="en-US" sz="1100" b="1" dirty="0">
                <a:solidFill>
                  <a:srgbClr val="D1495B"/>
                </a:solidFill>
                <a:latin typeface="Calibri" pitchFamily="34" charset="0"/>
                <a:ea typeface="Calibri" pitchFamily="34" charset="-122"/>
                <a:cs typeface="Calibri" pitchFamily="34" charset="-120"/>
              </a:rPr>
              <a:t>вбок — не видно</a:t>
            </a:r>
            <a:endParaRPr lang="en-US" sz="1100" dirty="0"/>
          </a:p>
        </p:txBody>
      </p:sp>
      <p:sp>
        <p:nvSpPr>
          <p:cNvPr id="29" name="Shape 23"/>
          <p:cNvSpPr/>
          <p:nvPr/>
        </p:nvSpPr>
        <p:spPr>
          <a:xfrm>
            <a:off x="7467448" y="3749040"/>
            <a:ext cx="1112368" cy="0"/>
          </a:xfrm>
          <a:prstGeom prst="line">
            <a:avLst/>
          </a:prstGeom>
          <a:noFill/>
          <a:ln w="19050">
            <a:solidFill>
              <a:srgbClr val="D1495B"/>
            </a:solidFill>
            <a:prstDash val="dash"/>
          </a:ln>
        </p:spPr>
      </p:sp>
      <p:sp>
        <p:nvSpPr>
          <p:cNvPr id="30" name="Text 24"/>
          <p:cNvSpPr/>
          <p:nvPr/>
        </p:nvSpPr>
        <p:spPr>
          <a:xfrm>
            <a:off x="548640" y="5737860"/>
            <a:ext cx="11094415" cy="548640"/>
          </a:xfrm>
          <a:prstGeom prst="rect">
            <a:avLst/>
          </a:prstGeom>
          <a:noFill/>
          <a:ln/>
        </p:spPr>
        <p:txBody>
          <a:bodyPr wrap="square" lIns="0" tIns="0" rIns="0" bIns="0" rtlCol="0" anchor="ctr"/>
          <a:lstStyle/>
          <a:p>
            <a:pPr algn="ctr" indent="0" marL="0">
              <a:lnSpc>
                <a:spcPct val="125000"/>
              </a:lnSpc>
              <a:buNone/>
            </a:pPr>
            <a:r>
              <a:rPr lang="en-US" sz="1250" i="1" dirty="0">
                <a:solidFill>
                  <a:srgbClr val="5B6472"/>
                </a:solidFill>
                <a:latin typeface="Calibri" pitchFamily="34" charset="0"/>
                <a:ea typeface="Calibri" pitchFamily="34" charset="-122"/>
                <a:cs typeface="Calibri" pitchFamily="34" charset="-120"/>
              </a:rPr>
              <a:t>Персона привязывается к одному узлу дерева и автоматически получает доступ ко всему, что вложено под ним — без ручной настройки на каждый вложенный каталог.</a:t>
            </a:r>
            <a:endParaRPr lang="en-US" sz="1250" dirty="0"/>
          </a:p>
        </p:txBody>
      </p:sp>
      <p:sp>
        <p:nvSpPr>
          <p:cNvPr id="31" name="Text 25"/>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Камерата · Case 17 · Локальный чат и иерархия каталогов</a:t>
            </a:r>
            <a:endParaRPr lang="en-US" sz="900" dirty="0"/>
          </a:p>
        </p:txBody>
      </p:sp>
      <p:sp>
        <p:nvSpPr>
          <p:cNvPr id="32" name="Text 26"/>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B6472"/>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algn="l" indent="0" marL="0">
              <a:buNone/>
            </a:pPr>
            <a:r>
              <a:rPr lang="en-US" sz="1150" b="1" spc="140" kern="0" dirty="0">
                <a:solidFill>
                  <a:srgbClr val="B87A1E"/>
                </a:solidFill>
                <a:latin typeface="Calibri" pitchFamily="34" charset="0"/>
                <a:ea typeface="Calibri" pitchFamily="34" charset="-122"/>
                <a:cs typeface="Calibri" pitchFamily="34" charset="-120"/>
              </a:rPr>
              <a:t>ЧАСТЬ 2 · КАК ЭТО РАБОТАЕТ</a:t>
            </a:r>
            <a:endParaRPr lang="en-US" sz="1150" dirty="0"/>
          </a:p>
        </p:txBody>
      </p:sp>
      <p:sp>
        <p:nvSpPr>
          <p:cNvPr id="3" name="Text 1"/>
          <p:cNvSpPr/>
          <p:nvPr/>
        </p:nvSpPr>
        <p:spPr>
          <a:xfrm>
            <a:off x="548640" y="658368"/>
            <a:ext cx="11094415" cy="777240"/>
          </a:xfrm>
          <a:prstGeom prst="rect">
            <a:avLst/>
          </a:prstGeom>
          <a:noFill/>
          <a:ln/>
        </p:spPr>
        <p:txBody>
          <a:bodyPr wrap="square" lIns="0" tIns="0" rIns="0" bIns="0" rtlCol="0" anchor="t"/>
          <a:lstStyle/>
          <a:p>
            <a:pPr algn="l" indent="0" marL="0">
              <a:lnSpc>
                <a:spcPct val="102000"/>
              </a:lnSpc>
              <a:buNone/>
            </a:pPr>
            <a:r>
              <a:rPr lang="en-US" sz="2700" b="1" dirty="0">
                <a:solidFill>
                  <a:srgbClr val="1B1E27"/>
                </a:solidFill>
                <a:latin typeface="Cambria" pitchFamily="34" charset="0"/>
                <a:ea typeface="Cambria" pitchFamily="34" charset="-122"/>
                <a:cs typeface="Cambria" pitchFamily="34" charset="-120"/>
              </a:rPr>
              <a:t>Три персоны — три разных пути к «Список сотрудников»</a:t>
            </a:r>
            <a:endParaRPr lang="en-US" sz="2700" dirty="0"/>
          </a:p>
        </p:txBody>
      </p:sp>
      <p:sp>
        <p:nvSpPr>
          <p:cNvPr id="4" name="Shape 2"/>
          <p:cNvSpPr/>
          <p:nvPr/>
        </p:nvSpPr>
        <p:spPr>
          <a:xfrm>
            <a:off x="548640" y="1645920"/>
            <a:ext cx="11094415" cy="1481328"/>
          </a:xfrm>
          <a:prstGeom prst="roundRect">
            <a:avLst>
              <a:gd name="adj" fmla="val 5556"/>
            </a:avLst>
          </a:prstGeom>
          <a:solidFill>
            <a:srgbClr val="F3F5F8"/>
          </a:solidFill>
          <a:ln w="9525">
            <a:solidFill>
              <a:srgbClr val="DCE1E9"/>
            </a:solidFill>
            <a:prstDash val="solid"/>
          </a:ln>
          <a:effectLst>
            <a:outerShdw sx="100000" sy="100000" kx="0" ky="0" algn="bl" rotWithShape="0" blurRad="101600" dist="25400" dir="5400000">
              <a:srgbClr val="6B7280">
                <a:alpha val="16000"/>
              </a:srgbClr>
            </a:outerShdw>
          </a:effectLst>
        </p:spPr>
      </p:sp>
      <p:sp>
        <p:nvSpPr>
          <p:cNvPr id="5" name="Shape 3"/>
          <p:cNvSpPr/>
          <p:nvPr/>
        </p:nvSpPr>
        <p:spPr>
          <a:xfrm>
            <a:off x="758952" y="2029968"/>
            <a:ext cx="713232" cy="713232"/>
          </a:xfrm>
          <a:prstGeom prst="ellipse">
            <a:avLst/>
          </a:prstGeom>
          <a:solidFill>
            <a:srgbClr val="FBEED9"/>
          </a:solidFill>
          <a:ln/>
        </p:spPr>
      </p:sp>
      <p:pic>
        <p:nvPicPr>
          <p:cNvPr id="6" name="Image 0" descr="preencoded.png">    </p:cNvPr>
          <p:cNvPicPr>
            <a:picLocks noChangeAspect="1"/>
          </p:cNvPicPr>
          <p:nvPr/>
        </p:nvPicPr>
        <p:blipFill>
          <a:blip r:embed="rId1"/>
          <a:stretch>
            <a:fillRect/>
          </a:stretch>
        </p:blipFill>
        <p:spPr>
          <a:xfrm>
            <a:off x="930128" y="2201144"/>
            <a:ext cx="370881" cy="370881"/>
          </a:xfrm>
          <a:prstGeom prst="rect">
            <a:avLst/>
          </a:prstGeom>
        </p:spPr>
      </p:pic>
      <p:sp>
        <p:nvSpPr>
          <p:cNvPr id="7" name="Text 4"/>
          <p:cNvSpPr/>
          <p:nvPr/>
        </p:nvSpPr>
        <p:spPr>
          <a:xfrm>
            <a:off x="1691640" y="1773936"/>
            <a:ext cx="3429000" cy="347472"/>
          </a:xfrm>
          <a:prstGeom prst="rect">
            <a:avLst/>
          </a:prstGeom>
          <a:noFill/>
          <a:ln/>
        </p:spPr>
        <p:txBody>
          <a:bodyPr wrap="square" lIns="0" tIns="0" rIns="0" bIns="0" rtlCol="0" anchor="ctr"/>
          <a:lstStyle/>
          <a:p>
            <a:pPr indent="0" marL="0">
              <a:buNone/>
            </a:pPr>
            <a:r>
              <a:rPr lang="en-US" sz="1400" b="1" dirty="0">
                <a:solidFill>
                  <a:srgbClr val="1B1E27"/>
                </a:solidFill>
                <a:latin typeface="Cambria" pitchFamily="34" charset="0"/>
                <a:ea typeface="Cambria" pitchFamily="34" charset="-122"/>
                <a:cs typeface="Cambria" pitchFamily="34" charset="-120"/>
              </a:rPr>
              <a:t>Сотрудник кадров</a:t>
            </a:r>
            <a:endParaRPr lang="en-US" sz="1400" dirty="0"/>
          </a:p>
        </p:txBody>
      </p:sp>
      <p:sp>
        <p:nvSpPr>
          <p:cNvPr id="8" name="Shape 5"/>
          <p:cNvSpPr/>
          <p:nvPr/>
        </p:nvSpPr>
        <p:spPr>
          <a:xfrm>
            <a:off x="1691640" y="2157984"/>
            <a:ext cx="3566160" cy="329184"/>
          </a:xfrm>
          <a:prstGeom prst="roundRect">
            <a:avLst>
              <a:gd name="adj" fmla="val 50000"/>
            </a:avLst>
          </a:prstGeom>
          <a:solidFill>
            <a:srgbClr val="FBEED9"/>
          </a:solidFill>
          <a:ln/>
        </p:spPr>
      </p:sp>
      <p:sp>
        <p:nvSpPr>
          <p:cNvPr id="9" name="Text 6"/>
          <p:cNvSpPr/>
          <p:nvPr/>
        </p:nvSpPr>
        <p:spPr>
          <a:xfrm>
            <a:off x="1737360" y="2157984"/>
            <a:ext cx="3474720" cy="329184"/>
          </a:xfrm>
          <a:prstGeom prst="rect">
            <a:avLst/>
          </a:prstGeom>
          <a:noFill/>
          <a:ln/>
        </p:spPr>
        <p:txBody>
          <a:bodyPr wrap="square" lIns="0" tIns="0" rIns="0" bIns="0" rtlCol="0" anchor="ctr"/>
          <a:lstStyle/>
          <a:p>
            <a:pPr algn="ctr" indent="0" marL="0">
              <a:buNone/>
            </a:pPr>
            <a:r>
              <a:rPr lang="en-US" sz="950" b="1" dirty="0">
                <a:solidFill>
                  <a:srgbClr val="B87A1E"/>
                </a:solidFill>
                <a:latin typeface="Calibri" pitchFamily="34" charset="0"/>
                <a:ea typeface="Calibri" pitchFamily="34" charset="-122"/>
                <a:cs typeface="Calibri" pitchFamily="34" charset="-120"/>
              </a:rPr>
              <a:t>Кадры / Список сотрудников / Отпускные</a:t>
            </a:r>
            <a:endParaRPr lang="en-US" sz="950" dirty="0"/>
          </a:p>
        </p:txBody>
      </p:sp>
      <p:sp>
        <p:nvSpPr>
          <p:cNvPr id="10" name="Shape 7"/>
          <p:cNvSpPr/>
          <p:nvPr/>
        </p:nvSpPr>
        <p:spPr>
          <a:xfrm>
            <a:off x="1691640" y="2560320"/>
            <a:ext cx="3566160" cy="329184"/>
          </a:xfrm>
          <a:prstGeom prst="roundRect">
            <a:avLst>
              <a:gd name="adj" fmla="val 50000"/>
            </a:avLst>
          </a:prstGeom>
          <a:solidFill>
            <a:srgbClr val="FBEED9"/>
          </a:solidFill>
          <a:ln/>
        </p:spPr>
      </p:sp>
      <p:sp>
        <p:nvSpPr>
          <p:cNvPr id="11" name="Text 8"/>
          <p:cNvSpPr/>
          <p:nvPr/>
        </p:nvSpPr>
        <p:spPr>
          <a:xfrm>
            <a:off x="1737360" y="2560320"/>
            <a:ext cx="3474720" cy="329184"/>
          </a:xfrm>
          <a:prstGeom prst="rect">
            <a:avLst/>
          </a:prstGeom>
          <a:noFill/>
          <a:ln/>
        </p:spPr>
        <p:txBody>
          <a:bodyPr wrap="square" lIns="0" tIns="0" rIns="0" bIns="0" rtlCol="0" anchor="ctr"/>
          <a:lstStyle/>
          <a:p>
            <a:pPr algn="ctr" indent="0" marL="0">
              <a:buNone/>
            </a:pPr>
            <a:r>
              <a:rPr lang="en-US" sz="950" b="1" dirty="0">
                <a:solidFill>
                  <a:srgbClr val="B87A1E"/>
                </a:solidFill>
                <a:latin typeface="Calibri" pitchFamily="34" charset="0"/>
                <a:ea typeface="Calibri" pitchFamily="34" charset="-122"/>
                <a:cs typeface="Calibri" pitchFamily="34" charset="-120"/>
              </a:rPr>
              <a:t>Кадры / Список сотрудников / Больничные</a:t>
            </a:r>
            <a:endParaRPr lang="en-US" sz="950" dirty="0"/>
          </a:p>
        </p:txBody>
      </p:sp>
      <p:sp>
        <p:nvSpPr>
          <p:cNvPr id="12" name="Text 9"/>
          <p:cNvSpPr/>
          <p:nvPr/>
        </p:nvSpPr>
        <p:spPr>
          <a:xfrm>
            <a:off x="5577840" y="1810512"/>
            <a:ext cx="5790895" cy="566928"/>
          </a:xfrm>
          <a:prstGeom prst="rect">
            <a:avLst/>
          </a:prstGeom>
          <a:noFill/>
          <a:ln/>
        </p:spPr>
        <p:txBody>
          <a:bodyPr wrap="square" lIns="0" tIns="0" rIns="0" bIns="0" rtlCol="0" anchor="ctr"/>
          <a:lstStyle/>
          <a:p>
            <a:pPr indent="0" marL="0">
              <a:lnSpc>
                <a:spcPct val="118000"/>
              </a:lnSpc>
              <a:buNone/>
            </a:pPr>
            <a:r>
              <a:rPr lang="en-US" sz="1150" b="1" dirty="0">
                <a:solidFill>
                  <a:srgbClr val="2E9E6E"/>
                </a:solidFill>
                <a:latin typeface="Calibri" pitchFamily="34" charset="0"/>
                <a:ea typeface="Calibri" pitchFamily="34" charset="-122"/>
                <a:cs typeface="Calibri" pitchFamily="34" charset="-120"/>
              </a:rPr>
              <a:t>Видит: </a:t>
            </a:r>
            <a:pPr indent="0" marL="0">
              <a:lnSpc>
                <a:spcPct val="118000"/>
              </a:lnSpc>
              <a:buNone/>
            </a:pPr>
            <a:r>
              <a:rPr lang="en-US" sz="1150" dirty="0">
                <a:solidFill>
                  <a:srgbClr val="1B1E27"/>
                </a:solidFill>
                <a:latin typeface="Calibri" pitchFamily="34" charset="0"/>
                <a:ea typeface="Calibri" pitchFamily="34" charset="-122"/>
                <a:cs typeface="Calibri" pitchFamily="34" charset="-120"/>
              </a:rPr>
              <a:t>отпускные и больничные по всей компании — оба узла, к которым привязана</a:t>
            </a:r>
            <a:endParaRPr lang="en-US" sz="1150" dirty="0"/>
          </a:p>
        </p:txBody>
      </p:sp>
      <p:sp>
        <p:nvSpPr>
          <p:cNvPr id="13" name="Text 10"/>
          <p:cNvSpPr/>
          <p:nvPr/>
        </p:nvSpPr>
        <p:spPr>
          <a:xfrm>
            <a:off x="5577840" y="2395728"/>
            <a:ext cx="5790895" cy="621792"/>
          </a:xfrm>
          <a:prstGeom prst="rect">
            <a:avLst/>
          </a:prstGeom>
          <a:noFill/>
          <a:ln/>
        </p:spPr>
        <p:txBody>
          <a:bodyPr wrap="square" lIns="0" tIns="0" rIns="0" bIns="0" rtlCol="0" anchor="ctr"/>
          <a:lstStyle/>
          <a:p>
            <a:pPr indent="0" marL="0">
              <a:lnSpc>
                <a:spcPct val="120000"/>
              </a:lnSpc>
              <a:buNone/>
            </a:pPr>
            <a:r>
              <a:rPr lang="en-US" sz="1150" b="1" dirty="0">
                <a:solidFill>
                  <a:srgbClr val="1E4FB8"/>
                </a:solidFill>
                <a:latin typeface="Calibri" pitchFamily="34" charset="0"/>
                <a:ea typeface="Calibri" pitchFamily="34" charset="-122"/>
                <a:cs typeface="Calibri" pitchFamily="34" charset="-120"/>
              </a:rPr>
              <a:t>Составная привязка: </a:t>
            </a:r>
            <a:pPr indent="0" marL="0">
              <a:lnSpc>
                <a:spcPct val="120000"/>
              </a:lnSpc>
              <a:buNone/>
            </a:pPr>
            <a:r>
              <a:rPr lang="en-US" sz="1150" dirty="0">
                <a:solidFill>
                  <a:srgbClr val="5B6472"/>
                </a:solidFill>
                <a:latin typeface="Calibri" pitchFamily="34" charset="0"/>
                <a:ea typeface="Calibri" pitchFamily="34" charset="-122"/>
                <a:cs typeface="Calibri" pitchFamily="34" charset="-120"/>
              </a:rPr>
              <a:t>привязана сразу к двум соседним узлам — явная множественная привязка, а не «переключение» между ролями. «Оклады» не видит: это не входит в обычные обязанности кадровика</a:t>
            </a:r>
            <a:endParaRPr lang="en-US" sz="1150" dirty="0"/>
          </a:p>
        </p:txBody>
      </p:sp>
      <p:sp>
        <p:nvSpPr>
          <p:cNvPr id="14" name="Shape 11"/>
          <p:cNvSpPr/>
          <p:nvPr/>
        </p:nvSpPr>
        <p:spPr>
          <a:xfrm>
            <a:off x="548640" y="3291840"/>
            <a:ext cx="11094415" cy="1481328"/>
          </a:xfrm>
          <a:prstGeom prst="roundRect">
            <a:avLst>
              <a:gd name="adj" fmla="val 5556"/>
            </a:avLst>
          </a:prstGeom>
          <a:solidFill>
            <a:srgbClr val="F3F5F8"/>
          </a:solidFill>
          <a:ln w="9525">
            <a:solidFill>
              <a:srgbClr val="DCE1E9"/>
            </a:solidFill>
            <a:prstDash val="solid"/>
          </a:ln>
          <a:effectLst>
            <a:outerShdw sx="100000" sy="100000" kx="0" ky="0" algn="bl" rotWithShape="0" blurRad="101600" dist="25400" dir="5400000">
              <a:srgbClr val="6B7280">
                <a:alpha val="16000"/>
              </a:srgbClr>
            </a:outerShdw>
          </a:effectLst>
        </p:spPr>
      </p:sp>
      <p:sp>
        <p:nvSpPr>
          <p:cNvPr id="15" name="Shape 12"/>
          <p:cNvSpPr/>
          <p:nvPr/>
        </p:nvSpPr>
        <p:spPr>
          <a:xfrm>
            <a:off x="758952" y="3675888"/>
            <a:ext cx="713232" cy="713232"/>
          </a:xfrm>
          <a:prstGeom prst="ellipse">
            <a:avLst/>
          </a:prstGeom>
          <a:solidFill>
            <a:srgbClr val="FBEED9"/>
          </a:solidFill>
          <a:ln/>
        </p:spPr>
      </p:sp>
      <p:pic>
        <p:nvPicPr>
          <p:cNvPr id="16" name="Image 1" descr="preencoded.png">    </p:cNvPr>
          <p:cNvPicPr>
            <a:picLocks noChangeAspect="1"/>
          </p:cNvPicPr>
          <p:nvPr/>
        </p:nvPicPr>
        <p:blipFill>
          <a:blip r:embed="rId2"/>
          <a:stretch>
            <a:fillRect/>
          </a:stretch>
        </p:blipFill>
        <p:spPr>
          <a:xfrm>
            <a:off x="930128" y="3847064"/>
            <a:ext cx="370881" cy="370881"/>
          </a:xfrm>
          <a:prstGeom prst="rect">
            <a:avLst/>
          </a:prstGeom>
        </p:spPr>
      </p:pic>
      <p:sp>
        <p:nvSpPr>
          <p:cNvPr id="17" name="Text 13"/>
          <p:cNvSpPr/>
          <p:nvPr/>
        </p:nvSpPr>
        <p:spPr>
          <a:xfrm>
            <a:off x="1691640" y="3419856"/>
            <a:ext cx="3429000" cy="347472"/>
          </a:xfrm>
          <a:prstGeom prst="rect">
            <a:avLst/>
          </a:prstGeom>
          <a:noFill/>
          <a:ln/>
        </p:spPr>
        <p:txBody>
          <a:bodyPr wrap="square" lIns="0" tIns="0" rIns="0" bIns="0" rtlCol="0" anchor="ctr"/>
          <a:lstStyle/>
          <a:p>
            <a:pPr indent="0" marL="0">
              <a:buNone/>
            </a:pPr>
            <a:r>
              <a:rPr lang="en-US" sz="1400" b="1" dirty="0">
                <a:solidFill>
                  <a:srgbClr val="1B1E27"/>
                </a:solidFill>
                <a:latin typeface="Cambria" pitchFamily="34" charset="0"/>
                <a:ea typeface="Cambria" pitchFamily="34" charset="-122"/>
                <a:cs typeface="Cambria" pitchFamily="34" charset="-120"/>
              </a:rPr>
              <a:t>Начальник отдела маркетинга</a:t>
            </a:r>
            <a:endParaRPr lang="en-US" sz="1400" dirty="0"/>
          </a:p>
        </p:txBody>
      </p:sp>
      <p:sp>
        <p:nvSpPr>
          <p:cNvPr id="18" name="Shape 14"/>
          <p:cNvSpPr/>
          <p:nvPr/>
        </p:nvSpPr>
        <p:spPr>
          <a:xfrm>
            <a:off x="1691640" y="3803904"/>
            <a:ext cx="3566160" cy="329184"/>
          </a:xfrm>
          <a:prstGeom prst="roundRect">
            <a:avLst>
              <a:gd name="adj" fmla="val 50000"/>
            </a:avLst>
          </a:prstGeom>
          <a:solidFill>
            <a:srgbClr val="EEF0F3"/>
          </a:solidFill>
          <a:ln/>
        </p:spPr>
      </p:sp>
      <p:sp>
        <p:nvSpPr>
          <p:cNvPr id="19" name="Text 15"/>
          <p:cNvSpPr/>
          <p:nvPr/>
        </p:nvSpPr>
        <p:spPr>
          <a:xfrm>
            <a:off x="1737360" y="3803904"/>
            <a:ext cx="3474720" cy="329184"/>
          </a:xfrm>
          <a:prstGeom prst="rect">
            <a:avLst/>
          </a:prstGeom>
          <a:noFill/>
          <a:ln/>
        </p:spPr>
        <p:txBody>
          <a:bodyPr wrap="square" lIns="0" tIns="0" rIns="0" bIns="0" rtlCol="0" anchor="ctr"/>
          <a:lstStyle/>
          <a:p>
            <a:pPr algn="ctr" indent="0" marL="0">
              <a:buNone/>
            </a:pPr>
            <a:r>
              <a:rPr lang="en-US" sz="950" b="1" dirty="0">
                <a:solidFill>
                  <a:srgbClr val="1B1E27"/>
                </a:solidFill>
                <a:latin typeface="Calibri" pitchFamily="34" charset="0"/>
                <a:ea typeface="Calibri" pitchFamily="34" charset="-122"/>
                <a:cs typeface="Calibri" pitchFamily="34" charset="-120"/>
              </a:rPr>
              <a:t>Маркетинг (корень домена)</a:t>
            </a:r>
            <a:endParaRPr lang="en-US" sz="950" dirty="0"/>
          </a:p>
        </p:txBody>
      </p:sp>
      <p:sp>
        <p:nvSpPr>
          <p:cNvPr id="20" name="Text 16"/>
          <p:cNvSpPr/>
          <p:nvPr/>
        </p:nvSpPr>
        <p:spPr>
          <a:xfrm>
            <a:off x="5577840" y="3456432"/>
            <a:ext cx="5790895" cy="566928"/>
          </a:xfrm>
          <a:prstGeom prst="rect">
            <a:avLst/>
          </a:prstGeom>
          <a:noFill/>
          <a:ln/>
        </p:spPr>
        <p:txBody>
          <a:bodyPr wrap="square" lIns="0" tIns="0" rIns="0" bIns="0" rtlCol="0" anchor="ctr"/>
          <a:lstStyle/>
          <a:p>
            <a:pPr indent="0" marL="0">
              <a:lnSpc>
                <a:spcPct val="118000"/>
              </a:lnSpc>
              <a:buNone/>
            </a:pPr>
            <a:r>
              <a:rPr lang="en-US" sz="1150" b="1" dirty="0">
                <a:solidFill>
                  <a:srgbClr val="2E9E6E"/>
                </a:solidFill>
                <a:latin typeface="Calibri" pitchFamily="34" charset="0"/>
                <a:ea typeface="Calibri" pitchFamily="34" charset="-122"/>
                <a:cs typeface="Calibri" pitchFamily="34" charset="-120"/>
              </a:rPr>
              <a:t>Видит: </a:t>
            </a:r>
            <a:pPr indent="0" marL="0">
              <a:lnSpc>
                <a:spcPct val="118000"/>
              </a:lnSpc>
              <a:buNone/>
            </a:pPr>
            <a:r>
              <a:rPr lang="en-US" sz="1150" dirty="0">
                <a:solidFill>
                  <a:srgbClr val="1B1E27"/>
                </a:solidFill>
                <a:latin typeface="Calibri" pitchFamily="34" charset="0"/>
                <a:ea typeface="Calibri" pitchFamily="34" charset="-122"/>
                <a:cs typeface="Calibri" pitchFamily="34" charset="-120"/>
              </a:rPr>
              <a:t>через свой домен обычным нисходящим наследованием доходит до «Список сотрудников» и всех его потомков — включая «Оклады»</a:t>
            </a:r>
            <a:endParaRPr lang="en-US" sz="1150" dirty="0"/>
          </a:p>
        </p:txBody>
      </p:sp>
      <p:sp>
        <p:nvSpPr>
          <p:cNvPr id="21" name="Text 17"/>
          <p:cNvSpPr/>
          <p:nvPr/>
        </p:nvSpPr>
        <p:spPr>
          <a:xfrm>
            <a:off x="5577840" y="4041648"/>
            <a:ext cx="5790895" cy="621792"/>
          </a:xfrm>
          <a:prstGeom prst="rect">
            <a:avLst/>
          </a:prstGeom>
          <a:noFill/>
          <a:ln/>
        </p:spPr>
        <p:txBody>
          <a:bodyPr wrap="square" lIns="0" tIns="0" rIns="0" bIns="0" rtlCol="0" anchor="ctr"/>
          <a:lstStyle/>
          <a:p>
            <a:pPr indent="0" marL="0">
              <a:lnSpc>
                <a:spcPct val="120000"/>
              </a:lnSpc>
              <a:buNone/>
            </a:pPr>
            <a:r>
              <a:rPr lang="en-US" sz="1150" b="1" dirty="0">
                <a:solidFill>
                  <a:srgbClr val="B87A1E"/>
                </a:solidFill>
                <a:latin typeface="Calibri" pitchFamily="34" charset="0"/>
                <a:ea typeface="Calibri" pitchFamily="34" charset="-122"/>
                <a:cs typeface="Calibri" pitchFamily="34" charset="-120"/>
              </a:rPr>
              <a:t>Открытый вопрос: </a:t>
            </a:r>
            <a:pPr indent="0" marL="0">
              <a:lnSpc>
                <a:spcPct val="120000"/>
              </a:lnSpc>
              <a:buNone/>
            </a:pPr>
            <a:r>
              <a:rPr lang="en-US" sz="1150" dirty="0">
                <a:solidFill>
                  <a:srgbClr val="5B6472"/>
                </a:solidFill>
                <a:latin typeface="Calibri" pitchFamily="34" charset="0"/>
                <a:ea typeface="Calibri" pitchFamily="34" charset="-122"/>
                <a:cs typeface="Calibri" pitchFamily="34" charset="-120"/>
              </a:rPr>
              <a:t>весь список целиком или только свой отдел? Дерево само по себе не отвечает — тот же вопрос, что и «2a» на предыдущем слайде</a:t>
            </a:r>
            <a:endParaRPr lang="en-US" sz="1150" dirty="0"/>
          </a:p>
        </p:txBody>
      </p:sp>
      <p:sp>
        <p:nvSpPr>
          <p:cNvPr id="22" name="Shape 18"/>
          <p:cNvSpPr/>
          <p:nvPr/>
        </p:nvSpPr>
        <p:spPr>
          <a:xfrm>
            <a:off x="548640" y="4937760"/>
            <a:ext cx="11094415" cy="1481328"/>
          </a:xfrm>
          <a:prstGeom prst="roundRect">
            <a:avLst>
              <a:gd name="adj" fmla="val 5556"/>
            </a:avLst>
          </a:prstGeom>
          <a:solidFill>
            <a:srgbClr val="F3F5F8"/>
          </a:solidFill>
          <a:ln w="9525">
            <a:solidFill>
              <a:srgbClr val="DCE1E9"/>
            </a:solidFill>
            <a:prstDash val="solid"/>
          </a:ln>
          <a:effectLst>
            <a:outerShdw sx="100000" sy="100000" kx="0" ky="0" algn="bl" rotWithShape="0" blurRad="101600" dist="25400" dir="5400000">
              <a:srgbClr val="6B7280">
                <a:alpha val="16000"/>
              </a:srgbClr>
            </a:outerShdw>
          </a:effectLst>
        </p:spPr>
      </p:sp>
      <p:sp>
        <p:nvSpPr>
          <p:cNvPr id="23" name="Shape 19"/>
          <p:cNvSpPr/>
          <p:nvPr/>
        </p:nvSpPr>
        <p:spPr>
          <a:xfrm>
            <a:off x="758952" y="5321808"/>
            <a:ext cx="713232" cy="713232"/>
          </a:xfrm>
          <a:prstGeom prst="ellipse">
            <a:avLst/>
          </a:prstGeom>
          <a:solidFill>
            <a:srgbClr val="E4ECFD"/>
          </a:solidFill>
          <a:ln/>
        </p:spPr>
      </p:sp>
      <p:pic>
        <p:nvPicPr>
          <p:cNvPr id="24" name="Image 2" descr="preencoded.png">    </p:cNvPr>
          <p:cNvPicPr>
            <a:picLocks noChangeAspect="1"/>
          </p:cNvPicPr>
          <p:nvPr/>
        </p:nvPicPr>
        <p:blipFill>
          <a:blip r:embed="rId3"/>
          <a:stretch>
            <a:fillRect/>
          </a:stretch>
        </p:blipFill>
        <p:spPr>
          <a:xfrm>
            <a:off x="930128" y="5492984"/>
            <a:ext cx="370881" cy="370881"/>
          </a:xfrm>
          <a:prstGeom prst="rect">
            <a:avLst/>
          </a:prstGeom>
        </p:spPr>
      </p:pic>
      <p:sp>
        <p:nvSpPr>
          <p:cNvPr id="25" name="Text 20"/>
          <p:cNvSpPr/>
          <p:nvPr/>
        </p:nvSpPr>
        <p:spPr>
          <a:xfrm>
            <a:off x="1691640" y="5065776"/>
            <a:ext cx="3429000" cy="347472"/>
          </a:xfrm>
          <a:prstGeom prst="rect">
            <a:avLst/>
          </a:prstGeom>
          <a:noFill/>
          <a:ln/>
        </p:spPr>
        <p:txBody>
          <a:bodyPr wrap="square" lIns="0" tIns="0" rIns="0" bIns="0" rtlCol="0" anchor="ctr"/>
          <a:lstStyle/>
          <a:p>
            <a:pPr indent="0" marL="0">
              <a:buNone/>
            </a:pPr>
            <a:r>
              <a:rPr lang="en-US" sz="1400" b="1" dirty="0">
                <a:solidFill>
                  <a:srgbClr val="1B1E27"/>
                </a:solidFill>
                <a:latin typeface="Cambria" pitchFamily="34" charset="0"/>
                <a:ea typeface="Cambria" pitchFamily="34" charset="-122"/>
                <a:cs typeface="Cambria" pitchFamily="34" charset="-120"/>
              </a:rPr>
              <a:t>Директор по персоналу</a:t>
            </a:r>
            <a:endParaRPr lang="en-US" sz="1400" dirty="0"/>
          </a:p>
        </p:txBody>
      </p:sp>
      <p:sp>
        <p:nvSpPr>
          <p:cNvPr id="26" name="Shape 21"/>
          <p:cNvSpPr/>
          <p:nvPr/>
        </p:nvSpPr>
        <p:spPr>
          <a:xfrm>
            <a:off x="1691640" y="5449824"/>
            <a:ext cx="3566160" cy="329184"/>
          </a:xfrm>
          <a:prstGeom prst="roundRect">
            <a:avLst>
              <a:gd name="adj" fmla="val 50000"/>
            </a:avLst>
          </a:prstGeom>
          <a:solidFill>
            <a:srgbClr val="EEF0F3"/>
          </a:solidFill>
          <a:ln/>
        </p:spPr>
      </p:sp>
      <p:sp>
        <p:nvSpPr>
          <p:cNvPr id="27" name="Text 22"/>
          <p:cNvSpPr/>
          <p:nvPr/>
        </p:nvSpPr>
        <p:spPr>
          <a:xfrm>
            <a:off x="1737360" y="5449824"/>
            <a:ext cx="3474720" cy="329184"/>
          </a:xfrm>
          <a:prstGeom prst="rect">
            <a:avLst/>
          </a:prstGeom>
          <a:noFill/>
          <a:ln/>
        </p:spPr>
        <p:txBody>
          <a:bodyPr wrap="square" lIns="0" tIns="0" rIns="0" bIns="0" rtlCol="0" anchor="ctr"/>
          <a:lstStyle/>
          <a:p>
            <a:pPr algn="ctr" indent="0" marL="0">
              <a:buNone/>
            </a:pPr>
            <a:r>
              <a:rPr lang="en-US" sz="950" b="1" dirty="0">
                <a:solidFill>
                  <a:srgbClr val="1B1E27"/>
                </a:solidFill>
                <a:latin typeface="Calibri" pitchFamily="34" charset="0"/>
                <a:ea typeface="Calibri" pitchFamily="34" charset="-122"/>
                <a:cs typeface="Calibri" pitchFamily="34" charset="-120"/>
              </a:rPr>
              <a:t>Кадры (корень домена)</a:t>
            </a:r>
            <a:endParaRPr lang="en-US" sz="950" dirty="0"/>
          </a:p>
        </p:txBody>
      </p:sp>
      <p:sp>
        <p:nvSpPr>
          <p:cNvPr id="28" name="Text 23"/>
          <p:cNvSpPr/>
          <p:nvPr/>
        </p:nvSpPr>
        <p:spPr>
          <a:xfrm>
            <a:off x="5577840" y="5102352"/>
            <a:ext cx="5790895" cy="566928"/>
          </a:xfrm>
          <a:prstGeom prst="rect">
            <a:avLst/>
          </a:prstGeom>
          <a:noFill/>
          <a:ln/>
        </p:spPr>
        <p:txBody>
          <a:bodyPr wrap="square" lIns="0" tIns="0" rIns="0" bIns="0" rtlCol="0" anchor="ctr"/>
          <a:lstStyle/>
          <a:p>
            <a:pPr indent="0" marL="0">
              <a:lnSpc>
                <a:spcPct val="118000"/>
              </a:lnSpc>
              <a:buNone/>
            </a:pPr>
            <a:r>
              <a:rPr lang="en-US" sz="1150" b="1" dirty="0">
                <a:solidFill>
                  <a:srgbClr val="2E9E6E"/>
                </a:solidFill>
                <a:latin typeface="Calibri" pitchFamily="34" charset="0"/>
                <a:ea typeface="Calibri" pitchFamily="34" charset="-122"/>
                <a:cs typeface="Calibri" pitchFamily="34" charset="-120"/>
              </a:rPr>
              <a:t>Видит: </a:t>
            </a:r>
            <a:pPr indent="0" marL="0">
              <a:lnSpc>
                <a:spcPct val="118000"/>
              </a:lnSpc>
              <a:buNone/>
            </a:pPr>
            <a:r>
              <a:rPr lang="en-US" sz="1150" dirty="0">
                <a:solidFill>
                  <a:srgbClr val="1B1E27"/>
                </a:solidFill>
                <a:latin typeface="Calibri" pitchFamily="34" charset="0"/>
                <a:ea typeface="Calibri" pitchFamily="34" charset="-122"/>
                <a:cs typeface="Calibri" pitchFamily="34" charset="-120"/>
              </a:rPr>
              <a:t>весь домен целиком — «Список сотрудников», «Отпускные», «Больничные» и «Оклады»</a:t>
            </a:r>
            <a:endParaRPr lang="en-US" sz="1150" dirty="0"/>
          </a:p>
        </p:txBody>
      </p:sp>
      <p:sp>
        <p:nvSpPr>
          <p:cNvPr id="29" name="Text 24"/>
          <p:cNvSpPr/>
          <p:nvPr/>
        </p:nvSpPr>
        <p:spPr>
          <a:xfrm>
            <a:off x="5577840" y="5687568"/>
            <a:ext cx="5790895" cy="621792"/>
          </a:xfrm>
          <a:prstGeom prst="rect">
            <a:avLst/>
          </a:prstGeom>
          <a:noFill/>
          <a:ln/>
        </p:spPr>
        <p:txBody>
          <a:bodyPr wrap="square" lIns="0" tIns="0" rIns="0" bIns="0" rtlCol="0" anchor="ctr"/>
          <a:lstStyle/>
          <a:p>
            <a:pPr indent="0" marL="0">
              <a:lnSpc>
                <a:spcPct val="120000"/>
              </a:lnSpc>
              <a:buNone/>
            </a:pPr>
            <a:r>
              <a:rPr lang="en-US" sz="1150" b="1" dirty="0">
                <a:solidFill>
                  <a:srgbClr val="1E4FB8"/>
                </a:solidFill>
                <a:latin typeface="Calibri" pitchFamily="34" charset="0"/>
                <a:ea typeface="Calibri" pitchFamily="34" charset="-122"/>
                <a:cs typeface="Calibri" pitchFamily="34" charset="-120"/>
              </a:rPr>
              <a:t>Особенность корня: </a:t>
            </a:r>
            <a:pPr indent="0" marL="0">
              <a:lnSpc>
                <a:spcPct val="120000"/>
              </a:lnSpc>
              <a:buNone/>
            </a:pPr>
            <a:r>
              <a:rPr lang="en-US" sz="1150" dirty="0">
                <a:solidFill>
                  <a:srgbClr val="5B6472"/>
                </a:solidFill>
                <a:latin typeface="Calibri" pitchFamily="34" charset="0"/>
                <a:ea typeface="Calibri" pitchFamily="34" charset="-122"/>
                <a:cs typeface="Calibri" pitchFamily="34" charset="-120"/>
              </a:rPr>
              <a:t>привязан к корню — права default-узла в принципе нельзя сузить (тот же инвариант, что и в Microsoft Purview)</a:t>
            </a:r>
            <a:endParaRPr lang="en-US" sz="1150" dirty="0"/>
          </a:p>
        </p:txBody>
      </p:sp>
      <p:sp>
        <p:nvSpPr>
          <p:cNvPr id="30" name="Text 25"/>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Камерата · Case 17 · Локальный чат и иерархия каталогов</a:t>
            </a:r>
            <a:endParaRPr lang="en-US" sz="900" dirty="0"/>
          </a:p>
        </p:txBody>
      </p:sp>
      <p:sp>
        <p:nvSpPr>
          <p:cNvPr id="31" name="Text 26"/>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B6472"/>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algn="l" indent="0" marL="0">
              <a:buNone/>
            </a:pPr>
            <a:r>
              <a:rPr lang="en-US" sz="1150" b="1" spc="140" kern="0" dirty="0">
                <a:solidFill>
                  <a:srgbClr val="B87A1E"/>
                </a:solidFill>
                <a:latin typeface="Calibri" pitchFamily="34" charset="0"/>
                <a:ea typeface="Calibri" pitchFamily="34" charset="-122"/>
                <a:cs typeface="Calibri" pitchFamily="34" charset="-120"/>
              </a:rPr>
              <a:t>ЧАСТЬ 2 · ПОЧЕМУ ЭТО РЕАЛИСТИЧНОЕ ПРЕДЛОЖЕНИЕ</a:t>
            </a:r>
            <a:endParaRPr lang="en-US" sz="1150" dirty="0"/>
          </a:p>
        </p:txBody>
      </p:sp>
      <p:sp>
        <p:nvSpPr>
          <p:cNvPr id="3" name="Text 1"/>
          <p:cNvSpPr/>
          <p:nvPr/>
        </p:nvSpPr>
        <p:spPr>
          <a:xfrm>
            <a:off x="548640" y="658368"/>
            <a:ext cx="11094415" cy="777240"/>
          </a:xfrm>
          <a:prstGeom prst="rect">
            <a:avLst/>
          </a:prstGeom>
          <a:noFill/>
          <a:ln/>
        </p:spPr>
        <p:txBody>
          <a:bodyPr wrap="square" lIns="0" tIns="0" rIns="0" bIns="0" rtlCol="0" anchor="t"/>
          <a:lstStyle/>
          <a:p>
            <a:pPr algn="l" indent="0" marL="0">
              <a:lnSpc>
                <a:spcPct val="102000"/>
              </a:lnSpc>
              <a:buNone/>
            </a:pPr>
            <a:r>
              <a:rPr lang="en-US" sz="2900" b="1" dirty="0">
                <a:solidFill>
                  <a:srgbClr val="1B1E27"/>
                </a:solidFill>
                <a:latin typeface="Cambria" pitchFamily="34" charset="0"/>
                <a:ea typeface="Cambria" pitchFamily="34" charset="-122"/>
                <a:cs typeface="Cambria" pitchFamily="34" charset="-120"/>
              </a:rPr>
              <a:t>Не просто идея — предложение подкреплено проверенными прецедентами</a:t>
            </a:r>
            <a:endParaRPr lang="en-US" sz="2900" dirty="0"/>
          </a:p>
        </p:txBody>
      </p:sp>
      <p:sp>
        <p:nvSpPr>
          <p:cNvPr id="4" name="Shape 2"/>
          <p:cNvSpPr/>
          <p:nvPr/>
        </p:nvSpPr>
        <p:spPr>
          <a:xfrm>
            <a:off x="548640" y="1783080"/>
            <a:ext cx="3520440" cy="3063240"/>
          </a:xfrm>
          <a:prstGeom prst="roundRect">
            <a:avLst>
              <a:gd name="adj" fmla="val 2687"/>
            </a:avLst>
          </a:prstGeom>
          <a:solidFill>
            <a:srgbClr val="F3F5F8"/>
          </a:solidFill>
          <a:ln w="9525">
            <a:solidFill>
              <a:srgbClr val="DCE1E9"/>
            </a:solidFill>
            <a:prstDash val="solid"/>
          </a:ln>
          <a:effectLst>
            <a:outerShdw sx="100000" sy="100000" kx="0" ky="0" algn="bl" rotWithShape="0" blurRad="101600" dist="25400" dir="5400000">
              <a:srgbClr val="6B7280">
                <a:alpha val="16000"/>
              </a:srgbClr>
            </a:outerShdw>
          </a:effectLst>
        </p:spPr>
      </p:sp>
      <p:sp>
        <p:nvSpPr>
          <p:cNvPr id="5" name="Shape 3"/>
          <p:cNvSpPr/>
          <p:nvPr/>
        </p:nvSpPr>
        <p:spPr>
          <a:xfrm>
            <a:off x="1920240" y="2080260"/>
            <a:ext cx="777240" cy="777240"/>
          </a:xfrm>
          <a:prstGeom prst="ellipse">
            <a:avLst/>
          </a:prstGeom>
          <a:solidFill>
            <a:srgbClr val="E4ECFD"/>
          </a:solidFill>
          <a:ln/>
        </p:spPr>
      </p:sp>
      <p:pic>
        <p:nvPicPr>
          <p:cNvPr id="6" name="Image 0" descr="preencoded.png">    </p:cNvPr>
          <p:cNvPicPr>
            <a:picLocks noChangeAspect="1"/>
          </p:cNvPicPr>
          <p:nvPr/>
        </p:nvPicPr>
        <p:blipFill>
          <a:blip r:embed="rId1"/>
          <a:stretch>
            <a:fillRect/>
          </a:stretch>
        </p:blipFill>
        <p:spPr>
          <a:xfrm>
            <a:off x="2106778" y="2266798"/>
            <a:ext cx="404165" cy="404165"/>
          </a:xfrm>
          <a:prstGeom prst="rect">
            <a:avLst/>
          </a:prstGeom>
        </p:spPr>
      </p:pic>
      <p:sp>
        <p:nvSpPr>
          <p:cNvPr id="7" name="Text 4"/>
          <p:cNvSpPr/>
          <p:nvPr/>
        </p:nvSpPr>
        <p:spPr>
          <a:xfrm>
            <a:off x="777240" y="2990088"/>
            <a:ext cx="3063240" cy="822960"/>
          </a:xfrm>
          <a:prstGeom prst="rect">
            <a:avLst/>
          </a:prstGeom>
          <a:noFill/>
          <a:ln/>
        </p:spPr>
        <p:txBody>
          <a:bodyPr wrap="square" lIns="0" tIns="0" rIns="0" bIns="0" rtlCol="0" anchor="t"/>
          <a:lstStyle/>
          <a:p>
            <a:pPr algn="ctr" indent="0" marL="0">
              <a:lnSpc>
                <a:spcPct val="110000"/>
              </a:lnSpc>
              <a:buNone/>
            </a:pPr>
            <a:r>
              <a:rPr lang="en-US" sz="1500" b="1" dirty="0">
                <a:solidFill>
                  <a:srgbClr val="1B1E27"/>
                </a:solidFill>
                <a:latin typeface="Cambria" pitchFamily="34" charset="0"/>
                <a:ea typeface="Cambria" pitchFamily="34" charset="-122"/>
                <a:cs typeface="Cambria" pitchFamily="34" charset="-120"/>
              </a:rPr>
              <a:t>Решает 2b, не изобретая ось заново</a:t>
            </a:r>
            <a:endParaRPr lang="en-US" sz="1500" dirty="0"/>
          </a:p>
        </p:txBody>
      </p:sp>
      <p:sp>
        <p:nvSpPr>
          <p:cNvPr id="8" name="Text 5"/>
          <p:cNvSpPr/>
          <p:nvPr/>
        </p:nvSpPr>
        <p:spPr>
          <a:xfrm>
            <a:off x="822960" y="3886200"/>
            <a:ext cx="2971800" cy="777240"/>
          </a:xfrm>
          <a:prstGeom prst="rect">
            <a:avLst/>
          </a:prstGeom>
          <a:noFill/>
          <a:ln/>
        </p:spPr>
        <p:txBody>
          <a:bodyPr wrap="square" lIns="0" tIns="0" rIns="0" bIns="0" rtlCol="0" anchor="ctr"/>
          <a:lstStyle/>
          <a:p>
            <a:pPr algn="ctr" indent="0" marL="0">
              <a:lnSpc>
                <a:spcPct val="126000"/>
              </a:lnSpc>
              <a:buNone/>
            </a:pPr>
            <a:r>
              <a:rPr lang="en-US" sz="1150" dirty="0">
                <a:solidFill>
                  <a:srgbClr val="5B6472"/>
                </a:solidFill>
                <a:latin typeface="Calibri" pitchFamily="34" charset="0"/>
                <a:ea typeface="Calibri" pitchFamily="34" charset="-122"/>
                <a:cs typeface="Calibri" pitchFamily="34" charset="-120"/>
              </a:rPr>
              <a:t>Организацию множества плоских доменов (2b) — одной структурой, а не отдельными несвязанными доменами. Гранулярность внутри документа (2a) — отдельный, ещё открытый вопрос к разработчику.</a:t>
            </a:r>
            <a:endParaRPr lang="en-US" sz="1150" dirty="0"/>
          </a:p>
        </p:txBody>
      </p:sp>
      <p:sp>
        <p:nvSpPr>
          <p:cNvPr id="9" name="Shape 6"/>
          <p:cNvSpPr/>
          <p:nvPr/>
        </p:nvSpPr>
        <p:spPr>
          <a:xfrm>
            <a:off x="4334256" y="1783080"/>
            <a:ext cx="3520440" cy="3063240"/>
          </a:xfrm>
          <a:prstGeom prst="roundRect">
            <a:avLst>
              <a:gd name="adj" fmla="val 2687"/>
            </a:avLst>
          </a:prstGeom>
          <a:solidFill>
            <a:srgbClr val="F3F5F8"/>
          </a:solidFill>
          <a:ln w="9525">
            <a:solidFill>
              <a:srgbClr val="DCE1E9"/>
            </a:solidFill>
            <a:prstDash val="solid"/>
          </a:ln>
          <a:effectLst>
            <a:outerShdw sx="100000" sy="100000" kx="0" ky="0" algn="bl" rotWithShape="0" blurRad="101600" dist="25400" dir="5400000">
              <a:srgbClr val="6B7280">
                <a:alpha val="16000"/>
              </a:srgbClr>
            </a:outerShdw>
          </a:effectLst>
        </p:spPr>
      </p:sp>
      <p:sp>
        <p:nvSpPr>
          <p:cNvPr id="10" name="Shape 7"/>
          <p:cNvSpPr/>
          <p:nvPr/>
        </p:nvSpPr>
        <p:spPr>
          <a:xfrm>
            <a:off x="5705856" y="2080260"/>
            <a:ext cx="777240" cy="777240"/>
          </a:xfrm>
          <a:prstGeom prst="ellipse">
            <a:avLst/>
          </a:prstGeom>
          <a:solidFill>
            <a:srgbClr val="E4ECFD"/>
          </a:solidFill>
          <a:ln/>
        </p:spPr>
      </p:sp>
      <p:pic>
        <p:nvPicPr>
          <p:cNvPr id="11" name="Image 1" descr="preencoded.png">    </p:cNvPr>
          <p:cNvPicPr>
            <a:picLocks noChangeAspect="1"/>
          </p:cNvPicPr>
          <p:nvPr/>
        </p:nvPicPr>
        <p:blipFill>
          <a:blip r:embed="rId2"/>
          <a:stretch>
            <a:fillRect/>
          </a:stretch>
        </p:blipFill>
        <p:spPr>
          <a:xfrm>
            <a:off x="5892394" y="2266798"/>
            <a:ext cx="404165" cy="404165"/>
          </a:xfrm>
          <a:prstGeom prst="rect">
            <a:avLst/>
          </a:prstGeom>
        </p:spPr>
      </p:pic>
      <p:sp>
        <p:nvSpPr>
          <p:cNvPr id="12" name="Text 8"/>
          <p:cNvSpPr/>
          <p:nvPr/>
        </p:nvSpPr>
        <p:spPr>
          <a:xfrm>
            <a:off x="4562856" y="2990088"/>
            <a:ext cx="3063240" cy="822960"/>
          </a:xfrm>
          <a:prstGeom prst="rect">
            <a:avLst/>
          </a:prstGeom>
          <a:noFill/>
          <a:ln/>
        </p:spPr>
        <p:txBody>
          <a:bodyPr wrap="square" lIns="0" tIns="0" rIns="0" bIns="0" rtlCol="0" anchor="t"/>
          <a:lstStyle/>
          <a:p>
            <a:pPr algn="ctr" indent="0" marL="0">
              <a:lnSpc>
                <a:spcPct val="110000"/>
              </a:lnSpc>
              <a:buNone/>
            </a:pPr>
            <a:r>
              <a:rPr lang="en-US" sz="1500" b="1" dirty="0">
                <a:solidFill>
                  <a:srgbClr val="1B1E27"/>
                </a:solidFill>
                <a:latin typeface="Cambria" pitchFamily="34" charset="0"/>
                <a:ea typeface="Cambria" pitchFamily="34" charset="-122"/>
                <a:cs typeface="Cambria" pitchFamily="34" charset="-120"/>
              </a:rPr>
              <a:t>Проверено прецедентами</a:t>
            </a:r>
            <a:endParaRPr lang="en-US" sz="1500" dirty="0"/>
          </a:p>
        </p:txBody>
      </p:sp>
      <p:sp>
        <p:nvSpPr>
          <p:cNvPr id="13" name="Text 9"/>
          <p:cNvSpPr/>
          <p:nvPr/>
        </p:nvSpPr>
        <p:spPr>
          <a:xfrm>
            <a:off x="4608576" y="3886200"/>
            <a:ext cx="2971800" cy="777240"/>
          </a:xfrm>
          <a:prstGeom prst="rect">
            <a:avLst/>
          </a:prstGeom>
          <a:noFill/>
          <a:ln/>
        </p:spPr>
        <p:txBody>
          <a:bodyPr wrap="square" lIns="0" tIns="0" rIns="0" bIns="0" rtlCol="0" anchor="ctr"/>
          <a:lstStyle/>
          <a:p>
            <a:pPr algn="ctr" indent="0" marL="0">
              <a:lnSpc>
                <a:spcPct val="126000"/>
              </a:lnSpc>
              <a:buNone/>
            </a:pPr>
            <a:r>
              <a:rPr lang="en-US" sz="1150" dirty="0">
                <a:solidFill>
                  <a:srgbClr val="5B6472"/>
                </a:solidFill>
                <a:latin typeface="Calibri" pitchFamily="34" charset="0"/>
                <a:ea typeface="Calibri" pitchFamily="34" charset="-122"/>
                <a:cs typeface="Calibri" pitchFamily="34" charset="-120"/>
              </a:rPr>
              <a:t>Правило «вниз, не вбок и не вверх» — задокументированное поведение Microsoft Purview («Restrict inherited permissions»), Google Drive («Limited access»), SharePoint и Databricks Unity Catalog.</a:t>
            </a:r>
            <a:endParaRPr lang="en-US" sz="1150" dirty="0"/>
          </a:p>
        </p:txBody>
      </p:sp>
      <p:sp>
        <p:nvSpPr>
          <p:cNvPr id="14" name="Shape 10"/>
          <p:cNvSpPr/>
          <p:nvPr/>
        </p:nvSpPr>
        <p:spPr>
          <a:xfrm>
            <a:off x="8119872" y="1783080"/>
            <a:ext cx="3520440" cy="3063240"/>
          </a:xfrm>
          <a:prstGeom prst="roundRect">
            <a:avLst>
              <a:gd name="adj" fmla="val 2687"/>
            </a:avLst>
          </a:prstGeom>
          <a:solidFill>
            <a:srgbClr val="F3F5F8"/>
          </a:solidFill>
          <a:ln w="9525">
            <a:solidFill>
              <a:srgbClr val="DCE1E9"/>
            </a:solidFill>
            <a:prstDash val="solid"/>
          </a:ln>
          <a:effectLst>
            <a:outerShdw sx="100000" sy="100000" kx="0" ky="0" algn="bl" rotWithShape="0" blurRad="101600" dist="25400" dir="5400000">
              <a:srgbClr val="6B7280">
                <a:alpha val="16000"/>
              </a:srgbClr>
            </a:outerShdw>
          </a:effectLst>
        </p:spPr>
      </p:sp>
      <p:sp>
        <p:nvSpPr>
          <p:cNvPr id="15" name="Shape 11"/>
          <p:cNvSpPr/>
          <p:nvPr/>
        </p:nvSpPr>
        <p:spPr>
          <a:xfrm>
            <a:off x="9491472" y="2080260"/>
            <a:ext cx="777240" cy="777240"/>
          </a:xfrm>
          <a:prstGeom prst="ellipse">
            <a:avLst/>
          </a:prstGeom>
          <a:solidFill>
            <a:srgbClr val="E4ECFD"/>
          </a:solidFill>
          <a:ln/>
        </p:spPr>
      </p:sp>
      <p:pic>
        <p:nvPicPr>
          <p:cNvPr id="16" name="Image 2" descr="preencoded.png">    </p:cNvPr>
          <p:cNvPicPr>
            <a:picLocks noChangeAspect="1"/>
          </p:cNvPicPr>
          <p:nvPr/>
        </p:nvPicPr>
        <p:blipFill>
          <a:blip r:embed="rId3"/>
          <a:stretch>
            <a:fillRect/>
          </a:stretch>
        </p:blipFill>
        <p:spPr>
          <a:xfrm>
            <a:off x="9678010" y="2266798"/>
            <a:ext cx="404165" cy="404165"/>
          </a:xfrm>
          <a:prstGeom prst="rect">
            <a:avLst/>
          </a:prstGeom>
        </p:spPr>
      </p:pic>
      <p:sp>
        <p:nvSpPr>
          <p:cNvPr id="17" name="Text 12"/>
          <p:cNvSpPr/>
          <p:nvPr/>
        </p:nvSpPr>
        <p:spPr>
          <a:xfrm>
            <a:off x="8348472" y="2990088"/>
            <a:ext cx="3063240" cy="822960"/>
          </a:xfrm>
          <a:prstGeom prst="rect">
            <a:avLst/>
          </a:prstGeom>
          <a:noFill/>
          <a:ln/>
        </p:spPr>
        <p:txBody>
          <a:bodyPr wrap="square" lIns="0" tIns="0" rIns="0" bIns="0" rtlCol="0" anchor="t"/>
          <a:lstStyle/>
          <a:p>
            <a:pPr algn="ctr" indent="0" marL="0">
              <a:lnSpc>
                <a:spcPct val="110000"/>
              </a:lnSpc>
              <a:buNone/>
            </a:pPr>
            <a:r>
              <a:rPr lang="en-US" sz="1500" b="1" dirty="0">
                <a:solidFill>
                  <a:srgbClr val="1B1E27"/>
                </a:solidFill>
                <a:latin typeface="Cambria" pitchFamily="34" charset="0"/>
                <a:ea typeface="Cambria" pitchFamily="34" charset="-122"/>
                <a:cs typeface="Cambria" pitchFamily="34" charset="-120"/>
              </a:rPr>
              <a:t>Домен не меняется по сути</a:t>
            </a:r>
            <a:endParaRPr lang="en-US" sz="1500" dirty="0"/>
          </a:p>
        </p:txBody>
      </p:sp>
      <p:sp>
        <p:nvSpPr>
          <p:cNvPr id="18" name="Text 13"/>
          <p:cNvSpPr/>
          <p:nvPr/>
        </p:nvSpPr>
        <p:spPr>
          <a:xfrm>
            <a:off x="8394192" y="3886200"/>
            <a:ext cx="2971800" cy="777240"/>
          </a:xfrm>
          <a:prstGeom prst="rect">
            <a:avLst/>
          </a:prstGeom>
          <a:noFill/>
          <a:ln/>
        </p:spPr>
        <p:txBody>
          <a:bodyPr wrap="square" lIns="0" tIns="0" rIns="0" bIns="0" rtlCol="0" anchor="ctr"/>
          <a:lstStyle/>
          <a:p>
            <a:pPr algn="ctr" indent="0" marL="0">
              <a:lnSpc>
                <a:spcPct val="126000"/>
              </a:lnSpc>
              <a:buNone/>
            </a:pPr>
            <a:r>
              <a:rPr lang="en-US" sz="1150" dirty="0">
                <a:solidFill>
                  <a:srgbClr val="5B6472"/>
                </a:solidFill>
                <a:latin typeface="Calibri" pitchFamily="34" charset="0"/>
                <a:ea typeface="Calibri" pitchFamily="34" charset="-122"/>
                <a:cs typeface="Calibri" pitchFamily="34" charset="-120"/>
              </a:rPr>
              <a:t>Остаётся тематической единицей data mesh-подхода — просто получает внутреннюю структуру вместо плоского списка коллекций.</a:t>
            </a:r>
            <a:endParaRPr lang="en-US" sz="1150" dirty="0"/>
          </a:p>
        </p:txBody>
      </p:sp>
      <p:sp>
        <p:nvSpPr>
          <p:cNvPr id="19" name="Text 14"/>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Камерата · Case 17 · Локальный чат и иерархия каталогов</a:t>
            </a:r>
            <a:endParaRPr lang="en-US" sz="900" dirty="0"/>
          </a:p>
        </p:txBody>
      </p:sp>
      <p:sp>
        <p:nvSpPr>
          <p:cNvPr id="20" name="Text 15"/>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B6472"/>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algn="l" indent="0" marL="0">
              <a:buNone/>
            </a:pPr>
            <a:r>
              <a:rPr lang="en-US" sz="1150" b="1" spc="140" kern="0" dirty="0">
                <a:solidFill>
                  <a:srgbClr val="B87A1E"/>
                </a:solidFill>
                <a:latin typeface="Calibri" pitchFamily="34" charset="0"/>
                <a:ea typeface="Calibri" pitchFamily="34" charset="-122"/>
                <a:cs typeface="Calibri" pitchFamily="34" charset="-120"/>
              </a:rPr>
              <a:t>ЧАСТЬ 2 · ДО РЕАЛИЗАЦИИ</a:t>
            </a:r>
            <a:endParaRPr lang="en-US" sz="1150" dirty="0"/>
          </a:p>
        </p:txBody>
      </p:sp>
      <p:sp>
        <p:nvSpPr>
          <p:cNvPr id="3" name="Text 1"/>
          <p:cNvSpPr/>
          <p:nvPr/>
        </p:nvSpPr>
        <p:spPr>
          <a:xfrm>
            <a:off x="548640" y="658368"/>
            <a:ext cx="11094415" cy="777240"/>
          </a:xfrm>
          <a:prstGeom prst="rect">
            <a:avLst/>
          </a:prstGeom>
          <a:noFill/>
          <a:ln/>
        </p:spPr>
        <p:txBody>
          <a:bodyPr wrap="square" lIns="0" tIns="0" rIns="0" bIns="0" rtlCol="0" anchor="t"/>
          <a:lstStyle/>
          <a:p>
            <a:pPr algn="l" indent="0" marL="0">
              <a:lnSpc>
                <a:spcPct val="102000"/>
              </a:lnSpc>
              <a:buNone/>
            </a:pPr>
            <a:r>
              <a:rPr lang="en-US" sz="2900" b="1" dirty="0">
                <a:solidFill>
                  <a:srgbClr val="1B1E27"/>
                </a:solidFill>
                <a:latin typeface="Cambria" pitchFamily="34" charset="0"/>
                <a:ea typeface="Cambria" pitchFamily="34" charset="-122"/>
                <a:cs typeface="Cambria" pitchFamily="34" charset="-120"/>
              </a:rPr>
              <a:t>Что остаётся в силе сегодня, пока предложение не реализовано</a:t>
            </a:r>
            <a:endParaRPr lang="en-US" sz="2900" dirty="0"/>
          </a:p>
        </p:txBody>
      </p:sp>
      <p:sp>
        <p:nvSpPr>
          <p:cNvPr id="4" name="Shape 2"/>
          <p:cNvSpPr/>
          <p:nvPr/>
        </p:nvSpPr>
        <p:spPr>
          <a:xfrm>
            <a:off x="548640" y="1737360"/>
            <a:ext cx="11094415" cy="2103120"/>
          </a:xfrm>
          <a:prstGeom prst="roundRect">
            <a:avLst>
              <a:gd name="adj" fmla="val 3913"/>
            </a:avLst>
          </a:prstGeom>
          <a:solidFill>
            <a:srgbClr val="E1F3EA"/>
          </a:solidFill>
          <a:ln w="9525">
            <a:solidFill>
              <a:srgbClr val="2E9E6E"/>
            </a:solidFill>
            <a:prstDash val="solid"/>
          </a:ln>
          <a:effectLst>
            <a:outerShdw sx="100000" sy="100000" kx="0" ky="0" algn="bl" rotWithShape="0" blurRad="101600" dist="25400" dir="5400000">
              <a:srgbClr val="6B7280">
                <a:alpha val="16000"/>
              </a:srgbClr>
            </a:outerShdw>
          </a:effectLst>
        </p:spPr>
      </p:sp>
      <p:sp>
        <p:nvSpPr>
          <p:cNvPr id="5" name="Shape 3"/>
          <p:cNvSpPr/>
          <p:nvPr/>
        </p:nvSpPr>
        <p:spPr>
          <a:xfrm>
            <a:off x="777240" y="2423160"/>
            <a:ext cx="731520" cy="731520"/>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952805" y="2598725"/>
            <a:ext cx="380390" cy="380390"/>
          </a:xfrm>
          <a:prstGeom prst="rect">
            <a:avLst/>
          </a:prstGeom>
        </p:spPr>
      </p:pic>
      <p:sp>
        <p:nvSpPr>
          <p:cNvPr id="7" name="Text 4"/>
          <p:cNvSpPr/>
          <p:nvPr/>
        </p:nvSpPr>
        <p:spPr>
          <a:xfrm>
            <a:off x="1828800" y="2011680"/>
            <a:ext cx="9539935" cy="457200"/>
          </a:xfrm>
          <a:prstGeom prst="rect">
            <a:avLst/>
          </a:prstGeom>
          <a:noFill/>
          <a:ln/>
        </p:spPr>
        <p:txBody>
          <a:bodyPr wrap="square" lIns="0" tIns="0" rIns="0" bIns="0" rtlCol="0" anchor="ctr"/>
          <a:lstStyle/>
          <a:p>
            <a:pPr indent="0" marL="0">
              <a:buNone/>
            </a:pPr>
            <a:r>
              <a:rPr lang="en-US" sz="1600" b="1" dirty="0">
                <a:solidFill>
                  <a:srgbClr val="1B1E27"/>
                </a:solidFill>
                <a:latin typeface="Cambria" pitchFamily="34" charset="0"/>
                <a:ea typeface="Cambria" pitchFamily="34" charset="-122"/>
                <a:cs typeface="Cambria" pitchFamily="34" charset="-120"/>
              </a:rPr>
              <a:t>Обходной путь работает и не блокирует пилот Д8</a:t>
            </a:r>
            <a:endParaRPr lang="en-US" sz="1600" dirty="0"/>
          </a:p>
        </p:txBody>
      </p:sp>
      <p:sp>
        <p:nvSpPr>
          <p:cNvPr id="8" name="Text 5"/>
          <p:cNvSpPr/>
          <p:nvPr/>
        </p:nvSpPr>
        <p:spPr>
          <a:xfrm>
            <a:off x="1828800" y="2514600"/>
            <a:ext cx="9539935" cy="1097280"/>
          </a:xfrm>
          <a:prstGeom prst="rect">
            <a:avLst/>
          </a:prstGeom>
          <a:noFill/>
          <a:ln/>
        </p:spPr>
        <p:txBody>
          <a:bodyPr wrap="square" lIns="0" tIns="0" rIns="0" bIns="0" rtlCol="0" anchor="ctr"/>
          <a:lstStyle/>
          <a:p>
            <a:pPr indent="0" marL="0">
              <a:lnSpc>
                <a:spcPct val="128000"/>
              </a:lnSpc>
              <a:buNone/>
            </a:pPr>
            <a:r>
              <a:rPr lang="en-US" sz="1250" dirty="0">
                <a:solidFill>
                  <a:srgbClr val="1B1E27"/>
                </a:solidFill>
                <a:latin typeface="Calibri" pitchFamily="34" charset="0"/>
                <a:ea typeface="Calibri" pitchFamily="34" charset="-122"/>
                <a:cs typeface="Calibri" pitchFamily="34" charset="-120"/>
              </a:rPr>
              <a:t>Дробление одной темы на несколько отдельных коллекций с разными доменами (2b) — штатный, документированный способ развести уровни допуска уже сегодня. Для гранулярности внутри документа (2a) обходного пути пока нет вообще — только физическое разнесение по разным файлам.</a:t>
            </a:r>
            <a:endParaRPr lang="en-US" sz="1250" dirty="0"/>
          </a:p>
        </p:txBody>
      </p:sp>
      <p:sp>
        <p:nvSpPr>
          <p:cNvPr id="9" name="Shape 6"/>
          <p:cNvSpPr/>
          <p:nvPr/>
        </p:nvSpPr>
        <p:spPr>
          <a:xfrm>
            <a:off x="548640" y="4160520"/>
            <a:ext cx="5257800" cy="1463040"/>
          </a:xfrm>
          <a:prstGeom prst="roundRect">
            <a:avLst>
              <a:gd name="adj" fmla="val 5625"/>
            </a:avLst>
          </a:prstGeom>
          <a:solidFill>
            <a:srgbClr val="FBEED9"/>
          </a:solidFill>
          <a:ln w="9525">
            <a:solidFill>
              <a:srgbClr val="E8A33D"/>
            </a:solidFill>
            <a:prstDash val="solid"/>
          </a:ln>
          <a:effectLst>
            <a:outerShdw sx="100000" sy="100000" kx="0" ky="0" algn="bl" rotWithShape="0" blurRad="101600" dist="25400" dir="5400000">
              <a:srgbClr val="6B7280">
                <a:alpha val="16000"/>
              </a:srgbClr>
            </a:outerShdw>
          </a:effectLst>
        </p:spPr>
      </p:sp>
      <p:sp>
        <p:nvSpPr>
          <p:cNvPr id="10" name="Shape 7"/>
          <p:cNvSpPr/>
          <p:nvPr/>
        </p:nvSpPr>
        <p:spPr>
          <a:xfrm>
            <a:off x="731520" y="4617720"/>
            <a:ext cx="548640" cy="548640"/>
          </a:xfrm>
          <a:prstGeom prst="ellipse">
            <a:avLst/>
          </a:prstGeom>
          <a:solidFill>
            <a:srgbClr val="FFFFFF"/>
          </a:solidFill>
          <a:ln/>
        </p:spPr>
      </p:sp>
      <p:pic>
        <p:nvPicPr>
          <p:cNvPr id="11" name="Image 1" descr="preencoded.png">    </p:cNvPr>
          <p:cNvPicPr>
            <a:picLocks noChangeAspect="1"/>
          </p:cNvPicPr>
          <p:nvPr/>
        </p:nvPicPr>
        <p:blipFill>
          <a:blip r:embed="rId2"/>
          <a:stretch>
            <a:fillRect/>
          </a:stretch>
        </p:blipFill>
        <p:spPr>
          <a:xfrm>
            <a:off x="863194" y="4749394"/>
            <a:ext cx="285293" cy="285293"/>
          </a:xfrm>
          <a:prstGeom prst="rect">
            <a:avLst/>
          </a:prstGeom>
        </p:spPr>
      </p:pic>
      <p:sp>
        <p:nvSpPr>
          <p:cNvPr id="12" name="Text 8"/>
          <p:cNvSpPr/>
          <p:nvPr/>
        </p:nvSpPr>
        <p:spPr>
          <a:xfrm>
            <a:off x="1463040" y="4160520"/>
            <a:ext cx="4069080" cy="1463040"/>
          </a:xfrm>
          <a:prstGeom prst="rect">
            <a:avLst/>
          </a:prstGeom>
          <a:noFill/>
          <a:ln/>
        </p:spPr>
        <p:txBody>
          <a:bodyPr wrap="square" lIns="0" tIns="0" rIns="0" bIns="0" rtlCol="0" anchor="ctr"/>
          <a:lstStyle/>
          <a:p>
            <a:pPr indent="0" marL="0">
              <a:lnSpc>
                <a:spcPct val="125000"/>
              </a:lnSpc>
              <a:buNone/>
            </a:pPr>
            <a:r>
              <a:rPr lang="en-US" sz="1250" dirty="0">
                <a:solidFill>
                  <a:srgbClr val="1B1E27"/>
                </a:solidFill>
                <a:latin typeface="Calibri" pitchFamily="34" charset="0"/>
                <a:ea typeface="Calibri" pitchFamily="34" charset="-122"/>
                <a:cs typeface="Calibri" pitchFamily="34" charset="-120"/>
              </a:rPr>
              <a:t>Требует тщательного планирования структуры доменов на старте.</a:t>
            </a:r>
            <a:endParaRPr lang="en-US" sz="1250" dirty="0"/>
          </a:p>
        </p:txBody>
      </p:sp>
      <p:sp>
        <p:nvSpPr>
          <p:cNvPr id="13" name="Shape 9"/>
          <p:cNvSpPr/>
          <p:nvPr/>
        </p:nvSpPr>
        <p:spPr>
          <a:xfrm>
            <a:off x="6217920" y="4160520"/>
            <a:ext cx="5257800" cy="1463040"/>
          </a:xfrm>
          <a:prstGeom prst="roundRect">
            <a:avLst>
              <a:gd name="adj" fmla="val 5625"/>
            </a:avLst>
          </a:prstGeom>
          <a:solidFill>
            <a:srgbClr val="FBEED9"/>
          </a:solidFill>
          <a:ln w="9525">
            <a:solidFill>
              <a:srgbClr val="E8A33D"/>
            </a:solidFill>
            <a:prstDash val="solid"/>
          </a:ln>
          <a:effectLst>
            <a:outerShdw sx="100000" sy="100000" kx="0" ky="0" algn="bl" rotWithShape="0" blurRad="101600" dist="25400" dir="5400000">
              <a:srgbClr val="6B7280">
                <a:alpha val="16000"/>
              </a:srgbClr>
            </a:outerShdw>
          </a:effectLst>
        </p:spPr>
      </p:sp>
      <p:sp>
        <p:nvSpPr>
          <p:cNvPr id="14" name="Shape 10"/>
          <p:cNvSpPr/>
          <p:nvPr/>
        </p:nvSpPr>
        <p:spPr>
          <a:xfrm>
            <a:off x="6400800" y="4617720"/>
            <a:ext cx="548640" cy="548640"/>
          </a:xfrm>
          <a:prstGeom prst="ellipse">
            <a:avLst/>
          </a:prstGeom>
          <a:solidFill>
            <a:srgbClr val="FFFFFF"/>
          </a:solidFill>
          <a:ln/>
        </p:spPr>
      </p:sp>
      <p:pic>
        <p:nvPicPr>
          <p:cNvPr id="15" name="Image 2" descr="preencoded.png">    </p:cNvPr>
          <p:cNvPicPr>
            <a:picLocks noChangeAspect="1"/>
          </p:cNvPicPr>
          <p:nvPr/>
        </p:nvPicPr>
        <p:blipFill>
          <a:blip r:embed="rId3"/>
          <a:stretch>
            <a:fillRect/>
          </a:stretch>
        </p:blipFill>
        <p:spPr>
          <a:xfrm>
            <a:off x="6532474" y="4749394"/>
            <a:ext cx="285293" cy="285293"/>
          </a:xfrm>
          <a:prstGeom prst="rect">
            <a:avLst/>
          </a:prstGeom>
        </p:spPr>
      </p:pic>
      <p:sp>
        <p:nvSpPr>
          <p:cNvPr id="16" name="Text 11"/>
          <p:cNvSpPr/>
          <p:nvPr/>
        </p:nvSpPr>
        <p:spPr>
          <a:xfrm>
            <a:off x="7132320" y="4160520"/>
            <a:ext cx="4069080" cy="1463040"/>
          </a:xfrm>
          <a:prstGeom prst="rect">
            <a:avLst/>
          </a:prstGeom>
          <a:noFill/>
          <a:ln/>
        </p:spPr>
        <p:txBody>
          <a:bodyPr wrap="square" lIns="0" tIns="0" rIns="0" bIns="0" rtlCol="0" anchor="ctr"/>
          <a:lstStyle/>
          <a:p>
            <a:pPr indent="0" marL="0">
              <a:lnSpc>
                <a:spcPct val="122000"/>
              </a:lnSpc>
              <a:buNone/>
            </a:pPr>
            <a:r>
              <a:rPr lang="en-US" sz="1250" dirty="0">
                <a:solidFill>
                  <a:srgbClr val="1B1E27"/>
                </a:solidFill>
                <a:latin typeface="Calibri" pitchFamily="34" charset="0"/>
                <a:ea typeface="Calibri" pitchFamily="34" charset="-122"/>
                <a:cs typeface="Calibri" pitchFamily="34" charset="-120"/>
              </a:rPr>
              <a:t>Добавляет административную нагрузку — несколько коллекций/доменов на тему, риск разъезжания.</a:t>
            </a:r>
            <a:endParaRPr lang="en-US" sz="1250" dirty="0"/>
          </a:p>
        </p:txBody>
      </p:sp>
      <p:sp>
        <p:nvSpPr>
          <p:cNvPr id="17" name="Text 12"/>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Камерата · Case 17 · Локальный чат и иерархия каталогов</a:t>
            </a:r>
            <a:endParaRPr lang="en-US" sz="900" dirty="0"/>
          </a:p>
        </p:txBody>
      </p:sp>
      <p:sp>
        <p:nvSpPr>
          <p:cNvPr id="18" name="Text 13"/>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B6472"/>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algn="l" indent="0" marL="0">
              <a:buNone/>
            </a:pPr>
            <a:r>
              <a:rPr lang="en-US" sz="1150" b="1" spc="140" kern="0" dirty="0">
                <a:solidFill>
                  <a:srgbClr val="B87A1E"/>
                </a:solidFill>
                <a:latin typeface="Calibri" pitchFamily="34" charset="0"/>
                <a:ea typeface="Calibri" pitchFamily="34" charset="-122"/>
                <a:cs typeface="Calibri" pitchFamily="34" charset="-120"/>
              </a:rPr>
              <a:t>ЧАСТЬ 2 · ИТОГ</a:t>
            </a:r>
            <a:endParaRPr lang="en-US" sz="1150" dirty="0"/>
          </a:p>
        </p:txBody>
      </p:sp>
      <p:sp>
        <p:nvSpPr>
          <p:cNvPr id="3" name="Text 1"/>
          <p:cNvSpPr/>
          <p:nvPr/>
        </p:nvSpPr>
        <p:spPr>
          <a:xfrm>
            <a:off x="548640" y="658368"/>
            <a:ext cx="11094415" cy="777240"/>
          </a:xfrm>
          <a:prstGeom prst="rect">
            <a:avLst/>
          </a:prstGeom>
          <a:noFill/>
          <a:ln/>
        </p:spPr>
        <p:txBody>
          <a:bodyPr wrap="square" lIns="0" tIns="0" rIns="0" bIns="0" rtlCol="0" anchor="t"/>
          <a:lstStyle/>
          <a:p>
            <a:pPr algn="l" indent="0" marL="0">
              <a:lnSpc>
                <a:spcPct val="102000"/>
              </a:lnSpc>
              <a:buNone/>
            </a:pPr>
            <a:r>
              <a:rPr lang="en-US" sz="2900" b="1" dirty="0">
                <a:solidFill>
                  <a:srgbClr val="1B1E27"/>
                </a:solidFill>
                <a:latin typeface="Cambria" pitchFamily="34" charset="0"/>
                <a:ea typeface="Cambria" pitchFamily="34" charset="-122"/>
                <a:cs typeface="Cambria" pitchFamily="34" charset="-120"/>
              </a:rPr>
              <a:t>Статус: предложение к реализации, а не отчёт о дефекте</a:t>
            </a:r>
            <a:endParaRPr lang="en-US" sz="2900" dirty="0"/>
          </a:p>
        </p:txBody>
      </p:sp>
      <p:sp>
        <p:nvSpPr>
          <p:cNvPr id="4" name="Shape 2"/>
          <p:cNvSpPr/>
          <p:nvPr/>
        </p:nvSpPr>
        <p:spPr>
          <a:xfrm>
            <a:off x="548640" y="1783080"/>
            <a:ext cx="11094415" cy="1920240"/>
          </a:xfrm>
          <a:prstGeom prst="roundRect">
            <a:avLst>
              <a:gd name="adj" fmla="val 4286"/>
            </a:avLst>
          </a:prstGeom>
          <a:solidFill>
            <a:srgbClr val="F3F5F8"/>
          </a:solidFill>
          <a:ln w="9525">
            <a:solidFill>
              <a:srgbClr val="DCE1E9"/>
            </a:solidFill>
            <a:prstDash val="solid"/>
          </a:ln>
          <a:effectLst>
            <a:outerShdw sx="100000" sy="100000" kx="0" ky="0" algn="bl" rotWithShape="0" blurRad="101600" dist="25400" dir="5400000">
              <a:srgbClr val="6B7280">
                <a:alpha val="16000"/>
              </a:srgbClr>
            </a:outerShdw>
          </a:effectLst>
        </p:spPr>
      </p:sp>
      <p:sp>
        <p:nvSpPr>
          <p:cNvPr id="5" name="Shape 3"/>
          <p:cNvSpPr/>
          <p:nvPr/>
        </p:nvSpPr>
        <p:spPr>
          <a:xfrm>
            <a:off x="914400" y="2103120"/>
            <a:ext cx="3063240" cy="457200"/>
          </a:xfrm>
          <a:prstGeom prst="roundRect">
            <a:avLst>
              <a:gd name="adj" fmla="val 50000"/>
            </a:avLst>
          </a:prstGeom>
          <a:solidFill>
            <a:srgbClr val="E4ECFD"/>
          </a:solidFill>
          <a:ln/>
        </p:spPr>
      </p:sp>
      <p:sp>
        <p:nvSpPr>
          <p:cNvPr id="6" name="Text 4"/>
          <p:cNvSpPr/>
          <p:nvPr/>
        </p:nvSpPr>
        <p:spPr>
          <a:xfrm>
            <a:off x="960120" y="2103120"/>
            <a:ext cx="2971800" cy="457200"/>
          </a:xfrm>
          <a:prstGeom prst="rect">
            <a:avLst/>
          </a:prstGeom>
          <a:noFill/>
          <a:ln/>
        </p:spPr>
        <p:txBody>
          <a:bodyPr wrap="square" lIns="0" tIns="0" rIns="0" bIns="0" rtlCol="0" anchor="ctr"/>
          <a:lstStyle/>
          <a:p>
            <a:pPr algn="ctr" indent="0" marL="0">
              <a:buNone/>
            </a:pPr>
            <a:r>
              <a:rPr lang="en-US" sz="1300" b="1" dirty="0">
                <a:solidFill>
                  <a:srgbClr val="1E4FB8"/>
                </a:solidFill>
                <a:latin typeface="Calibri" pitchFamily="34" charset="0"/>
                <a:ea typeface="Calibri" pitchFamily="34" charset="-122"/>
                <a:cs typeface="Calibri" pitchFamily="34" charset="-120"/>
              </a:rPr>
              <a:t>Предложение к реализации</a:t>
            </a:r>
            <a:endParaRPr lang="en-US" sz="1300" dirty="0"/>
          </a:p>
        </p:txBody>
      </p:sp>
      <p:sp>
        <p:nvSpPr>
          <p:cNvPr id="7" name="Text 5"/>
          <p:cNvSpPr/>
          <p:nvPr/>
        </p:nvSpPr>
        <p:spPr>
          <a:xfrm>
            <a:off x="914400" y="2697480"/>
            <a:ext cx="10362895" cy="868680"/>
          </a:xfrm>
          <a:prstGeom prst="rect">
            <a:avLst/>
          </a:prstGeom>
          <a:noFill/>
          <a:ln/>
        </p:spPr>
        <p:txBody>
          <a:bodyPr wrap="square" lIns="0" tIns="0" rIns="0" bIns="0" rtlCol="0" anchor="ctr"/>
          <a:lstStyle/>
          <a:p>
            <a:pPr indent="0" marL="0">
              <a:lnSpc>
                <a:spcPct val="124000"/>
              </a:lnSpc>
              <a:buNone/>
            </a:pPr>
            <a:r>
              <a:rPr lang="en-US" sz="1250" dirty="0">
                <a:solidFill>
                  <a:srgbClr val="1B1E27"/>
                </a:solidFill>
                <a:latin typeface="Calibri" pitchFamily="34" charset="0"/>
                <a:ea typeface="Calibri" pitchFamily="34" charset="-122"/>
                <a:cs typeface="Calibri" pitchFamily="34" charset="-120"/>
              </a:rPr>
              <a:t>Это не найденный баг и не пробел в тестировании — а естественное расширение сегодняшней модели «домен = тематическая область», подкреплённое конкретными прецедентами из индустрии. Предлагаю включить его в дорожную карту и готов прорабатывать детали реализации вместе с разработчиком.</a:t>
            </a:r>
            <a:endParaRPr lang="en-US" sz="1250" dirty="0"/>
          </a:p>
        </p:txBody>
      </p:sp>
      <p:sp>
        <p:nvSpPr>
          <p:cNvPr id="8" name="Text 6"/>
          <p:cNvSpPr/>
          <p:nvPr/>
        </p:nvSpPr>
        <p:spPr>
          <a:xfrm>
            <a:off x="548640" y="4023360"/>
            <a:ext cx="11094415" cy="502920"/>
          </a:xfrm>
          <a:prstGeom prst="rect">
            <a:avLst/>
          </a:prstGeom>
          <a:noFill/>
          <a:ln/>
        </p:spPr>
        <p:txBody>
          <a:bodyPr wrap="square" lIns="0" tIns="0" rIns="0" bIns="0" rtlCol="0" anchor="ctr"/>
          <a:lstStyle/>
          <a:p>
            <a:pPr indent="0" marL="0">
              <a:lnSpc>
                <a:spcPct val="128000"/>
              </a:lnSpc>
              <a:buNone/>
            </a:pPr>
            <a:r>
              <a:rPr lang="en-US" sz="1300" i="1" dirty="0">
                <a:solidFill>
                  <a:srgbClr val="5B6472"/>
                </a:solidFill>
                <a:latin typeface="Calibri" pitchFamily="34" charset="0"/>
                <a:ea typeface="Calibri" pitchFamily="34" charset="-122"/>
                <a:cs typeface="Calibri" pitchFamily="34" charset="-120"/>
              </a:rPr>
              <a:t>Вероятный кандидат в существующей структуре дорожной карты — линия «Каталог» (КАТ-) или «Надзор» (НАД-).</a:t>
            </a:r>
            <a:endParaRPr lang="en-US" sz="1300" dirty="0"/>
          </a:p>
        </p:txBody>
      </p:sp>
      <p:sp>
        <p:nvSpPr>
          <p:cNvPr id="9" name="Text 7"/>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Камерата · Case 17 · Локальный чат и иерархия каталогов</a:t>
            </a:r>
            <a:endParaRPr lang="en-US" sz="900" dirty="0"/>
          </a:p>
        </p:txBody>
      </p:sp>
      <p:sp>
        <p:nvSpPr>
          <p:cNvPr id="10" name="Text 8"/>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B6472"/>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algn="l" indent="0" marL="0">
              <a:buNone/>
            </a:pPr>
            <a:r>
              <a:rPr lang="en-US" sz="1150" b="1" spc="140" kern="0" dirty="0">
                <a:solidFill>
                  <a:srgbClr val="2F6FED"/>
                </a:solidFill>
                <a:latin typeface="Calibri" pitchFamily="34" charset="0"/>
                <a:ea typeface="Calibri" pitchFamily="34" charset="-122"/>
                <a:cs typeface="Calibri" pitchFamily="34" charset="-120"/>
              </a:rPr>
              <a:t>СИНТЕЗ</a:t>
            </a:r>
            <a:endParaRPr lang="en-US" sz="1150" dirty="0"/>
          </a:p>
        </p:txBody>
      </p:sp>
      <p:sp>
        <p:nvSpPr>
          <p:cNvPr id="3" name="Text 1"/>
          <p:cNvSpPr/>
          <p:nvPr/>
        </p:nvSpPr>
        <p:spPr>
          <a:xfrm>
            <a:off x="548640" y="658368"/>
            <a:ext cx="11094415" cy="777240"/>
          </a:xfrm>
          <a:prstGeom prst="rect">
            <a:avLst/>
          </a:prstGeom>
          <a:noFill/>
          <a:ln/>
        </p:spPr>
        <p:txBody>
          <a:bodyPr wrap="square" lIns="0" tIns="0" rIns="0" bIns="0" rtlCol="0" anchor="t"/>
          <a:lstStyle/>
          <a:p>
            <a:pPr algn="l" indent="0" marL="0">
              <a:lnSpc>
                <a:spcPct val="102000"/>
              </a:lnSpc>
              <a:buNone/>
            </a:pPr>
            <a:r>
              <a:rPr lang="en-US" sz="2700" b="1" dirty="0">
                <a:solidFill>
                  <a:srgbClr val="1B1E27"/>
                </a:solidFill>
                <a:latin typeface="Cambria" pitchFamily="34" charset="0"/>
                <a:ea typeface="Cambria" pitchFamily="34" charset="-122"/>
                <a:cs typeface="Cambria" pitchFamily="34" charset="-120"/>
              </a:rPr>
              <a:t>Одна и та же граница контроля доступа — два разных ответа: сомнение и предложение</a:t>
            </a:r>
            <a:endParaRPr lang="en-US" sz="2700" dirty="0"/>
          </a:p>
        </p:txBody>
      </p:sp>
      <p:sp>
        <p:nvSpPr>
          <p:cNvPr id="4" name="Shape 2"/>
          <p:cNvSpPr/>
          <p:nvPr/>
        </p:nvSpPr>
        <p:spPr>
          <a:xfrm>
            <a:off x="548640" y="1737360"/>
            <a:ext cx="5257800" cy="3017520"/>
          </a:xfrm>
          <a:prstGeom prst="roundRect">
            <a:avLst>
              <a:gd name="adj" fmla="val 2727"/>
            </a:avLst>
          </a:prstGeom>
          <a:solidFill>
            <a:srgbClr val="E1F3EA"/>
          </a:solidFill>
          <a:ln w="9525">
            <a:solidFill>
              <a:srgbClr val="2E9E6E"/>
            </a:solidFill>
            <a:prstDash val="solid"/>
          </a:ln>
          <a:effectLst>
            <a:outerShdw sx="100000" sy="100000" kx="0" ky="0" algn="bl" rotWithShape="0" blurRad="101600" dist="25400" dir="5400000">
              <a:srgbClr val="6B7280">
                <a:alpha val="16000"/>
              </a:srgbClr>
            </a:outerShdw>
          </a:effectLst>
        </p:spPr>
      </p:sp>
      <p:sp>
        <p:nvSpPr>
          <p:cNvPr id="5" name="Shape 3"/>
          <p:cNvSpPr/>
          <p:nvPr/>
        </p:nvSpPr>
        <p:spPr>
          <a:xfrm>
            <a:off x="754380" y="1943100"/>
            <a:ext cx="594360" cy="594360"/>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897026" y="2085746"/>
            <a:ext cx="309067" cy="309067"/>
          </a:xfrm>
          <a:prstGeom prst="rect">
            <a:avLst/>
          </a:prstGeom>
        </p:spPr>
      </p:pic>
      <p:sp>
        <p:nvSpPr>
          <p:cNvPr id="7" name="Text 4"/>
          <p:cNvSpPr/>
          <p:nvPr/>
        </p:nvSpPr>
        <p:spPr>
          <a:xfrm>
            <a:off x="1554480" y="2011680"/>
            <a:ext cx="3977640" cy="457200"/>
          </a:xfrm>
          <a:prstGeom prst="rect">
            <a:avLst/>
          </a:prstGeom>
          <a:noFill/>
          <a:ln/>
        </p:spPr>
        <p:txBody>
          <a:bodyPr wrap="square" lIns="0" tIns="0" rIns="0" bIns="0" rtlCol="0" anchor="ctr"/>
          <a:lstStyle/>
          <a:p>
            <a:pPr indent="0" marL="0">
              <a:buNone/>
            </a:pPr>
            <a:r>
              <a:rPr lang="en-US" sz="1550" b="1" dirty="0">
                <a:solidFill>
                  <a:srgbClr val="1B1E27"/>
                </a:solidFill>
                <a:latin typeface="Cambria" pitchFamily="34" charset="0"/>
                <a:ea typeface="Cambria" pitchFamily="34" charset="-122"/>
                <a:cs typeface="Cambria" pitchFamily="34" charset="-120"/>
              </a:rPr>
              <a:t>Гарантировано сегодня</a:t>
            </a:r>
            <a:endParaRPr lang="en-US" sz="1550" dirty="0"/>
          </a:p>
        </p:txBody>
      </p:sp>
      <p:sp>
        <p:nvSpPr>
          <p:cNvPr id="8" name="Text 5"/>
          <p:cNvSpPr/>
          <p:nvPr/>
        </p:nvSpPr>
        <p:spPr>
          <a:xfrm>
            <a:off x="868680" y="2651760"/>
            <a:ext cx="4617720" cy="1828800"/>
          </a:xfrm>
          <a:prstGeom prst="rect">
            <a:avLst/>
          </a:prstGeom>
          <a:noFill/>
          <a:ln/>
        </p:spPr>
        <p:txBody>
          <a:bodyPr wrap="square" lIns="0" tIns="0" rIns="0" bIns="0" rtlCol="0" anchor="ctr"/>
          <a:lstStyle/>
          <a:p>
            <a:pPr indent="0" marL="0">
              <a:lnSpc>
                <a:spcPct val="140000"/>
              </a:lnSpc>
              <a:buNone/>
            </a:pPr>
            <a:r>
              <a:rPr lang="en-US" sz="1300" dirty="0">
                <a:solidFill>
                  <a:srgbClr val="1B1E27"/>
                </a:solidFill>
                <a:latin typeface="Calibri" pitchFamily="34" charset="0"/>
                <a:ea typeface="Calibri" pitchFamily="34" charset="-122"/>
                <a:cs typeface="Calibri" pitchFamily="34" charset="-120"/>
              </a:rPr>
              <a:t>• Маскирование PII/DLP — для серверной части</a:t>
            </a:r>
            <a:endParaRPr lang="en-US" sz="1300" dirty="0"/>
          </a:p>
          <a:p>
            <a:pPr indent="0" marL="0">
              <a:lnSpc>
                <a:spcPct val="140000"/>
              </a:lnSpc>
              <a:buNone/>
            </a:pPr>
            <a:r>
              <a:rPr lang="en-US" sz="1300" dirty="0">
                <a:solidFill>
                  <a:srgbClr val="1B1E27"/>
                </a:solidFill>
                <a:latin typeface="Calibri" pitchFamily="34" charset="0"/>
                <a:ea typeface="Calibri" pitchFamily="34" charset="-122"/>
                <a:cs typeface="Calibri" pitchFamily="34" charset="-120"/>
              </a:rPr>
              <a:t>• Контроль доступа — на уровне целой коллекции (флаг «домен есть / домена нет»)</a:t>
            </a:r>
            <a:endParaRPr lang="en-US" sz="1300" dirty="0"/>
          </a:p>
        </p:txBody>
      </p:sp>
      <p:sp>
        <p:nvSpPr>
          <p:cNvPr id="9" name="Shape 6"/>
          <p:cNvSpPr/>
          <p:nvPr/>
        </p:nvSpPr>
        <p:spPr>
          <a:xfrm>
            <a:off x="6217920" y="1737360"/>
            <a:ext cx="5257800" cy="3017520"/>
          </a:xfrm>
          <a:prstGeom prst="roundRect">
            <a:avLst>
              <a:gd name="adj" fmla="val 2727"/>
            </a:avLst>
          </a:prstGeom>
          <a:solidFill>
            <a:srgbClr val="FBEED9"/>
          </a:solidFill>
          <a:ln w="9525">
            <a:solidFill>
              <a:srgbClr val="E8A33D"/>
            </a:solidFill>
            <a:prstDash val="solid"/>
          </a:ln>
          <a:effectLst>
            <a:outerShdw sx="100000" sy="100000" kx="0" ky="0" algn="bl" rotWithShape="0" blurRad="101600" dist="25400" dir="5400000">
              <a:srgbClr val="6B7280">
                <a:alpha val="16000"/>
              </a:srgbClr>
            </a:outerShdw>
          </a:effectLst>
        </p:spPr>
      </p:sp>
      <p:sp>
        <p:nvSpPr>
          <p:cNvPr id="10" name="Shape 7"/>
          <p:cNvSpPr/>
          <p:nvPr/>
        </p:nvSpPr>
        <p:spPr>
          <a:xfrm>
            <a:off x="6423660" y="1943100"/>
            <a:ext cx="594360" cy="594360"/>
          </a:xfrm>
          <a:prstGeom prst="ellipse">
            <a:avLst/>
          </a:prstGeom>
          <a:solidFill>
            <a:srgbClr val="FFFFFF"/>
          </a:solidFill>
          <a:ln/>
        </p:spPr>
      </p:sp>
      <p:pic>
        <p:nvPicPr>
          <p:cNvPr id="11" name="Image 1" descr="preencoded.png">    </p:cNvPr>
          <p:cNvPicPr>
            <a:picLocks noChangeAspect="1"/>
          </p:cNvPicPr>
          <p:nvPr/>
        </p:nvPicPr>
        <p:blipFill>
          <a:blip r:embed="rId2"/>
          <a:stretch>
            <a:fillRect/>
          </a:stretch>
        </p:blipFill>
        <p:spPr>
          <a:xfrm>
            <a:off x="6566306" y="2085746"/>
            <a:ext cx="309067" cy="309067"/>
          </a:xfrm>
          <a:prstGeom prst="rect">
            <a:avLst/>
          </a:prstGeom>
        </p:spPr>
      </p:pic>
      <p:sp>
        <p:nvSpPr>
          <p:cNvPr id="12" name="Text 8"/>
          <p:cNvSpPr/>
          <p:nvPr/>
        </p:nvSpPr>
        <p:spPr>
          <a:xfrm>
            <a:off x="7223760" y="2011680"/>
            <a:ext cx="3977640" cy="457200"/>
          </a:xfrm>
          <a:prstGeom prst="rect">
            <a:avLst/>
          </a:prstGeom>
          <a:noFill/>
          <a:ln/>
        </p:spPr>
        <p:txBody>
          <a:bodyPr wrap="square" lIns="0" tIns="0" rIns="0" bIns="0" rtlCol="0" anchor="ctr"/>
          <a:lstStyle/>
          <a:p>
            <a:pPr indent="0" marL="0">
              <a:buNone/>
            </a:pPr>
            <a:r>
              <a:rPr lang="en-US" sz="1550" b="1" dirty="0">
                <a:solidFill>
                  <a:srgbClr val="1B1E27"/>
                </a:solidFill>
                <a:latin typeface="Cambria" pitchFamily="34" charset="0"/>
                <a:ea typeface="Cambria" pitchFamily="34" charset="-122"/>
                <a:cs typeface="Cambria" pitchFamily="34" charset="-120"/>
              </a:rPr>
              <a:t>Две разные позиции</a:t>
            </a:r>
            <a:endParaRPr lang="en-US" sz="1550" dirty="0"/>
          </a:p>
        </p:txBody>
      </p:sp>
      <p:sp>
        <p:nvSpPr>
          <p:cNvPr id="13" name="Text 9"/>
          <p:cNvSpPr/>
          <p:nvPr/>
        </p:nvSpPr>
        <p:spPr>
          <a:xfrm>
            <a:off x="6537960" y="2651760"/>
            <a:ext cx="4617720" cy="1828800"/>
          </a:xfrm>
          <a:prstGeom prst="rect">
            <a:avLst/>
          </a:prstGeom>
          <a:noFill/>
          <a:ln/>
        </p:spPr>
        <p:txBody>
          <a:bodyPr wrap="square" lIns="0" tIns="0" rIns="0" bIns="0" rtlCol="0" anchor="ctr"/>
          <a:lstStyle/>
          <a:p>
            <a:pPr indent="0" marL="0">
              <a:lnSpc>
                <a:spcPct val="132000"/>
              </a:lnSpc>
              <a:buNone/>
            </a:pPr>
            <a:r>
              <a:rPr lang="en-US" sz="1200" dirty="0">
                <a:solidFill>
                  <a:srgbClr val="1B1E27"/>
                </a:solidFill>
                <a:latin typeface="Calibri" pitchFamily="34" charset="0"/>
                <a:ea typeface="Calibri" pitchFamily="34" charset="-122"/>
                <a:cs typeface="Calibri" pitchFamily="34" charset="-120"/>
              </a:rPr>
              <a:t>• Часть 1 — сомнение в необходимости нового места исполнения (компьютер сотрудника); жду ответа разработчика</a:t>
            </a:r>
            <a:endParaRPr lang="en-US" sz="1200" dirty="0"/>
          </a:p>
          <a:p>
            <a:pPr indent="0" marL="0">
              <a:lnSpc>
                <a:spcPct val="132000"/>
              </a:lnSpc>
              <a:buNone/>
            </a:pPr>
            <a:r>
              <a:rPr lang="en-US" sz="1200" dirty="0">
                <a:solidFill>
                  <a:srgbClr val="1B1E27"/>
                </a:solidFill>
                <a:latin typeface="Calibri" pitchFamily="34" charset="0"/>
                <a:ea typeface="Calibri" pitchFamily="34" charset="-122"/>
                <a:cs typeface="Calibri" pitchFamily="34" charset="-120"/>
              </a:rPr>
              <a:t>• Часть 2 — предложение к реализации, снимающее ограничение плоского домена; готов дорабатывать вместе с разработчиком</a:t>
            </a:r>
            <a:endParaRPr lang="en-US" sz="1200" dirty="0"/>
          </a:p>
        </p:txBody>
      </p:sp>
      <p:sp>
        <p:nvSpPr>
          <p:cNvPr id="14" name="Text 10"/>
          <p:cNvSpPr/>
          <p:nvPr/>
        </p:nvSpPr>
        <p:spPr>
          <a:xfrm>
            <a:off x="548640" y="5029200"/>
            <a:ext cx="11094415" cy="457200"/>
          </a:xfrm>
          <a:prstGeom prst="rect">
            <a:avLst/>
          </a:prstGeom>
          <a:noFill/>
          <a:ln/>
        </p:spPr>
        <p:txBody>
          <a:bodyPr wrap="square" lIns="0" tIns="0" rIns="0" bIns="0" rtlCol="0" anchor="ctr"/>
          <a:lstStyle/>
          <a:p>
            <a:pPr algn="ctr" indent="0" marL="0">
              <a:lnSpc>
                <a:spcPct val="120000"/>
              </a:lnSpc>
              <a:buNone/>
            </a:pPr>
            <a:r>
              <a:rPr lang="en-US" sz="1300" b="1" i="1" dirty="0">
                <a:solidFill>
                  <a:srgbClr val="1B1E27"/>
                </a:solidFill>
                <a:latin typeface="Calibri" pitchFamily="34" charset="0"/>
                <a:ea typeface="Calibri" pitchFamily="34" charset="-122"/>
                <a:cs typeface="Calibri" pitchFamily="34" charset="-120"/>
              </a:rPr>
              <a:t>Часть 1 остаётся открытым вопросом к разработчику, Часть 2 — предложением к реализации. Обе позиции поднимаются проактивно, до того как РМ-1 или «Каталог»/«Надзор» станут обязательством в договоре.</a:t>
            </a:r>
            <a:endParaRPr lang="en-US" sz="1300" dirty="0"/>
          </a:p>
        </p:txBody>
      </p:sp>
      <p:sp>
        <p:nvSpPr>
          <p:cNvPr id="15" name="Text 11"/>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Камерата · Case 17 · Локальный чат и иерархия каталогов</a:t>
            </a:r>
            <a:endParaRPr lang="en-US" sz="900" dirty="0"/>
          </a:p>
        </p:txBody>
      </p:sp>
      <p:sp>
        <p:nvSpPr>
          <p:cNvPr id="16" name="Text 12"/>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B6472"/>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32733"/>
        </a:solidFill>
      </p:bgPr>
    </p:bg>
    <p:spTree>
      <p:nvGrpSpPr>
        <p:cNvPr id="1" name=""/>
        <p:cNvGrpSpPr/>
        <p:nvPr/>
      </p:nvGrpSpPr>
      <p:grpSpPr>
        <a:xfrm>
          <a:off x="0" y="0"/>
          <a:ext cx="0" cy="0"/>
          <a:chOff x="0" y="0"/>
          <a:chExt cx="0" cy="0"/>
        </a:xfrm>
      </p:grpSpPr>
      <p:sp>
        <p:nvSpPr>
          <p:cNvPr id="2" name="Shape 0"/>
          <p:cNvSpPr/>
          <p:nvPr/>
        </p:nvSpPr>
        <p:spPr>
          <a:xfrm>
            <a:off x="9402775" y="1051560"/>
            <a:ext cx="1371600" cy="1371600"/>
          </a:xfrm>
          <a:prstGeom prst="ellipse">
            <a:avLst/>
          </a:prstGeom>
          <a:solidFill>
            <a:srgbClr val="2C3140"/>
          </a:solidFill>
          <a:ln/>
        </p:spPr>
      </p:sp>
      <p:pic>
        <p:nvPicPr>
          <p:cNvPr id="3" name="Image 0" descr="preencoded.png">    </p:cNvPr>
          <p:cNvPicPr>
            <a:picLocks noChangeAspect="1"/>
          </p:cNvPicPr>
          <p:nvPr/>
        </p:nvPicPr>
        <p:blipFill>
          <a:blip r:embed="rId1"/>
          <a:stretch>
            <a:fillRect/>
          </a:stretch>
        </p:blipFill>
        <p:spPr>
          <a:xfrm>
            <a:off x="9731959" y="1380744"/>
            <a:ext cx="713232" cy="713232"/>
          </a:xfrm>
          <a:prstGeom prst="rect">
            <a:avLst/>
          </a:prstGeom>
        </p:spPr>
      </p:pic>
      <p:sp>
        <p:nvSpPr>
          <p:cNvPr id="4" name="Text 1"/>
          <p:cNvSpPr/>
          <p:nvPr/>
        </p:nvSpPr>
        <p:spPr>
          <a:xfrm>
            <a:off x="548640" y="1828800"/>
            <a:ext cx="7315200" cy="320040"/>
          </a:xfrm>
          <a:prstGeom prst="rect">
            <a:avLst/>
          </a:prstGeom>
          <a:noFill/>
          <a:ln/>
        </p:spPr>
        <p:txBody>
          <a:bodyPr wrap="square" lIns="0" tIns="0" rIns="0" bIns="0" rtlCol="0" anchor="ctr"/>
          <a:lstStyle/>
          <a:p>
            <a:pPr indent="0" marL="0">
              <a:buNone/>
            </a:pPr>
            <a:r>
              <a:rPr lang="en-US" sz="1200" b="1" spc="140" kern="0" dirty="0">
                <a:solidFill>
                  <a:srgbClr val="2F6FED"/>
                </a:solidFill>
                <a:latin typeface="Calibri" pitchFamily="34" charset="0"/>
                <a:ea typeface="Calibri" pitchFamily="34" charset="-122"/>
                <a:cs typeface="Calibri" pitchFamily="34" charset="-120"/>
              </a:rPr>
              <a:t>ЖИВОЙ ДОКУМЕНТ</a:t>
            </a:r>
            <a:endParaRPr lang="en-US" sz="1200" dirty="0"/>
          </a:p>
        </p:txBody>
      </p:sp>
      <p:sp>
        <p:nvSpPr>
          <p:cNvPr id="5" name="Text 2"/>
          <p:cNvSpPr/>
          <p:nvPr/>
        </p:nvSpPr>
        <p:spPr>
          <a:xfrm>
            <a:off x="548640" y="2103120"/>
            <a:ext cx="8686800" cy="685800"/>
          </a:xfrm>
          <a:prstGeom prst="rect">
            <a:avLst/>
          </a:prstGeom>
          <a:noFill/>
          <a:ln/>
        </p:spPr>
        <p:txBody>
          <a:bodyPr wrap="square" lIns="0" tIns="0" rIns="0" bIns="0" rtlCol="0" anchor="ctr"/>
          <a:lstStyle/>
          <a:p>
            <a:pPr indent="0" marL="0">
              <a:lnSpc>
                <a:spcPct val="110000"/>
              </a:lnSpc>
              <a:buNone/>
            </a:pPr>
            <a:r>
              <a:rPr lang="en-US" sz="2700" b="1" dirty="0">
                <a:solidFill>
                  <a:srgbClr val="FFFFFF"/>
                </a:solidFill>
                <a:latin typeface="Cambria" pitchFamily="34" charset="0"/>
                <a:ea typeface="Cambria" pitchFamily="34" charset="-122"/>
                <a:cs typeface="Cambria" pitchFamily="34" charset="-120"/>
              </a:rPr>
              <a:t>Сомнение и предложение — в одном файле</a:t>
            </a:r>
            <a:endParaRPr lang="en-US" sz="2700" dirty="0"/>
          </a:p>
        </p:txBody>
      </p:sp>
      <p:sp>
        <p:nvSpPr>
          <p:cNvPr id="6" name="Text 3"/>
          <p:cNvSpPr/>
          <p:nvPr/>
        </p:nvSpPr>
        <p:spPr>
          <a:xfrm>
            <a:off x="548640" y="3063240"/>
            <a:ext cx="8503920" cy="1188720"/>
          </a:xfrm>
          <a:prstGeom prst="rect">
            <a:avLst/>
          </a:prstGeom>
          <a:noFill/>
          <a:ln/>
        </p:spPr>
        <p:txBody>
          <a:bodyPr wrap="square" lIns="0" tIns="0" rIns="0" bIns="0" rtlCol="0" anchor="ctr"/>
          <a:lstStyle/>
          <a:p>
            <a:pPr indent="0" marL="0">
              <a:lnSpc>
                <a:spcPct val="128000"/>
              </a:lnSpc>
              <a:buNone/>
            </a:pPr>
            <a:r>
              <a:rPr lang="en-US" sz="1350" dirty="0">
                <a:solidFill>
                  <a:srgbClr val="AEB4C4"/>
                </a:solidFill>
                <a:latin typeface="Calibri" pitchFamily="34" charset="0"/>
                <a:ea typeface="Calibri" pitchFamily="34" charset="-122"/>
                <a:cs typeface="Calibri" pitchFamily="34" charset="-120"/>
              </a:rPr>
              <a:t>Часть 1 остаётся открытым вопросом о необходимости — жду точку зрения разработчика. Часть 2 — моё предложение к реализации, готовое дорабатывать вместе. Обе позиции зафиксированы в материалах, которые я подготовил для разговора с разработчиком, куда лягут его ответы и шаги к реализации.</a:t>
            </a:r>
            <a:endParaRPr lang="en-US" sz="1350" dirty="0"/>
          </a:p>
        </p:txBody>
      </p:sp>
      <p:sp>
        <p:nvSpPr>
          <p:cNvPr id="7" name="Shape 4"/>
          <p:cNvSpPr/>
          <p:nvPr/>
        </p:nvSpPr>
        <p:spPr>
          <a:xfrm>
            <a:off x="548640" y="4526280"/>
            <a:ext cx="7863840" cy="777240"/>
          </a:xfrm>
          <a:prstGeom prst="roundRect">
            <a:avLst>
              <a:gd name="adj" fmla="val 10588"/>
            </a:avLst>
          </a:prstGeom>
          <a:solidFill>
            <a:srgbClr val="2C3140"/>
          </a:solidFill>
          <a:ln/>
        </p:spPr>
      </p:sp>
      <p:sp>
        <p:nvSpPr>
          <p:cNvPr id="8" name="Text 5"/>
          <p:cNvSpPr/>
          <p:nvPr/>
        </p:nvSpPr>
        <p:spPr>
          <a:xfrm>
            <a:off x="868680" y="4526280"/>
            <a:ext cx="7315200" cy="777240"/>
          </a:xfrm>
          <a:prstGeom prst="rect">
            <a:avLst/>
          </a:prstGeom>
          <a:noFill/>
          <a:ln/>
        </p:spPr>
        <p:txBody>
          <a:bodyPr wrap="square" lIns="0" tIns="0" rIns="0" bIns="0" rtlCol="0" anchor="ctr"/>
          <a:lstStyle/>
          <a:p>
            <a:pPr indent="0" marL="0">
              <a:buNone/>
            </a:pPr>
            <a:r>
              <a:rPr lang="en-US" sz="1400" b="1" dirty="0">
                <a:solidFill>
                  <a:srgbClr val="E8A33D"/>
                </a:solidFill>
                <a:latin typeface="Calibri" pitchFamily="34" charset="0"/>
                <a:ea typeface="Calibri" pitchFamily="34" charset="-122"/>
                <a:cs typeface="Calibri" pitchFamily="34" charset="-120"/>
              </a:rPr>
              <a:t>Вопросы и предложения к дорожной карте для разработчика</a:t>
            </a:r>
            <a:endParaRPr lang="en-US" sz="1400" dirty="0"/>
          </a:p>
        </p:txBody>
      </p:sp>
      <p:sp>
        <p:nvSpPr>
          <p:cNvPr id="9" name="Text 6"/>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AEB4C4"/>
                </a:solidFill>
                <a:latin typeface="Calibri" pitchFamily="34" charset="0"/>
                <a:ea typeface="Calibri" pitchFamily="34" charset="-122"/>
                <a:cs typeface="Calibri" pitchFamily="34" charset="-120"/>
              </a:rPr>
              <a:t>Камерата · Case 17 · Локальный чат и иерархия каталогов</a:t>
            </a:r>
            <a:endParaRPr lang="en-US" sz="900" dirty="0"/>
          </a:p>
        </p:txBody>
      </p:sp>
      <p:sp>
        <p:nvSpPr>
          <p:cNvPr id="10" name="Text 7"/>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AEB4C4"/>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2026-09-05T18:22:10Z</dcterms:created>
  <dcterms:modified xsi:type="dcterms:W3CDTF">2026-09-05T18:22:10Z</dcterms:modified>
</cp:coreProperties>
</file>