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слайд. Обе темы этой колоды — не готовые функции платформы, а вопросы и предложения, которые команда планирует поднять на ближайшем разговоре с вендором «Камераты» по дорожной карте. Полный текст обоих вопросов уже зафиксирован в docs/analysis/case-11-voprosy-vendoru-roadmap.md — эта колода делает их презентационно понятными коллеге, который не читал исходники.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Смысл слайда — сразу задать две разные позиции по двум темам, а не подавать обе как одинаково открытые вопросы. Часть 1 (локальный чат / агент рабочей станции, РМ-1): у нас есть сомнения, нужно ли это расширение в заявленном виде, пока не решён вопрос о защите данных на компьютере сотрудника — это диалог с вендором, а не отказ от функции. Часть 2 (иерархия каталогов): у нас есть проработанная модель (дерево каталогов), которую мы считаем достаточно зрелой, чтобы предлагать её в дорожную карту и обсуждать детали реализации, а не решать, стоит ли вообще что-то делать. Оба уже зафиксированы в пакете вопросов вендору (case-11).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Раздел-разделитель. Дальше — три плотных слайда о линии «Раб. места» дорожной карты (сознательно сокращено с восьми — часть 1 не должна разворачиваться дольше, чем нужно для передачи технического запроса): что это и какие четыре пункта в неё входят, четыре вопроса вендору, ответы на которые снимут или подтвердят сомнение, и почему сомнение вообще возникло — с закрывающим статусом. Тон намеренно мягкий: это не рекомендация отказаться от РМ-1, а вопрос, который вендор может закрыть ответом.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объединяет «что это» и «четыре пункта роадмапа» в одну плотную карточку — раньше это были два отдельных слайда с большим количеством повторяющегося текста. Ключевая мысль сохранена: новое место исполнения — не улучшение серверного чата, а второй контур обработки данных (компьютер сотрудника). РМ-1 и РМ-2 — оба Q1 2027, уровень C (направление подтверждено, состав уточняется, не обязательство со сроками). РМ-3 — Q2 2027, C. РМ-4 — H2 2027, уровень D, пустая формулировка без состава — не читать в это ничего конкретного. Наши сомнения сосредоточены именно в РМ-1 (модель запретов и судьба разрешённого содержимого) — не в самой идее агента рабочей станции как таковой.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четыре формулировки — дословно из Вопроса 1 в case-11-voprosy-vendoru-roadmap.md, содержание не сокращалось и не смягчалось. Порядок сохранён: (1) применяется ли то же маскирование, (2) действует ли то же правило про внешние/облачные модели, (3) кто задаёт запреты — админ или сам пользователь, (4) единый ли журнал аудита. Это основной содержательный слайд части 1: раньше подавался как «уточняющие вопросы к уже принятому пункту», теперь — как условия, при выполнении которых наше сомнение в необходимости РМ-1 снимается. Вокруг него специально убраны декоративные слайды-подводки.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наша внутренняя оценка (не для передачи вендору как есть, только для собственной подготовки) — из всех 35 пунктов дорожной карты это единственный, где рядом с новой функцией явно не упомянута уже заявленная модель защиты данных, и это главная опора нашего сомнения в необходимости РМ-1 в текущем виде. Слайд объединяет аргумент «почему сомнение возникло» с закрывающим статусом части 1 — отдельного слайда-итога больше нет, статус дан одной строкой внизу: это открытый вопрос вендору, а не рекомендация отказаться от пункта; уровень C — не обязательство по срокам, так что сейчас подходящий момент спросить.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Раздел-разделитель. Дальше — десять слайдов: сегодняшняя плоская модель доменов/коллекций, где она упирается в реальный сценарий (с явным разделением на два разных вопроса — 2a и 2b, по пересмотру case-11/case-20), дерево каталогов как готовое предложение по 2b с ключевой диаграммой, отдельный слайд про кросс-доменное пересечение коллекций (деталь, которую доработаем вместе с вендором при реализации), правило наследования, три персоны на новом дереве, почему предложение реалистично — с прецедентами из case-19, и что остаётся в силе, пока идём к реализации. Тон части 2 — увереннее, чем части 1: это не вопрос «стоит ли», а предложение «вот модель, готовы прорабатывать детали».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коллекции внутри домена «Кадры» на этой схеме — на одном уровне, это буквально описание модели «домен = плоский список коллекций». Дальше по слайдам будет видно, где это перестаёт хватать: коллекция «Оклады» здесь нарисована так же, как «Отпуска», хотя по чувствительности это совсем разные вещи.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Прямое сопоставление: RLS уже решает задачу «разная аудитория внутри одной сущности» для таблиц. Для документов эквивалента нет — единственный путь сегодня: дробление на новые коллекции/домены. Важное уточнение после независимой критики (case-20) и исследования прецедентов (case-19): это на самом деле два разных вопроса, которые легко перепутать — 2a (гранулярность внутри одной коллекции, до уровня документа/раздела/тега — предложение дерева её НЕ решает, потому что домен по документированной сегодня архитектуре — неизменяемое после создания поле коллекции, значит любой узел дерева технически реализуем только как отдельная коллекция) и 2b (организация множества плоских доменов в управляемую иерархию — вот что дерево действительно даёт). Раньше колода не разделяла их явно — это исправлено по итогам пересмотра case-11.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Самая важная диаграмма всей колоды, обновлена после переименования примера (см. слайд-заметки о коллизии с зарезервированными именами доменов платформы «Логистика»/«Персонал»/«Продажи» — kamerata-overview-review.md, строки 118/452/968 — новый пример использует «Отдел маркетинга», «Юридический отдел», «Бухгалтерия»). Домен «Кадры» — корень. Три независимые ветки первого уровня: «Общее» (видна персоне «Сотрудник», делится на «Больничные»/«Отпускные»), «Оклады» (делится по отделам — маркетинг, юротдел, бухгалтерия) и «Личные дела» (третья, отдельная ветка — не потомок ни «Общее», ни «Оклады» — с ещё более узким подузлом «Топ-менеджмент», демонстрирующим, что дерево не ограничено двумя уровнями). Директор по персоналу привязан к корню и наследует всё дерево — это не частная удобная деталь примера, а закреплённый во всех проверенных аналогах инвариант корня (case-19, §4.3: в Purview права default-домена в принципе нельзя ограничить).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Новый слайд — прямой ответ на замечание пользователя после просмотра дерева: каталог может по смыслу принадлежать больше чем одному домену. Точная формулировка, которую важно не смазать: это НЕ исключение из правила «видимость течёт только вниз» — правило продолжает действовать независимо и полностью внутри каждого домена (персона на корне «Кадры» видит «Список сотрудников» по обычному нисходящему наследованию, точно так же персона в «Продажи»). Новое — только то, что один и тот же узел может быть нисходяще достижимым сразу в двух разных деревьях одновременно, то есть иметь двух родителей, а не одного. Это зеркальный случай вопросу 4 из case-11 (там — доступ персоны к нескольким несмежным узлам ОДНОГО домена; здесь — членство каталога сразу в НЕСКОЛЬКИХ доменах) и прямая иллюстрация вывода case-19 §5: ни одна из проверенных зрелых систем (SharePoint, Google Drive, Purview, Databricks) не обошлась без отдельного механизма для похожего кросс-веточного/кросс-доменного случая. Это не повод сомневаться в самом предложении дерева — это конкретная реализационная деталь, которую честнее поднять сейчас и решить вместе с вендором, чем сделать вид, что её не существует.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правила дословно из case-11: «видимость течёт вниз по дереву от узла привязки, вбок и вверх — не течёт». Схема показывает все три направления сразу: вниз (потомки) — разрешено сплошной зелёной линией, вверх (предки) и вбок (соседние ветки) — запрещено, показано пунктирной красной линией. Это правило целиком заменяет собой сегодняшнюю бинарную модель «у коллекции есть домен / домена нет».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строки — три персоны на переименованном дереве «Кадры» (переименовано после коллизии с зарезервированными платформенными именами доменов «Логистика»/«Персонал»/«Продажи», см. заметки к слайду с деревом). Средняя строка — исправленный после критики case-20 составной пример: «Начальник отдела маркетинга» — не единственная персона, привязанная к одному узлу, а явная множественная привязка сразу к двум узлам («Общее» и «Оклады/Отдел маркетинга»). Это прямое продолжение того, как многодоменность уже работает сегодня без всякого дерева («выбрать домен(ы) из списка» — множественное число, instrukciya-domeny-i-dostup.md), а не костыль поверх дерева. Директор по персоналу — на корне, поэтому видит всё дерево автоматически; это задокументированный во всех проверенных аналогах инвариант корня (case-19, §4.3), а не удобная деталь примера.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Обновлено по итогам case-19/case-20: раньше средний пункт был непроверенным утверждением «давно стандартно в DMS/DAM-системах» без единого названного продукта (справедливо раскритиковано в case-20, §3). Теперь — конкретные, названные прецеденты из case-19: Microsoft Purview (самый близкий — есть буквально функция «Restrict inherited permissions» и тот же инвариант «корень нельзя ограничить»), Google Drive («Limited access»/«Expansive access»), SharePoint («break inheritance»), Databricks Unity Catalog (наследование по catalog.schema.table). Первый пункт также уточнён: предложение решает 2b (организация доменов), а не 2a (гранулярность внутри документа) — это два разных вопроса вендору, разница объяснена на предыдущем слайде. Это опора для уверенного тона части 2: мы предлагаем не гипотезу, а модель, чьё поведение по умолчанию уже проверено в нескольких независимо развивавшихся системах.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Важно подчеркнуть: предложение не блокер для текущего пилота Д8 и не повод откладывать его до реализации дерева. Сегодняшний обходной путь (несколько коллекций с отдельными доменами вместо одного дерева) полностью рабочий, просто требует больше ручного планирования на старте и создаёт риск, что несколько независимых коллекций/доменов со временем разъедутся по составу прав — именно это неудобство и снимает предложенное дерево.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статуса намеренная и увереннее, чем раньше: это готовое предложение к реализации, поданное вендору как модель, которую мы предлагаем включить в дорожную карту, а не жалоба на текущую функциональность и не гипотеза для обсуждения «стоит ли вообще». Открытые детали (двойное членство каталогов, реструктуризация дерева, множественная привязка персон) остаются реальными и честно названы на предыдущих слайдах — но как то, что дорабатывается вместе с вендором в процессе реализации, а не как причины сомневаться в самом предложении. В case-11 пункт явно не привязан к конкретному коду роадмапа — предполагаем линию «Каталог» (КАТ-) или «Надзор» (НАД-) как наиболее вероятных кандидатов.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Слайд-синтез, связывающий обе части и явно называющий две разные позиции по ним: и локальный чат, и иерархия каталогов — про одну и ту же границу между тем, что платформа уже гарантирует документированно, и тем, что нужно решить по мере роста поверхности платформы. Но решаются они по-разному: Часть 1 (новое место исполнения) — это открытый вопрос вендору, наше сомнение в необходимости; Часть 2 (более тонкая гранулярность доступа) — это наше предложение к реализации, которое мы считаем готовым. Оба поднимаются заранее, пока ни один не стал контрактным обязательством.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Закрывающий слайд, явно фиксирующий две разные позиции колоды: Часть 1 — открытый вопрос вендору о необходимости РМ-1 в заявленном виде, ответа пока нет; Часть 2 — наше предложение к реализации, которое мы считаем проработанным и готовы обсуждать детали. Единственный источник фактов для обеих тем — case-11-voprosy-vendoru-roadmap.md; он же станет местом, куда будут добавлены ответы вендора по мере их получения, и куда попадут следующие вопросы по дорожной карте по мере разбора остальных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AI/RAG-ПЛАТФОРМА «КАМЕРАТА» · АО «ИНВЕСТИЦИОННАЯ КОМПАНИЯ Д8»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691640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направления к дорожной карте: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локальный чат и иерархия каталогов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566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предложения и вопроса к команде платформы — направления, которые ещё не стали функциями и не зафиксированы в договоре, а обсуждаются на ближайшем roadmap-разговоре.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732520" y="1737360"/>
            <a:ext cx="2880360" cy="1783080"/>
          </a:xfrm>
          <a:prstGeom prst="roundRect">
            <a:avLst>
              <a:gd name="adj" fmla="val 4615"/>
            </a:avLst>
          </a:prstGeom>
          <a:solidFill>
            <a:srgbClr val="2C3140"/>
          </a:solidFill>
          <a:ln/>
        </p:spPr>
      </p:sp>
      <p:sp>
        <p:nvSpPr>
          <p:cNvPr id="6" name="Shape 4"/>
          <p:cNvSpPr/>
          <p:nvPr/>
        </p:nvSpPr>
        <p:spPr>
          <a:xfrm>
            <a:off x="9015984" y="2048256"/>
            <a:ext cx="566928" cy="566928"/>
          </a:xfrm>
          <a:prstGeom prst="ellipse">
            <a:avLst/>
          </a:prstGeom>
          <a:solidFill>
            <a:srgbClr val="32385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2047" y="2184319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92640" y="19659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9692640" y="2212848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Локальный чат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 своими файлами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732520" y="3703320"/>
            <a:ext cx="2880360" cy="1783080"/>
          </a:xfrm>
          <a:prstGeom prst="roundRect">
            <a:avLst>
              <a:gd name="adj" fmla="val 4615"/>
            </a:avLst>
          </a:prstGeom>
          <a:solidFill>
            <a:srgbClr val="2C3140"/>
          </a:solidFill>
          <a:ln/>
        </p:spPr>
      </p:sp>
      <p:sp>
        <p:nvSpPr>
          <p:cNvPr id="11" name="Shape 8"/>
          <p:cNvSpPr/>
          <p:nvPr/>
        </p:nvSpPr>
        <p:spPr>
          <a:xfrm>
            <a:off x="9015984" y="4014216"/>
            <a:ext cx="566928" cy="566928"/>
          </a:xfrm>
          <a:prstGeom prst="ellipse">
            <a:avLst/>
          </a:prstGeom>
          <a:solidFill>
            <a:srgbClr val="3A331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2047" y="4150279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692640" y="39319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692640" y="4178808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Иерархия каталогов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домена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Внутренний материал · сентябрь 2026 · подготовка к разговору с вендором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ЭТИ ДВЕ ТЕМЫ В ОДНОЙ КОЛОДЕ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дорожная карта, две разные позиции: сомнение в необходимости и предложение к реализации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документирует контроль доступа для серверной части и на уровне целой коллекции документов. Но из этого не следует, что любое расширение этой границы стоит принимать как есть: по локальному чату у нас остаются сомнения, нужно ли расширение в заявленном виде; по иерархии каталогов — наоборот, есть проработанное предложение, которое мы считаем готовым двигать в реализацию.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5257800" cy="2880360"/>
          </a:xfrm>
          <a:prstGeom prst="roundRect">
            <a:avLst>
              <a:gd name="adj" fmla="val 285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5820" y="285750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358" y="3044038"/>
            <a:ext cx="404165" cy="4041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55648" y="2880360"/>
            <a:ext cx="3776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spc="8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СОМНЕНИЯ В НЕОБХОДИМОСТИ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755648" y="3209544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1 — локальный чат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68680" y="397764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защита данных (маскирование PII/DLP) описана для серверной части. Роадмап добавляет второе место исполнения — компьютер сотрудника, — и работает ли там та же защита, не описано. Пока это не прояснится, необходимость этого расширения в заявленном виде для нас под вопросом.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17920" y="2606040"/>
            <a:ext cx="5257800" cy="2880360"/>
          </a:xfrm>
          <a:prstGeom prst="roundRect">
            <a:avLst>
              <a:gd name="adj" fmla="val 285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5100" y="2857500"/>
            <a:ext cx="777240" cy="77724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638" y="3044038"/>
            <a:ext cx="404165" cy="4041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24928" y="2880360"/>
            <a:ext cx="3776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spc="8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ПРЕДЛОЖЕНИЕ К РЕАЛИЗАЦИИ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24928" y="3209544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2 — иерархия каталогов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537960" y="397764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доступ к документам делится по целой коллекции — внутри одной темы разную чувствительность данных не выразить. У нас есть проработанная модель дерева каталогов, которую мы предлагаем двигать в реализацию.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48640" y="5760720"/>
            <a:ext cx="11094415" cy="621792"/>
          </a:xfrm>
          <a:prstGeom prst="roundRect">
            <a:avLst>
              <a:gd name="adj" fmla="val 13235"/>
            </a:avLst>
          </a:prstGeom>
          <a:solidFill>
            <a:srgbClr val="EAED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40664" y="587959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836" y="5971764"/>
            <a:ext cx="199705" cy="19970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34440" y="5760720"/>
            <a:ext cx="101800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позиции уже зафиксированы в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case-11-voprosy-vendoru-roadmap.md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Часть 1 как открытый вопрос вендору, Часть 2 как предложение к обсуждению; файл остаётся живым документом, куда лягут ответы и детали реализации.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31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8595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Локальный чат со своими</a:t>
            </a:r>
            <a:endParaRPr lang="en-US" sz="3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документами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41148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Линия «Раб. места» (РМ-1—РМ-4) — прежде чем это станет обязательством, у нас есть сомнения в необходимости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441180" y="2583180"/>
            <a:ext cx="1417320" cy="1417320"/>
          </a:xfrm>
          <a:prstGeom prst="ellipse">
            <a:avLst/>
          </a:prstGeom>
          <a:solidFill>
            <a:srgbClr val="2C31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1337" y="2923337"/>
            <a:ext cx="737006" cy="7370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АГЕНТ РАБОЧЕЙ СТАНЦИИ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Новое место исполнения: 4 пункта линии «Раб. места»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5179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платформа обрабатывает данные только на сервере. Дорожная карта добавляет агент, который выполняется прямо на компьютере сотрудника (Windows, macOS) и читает локальные файлы этой машины как контекст запроса — именно здесь у нас есть сомнения, нужно ли это расширение в заявленном виде (подробнее — на следующих слайдах).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97280" y="2395728"/>
            <a:ext cx="9997135" cy="0"/>
          </a:xfrm>
          <a:prstGeom prst="line">
            <a:avLst/>
          </a:prstGeom>
          <a:noFill/>
          <a:ln w="31750">
            <a:solidFill>
              <a:srgbClr val="DCE1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16836" y="2295144"/>
            <a:ext cx="201168" cy="201168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761488"/>
            <a:ext cx="2240280" cy="2286000"/>
          </a:xfrm>
          <a:prstGeom prst="roundRect">
            <a:avLst>
              <a:gd name="adj" fmla="val 3673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98448" y="292608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441448" y="294436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2487168" y="29443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C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98448" y="33101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298448" y="3621024"/>
            <a:ext cx="1837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Служба чтения локальных файлов (Windows, macOS) с явной моделью запретов.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2454" y="2295144"/>
            <a:ext cx="201168" cy="201168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82898" y="2761488"/>
            <a:ext cx="2240280" cy="2286000"/>
          </a:xfrm>
          <a:prstGeom prst="roundRect">
            <a:avLst>
              <a:gd name="adj" fmla="val 3673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84066" y="292608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РМ-2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027066" y="294436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5072786" y="29443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C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884066" y="33101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884066" y="3621024"/>
            <a:ext cx="1837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Установка MSI, подпись корпоративным ЦС заказчика, управление через групповые политики.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288073" y="2295144"/>
            <a:ext cx="201168" cy="201168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68517" y="2761488"/>
            <a:ext cx="2240280" cy="2286000"/>
          </a:xfrm>
          <a:prstGeom prst="roundRect">
            <a:avLst>
              <a:gd name="adj" fmla="val 3673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69685" y="292608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РМ-3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612685" y="294436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7658405" y="29443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C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69685" y="33101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69685" y="3621024"/>
            <a:ext cx="1837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сценариев работы с локальным контекстом пользователя.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873691" y="2295144"/>
            <a:ext cx="201168" cy="201168"/>
          </a:xfrm>
          <a:prstGeom prst="ellipse">
            <a:avLst/>
          </a:prstGeom>
          <a:solidFill>
            <a:srgbClr val="8891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4135" y="2761488"/>
            <a:ext cx="2240280" cy="2286000"/>
          </a:xfrm>
          <a:prstGeom prst="roundRect">
            <a:avLst>
              <a:gd name="adj" fmla="val 3673"/>
            </a:avLst>
          </a:prstGeom>
          <a:solidFill>
            <a:srgbClr val="EEF0F3"/>
          </a:solidFill>
          <a:ln w="9525">
            <a:solidFill>
              <a:srgbClr val="8891A0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055303" y="292608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РМ-4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198303" y="294436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0244023" y="29443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89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055303" y="33101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2027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055303" y="3621024"/>
            <a:ext cx="1837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«Дальнейшие фазы агента рабочего места» — заглушка, без состава.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5248656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РМ-1 — то, где сосредоточены наши сомнения (следующий слайд). РМ-2 идёт с ним в один квартал технически, но сам по себе вопросов не поднимает. РМ-4 — уровень D, честно заявленная заглушка без состава.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ВОПРОС ВЕНДОРУ (CASE-11, ВОПРОС 1)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 узнать, чтобы сомнение по РМ-1 снялось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«Явная модель запретов» РМ-1 задаёт, какие папки и файлы агенту трогать нельзя, но не описывает, что происходит с содержимым разрешённых файлов на пути к LLM. Наше сомнение в необходимости РМ-1 в текущем виде снимается или подтверждается четырьмя ответами вендора: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257800" cy="1627632"/>
          </a:xfrm>
          <a:prstGeom prst="roundRect">
            <a:avLst>
              <a:gd name="adj" fmla="val 50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5694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" y="2569464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0" y="2496312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0874" y="2627986"/>
            <a:ext cx="285293" cy="28529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25146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 же маскирование?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04672" y="3008376"/>
            <a:ext cx="4745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Проходит ли содержимое локальных файлов через тот же PII Shield / dlp-secret, что уже применяется к серверному RAG-корпусу и чату?</a:t>
            </a:r>
            <a:endParaRPr lang="en-US" sz="1130" dirty="0"/>
          </a:p>
        </p:txBody>
      </p:sp>
      <p:sp>
        <p:nvSpPr>
          <p:cNvPr id="12" name="Shape 9"/>
          <p:cNvSpPr/>
          <p:nvPr/>
        </p:nvSpPr>
        <p:spPr>
          <a:xfrm>
            <a:off x="6217920" y="2331720"/>
            <a:ext cx="5257800" cy="1627632"/>
          </a:xfrm>
          <a:prstGeom prst="roundRect">
            <a:avLst>
              <a:gd name="adj" fmla="val 50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73952" y="25694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14" name="Text 11"/>
          <p:cNvSpPr/>
          <p:nvPr/>
        </p:nvSpPr>
        <p:spPr>
          <a:xfrm>
            <a:off x="6519672" y="2569464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0698480" y="2496312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0154" y="2627986"/>
            <a:ext cx="285293" cy="28529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995160" y="25146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 же правило для облака?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6473952" y="3008376"/>
            <a:ext cx="4745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Действует ли правило «маскирование обязательно только для внешней/облачной модели» — или для рабочей станции оно жёстче?</a:t>
            </a:r>
            <a:endParaRPr lang="en-US" sz="1130" dirty="0"/>
          </a:p>
        </p:txBody>
      </p:sp>
      <p:sp>
        <p:nvSpPr>
          <p:cNvPr id="19" name="Shape 15"/>
          <p:cNvSpPr/>
          <p:nvPr/>
        </p:nvSpPr>
        <p:spPr>
          <a:xfrm>
            <a:off x="548640" y="4187952"/>
            <a:ext cx="5257800" cy="1627632"/>
          </a:xfrm>
          <a:prstGeom prst="roundRect">
            <a:avLst>
              <a:gd name="adj" fmla="val 50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04672" y="44256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21" name="Text 17"/>
          <p:cNvSpPr/>
          <p:nvPr/>
        </p:nvSpPr>
        <p:spPr>
          <a:xfrm>
            <a:off x="850392" y="4425696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5029200" y="4352544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0874" y="4484218"/>
            <a:ext cx="285293" cy="285293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325880" y="437083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задаёт запреты?</a:t>
            </a:r>
            <a:endParaRPr lang="en-US" sz="1450" dirty="0"/>
          </a:p>
        </p:txBody>
      </p:sp>
      <p:sp>
        <p:nvSpPr>
          <p:cNvPr id="25" name="Text 20"/>
          <p:cNvSpPr/>
          <p:nvPr/>
        </p:nvSpPr>
        <p:spPr>
          <a:xfrm>
            <a:off x="804672" y="4864608"/>
            <a:ext cx="4745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запретов формирует администратор централизованно (групповые политики, вместе с РМ-2), или пользователь может расширять список сам?</a:t>
            </a:r>
            <a:endParaRPr lang="en-US" sz="1130" dirty="0"/>
          </a:p>
        </p:txBody>
      </p:sp>
      <p:sp>
        <p:nvSpPr>
          <p:cNvPr id="26" name="Shape 21"/>
          <p:cNvSpPr/>
          <p:nvPr/>
        </p:nvSpPr>
        <p:spPr>
          <a:xfrm>
            <a:off x="6217920" y="4187952"/>
            <a:ext cx="5257800" cy="1627632"/>
          </a:xfrm>
          <a:prstGeom prst="roundRect">
            <a:avLst>
              <a:gd name="adj" fmla="val 50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473952" y="44256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28" name="Text 23"/>
          <p:cNvSpPr/>
          <p:nvPr/>
        </p:nvSpPr>
        <p:spPr>
          <a:xfrm>
            <a:off x="6519672" y="4425696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10698480" y="4352544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0154" y="4484218"/>
            <a:ext cx="285293" cy="285293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995160" y="437083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Тот же журнал аудита?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6473952" y="4864608"/>
            <a:ext cx="4745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Обращения к локальным файлам попадают в тот же журнал DLP/audit-БД, что и серверные обращения, или предусмотрен отдельный журнал?</a:t>
            </a:r>
            <a:endParaRPr lang="en-US" sz="1130" dirty="0"/>
          </a:p>
        </p:txBody>
      </p:sp>
      <p:sp>
        <p:nvSpPr>
          <p:cNvPr id="33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ПОЧЕМУ ОСТАЮТСЯ СОМНЕНИЯ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Единственный пункт дорожной карты, где защита данных пока не описана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291840" cy="2788920"/>
          </a:xfrm>
          <a:prstGeom prst="roundRect">
            <a:avLst>
              <a:gd name="adj" fmla="val 2951"/>
            </a:avLst>
          </a:prstGeom>
          <a:solidFill>
            <a:srgbClr val="2C3140"/>
          </a:solidFill>
          <a:ln/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1945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из 35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68680" y="329184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пунктов дорожной карты — с пока не описанной защитой данных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97680" y="1691640"/>
            <a:ext cx="73453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маскирование архитектурно не распространяется на локально читаемые файлы, агент рабочей станции рискует стать новым каналом в обход периметра AI Guard, выстроенного для серверной части. Это и есть та неопределённость, из-за которой у нас остаются сомнения в необходимости РМ-1 в текущем виде.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2743200"/>
            <a:ext cx="7345375" cy="1005840"/>
          </a:xfrm>
          <a:prstGeom prst="roundRect">
            <a:avLst>
              <a:gd name="adj" fmla="val 8182"/>
            </a:avLst>
          </a:prstGeom>
          <a:solidFill>
            <a:srgbClr val="E4ECFD"/>
          </a:solidFill>
          <a:ln w="9525">
            <a:solidFill>
              <a:srgbClr val="2F6FE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49140" y="299466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9841" y="311536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212080" y="2743200"/>
            <a:ext cx="6248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Сервер: периметр AI Guard — маскирование гарантировано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7680" y="3931920"/>
            <a:ext cx="7345375" cy="1005840"/>
          </a:xfrm>
          <a:prstGeom prst="roundRect">
            <a:avLst>
              <a:gd name="adj" fmla="val 8182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4549140" y="41833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841" y="4304081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12080" y="3931920"/>
            <a:ext cx="6248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Рабочая станция: маскирование не описано — под вопросом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48640" y="5193792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Статус: это не рекомендация отказаться от РМ-1 — необходимость этого расширения в заявленном виде для нас пока не доказана, и ответы вендора на предыдущем слайде её снимут или подтвердят. Уровень C означает подтверждённое направление, но не обязательство по срокам — самое время спросить, пока пункт не закрепился в договоре.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31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8595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Иерархия каталогов</a:t>
            </a:r>
            <a:endParaRPr lang="en-US" sz="3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домена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41148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Гранулярный доступ к документам — готовое предложение к реализации, а не открытый вопрос без ответа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441180" y="2583180"/>
            <a:ext cx="1417320" cy="1417320"/>
          </a:xfrm>
          <a:prstGeom prst="ellipse">
            <a:avLst/>
          </a:prstGeom>
          <a:solidFill>
            <a:srgbClr val="2C31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1337" y="2923337"/>
            <a:ext cx="737006" cy="7370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МОДЕЛЬ СЕГОДНЯ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Сегодня: домен — плоская тематическая область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(например, «Кадры») — тематическая область данных. Коллекция — «папка» документов внутри платформы. У именованной коллекции есть ровно один домен — доступ к ней ограничен персонами этого домена; домена нет — коллекция считается общей и доступна всем.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94415" cy="2148840"/>
          </a:xfrm>
          <a:prstGeom prst="roundRect">
            <a:avLst>
              <a:gd name="adj" fmla="val 4255"/>
            </a:avLst>
          </a:prstGeom>
          <a:solidFill>
            <a:srgbClr val="EAEDF3"/>
          </a:solidFill>
          <a:ln w="12700">
            <a:solidFill>
              <a:srgbClr val="DCE1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62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«КАДРЫ»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737360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8061" y="3572561"/>
            <a:ext cx="261518" cy="26151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560978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475378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079" y="357256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52418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Больничные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98997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213397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098" y="3572561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90437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Оклады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9037015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951415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2116" y="3572561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28455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Справочники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5120640"/>
            <a:ext cx="11094415" cy="685800"/>
          </a:xfrm>
          <a:prstGeom prst="roundRect">
            <a:avLst>
              <a:gd name="adj" fmla="val 12000"/>
            </a:avLst>
          </a:prstGeom>
          <a:solidFill>
            <a:srgbClr val="EEF0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822960" y="51206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pPr indent="0" marL="0">
              <a:lnSpc>
                <a:spcPct val="115000"/>
              </a:lnSpc>
              <a:buNone/>
            </a:pPr>
            <a:r>
              <a:rPr lang="en-US" sz="1300" b="1" i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именованной коллекции есть домен — доступ ограничен; домена нет — коллекция считается общей</a:t>
            </a:r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 — kamerata-overview-review.md, П3/П6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ГДЕ НУЖНО РЕШЕНИЕ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одной темы нужна разная аудитория — плоская модель это не выражает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 в домене «Кадры» отпуска и больничные должны быть видны всем сотрудникам, а оклады — только начальнику отдела, и только по своему отделу. Для табличных данных это решено штатно; для документов — нет.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257800" cy="2331720"/>
          </a:xfrm>
          <a:prstGeom prst="roundRect">
            <a:avLst>
              <a:gd name="adj" fmla="val 3529"/>
            </a:avLst>
          </a:prstGeom>
          <a:solidFill>
            <a:srgbClr val="E1F3EA"/>
          </a:solidFill>
          <a:ln w="9525">
            <a:solidFill>
              <a:srgbClr val="2E9E6E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509114"/>
            <a:ext cx="285293" cy="2852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44144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Табличные данные (DWH)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68680" y="297180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RLS: на одной и той же таблице задаются разные row-фильтры и маски колонок для разных персон.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40690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таблица → разные срезы для разных персон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7920" y="2194560"/>
            <a:ext cx="5257800" cy="2331720"/>
          </a:xfrm>
          <a:prstGeom prst="roundRect">
            <a:avLst>
              <a:gd name="adj" fmla="val 3529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4652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194" y="250911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244144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Документы (RAG-корпус)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537960" y="297180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Единственный документированный способ сегодня — завести отдельную, более узкую коллекцию с собственным доменом, настраиваемым с нуля.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37960" y="4023360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i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несвязанных коллекций → нет общего «взгляда сверху»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4754880"/>
            <a:ext cx="11094415" cy="1051560"/>
          </a:xfrm>
          <a:prstGeom prst="roundRect">
            <a:avLst>
              <a:gd name="adj" fmla="val 7826"/>
            </a:avLst>
          </a:prstGeom>
          <a:solidFill>
            <a:srgbClr val="EAED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2960" y="475488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на самом деле два разных вопроса вендору (case-11, Вопрос 2): </a:t>
            </a:r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2a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гранулярность </a:t>
            </a:r>
            <a:pPr indent="0" marL="0">
              <a:lnSpc>
                <a:spcPct val="128000"/>
              </a:lnSpc>
              <a:buNone/>
            </a:pPr>
            <a:r>
              <a:rPr lang="en-US" sz="1250" i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одной коллекции (документ/раздел/тег) — дерево каталогов её </a:t>
            </a:r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даёт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организация множества плоских доменов в структуру с наследованием — вот что решает предложение на следующих слайдах.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ПРЕДЛОЖЕНИЕ (2B)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Домен становится деревом каталогов, а не списком коллекций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096305" y="1984248"/>
            <a:ext cx="0" cy="29718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31720" y="2281428"/>
            <a:ext cx="8046720" cy="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331720" y="2281428"/>
            <a:ext cx="0" cy="29718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0" y="2281428"/>
            <a:ext cx="0" cy="29718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378440" y="2281428"/>
            <a:ext cx="0" cy="29718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1720" y="3108960"/>
            <a:ext cx="0" cy="402336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48740" y="3511296"/>
            <a:ext cx="1965960" cy="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48740" y="3511296"/>
            <a:ext cx="0" cy="402336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14700" y="3511296"/>
            <a:ext cx="0" cy="402336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0" y="3108960"/>
            <a:ext cx="0" cy="402336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4920" y="3511296"/>
            <a:ext cx="3383280" cy="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74920" y="3511296"/>
            <a:ext cx="0" cy="402336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3511296"/>
            <a:ext cx="0" cy="402336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58200" y="3511296"/>
            <a:ext cx="0" cy="402336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78440" y="3108960"/>
            <a:ext cx="0" cy="804672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61865" y="148132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2C3140"/>
          </a:solidFill>
          <a:ln w="19050">
            <a:solidFill>
              <a:srgbClr val="2C31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61865" y="1481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«КАДРЫ»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1280160" y="2578608"/>
            <a:ext cx="2103120" cy="530352"/>
          </a:xfrm>
          <a:prstGeom prst="roundRect">
            <a:avLst>
              <a:gd name="adj" fmla="val 13793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257860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Общее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715000" y="2578608"/>
            <a:ext cx="2103120" cy="530352"/>
          </a:xfrm>
          <a:prstGeom prst="roundRect">
            <a:avLst>
              <a:gd name="adj" fmla="val 13793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15000" y="257860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Оклады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326880" y="2578608"/>
            <a:ext cx="2103120" cy="530352"/>
          </a:xfrm>
          <a:prstGeom prst="roundRect">
            <a:avLst>
              <a:gd name="adj" fmla="val 13793"/>
            </a:avLst>
          </a:prstGeom>
          <a:solidFill>
            <a:srgbClr val="FBE6E9"/>
          </a:solidFill>
          <a:ln w="19050">
            <a:solidFill>
              <a:srgbClr val="D149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0" y="257860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Личные дела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3913632"/>
            <a:ext cx="1600200" cy="658368"/>
          </a:xfrm>
          <a:prstGeom prst="roundRect">
            <a:avLst>
              <a:gd name="adj" fmla="val 11111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3913632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Больничные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514600" y="3913632"/>
            <a:ext cx="1600200" cy="658368"/>
          </a:xfrm>
          <a:prstGeom prst="roundRect">
            <a:avLst>
              <a:gd name="adj" fmla="val 11111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14600" y="3913632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Отпускные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297680" y="3913632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97680" y="391363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 маркетинга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989320" y="3913632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89320" y="391363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Юридический отдел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680960" y="3913632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0" y="391363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Бухгалтерия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464040" y="3913632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BE6E9"/>
          </a:solidFill>
          <a:ln w="19050">
            <a:solidFill>
              <a:srgbClr val="D149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464040" y="391363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Топ-менеджмент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371600" y="4718304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40" name="Text 38"/>
          <p:cNvSpPr/>
          <p:nvPr/>
        </p:nvSpPr>
        <p:spPr>
          <a:xfrm>
            <a:off x="1417320" y="4718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288536" y="4718304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42" name="Text 40"/>
          <p:cNvSpPr/>
          <p:nvPr/>
        </p:nvSpPr>
        <p:spPr>
          <a:xfrm>
            <a:off x="4334256" y="471830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Нач. маркетинга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980176" y="4718304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44" name="Text 42"/>
          <p:cNvSpPr/>
          <p:nvPr/>
        </p:nvSpPr>
        <p:spPr>
          <a:xfrm>
            <a:off x="6025896" y="471830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Нач. юротдела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671816" y="4718304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46" name="Text 44"/>
          <p:cNvSpPr/>
          <p:nvPr/>
        </p:nvSpPr>
        <p:spPr>
          <a:xfrm>
            <a:off x="7717536" y="471830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Гл. бухгалтер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9372600" y="471830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узкий круг доступа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330745" y="1732788"/>
            <a:ext cx="502920" cy="0"/>
          </a:xfrm>
          <a:prstGeom prst="line">
            <a:avLst/>
          </a:prstGeom>
          <a:noFill/>
          <a:ln w="12700">
            <a:solidFill>
              <a:srgbClr val="8891A0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7833665" y="1504188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2C3140"/>
          </a:solidFill>
          <a:ln/>
        </p:spPr>
      </p:sp>
      <p:sp>
        <p:nvSpPr>
          <p:cNvPr id="50" name="Text 48"/>
          <p:cNvSpPr/>
          <p:nvPr/>
        </p:nvSpPr>
        <p:spPr>
          <a:xfrm>
            <a:off x="7925105" y="15041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Директор по персоналу — весь домен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48640" y="52303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«Общее», «Оклады» и «Личные дела» — три независимые ветки одного домена: ни одна не наследует и не ограничивает видимость другой.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48640" y="5559552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 видит узел, к которому привязана, и всё, что вложено под ним — на любую глубину.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УТОЧНИМ ВМЕСТЕ ПРИ РЕАЛИЗАЦИИ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«Список сотрудников» — один каталог, узел сразу в двух деревьях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не обязан быть листом только одного домена. «Список сотрудников» естественно ведётся в «Кадры», но нужен и в «Продажи» — чтобы искать, чей сотрудник кто. Правило «только вниз» при этом не меняется: оно просто применяется дважды, в двух независимых деревьях.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783080" y="2286000"/>
            <a:ext cx="2468880" cy="457200"/>
          </a:xfrm>
          <a:prstGeom prst="roundRect">
            <a:avLst>
              <a:gd name="adj" fmla="val 16000"/>
            </a:avLst>
          </a:prstGeom>
          <a:solidFill>
            <a:srgbClr val="2C3140"/>
          </a:solidFill>
          <a:ln/>
        </p:spPr>
      </p:sp>
      <p:sp>
        <p:nvSpPr>
          <p:cNvPr id="6" name="Text 4"/>
          <p:cNvSpPr/>
          <p:nvPr/>
        </p:nvSpPr>
        <p:spPr>
          <a:xfrm>
            <a:off x="1783080" y="2286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«КАДРЫ»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909560" y="2286000"/>
            <a:ext cx="2468880" cy="457200"/>
          </a:xfrm>
          <a:prstGeom prst="roundRect">
            <a:avLst>
              <a:gd name="adj" fmla="val 16000"/>
            </a:avLst>
          </a:prstGeom>
          <a:solidFill>
            <a:srgbClr val="2C3140"/>
          </a:solidFill>
          <a:ln/>
        </p:spPr>
      </p:sp>
      <p:sp>
        <p:nvSpPr>
          <p:cNvPr id="8" name="Text 6"/>
          <p:cNvSpPr/>
          <p:nvPr/>
        </p:nvSpPr>
        <p:spPr>
          <a:xfrm>
            <a:off x="7909560" y="2286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«ПРОДАЖИ»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31343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всё дерево показано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515600" y="2313432"/>
            <a:ext cx="1127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всё дерево показано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17520" y="2743200"/>
            <a:ext cx="2027225" cy="1207008"/>
          </a:xfrm>
          <a:prstGeom prst="line">
            <a:avLst/>
          </a:prstGeom>
          <a:noFill/>
          <a:ln w="25400">
            <a:solidFill>
              <a:srgbClr val="2F6F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47865" y="2743200"/>
            <a:ext cx="1996135" cy="1207008"/>
          </a:xfrm>
          <a:prstGeom prst="line">
            <a:avLst/>
          </a:prstGeom>
          <a:noFill/>
          <a:ln w="25400">
            <a:solidFill>
              <a:srgbClr val="2F6F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53892" y="3145536"/>
            <a:ext cx="155448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потомок в «Кадры»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(вниз, как обычно)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368692" y="3145536"/>
            <a:ext cx="155448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потомок в «Продажи»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(вниз, как обычно)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41825" y="3950208"/>
            <a:ext cx="3108960" cy="566928"/>
          </a:xfrm>
          <a:prstGeom prst="roundRect">
            <a:avLst>
              <a:gd name="adj" fmla="val 14516"/>
            </a:avLst>
          </a:prstGeom>
          <a:solidFill>
            <a:srgbClr val="E4ECFD"/>
          </a:solidFill>
          <a:ln w="25400">
            <a:solidFill>
              <a:srgbClr val="2F6F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1825" y="395020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Список сотрудников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466344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узла — два родителя, по одному в каждом дереве.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«вниз» не нарушено ни в «Кадры», ни в «Продажи» — оно действует независимо в каждом домене, как на предыдущем слайде.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138928"/>
            <a:ext cx="11094415" cy="1097280"/>
          </a:xfrm>
          <a:prstGeom prst="roundRect">
            <a:avLst>
              <a:gd name="adj" fmla="val 7500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54132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5544922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463040" y="5266944"/>
            <a:ext cx="99056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Деталь для совместной проработки при реализации: </a:t>
            </a:r>
            <a:pPr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технически реализовать двойное членство каталога — общий объект с двумя ссылками, представление (view) или дублирование? Каждая проверенная зрелая система вводит для этого отдельный, второстепенный механизм поверх самого дерева — </a:t>
            </a:r>
            <a:pPr indent="0" marL="0">
              <a:lnSpc>
                <a:spcPct val="124000"/>
              </a:lnSpc>
              <a:buNone/>
            </a:pPr>
            <a:r>
              <a:rPr lang="en-US" sz="11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 (прямой доступ), Google Drive (Expansive access), Purview (повторный грант после Restrict), Databricks (представления / Delta Sharing)</a:t>
            </a:r>
            <a:pPr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см. case-19, §5. Предложение дерева от этого не меняется, только это конкретное решение стоит выбрать вместе с вендором.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ПРАВИЛО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Видимость течёт только вниз по дереву от узла привязки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724248" y="3360420"/>
            <a:ext cx="2743200" cy="777240"/>
          </a:xfrm>
          <a:prstGeom prst="roundRect">
            <a:avLst>
              <a:gd name="adj" fmla="val 11765"/>
            </a:avLst>
          </a:prstGeom>
          <a:solidFill>
            <a:srgbClr val="2C3140"/>
          </a:solidFill>
          <a:ln/>
        </p:spPr>
      </p:sp>
      <p:sp>
        <p:nvSpPr>
          <p:cNvPr id="5" name="Text 3"/>
          <p:cNvSpPr/>
          <p:nvPr/>
        </p:nvSpPr>
        <p:spPr>
          <a:xfrm>
            <a:off x="4724248" y="33604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Узел, к которому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привязана персона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49928" y="1783080"/>
            <a:ext cx="3291840" cy="777240"/>
          </a:xfrm>
          <a:prstGeom prst="roundRect">
            <a:avLst>
              <a:gd name="adj" fmla="val 11765"/>
            </a:avLst>
          </a:prstGeom>
          <a:solidFill>
            <a:srgbClr val="FBE6E9"/>
          </a:solidFill>
          <a:ln w="15875">
            <a:solidFill>
              <a:srgbClr val="D1495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632808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Предки узла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32808" y="2194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вверх — не видно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078828" y="1920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9528" y="2040941"/>
            <a:ext cx="261518" cy="26151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095848" y="2560320"/>
            <a:ext cx="0" cy="800100"/>
          </a:xfrm>
          <a:prstGeom prst="line">
            <a:avLst/>
          </a:prstGeom>
          <a:noFill/>
          <a:ln w="19050">
            <a:solidFill>
              <a:srgbClr val="D1495B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4449928" y="4640580"/>
            <a:ext cx="3291840" cy="777240"/>
          </a:xfrm>
          <a:prstGeom prst="roundRect">
            <a:avLst>
              <a:gd name="adj" fmla="val 11765"/>
            </a:avLst>
          </a:prstGeom>
          <a:solidFill>
            <a:srgbClr val="E1F3EA"/>
          </a:solidFill>
          <a:ln w="19050">
            <a:solidFill>
              <a:srgbClr val="2E9E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32808" y="47320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потомки узла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32808" y="50520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вниз — видно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078828" y="47777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528" y="4898441"/>
            <a:ext cx="261518" cy="26151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095848" y="4137660"/>
            <a:ext cx="0" cy="502920"/>
          </a:xfrm>
          <a:prstGeom prst="line">
            <a:avLst/>
          </a:prstGeom>
          <a:noFill/>
          <a:ln w="25400">
            <a:solidFill>
              <a:srgbClr val="2E9E6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31520" y="3291840"/>
            <a:ext cx="2880360" cy="914400"/>
          </a:xfrm>
          <a:prstGeom prst="roundRect">
            <a:avLst>
              <a:gd name="adj" fmla="val 10000"/>
            </a:avLst>
          </a:prstGeom>
          <a:solidFill>
            <a:srgbClr val="FBE6E9"/>
          </a:solidFill>
          <a:ln w="15875">
            <a:solidFill>
              <a:srgbClr val="D1495B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937260" y="34975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1" y="3618281"/>
            <a:ext cx="261518" cy="26151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554480" y="34015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ветки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1554480" y="37490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вбок — не видно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611880" y="3749040"/>
            <a:ext cx="1112368" cy="0"/>
          </a:xfrm>
          <a:prstGeom prst="line">
            <a:avLst/>
          </a:prstGeom>
          <a:noFill/>
          <a:ln w="19050">
            <a:solidFill>
              <a:srgbClr val="D1495B"/>
            </a:solidFill>
            <a:prstDash val="dash"/>
          </a:ln>
        </p:spPr>
      </p:sp>
      <p:sp>
        <p:nvSpPr>
          <p:cNvPr id="24" name="Shape 19"/>
          <p:cNvSpPr/>
          <p:nvPr/>
        </p:nvSpPr>
        <p:spPr>
          <a:xfrm>
            <a:off x="8579815" y="3291840"/>
            <a:ext cx="2880360" cy="914400"/>
          </a:xfrm>
          <a:prstGeom prst="roundRect">
            <a:avLst>
              <a:gd name="adj" fmla="val 10000"/>
            </a:avLst>
          </a:prstGeom>
          <a:solidFill>
            <a:srgbClr val="FBE6E9"/>
          </a:solidFill>
          <a:ln w="15875">
            <a:solidFill>
              <a:srgbClr val="D1495B"/>
            </a:solidFill>
            <a:prstDash val="dash"/>
          </a:ln>
        </p:spPr>
      </p:sp>
      <p:sp>
        <p:nvSpPr>
          <p:cNvPr id="25" name="Shape 20"/>
          <p:cNvSpPr/>
          <p:nvPr/>
        </p:nvSpPr>
        <p:spPr>
          <a:xfrm>
            <a:off x="8785555" y="34975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6256" y="3618281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402775" y="34015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ветки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9402775" y="37490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вбок — не видно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7467448" y="3749040"/>
            <a:ext cx="1112368" cy="0"/>
          </a:xfrm>
          <a:prstGeom prst="line">
            <a:avLst/>
          </a:prstGeom>
          <a:noFill/>
          <a:ln w="19050">
            <a:solidFill>
              <a:srgbClr val="D1495B"/>
            </a:solidFill>
            <a:prstDash val="dash"/>
          </a:ln>
        </p:spPr>
      </p:sp>
      <p:sp>
        <p:nvSpPr>
          <p:cNvPr id="30" name="Text 24"/>
          <p:cNvSpPr/>
          <p:nvPr/>
        </p:nvSpPr>
        <p:spPr>
          <a:xfrm>
            <a:off x="548640" y="57378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 привязывается к одному узлу дерева и автоматически получает доступ ко всему, что вложено под ним — без ручной настройки на каждый вложенный каталог.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КАК ЭТО РАБОТАЕТ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 дерево — три персоны, три разных среза видимости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481328"/>
          </a:xfrm>
          <a:prstGeom prst="roundRect">
            <a:avLst>
              <a:gd name="adj" fmla="val 55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029968"/>
            <a:ext cx="713232" cy="713232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128" y="2201144"/>
            <a:ext cx="370881" cy="37088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7393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Сотрудник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691640" y="2157984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</p:sp>
      <p:sp>
        <p:nvSpPr>
          <p:cNvPr id="9" name="Text 6"/>
          <p:cNvSpPr/>
          <p:nvPr/>
        </p:nvSpPr>
        <p:spPr>
          <a:xfrm>
            <a:off x="1737360" y="215798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/ Общее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577840" y="1810512"/>
            <a:ext cx="5790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больничные и отпускные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577840" y="2359152"/>
            <a:ext cx="5790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видит: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 «Оклады» и «Личные дела» не знает вообще — это не потомки узла «Общее»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291840"/>
            <a:ext cx="11094415" cy="1481328"/>
          </a:xfrm>
          <a:prstGeom prst="roundRect">
            <a:avLst>
              <a:gd name="adj" fmla="val 55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58952" y="3675888"/>
            <a:ext cx="713232" cy="713232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128" y="3847064"/>
            <a:ext cx="370881" cy="37088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91640" y="341985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Начальник отдела маркетинга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1691640" y="3803904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17" name="Text 13"/>
          <p:cNvSpPr/>
          <p:nvPr/>
        </p:nvSpPr>
        <p:spPr>
          <a:xfrm>
            <a:off x="1737360" y="380390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/ Общее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1691640" y="4206240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19" name="Text 15"/>
          <p:cNvSpPr/>
          <p:nvPr/>
        </p:nvSpPr>
        <p:spPr>
          <a:xfrm>
            <a:off x="1737360" y="420624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/ Оклады / Отдел маркетинга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5577840" y="3456432"/>
            <a:ext cx="5790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общие отпускные/больничные, и оклады своего отдела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577840" y="4005072"/>
            <a:ext cx="5790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Составная привязка: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 привязана сразу к двум узлам — это явная множественная привязка, а не «переключение» между ролями (case-11, исправлено после разбора case-20)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48640" y="4937760"/>
            <a:ext cx="11094415" cy="1481328"/>
          </a:xfrm>
          <a:prstGeom prst="roundRect">
            <a:avLst>
              <a:gd name="adj" fmla="val 55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58952" y="5321808"/>
            <a:ext cx="713232" cy="713232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128" y="5492984"/>
            <a:ext cx="370881" cy="370881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91640" y="506577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Директор по персоналу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1691640" y="5449824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</p:sp>
      <p:sp>
        <p:nvSpPr>
          <p:cNvPr id="27" name="Text 22"/>
          <p:cNvSpPr/>
          <p:nvPr/>
        </p:nvSpPr>
        <p:spPr>
          <a:xfrm>
            <a:off x="1737360" y="544982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(корень домена)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5577840" y="5102352"/>
            <a:ext cx="5790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домен целиком — «Общее», «Оклады» и «Личные дела»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5577840" y="5650992"/>
            <a:ext cx="5790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Особенность корня: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привязан к корню — права default-узла в принципе нельзя сузить (case-19, §4.3, инвариант Purview)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ПОЧЕМУ ЭТО РЕАЛИСТИЧНОЕ ПРЕДЛОЖЕНИЕ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просто идея — предложение подкреплено проверенными прецедентами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3063240"/>
          </a:xfrm>
          <a:prstGeom prst="roundRect">
            <a:avLst>
              <a:gd name="adj" fmla="val 268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20240" y="208026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6778" y="226679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9900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Решает 2b, не изобретая ось заново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38862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Организацию множества плоских доменов (2b) — одной структурой, а не отдельными несвязанными доменами. Гранулярность внутри документа (2a) — отдельный, ещё открытый вопрос вендору.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34256" y="1783080"/>
            <a:ext cx="3520440" cy="3063240"/>
          </a:xfrm>
          <a:prstGeom prst="roundRect">
            <a:avLst>
              <a:gd name="adj" fmla="val 268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05856" y="208026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394" y="226679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62856" y="29900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Проверено прецедентами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608576" y="38862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«вниз, не вбок и не вверх» — задокументированное поведение Microsoft Purview («Restrict inherited permissions»), Google Drive («Limited access»), SharePoint и Databricks Unity Catalog (case-19).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19872" y="1783080"/>
            <a:ext cx="3520440" cy="3063240"/>
          </a:xfrm>
          <a:prstGeom prst="roundRect">
            <a:avLst>
              <a:gd name="adj" fmla="val 268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91472" y="208026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8010" y="226679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48472" y="29900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Домен не меняется по сути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394192" y="38862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Остаётся тематической единицей data mesh-подхода — просто получает внутреннюю структуру вместо плоского списка коллекций.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ДО РЕАЛИЗАЦИИ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остаётся в силе сегодня, пока предложение не реализовано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4415" cy="2103120"/>
          </a:xfrm>
          <a:prstGeom prst="roundRect">
            <a:avLst>
              <a:gd name="adj" fmla="val 3913"/>
            </a:avLst>
          </a:prstGeom>
          <a:solidFill>
            <a:srgbClr val="E1F3EA"/>
          </a:solidFill>
          <a:ln w="9525">
            <a:solidFill>
              <a:srgbClr val="2E9E6E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4231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259872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011680"/>
            <a:ext cx="9539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Обходной путь работает и не блокирует пилот Д8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828800" y="2514600"/>
            <a:ext cx="9539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Дробление одной темы на несколько отдельных коллекций с разными доменами (2b) — штатный, документированный способ развести уровни допуска уже сегодня. Для гранулярности внутри документа (2a) обходного пути пока нет вообще — только физическое разнесение по разным файлам.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4160520"/>
            <a:ext cx="5257800" cy="1463040"/>
          </a:xfrm>
          <a:prstGeom prst="roundRect">
            <a:avLst>
              <a:gd name="adj" fmla="val 5625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4617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4" y="474939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4160520"/>
            <a:ext cx="4069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тщательного планирования структуры доменов на старте.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4160520"/>
            <a:ext cx="5257800" cy="1463040"/>
          </a:xfrm>
          <a:prstGeom prst="roundRect">
            <a:avLst>
              <a:gd name="adj" fmla="val 5625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0" y="4617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474" y="474939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4160520"/>
            <a:ext cx="4069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Добавляет административную нагрузку — несколько коллекций/доменов на тему, риск разъезжания.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ИТОГ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Статус: предложение к реализации, а не отчёт о дефекте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1920240"/>
          </a:xfrm>
          <a:prstGeom prst="roundRect">
            <a:avLst>
              <a:gd name="adj" fmla="val 428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031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Предложение к реализации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не найденный баг и не пробел в тестировании — а естественное расширение сегодняшней модели «домен = тематическая область», подкреплённое конкретными прецедентами (case-19). Мы предлагаем включить его в дорожную карту и готовы прорабатывать детали реализации вместе с вендором.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Вероятный кандидат в существующей структуре дорожной карты — линия «Каталог» (КАТ-) или «Надзор» (НАД-).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СИНТЕЗ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и та же граница контроля доступа — два разных ответа: сомнение и предложение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257800" cy="3017520"/>
          </a:xfrm>
          <a:prstGeom prst="roundRect">
            <a:avLst>
              <a:gd name="adj" fmla="val 2727"/>
            </a:avLst>
          </a:prstGeom>
          <a:solidFill>
            <a:srgbClr val="E1F3EA"/>
          </a:solidFill>
          <a:ln w="9525">
            <a:solidFill>
              <a:srgbClr val="2E9E6E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4380" y="19431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026" y="20857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0116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Гарантировано сегодня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68680" y="2651760"/>
            <a:ext cx="4617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Маскирование PII/DLP — для серверной части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Контроль доступа — на уровне целой коллекции (флаг «домен есть / домена нет»)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737360"/>
            <a:ext cx="5257800" cy="3017520"/>
          </a:xfrm>
          <a:prstGeom prst="roundRect">
            <a:avLst>
              <a:gd name="adj" fmla="val 2727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23660" y="19431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306" y="20857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20116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разные позиции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37960" y="2651760"/>
            <a:ext cx="4617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Часть 1 — сомнение в необходимости нового места исполнения (компьютер сотрудника); ждём ответа вендора</a:t>
            </a:r>
            <a:endParaRPr lang="en-US" sz="12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Часть 2 — предложение к реализации, снимающее ограничение плоского домена; готовы дорабатывать вместе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48640" y="5029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i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остаётся открытым вопросом для вендора, Часть 2 — предложением к реализации. Обе позиции поднимаются проактивно, до того как РМ-1 или «Каталог»/«Надзор» станут обязательством в договоре.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02775" y="1051560"/>
            <a:ext cx="1371600" cy="1371600"/>
          </a:xfrm>
          <a:prstGeom prst="ellipse">
            <a:avLst/>
          </a:prstGeom>
          <a:solidFill>
            <a:srgbClr val="2C314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1959" y="1380744"/>
            <a:ext cx="713232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ДОКУМЕНТ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2194560"/>
            <a:ext cx="8503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Сомнение и предложение — в одном файле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3246120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остаётся открытым вопросом о необходимости — ждём точку зрения вендора. Часть 2 — наше предложение к реализации, готовое дорабатывать вместе. Обе позиции зафиксированы в case-11-voprosy-vendoru-roadmap.md, куда лягут ответы вендора и шаги к реализации.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4572000"/>
            <a:ext cx="7863840" cy="777240"/>
          </a:xfrm>
          <a:prstGeom prst="roundRect">
            <a:avLst>
              <a:gd name="adj" fmla="val 10588"/>
            </a:avLst>
          </a:prstGeom>
          <a:solidFill>
            <a:srgbClr val="2C3140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5720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docs/analysis/case-11-voprosy-vendoru-roadmap.md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2026-09-05T17:40:36Z</dcterms:created>
  <dcterms:modified xsi:type="dcterms:W3CDTF">2026-09-05T17:40:36Z</dcterms:modified>
</cp:coreProperties>
</file>