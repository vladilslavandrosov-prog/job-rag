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офсет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;-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8 · Закрытие / роадмап</c:v>
                  </c:pt>
                  <c:pt idx="1">
                    <c:v>7 · Оценка приёмки</c:v>
                  </c:pt>
                  <c:pt idx="2">
                    <c:v>6 · Цикл проверки фиксов</c:v>
                  </c:pt>
                  <c:pt idx="3">
                    <c:v>5 · Консолидация находок</c:v>
                  </c:pt>
                  <c:pt idx="4">
                    <c:v>4 · Исполнение / тестирование</c:v>
                  </c:pt>
                  <c:pt idx="5">
                    <c:v>3 · Проектирование теста</c:v>
                  </c:pt>
                  <c:pt idx="6">
                    <c:v>2 · Готовность интеграции</c:v>
                  </c:pt>
                  <c:pt idx="7">
                    <c:v>1 · Скоуп и контракт</c:v>
                  </c:pt>
                  <c:pt idx="8">
                    <c:v>0 · Диагностика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6</c:v>
                </c:pt>
                <c:pt idx="2">
                  <c:v>5</c:v>
                </c:pt>
                <c:pt idx="3">
                  <c:v>4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Длительность (нед.)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;-0;&quot;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8 · Закрытие / роадмап</c:v>
                  </c:pt>
                  <c:pt idx="1">
                    <c:v>7 · Оценка приёмки</c:v>
                  </c:pt>
                  <c:pt idx="2">
                    <c:v>6 · Цикл проверки фиксов</c:v>
                  </c:pt>
                  <c:pt idx="3">
                    <c:v>5 · Консолидация находок</c:v>
                  </c:pt>
                  <c:pt idx="4">
                    <c:v>4 · Исполнение / тестирование</c:v>
                  </c:pt>
                  <c:pt idx="5">
                    <c:v>3 · Проектирование теста</c:v>
                  </c:pt>
                  <c:pt idx="6">
                    <c:v>2 · Готовность интеграции</c:v>
                  </c:pt>
                  <c:pt idx="7">
                    <c:v>1 · Скоуп и контракт</c:v>
                  </c:pt>
                  <c:pt idx="8">
                    <c:v>0 · Диагностика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2</c:v>
                </c:pt>
                <c:pt idx="6">
                  <c:v>3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dLbls>
          <c:numFmt formatCode="0;-0;&quot;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b"/>
        <c:majorGridlines>
          <c:spPr>
            <a:ln w="9525" cap="flat">
              <a:solidFill>
                <a:srgbClr val="D8DE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Аналитик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Нед. 1</c:v>
                  </c:pt>
                  <c:pt idx="1">
                    <c:v>Нед. 2</c:v>
                  </c:pt>
                  <c:pt idx="2">
                    <c:v>Нед. 3</c:v>
                  </c:pt>
                  <c:pt idx="3">
                    <c:v>Нед. 4</c:v>
                  </c:pt>
                  <c:pt idx="4">
                    <c:v>Нед. 5</c:v>
                  </c:pt>
                  <c:pt idx="5">
                    <c:v>Нед. 6</c:v>
                  </c:pt>
                  <c:pt idx="6">
                    <c:v>Нед. 7</c:v>
                  </c:pt>
                  <c:pt idx="7">
                    <c:v>Нед. 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6.5</c:v>
                </c:pt>
                <c:pt idx="1">
                  <c:v>5.6</c:v>
                </c:pt>
                <c:pt idx="2">
                  <c:v>2.6</c:v>
                </c:pt>
                <c:pt idx="3">
                  <c:v>4</c:v>
                </c:pt>
                <c:pt idx="4">
                  <c:v>4.9</c:v>
                </c:pt>
                <c:pt idx="5">
                  <c:v>7.4</c:v>
                </c:pt>
                <c:pt idx="6">
                  <c:v>8.1</c:v>
                </c:pt>
                <c:pt idx="7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Разработчик</c:v>
                </c:pt>
              </c:strCache>
            </c:strRef>
          </c:tx>
          <c:spPr>
            <a:solidFill>
              <a:srgbClr val="C9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Нед. 1</c:v>
                  </c:pt>
                  <c:pt idx="1">
                    <c:v>Нед. 2</c:v>
                  </c:pt>
                  <c:pt idx="2">
                    <c:v>Нед. 3</c:v>
                  </c:pt>
                  <c:pt idx="3">
                    <c:v>Нед. 4</c:v>
                  </c:pt>
                  <c:pt idx="4">
                    <c:v>Нед. 5</c:v>
                  </c:pt>
                  <c:pt idx="5">
                    <c:v>Нед. 6</c:v>
                  </c:pt>
                  <c:pt idx="6">
                    <c:v>Нед. 7</c:v>
                  </c:pt>
                  <c:pt idx="7">
                    <c:v>Нед. 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4.8</c:v>
                </c:pt>
                <c:pt idx="2">
                  <c:v>3.8</c:v>
                </c:pt>
                <c:pt idx="3">
                  <c:v>4.6</c:v>
                </c:pt>
                <c:pt idx="4">
                  <c:v>2.4</c:v>
                </c:pt>
                <c:pt idx="5">
                  <c:v>3.6</c:v>
                </c:pt>
                <c:pt idx="6">
                  <c:v>2.9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Потолок 1 ФТЕ</c:v>
                </c:pt>
              </c:strCache>
            </c:strRef>
          </c:tx>
          <c:spPr>
            <a:solidFill>
              <a:srgbClr val="5B6B7A"/>
            </a:solidFill>
            <a:ln w="19050" cap="flat">
              <a:solidFill>
                <a:srgbClr val="5B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B7A"/>
              </a:solidFill>
              <a:ln w="9525" cap="flat">
                <a:solidFill>
                  <a:srgbClr val="5B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Нед. 1</c:v>
                  </c:pt>
                  <c:pt idx="1">
                    <c:v>Нед. 2</c:v>
                  </c:pt>
                  <c:pt idx="2">
                    <c:v>Нед. 3</c:v>
                  </c:pt>
                  <c:pt idx="3">
                    <c:v>Нед. 4</c:v>
                  </c:pt>
                  <c:pt idx="4">
                    <c:v>Нед. 5</c:v>
                  </c:pt>
                  <c:pt idx="5">
                    <c:v>Нед. 6</c:v>
                  </c:pt>
                  <c:pt idx="6">
                    <c:v>Нед. 7</c:v>
                  </c:pt>
                  <c:pt idx="7">
                    <c:v>Нед. 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9525" cap="flat">
              <a:solidFill>
                <a:srgbClr val="D8DE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7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ПРОМЕЖУТОЧНЫЙ СРЕЗ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кейса: Пилот и Проект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Методика внедрения платформы у нового заказчика: как команда проходит 9 этапов пилота, и что меняется, когда пилот перерастает в полный проект.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063240"/>
            <a:ext cx="5349240" cy="2606040"/>
          </a:xfrm>
          <a:prstGeom prst="roundRect">
            <a:avLst>
              <a:gd name="adj" fmla="val 2807"/>
            </a:avLst>
          </a:prstGeom>
          <a:solidFill>
            <a:srgbClr val="F4F6F7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3375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576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Пилот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34340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этапов, ~55–81 чел.-дн., 6–8 недель. Реконструирован из фактического хода пилота Д8 — проверенная практика.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3063240"/>
            <a:ext cx="5349240" cy="2606040"/>
          </a:xfrm>
          <a:prstGeom prst="roundRect">
            <a:avLst>
              <a:gd name="adj" fmla="val 2807"/>
            </a:avLst>
          </a:prstGeom>
          <a:solidFill>
            <a:srgbClr val="F4F6F7"/>
          </a:solidFill>
          <a:ln w="15875">
            <a:solidFill>
              <a:srgbClr val="C97A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33375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6576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434340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фаз масштабирования после пилота на весь периметр заказчика. Логическое продолжение методики — пока без реального прецедента.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13–14.09.2026 · docs/metodika-vnedreniya.md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1 — ПИЛОТ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Прохождение 9 этапов пилота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цикл, ~6–8 недель: от диагностики до закрытия — точка перехода в Кейс 2 на этапе 8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0A5F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20824"/>
            <a:ext cx="402336" cy="402336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5778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778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4134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11" name="Shape 9"/>
          <p:cNvSpPr/>
          <p:nvPr/>
        </p:nvSpPr>
        <p:spPr>
          <a:xfrm>
            <a:off x="173736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5B6B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03120" y="2020824"/>
            <a:ext cx="402336" cy="402336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0312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9222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Скоуп и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9222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7578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17" name="Shape 15"/>
          <p:cNvSpPr/>
          <p:nvPr/>
        </p:nvSpPr>
        <p:spPr>
          <a:xfrm>
            <a:off x="297180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C97A1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020824"/>
            <a:ext cx="402336" cy="402336"/>
          </a:xfrm>
          <a:prstGeom prst="ellipse">
            <a:avLst/>
          </a:prstGeom>
          <a:solidFill>
            <a:srgbClr val="C97A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3756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02666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02666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022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23" name="Shape 21"/>
          <p:cNvSpPr/>
          <p:nvPr/>
        </p:nvSpPr>
        <p:spPr>
          <a:xfrm>
            <a:off x="420624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5B6B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0" y="2020824"/>
            <a:ext cx="402336" cy="402336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26110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Проекти-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рование теста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26110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4466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29" name="Shape 27"/>
          <p:cNvSpPr/>
          <p:nvPr/>
        </p:nvSpPr>
        <p:spPr>
          <a:xfrm>
            <a:off x="544068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0A5F6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06440" y="2020824"/>
            <a:ext cx="402336" cy="402336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0644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9554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9554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7910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35" name="Shape 33"/>
          <p:cNvSpPr/>
          <p:nvPr/>
        </p:nvSpPr>
        <p:spPr>
          <a:xfrm>
            <a:off x="667512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5B6B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40880" y="2020824"/>
            <a:ext cx="402336" cy="402336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04088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72998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находок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72998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81354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41" name="Shape 39"/>
          <p:cNvSpPr/>
          <p:nvPr/>
        </p:nvSpPr>
        <p:spPr>
          <a:xfrm>
            <a:off x="790956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5B6B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75320" y="2020824"/>
            <a:ext cx="402336" cy="402336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27532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96442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фиксов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796442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04798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47" name="Shape 45"/>
          <p:cNvSpPr/>
          <p:nvPr/>
        </p:nvSpPr>
        <p:spPr>
          <a:xfrm>
            <a:off x="914400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0A5F6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09760" y="2020824"/>
            <a:ext cx="402336" cy="402336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50976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919886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приёмки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19886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282428" y="2569464"/>
            <a:ext cx="91440" cy="164592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53" name="Shape 51"/>
          <p:cNvSpPr/>
          <p:nvPr/>
        </p:nvSpPr>
        <p:spPr>
          <a:xfrm>
            <a:off x="10378440" y="1874520"/>
            <a:ext cx="1133856" cy="1554480"/>
          </a:xfrm>
          <a:prstGeom prst="roundRect">
            <a:avLst>
              <a:gd name="adj" fmla="val 5645"/>
            </a:avLst>
          </a:prstGeom>
          <a:solidFill>
            <a:srgbClr val="F4F6F7"/>
          </a:solidFill>
          <a:ln w="15875">
            <a:solidFill>
              <a:srgbClr val="5B6B7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744200" y="2020824"/>
            <a:ext cx="402336" cy="402336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44200" y="20208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10433304" y="2496312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Закрытие /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роадмап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0433304" y="30998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02920" y="3749040"/>
            <a:ext cx="182880" cy="182880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58952" y="36941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920240" y="3749040"/>
            <a:ext cx="182880" cy="182880"/>
          </a:xfrm>
          <a:prstGeom prst="ellipse">
            <a:avLst/>
          </a:prstGeom>
          <a:solidFill>
            <a:srgbClr val="C97A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2176272" y="36941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337560" y="3749040"/>
            <a:ext cx="182880" cy="182880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93592" y="36941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502920" y="42519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Этапы 2–3 идут параллельно, этап 6 — итеративно внутри 4–5. Разбивка по ролям и трудоёмкости на каждом этапе — docs/metodika-vnedreniya.md, §2.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02920" y="5166360"/>
            <a:ext cx="10607040" cy="594360"/>
          </a:xfrm>
          <a:prstGeom prst="roundRect">
            <a:avLst>
              <a:gd name="adj" fmla="val 923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51663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этап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880360" y="516636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фиксирует конкретный артефакт — не «продвигаемся», а документ/таблица/статус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02920" y="5897880"/>
            <a:ext cx="10607040" cy="594360"/>
          </a:xfrm>
          <a:prstGeom prst="roundRect">
            <a:avLst>
              <a:gd name="adj" fmla="val 923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5897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(этап 8)</a:t>
            </a:r>
            <a:endParaRPr lang="en-US" sz="1150" dirty="0"/>
          </a:p>
        </p:txBody>
      </p:sp>
      <p:sp>
        <p:nvSpPr>
          <p:cNvPr id="70" name="Text 68"/>
          <p:cNvSpPr txBox="1"/>
          <p:nvPr/>
        </p:nvSpPr>
        <p:spPr>
          <a:xfrm>
            <a:off x="2880360" y="589788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отчёт: у каждого пункта баг-репорта явный статус — исправлено / не исправлено / принято как ограничение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1 — ПИЛОТ · СПРАВОЧНО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этапов пилота — роли и результат подробно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466344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594360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Результат, который фиксируем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Диагностика до контракта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Разбор ТЗ: противоречия и пробелы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Скоуп и контракт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Подписанное ТЗ с числовыми порогами приёмки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интеграции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Источники данных подключены и видны платформе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Проектирование теста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Матрица сценариев + датированный трекер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Исполнение и живое тестирование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Заполненный трекер, проверяемые строки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Консолидация находок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Отчёт вендору по корневым причинам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Цикл проверки фиксов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«Баг → перепроверка → вердикт» по каждому пункту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Оценка приёмки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Таблица pass/fail по пунктам ТЗ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Закрытие / роадмап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Финальный отчёт → точка перехода в Кейс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Масштабирование после пилота: 5 фаз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не автоматический — решение принимается на этапе 8 Кейса 1, по факту приёмки, не по 100% pass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4F6F7"/>
          </a:solidFill>
          <a:ln w="19050">
            <a:solidFill>
              <a:srgbClr val="5B6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29868" y="2103120"/>
            <a:ext cx="512064" cy="512064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9868" y="2103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06624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Бизнес-кейс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пилота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+ Разработчик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78024" y="2674620"/>
            <a:ext cx="164592" cy="182880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11" name="Shape 9"/>
          <p:cNvSpPr/>
          <p:nvPr/>
        </p:nvSpPr>
        <p:spPr>
          <a:xfrm>
            <a:off x="2651760" y="192024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4F6F7"/>
          </a:solidFill>
          <a:ln w="19050">
            <a:solidFill>
              <a:srgbClr val="C97A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8708" y="2103120"/>
            <a:ext cx="512064" cy="512064"/>
          </a:xfrm>
          <a:prstGeom prst="ellipse">
            <a:avLst/>
          </a:prstGeom>
          <a:solidFill>
            <a:srgbClr val="C97A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78708" y="2103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706624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волны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26864" y="2674620"/>
            <a:ext cx="164592" cy="182880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17" name="Shape 15"/>
          <p:cNvSpPr/>
          <p:nvPr/>
        </p:nvSpPr>
        <p:spPr>
          <a:xfrm>
            <a:off x="4800600" y="192024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4F6F7"/>
          </a:solidFill>
          <a:ln w="19050">
            <a:solidFill>
              <a:srgbClr val="5B6B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27548" y="2103120"/>
            <a:ext cx="512064" cy="512064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527548" y="2103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П3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2706624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Роллаут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волнам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+ Разработчик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75704" y="2674620"/>
            <a:ext cx="164592" cy="182880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23" name="Shape 21"/>
          <p:cNvSpPr/>
          <p:nvPr/>
        </p:nvSpPr>
        <p:spPr>
          <a:xfrm>
            <a:off x="6949440" y="192024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4F6F7"/>
          </a:solidFill>
          <a:ln w="19050">
            <a:solidFill>
              <a:srgbClr val="1A27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76388" y="2103120"/>
            <a:ext cx="512064" cy="512064"/>
          </a:xfrm>
          <a:prstGeom prst="ellipse">
            <a:avLst/>
          </a:prstGeom>
          <a:solidFill>
            <a:srgbClr val="1A273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76388" y="2103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П4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706624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Промышленная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эксплуатация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Эксплуатация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24544" y="2674620"/>
            <a:ext cx="164592" cy="182880"/>
          </a:xfrm>
          <a:prstGeom prst="chevron">
            <a:avLst/>
          </a:prstGeom>
          <a:solidFill>
            <a:srgbClr val="8C99A6"/>
          </a:solidFill>
          <a:ln/>
        </p:spPr>
      </p:sp>
      <p:sp>
        <p:nvSpPr>
          <p:cNvPr id="29" name="Shape 27"/>
          <p:cNvSpPr/>
          <p:nvPr/>
        </p:nvSpPr>
        <p:spPr>
          <a:xfrm>
            <a:off x="9098280" y="192024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4F6F7"/>
          </a:solidFill>
          <a:ln w="19050">
            <a:solidFill>
              <a:srgbClr val="5B6B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25228" y="2103120"/>
            <a:ext cx="512064" cy="512064"/>
          </a:xfrm>
          <a:prstGeom prst="ellipse">
            <a:avLst/>
          </a:prstGeom>
          <a:solidFill>
            <a:srgbClr val="5B6B7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25228" y="21031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П5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9189720" y="2706624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Постоянные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улучшения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+ Разработчик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3977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П4 вводит новую роль — Эксплуатация/поддержка (SLA на инциденты), отдельную от А/Р пилота.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526280"/>
            <a:ext cx="10607040" cy="1371600"/>
          </a:xfrm>
          <a:prstGeom prst="roundRect">
            <a:avLst>
              <a:gd name="adj" fmla="val 5333"/>
            </a:avLst>
          </a:prstGeom>
          <a:solidFill>
            <a:srgbClr val="FBF3E7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709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оговорка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029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один заказчик в базе ещё не прошёл пилот до конца и не перешёл в проект — П1–П5 логически выведены из методики Кейса 1, а не реконструированы из факта. Поэтому здесь сознательно нет оценок трудоёмкости в чел.-днях.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1 VS КЕЙС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проект отличается от пилота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484632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389120"/>
              </a:tblGrid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Кейс 1 — Пилот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F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Кейс 2 — Проект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A1A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Скоуп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Несколько источников, 2–5 ролей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источники, все подразделения, все пользователи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Команда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аналитик + 1 разработчик, постоянно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Растёт по волнам; часть делегируется заказчику; на П4 — выделенная эксплуатация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Ритм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 цикл, ~6–8 недель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Повторяющиеся волны + постоянный процесс без формального конца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 успеха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pass/fail по пунктам ТЗ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 и операционные метрики эксплуатации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Ключевой артефакт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Итоговый отчёт пилота (этап 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Регламент эксплуатации + периодический отчёт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Трудоёмкость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Оценена (реконструкция по Д8)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оценена — нет ни одного прецедента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1 — ПИЛОТ · ПРИЛОЖЕНИЕ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Ганта: 9 этапов на 8 неделях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Этапы 2–3 и 4–7 идут параллельно/итеративно, не строго друг за другом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00200"/>
          <a:ext cx="11155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1 — ПИЛОТ · ПРИЛОЖЕНИЕ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Пиковые загрузки по неделям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2529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Чел.-дн. в неделю на роль · пунктир — потолок 1 ФТЕ (5 дн./нед.)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00200"/>
          <a:ext cx="111556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8521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аналитика — недели 6–7 (пересечение этапов 6 и 7): вероятная точка, где стоит планировать второго аналитика точечно, в т.ч. на первых волнах Кейса 2.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84832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975104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Шаблоны из Кейса 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975104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Датированный трекер (этап 3–4) и формат баг-репорта «для вендора / внутреннее мнение» (этап 5) — переиспользуемые артефакты для следующего клиента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324612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02152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392424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Трудоёмкость П1–П5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3392424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Оценить, как только появится первый реальный переход клиента из пилота в проект — кандидат: Д8, когда пилот формально закроется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919472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809744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Презентация Кейса 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4809744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здесь (слайды 4–5) — детализировать по мере накопления практики, аналогично тому, как детализирован Кейс 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текст методики — docs/metodika-vnedreniya.md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2026-09-14T10:13:16Z</dcterms:created>
  <dcterms:modified xsi:type="dcterms:W3CDTF">2026-09-14T10:13:16Z</dcterms:modified>
</cp:coreProperties>
</file>