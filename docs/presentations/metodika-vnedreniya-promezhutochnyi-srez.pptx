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офсет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;-0;&quot;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8 · Закрытие / роадмап</c:v>
                  </c:pt>
                  <c:pt idx="1">
                    <c:v>7 · Оценка приёмки</c:v>
                  </c:pt>
                  <c:pt idx="2">
                    <c:v>6 · Цикл проверки фиксов</c:v>
                  </c:pt>
                  <c:pt idx="3">
                    <c:v>5 · Консолидация находок</c:v>
                  </c:pt>
                  <c:pt idx="4">
                    <c:v>4 · Исполнение / тестирование</c:v>
                  </c:pt>
                  <c:pt idx="5">
                    <c:v>3 · Проектирование теста</c:v>
                  </c:pt>
                  <c:pt idx="6">
                    <c:v>2 · Готовность интеграции</c:v>
                  </c:pt>
                  <c:pt idx="7">
                    <c:v>1 · Скоуп и контракт</c:v>
                  </c:pt>
                  <c:pt idx="8">
                    <c:v>0 · Диагностика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Длительность (нед.)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;-0;&quot;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8 · Закрытие / роадмап</c:v>
                  </c:pt>
                  <c:pt idx="1">
                    <c:v>7 · Оценка приёмки</c:v>
                  </c:pt>
                  <c:pt idx="2">
                    <c:v>6 · Цикл проверки фиксов</c:v>
                  </c:pt>
                  <c:pt idx="3">
                    <c:v>5 · Консолидация находок</c:v>
                  </c:pt>
                  <c:pt idx="4">
                    <c:v>4 · Исполнение / тестирование</c:v>
                  </c:pt>
                  <c:pt idx="5">
                    <c:v>3 · Проектирование теста</c:v>
                  </c:pt>
                  <c:pt idx="6">
                    <c:v>2 · Готовность интеграции</c:v>
                  </c:pt>
                  <c:pt idx="7">
                    <c:v>1 · Скоуп и контракт</c:v>
                  </c:pt>
                  <c:pt idx="8">
                    <c:v>0 · Диагностика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numFmt formatCode="0;-0;&quot;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9525" cap="flat">
              <a:solidFill>
                <a:srgbClr val="D8DE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Аналитик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Нед. 1</c:v>
                  </c:pt>
                  <c:pt idx="1">
                    <c:v>Нед. 2</c:v>
                  </c:pt>
                  <c:pt idx="2">
                    <c:v>Нед. 3</c:v>
                  </c:pt>
                  <c:pt idx="3">
                    <c:v>Нед. 4</c:v>
                  </c:pt>
                  <c:pt idx="4">
                    <c:v>Нед. 5</c:v>
                  </c:pt>
                  <c:pt idx="5">
                    <c:v>Нед. 6</c:v>
                  </c:pt>
                  <c:pt idx="6">
                    <c:v>Нед. 7</c:v>
                  </c:pt>
                  <c:pt idx="7">
                    <c:v>Нед.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6.5</c:v>
                </c:pt>
                <c:pt idx="1">
                  <c:v>5.6</c:v>
                </c:pt>
                <c:pt idx="2">
                  <c:v>2.6</c:v>
                </c:pt>
                <c:pt idx="3">
                  <c:v>4</c:v>
                </c:pt>
                <c:pt idx="4">
                  <c:v>4.9</c:v>
                </c:pt>
                <c:pt idx="5">
                  <c:v>7.4</c:v>
                </c:pt>
                <c:pt idx="6">
                  <c:v>8.1</c:v>
                </c:pt>
                <c:pt idx="7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Разработчик</c:v>
                </c:pt>
              </c:strCache>
            </c:strRef>
          </c:tx>
          <c:spPr>
            <a:solidFill>
              <a:srgbClr val="C9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Нед. 1</c:v>
                  </c:pt>
                  <c:pt idx="1">
                    <c:v>Нед. 2</c:v>
                  </c:pt>
                  <c:pt idx="2">
                    <c:v>Нед. 3</c:v>
                  </c:pt>
                  <c:pt idx="3">
                    <c:v>Нед. 4</c:v>
                  </c:pt>
                  <c:pt idx="4">
                    <c:v>Нед. 5</c:v>
                  </c:pt>
                  <c:pt idx="5">
                    <c:v>Нед. 6</c:v>
                  </c:pt>
                  <c:pt idx="6">
                    <c:v>Нед. 7</c:v>
                  </c:pt>
                  <c:pt idx="7">
                    <c:v>Нед. 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4.8</c:v>
                </c:pt>
                <c:pt idx="2">
                  <c:v>3.8</c:v>
                </c:pt>
                <c:pt idx="3">
                  <c:v>4.6</c:v>
                </c:pt>
                <c:pt idx="4">
                  <c:v>2.4</c:v>
                </c:pt>
                <c:pt idx="5">
                  <c:v>3.6</c:v>
                </c:pt>
                <c:pt idx="6">
                  <c:v>2.9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Потолок 1 ФТЕ</c:v>
                </c:pt>
              </c:strCache>
            </c:strRef>
          </c:tx>
          <c:spPr>
            <a:solidFill>
              <a:srgbClr val="5B6B7A"/>
            </a:solidFill>
            <a:ln w="19050" cap="flat">
              <a:solidFill>
                <a:srgbClr val="5B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7A"/>
              </a:solidFill>
              <a:ln w="9525" cap="flat">
                <a:solidFill>
                  <a:srgbClr val="5B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Нед. 1</c:v>
                  </c:pt>
                  <c:pt idx="1">
                    <c:v>Нед. 2</c:v>
                  </c:pt>
                  <c:pt idx="2">
                    <c:v>Нед. 3</c:v>
                  </c:pt>
                  <c:pt idx="3">
                    <c:v>Нед. 4</c:v>
                  </c:pt>
                  <c:pt idx="4">
                    <c:v>Нед. 5</c:v>
                  </c:pt>
                  <c:pt idx="5">
                    <c:v>Нед. 6</c:v>
                  </c:pt>
                  <c:pt idx="6">
                    <c:v>Нед. 7</c:v>
                  </c:pt>
                  <c:pt idx="7">
                    <c:v>Нед. 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9525" cap="flat">
              <a:solidFill>
                <a:srgbClr val="D8DE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СРЕЗ · ВНЕДРЕНИЕ ПЛАТФОРМЫ «КАМЕРАТА»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Методика внедрения: этапы, роли, загрузка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Операционный уровень методики, выведенной из фактического хода пилота Д8 и перепроверенной на пилоте «Эко»: кто что делает на каждом из 9 этапов, сколько это стоит по времени, и где команда упирается в потолок по загрузке.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36850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44805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внедрения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36850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~55–81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44805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чел.-дн. на пилот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36850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4805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 календаря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71432" y="36850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71432" y="44805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в команде — А / Р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13–14.09.2026 · docs/metodika-vnedreniya.md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— КАРТА ЭТАПОВ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этапов, ведущая роль, что фиксируем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— аналитик, Р — разработчик, АР — распределено между обоими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5720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Результат, который фиксируем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Диагностика до контракта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Разбор ТЗ: противоречия и пробелы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Скоуп и контракт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Подписанное ТЗ с числовыми порогами приёмки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Готовность интеграции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Источники данных подключены и видны платформе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Проектирование теста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Матрица сценариев + датированный трекер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Исполнение и живое тестирование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Заполненный трекер, проверяемые строки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Консолидация находок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Отчёт вендору по корневым причинам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Цикл проверки фиксов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«Баг → перепроверка → вердикт» по каждому пункту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 приёмки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5F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 pass/fail по пунктам ТЗ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Закрытие / роадмап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Финальный отчёт, статус по каждому пункту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— КАЛЕНДАРЬ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Ганта: 9 этапов на 8 неделях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2–3 и 4–7 идут параллельно/итеративно, не строго друг за другом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11155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— ЗАГРУЗКА КОМАНДЫ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Пиковые загрузки по неделям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Чел.-дн. в неделю на роль · пунктир — потолок 1 ФТЕ (5 дн./нед.)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11155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аналитика — недели 6–7 (до 8,1 чел.-дн./нед., ~1,6 ФТЕ): пересечение фазы 6 «Цикл проверки фиксов» и фазы 7 «Оценка приёмки». Разработчик остаётся в пределах 1 ФТЕ весь пилот — пик на неделях 2–4 (интеграция), но не критичный.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— ВЫВОДЫ ПО ЗАГРУЗКЕ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значит для планирования следующего пилота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 — узкое место недель 6–7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Фазы 6 (перепроверка фиксов) и 7 (оценка приёмки) физически пересекаются по календарю — единственный аналитик не укладывается в 5-дневную неделю. Варианты: сдвинуть фазу 7 на неделю позже фазы 6, либо подключить второго аналитика на 1–2 недели точечно.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Разработчик не требует второй пары рук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49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на пике (недели 2–4, готовность интеграции) загрузка не превышает ~1 ФТЕ. Риск этой фазы — не в трудоёмкости, а в непредсказуемости срока (внешние блокеры на стороне заказчика), см. §2 методики.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Оценки — реконструкция, не факт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749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выведены из хронологии файлов пилота Д8, не из прямого учёта часов. Первая проверка — сверить с фактическим временем на следующем клиенте и скорректировать веса по фазам.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— ДАЛЬШЕ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методики — в переиспользуемые шаблоны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8483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7510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Шаблон датированного трекера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975104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столбцов, легенда условий теста (этапы 3–4) — чтобы не пересобирать на каждом новом клиенте с нуля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0215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9242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баг-репорта вендору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3392424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«Для вендора» + «наше внутреннее мнение» отдельными блоками (этап 5) — закрепить как переиспользуемый шаблон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4F6F7"/>
          </a:solidFill>
          <a:ln w="9525">
            <a:solidFill>
              <a:srgbClr val="D8DE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91947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0974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Сверка трудоёмкости на практике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4809744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оценки §2–3 методики с фактическим временем на следующем пилоте, скорректировать веса по фазам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методики — docs/metodika-vnedreniya.md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2026-09-14T10:05:04Z</dcterms:created>
  <dcterms:modified xsi:type="dcterms:W3CDTF">2026-09-14T10:05:04Z</dcterms:modified>
</cp:coreProperties>
</file>