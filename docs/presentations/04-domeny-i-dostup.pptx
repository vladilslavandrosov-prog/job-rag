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Часть 4 из 5-частного обучающего цикла по платформе «Камерата». Эта часть — про разграничение доступа к данным: домены, коллекции и два способа реально ограничить, что пользователь видит в чате и поиске. Для самостоятельного изучения: прежде чем переходить дальше, держите в голове главное различие с частью 3 — там речь шла про то, ЧТО модель показывает внутри уже найденного ответа (маскирование PII), а здесь — про то, КТО вообще получает шанс, чтобы модель что-то нашла и показала. Это два независимых, последовательных фильтра: сначала доступ (эта часть), потом маскирование (часть 3). Рекомендуется читать эту часть с открытой исходной инструкцией instrukciya-domeny-i-dostup.md рядом — многие формулировки на слайдах являются почти дословными цитатами оттуда, и в документе есть больше практических деталей форм и путей в интерфейсе, чем поместилось на слайды.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Обучающий цикл теперь состоит из пяти частей (план на Пилот Д8 как отдельную часть исключён из курса). Часть 4 — четвёртая из пяти, посвящена разграничению доступа к данным. Важно закрепить последовательность фильтров в голове до начала содержательных слайдов: сначала платформа решает, видит ли пользователь коллекцию/домен вообще (эта часть) — и только если видит, включается второй, независимый фильтр — что именно из найденного текста можно показать в ответе, а что замаскировать (часть 3, PII Shield/DLP). Это разные слои: домен — это про 'дотянуться до источника', маскирование — про 'что показать из уже найденного'. Если перепутать их местами при объяснении коллегам, легко создать ложное впечатление, что маскирование как-то ограничивает поиск, а домен — как-то меняет текст ответа; оба неверны.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Ключевое для самостоятельного изучения: домен — не просто папка или ярлык, а понятие с двойной природой. Первая функция (смысловая группировка) — это то, что обычно приходит в голову сразу, она про организацию каталога данных. Вторая функция (граница доступа) — менее очевидна, но именно она станет центральной темой всей этой части: домен — это единица, по которой платформа решает, кому что видно. Обе функции существуют одновременно на одном и том же объекте: создавая домен, администратор не выбирает 'для группировки' или 'для доступа' — получает оба эффекта сразу. Это важно держать в голове перед разделом про создание домена: поля формы (владельцы, эксперты, тип домена) относятся, в основном, к первой функции — организации; вторая функция (реальный доступ) настраивается отдельно и совсем другими экранами, что и станет источником самых частых заблуждений далее в этой части.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Тип домена — это классификация из data-mesh подхода к организации данных: source-aligned домены обычно создаются 'от системы' (например, домен под ERP или CRM), consumer-aligned — 'от потребителя' (например, домен под нужды конкретного бизнес-подразделения, даже если данные приходят из разных систем), aggregate — 'сборный' домен, который сознательно объединяет несколько источников или направлений в одну смысловую и одновременно access-область. На практике выбор типа не меняет техническую логику доступа (описанную в разделах про Domain Only Access Role) — тип домена не влияет на то, как работает ограничение видимости, это чисто классификационное поле для порядка в каталоге. Не путайте его с полем 'Домен' на карточке коллекции (раздел про коллекции) — это два разных понятия домена в одной и той же форме.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Путь в интерфейсе дословно: Каталог → Data Marketplace → Домены → «+ Добавить Домен». После заполнения формы и нажатия «Сохранить» домен появляется в общем списке доменов и сразу доступен для привязки коллекций (следующий слайд) — создание домена само по себе ничего не ограничивает и не открывает, это просто регистрация новой смысловой области в каталоге. Особое внимание стоит уделить полям «Владельцы» и «Эксперты» — это одна из двух главных ловушек всей темы (вторая — роли раздела «Контроль доступа», разберём дальше в этой части). Интуитивно кажется, что если человек назначен 'владельцем' домена, то он должен видеть данные этого домена — но это не так: поле чисто организационное, как аннотация 'кто отвечает'. Отдельно стоит заметить, что поле «Владельцы» может содержать не только пользователей, но и целую команду — то же верно и для последующего реального назначения доступа, где домен тоже можно навесить и на отдельного пользователя, и на команду целиком.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Технические поля (эмбеддинги, разбивка на чанки, параметры поиска) заполняются один раз при создании и в норме не требуют ручной настройки — платформа подставляет рабочие значения по умолчанию; их смена после создания требует переиндексации коллекции, поэтому на слайде их не приводим отдельно. Обратите внимание на количество полей, помеченных замочком — почти все ключевые идентифицирующие поля коллекции нельзя изменить после создания: идентификатор коллекции, текстовое поле «Домен», «Бизнес-домен(ы) ОМ» и «Тип коллекции». Это значит, что ошибку в привязке домена на этом экране нельзя тихо поправить редактированием — придётся пересоздавать коллекцию и заново загружать документы. Именно поэтому следующий слайд про частую ошибку с полем «Домен» так важен — легче предотвратить ошибку, чем потом её чинить.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одна из самых практичных деталей всего раздела для администратора платформы: два поля выглядят похоже (оба про 'домен'), находятся рядом в одной форме, и легко предположить, что выбор одного заполнит другое — особенно потому что оба в итоге про один и тот же смысловой домен. Но это разные механизмы платформы: «Домен» — простая текстовая метка коллекции внутри её собственной технической схемы, а «Бизнес-домен(ы) ОМ» — настоящая связь с объектом «Домен» из Каталога (тем самым, что создаётся в Data Marketplace, разделы 2 и 5 этой части). Практический совет для тестирования и приёмки: если коллекция не сохраняется без явной причины в интерфейсе — первое, что стоит проверить, это заполнено ли текстовое поле «Домен» отдельно от выбора в «Бизнес-домен(ы) ОМ». И помните — оба поля залочены (см. пред. слайд) после создания коллекции, поэтому ошибку здесь нельзя исправить редактированием, только пересозданием коллекции.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центральная диаграмма всей части — если из неё запомнить только одну вещь, то это должна быть она. Реальный, работающий на практике доступ к данным домена в чате и поиске получается ровно по одной проверенной цепочке: домен создан в Каталоге → коллекция привязана к этому домену → пользователю или команде назначен домен И дополнительно роль Domain Only Access Role. Если пропущено любое из звеньев 1-3, результат не наступит. Отдельно нужно подчеркнуть нижний блок — три вещи, которые почти всегда путают с реальным доступом именно потому, что они находятся рядом в интерфейсе или называются похоже: владельцы/эксперты домена (карточка домена), персона пользователя (карточка пользователя) и роли/политики в разделе «Контроль доступа». Все три — реальные, полезные механизмы платформы, но ни один из них не входит в цепочку выдачи доступа к данным в чате. Подробный разбор каждого — на слайдах про частые заблуждения дальше в этой части. Держите этот слайд как референс, к которому можно будет возвращаться.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Способ 1 (в источнике — «Часть 1» инструкции) — это прямой путь: домен назначается либо конкретному пользователю на его персональной карточке, либо целой команде на карточке команды. Второй вариант (через команду) удобнее операционно, когда права нужно раздать группе людей одинаково — при этом наследование доменов от команды к участникам происходит автоматически, без ручной настройки каждого сотрудника по отдельности; если позже добавить нового человека в команду, он тоже получит её домены. Технически оба варианта (индивидуально и через команду) используют один и тот же блок «Домены» на соответствующей карточке в разделе Настройки → Команды и пользователи — интерфейс идентичен что для пользователя, что для команды, отличается только то, чья карточка редактируется. Помните: домен из этого шага не даёт эффекта в одиночку — обязательно нужен шаг 2 со следующего слайда.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самый технически точный фрагмент всей части, и его стоит процитировать дословно из инструкции: «Если у пользователя назначен домен — он получает доступ только к данным этого домена. Если пользователю не назначен ни один домен — он получает доступ только к тем объектам, у которых тоже не задан домен» — это прямой перевод описания политики Domain Only Access Policy, стоящей за технической ролью DomainOnlyAccessRole. Важный нюанс для самостоятельного изучения: многие интуитивно ожидают, что 'нет домена = нет ограничений = видно всё', как часто бывает в системах прав доступа (пустое поле фильтра = фильтр не применяется). Здесь это не так: роль Domain Only Access Role по своей природе ВСЕГДА что-то ограничивает — либо конкретным доменом, либо (при отсутствии домена) множеством объектов без домена. Это стоит проверить на практике при первом внедрении — завести тестового пользователя без единого домена, но с этой ролью, и убедиться, что он видит именно объекты без домена, а не весь каталог.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Практический пример дословно из инструкции: пользователю назначен домен «Инвестиции» и роли «Data Consumer» + «Domain Only Access Role». Результат — пользователь видит только данные и коллекции, отнесённые к домену «Инвестиции»; данные других доменов (например, «Производство») ему не видны. Обратите внимание, что базовая роль «Data Consumer» никуда не исчезает и не заменяется — она остаётся источником общих прав уровня 'что вообще может делать пользователь в системе' (читать, искать и т.д.), а Domain Only Access Role работает поверх неё как дополнительный фильтр именно по домену. Это принципиально важно понять: Domain Only Access Role не является заменой базовой роли пользователя, она добавляется К ней и сужает то, что базовая роль иначе показала бы. Тест-кейс из приложения к инструкции (см. слайд про тест-кейс дальше) — это ровно проверка такого сценария на практике, на пилотном контуре.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Способ 2 (в источнике — «Часть 2» инструкции) полностью независим от Способа 1 — это не альтернативная запись того же самого, а другой путь передачи домена пользователю. Ключевое отличие: домен настраивается один раз на Персоне (типовой роли вроде «Менеджер» или «Аналитик»), а не на каждом пользователе или команде отдельно; дальше просто назначаете готовую персону новым сотрудникам, и они автоматически получают все домены этой персоны. Это особенно удобно в компаниях, где уже устоялась ролевая модель сотрудников — например, если у вас есть 50 «менеджеров» и всем им нужен один и тот же набор доменов, гораздо эффективнее один раз настроить это на персоне «Менеджер», чем 50 раз повторять шаг 1 из Способа 1 для каждого человека вручную. Персона в этом смысле — это шаблон доступа, который можно переиспользовать. Технические детали, где именно это настраивается (экран «Граф доступа»), и важное предостережение про похожую, но не ту вкладку — на следующем слайде.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Путь в точности: Управление данными → Граф доступа → Политики доступа. Это тот же самый раздел «Граф доступа», где, как мы увидим дальше в этой части, настраиваются и row-фильтры с масками колонок для табличных данных — то есть Граф доступа является общим местом для настройки нескольких разных механизмов доступа, не только доменов для персон. Отдельно стоит обратить внимание на предупреждение про вкладку «Настроить интерфейс» на карточке персоны — это классическая ловушка, потому что она физически находится на той же карточке персоны, где логично было бы ожидать настройку доменов, и по названию звучит достаточно широко, чтобы показаться подходящим местом. На деле она отвечает только за то, какие вкладки и виджеты пользователь увидит в интерфейсе — чисто визуальная персонализация, никак не связанная с тем, какие данные ему доступны. Домены персоны настраиваются исключительно через Граф доступа → Политики доступа, и только там.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Оба способа независимы друг от друга и приводят к одному и тому же итоговому эффекту — пользователь получает домен, который затем интерпретируется одной и той же ролью/политикой Domain Only Access. Разница исключительно в том, ОТКУДА пользователь получает свой домен: напрямую (со своей карточки или карточки команды) или унаследованно (через привязанную персону). Правило выбора простое и практичное: если нужно решить точечную задачу — один конкретный человек или команда должны получить доступ к домену — Способ 1 быстрее и нагляднее. Если же в компании уже сложилась ролевая структура (не в смысле ролей платформы, а в смысле должностей/функций сотрудников) и один и тот же набор доменов регулярно нужно раздавать новым людям с такой же должностью, Способ 2 экономит время: настройка происходит один раз на уровне персоны, а не при каждом новом найме.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Источник инструкции прямо указывает: «Для пилота используется Часть 1» (то есть Способ 1 в терминах этой презентации). Это осознанный выбор для стадии пилота, а не временная заглушка — Способ 2 через Персону становится оправданным только тогда, когда в организации уже устоялась ролевая модель и число пользователей/ролей достаточно велико, чтобы точечная настройка каждого стала неэффективной. На пилотной стадии с ограниченным числом тестовых пользователей и команд именно Способ 1 даёт наиболее прямой и предсказуемый контроль: администратор явно видит и явно настраивает домен + роль для каждого конкретного участника пилота, не полагаясь на промежуточный уровень персон. Это также облегчает диагностику на этапе пилота — если что-то не работает, проверить нужно всего два места (карточка пользователя/команды: домены и роли), а не три (ещё и карточку персоны, и Граф доступа).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Первое заблуждение — про Владельцев и Экспертов домена — уже разбиралось на слайде про создание домена, здесь оно повторяется в общем ряду заблуждений для полноты. Это чисто организационные поля: 'владелец' — тот, кто отвечает за домен (может быть и пользователем, и целой командой), 'эксперт' — к кому обращаться по содержанию. Ни то, ни другое не открывает доступ к данным домена. Второе — про Персону — требует более аккуратного объяснения, потому что тут есть нюанс, а не простое 'никогда не работает'. Базовая, дефолтная функция Персоны — настройка стиля и тона ответов ассистента (например, персона «Юрист» отвечает более формально, чем персона «Разработчик»). Сама по себе привязка персоны к пользователю доступа не меняет. НО если администратор отдельно, на экране Граф доступа → Политики доступа, донастроил для этой конкретной персоны 'Разрешённые домены' (это и есть Способ 2, разобранный ранее) — тогда пользователь через эту персону дополнительно получает домены. Это не противоречие, а два разных, независимо включаемых эффекта одной и той же сущности «Персона».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вероятно, самое коварное из всех заблуждений раздела — именно потому, что раздел называется «Контроль доступа» и содержит сущности «Роли» и «Политики», по названию неотличимые от того, что реально управляет видимостью данных в чате. Легко предположить, что если платформа вообще предлагает настраивать 'роли' и 'политики доступа' где-то в настройках, то это оно и есть. На деле этот раздел управляет совсем другим уровнем прав — правами на курирование самого каталога метаданных: кто может редактировать описание домена, менять теги, назначать владельцев и экспертов объектов и так далее. Это права администратора каталога, а не права конечного пользователя чата на просмотр содержимого документов. Практический совет для проверки: если нужно понять, почему конкретный пользователь видит или не видит данные в чате, смотреть нужно строго в двух местах — блок «Домены» и блок «Роли» на его личной карточке (или карточке его команды/персоны) — а не в разделе «Контроль доступа».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Этот слайд — синтез всего, что было разобрано в способах 1 и 2: важно понять, что это не два разных механизма ограничения доступа, а два разных способа доставки одного и того же входного параметра (домена) к одному и тому же механизму проверки (роль Domain Only Access Role поверх политики Domain Only Access Policy). Практическое следствие для администратора: при диагностике проблем с доступом не важно, каким способом пользователь получил свой домен — прямым назначением или через персону — логика проверки одна и та же, и объяснённая ранее бинарная логика (домен есть → только этот домен; домена нет → только объекты без домена) применяется одинаково в обоих случаях. Это значит, что тест-кейс из приложения инструкции (см. один из следующих слайдов), написанный для Способа 1, по сути проверяет именно эту центральную политику — и его логика переносится на Способ 2 без изменений.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Этот механизм принадлежит разделу «Управление данными → Граф доступа» и работает на совершенно ином уровне платформы, чем всё, что обсуждалось до сих пор в этой части: домены и коллекции (разделы 2-3) регулируют доступ к НЕструктурированным документам через RAG-поиск, а row-фильтры и маски колонок регулируют доступ к СТРУКТУРИРОВАННЫМ табличным данным через SQL-запросы (движок Trino), с проверкой через механизм OPA (Open Policy Agent). Row-фильтр — это, по сути, автоматически подставляемое условие WHERE в запрос к таблице, зависящее от параметра пользователя (:param из JWT). Маска колонки — это скрытие или замена значения конкретной колонки в результатах запроса для пользователей без права её видеть. Оба настраиваются по тем же ключам персона/пользователь, что и домены персоны (тот же экран Политики доступа), но адресуют разные объекты: домены — целые коллекции документов; row-фильтры/маски — конкретные строки и колонки в конкретных таблицах (схема.таблица и схема.таблица.колонка соответственно).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Этот слайд намеренно рисует два уровня как вложенные рамки, а не как единую линейную цепочку — потому что они относятся к разным типам данных платформы и формально являются отдельными темами (инструкция явно отмечает, что row-фильтры/маски — 'отдельная тема от коллекций документов'). Тем не менее, полезно увидеть их вместе на одной схеме, потому что концептуально они выполняют аналогичную роль на разных этажах системы: домен ограничивает доступ на уровне целых источников/коллекций (документы для RAG-поиска), а Граф доступа ограничивает доступ на уровне отдельных строк и колонок внутри уже разрешённых табличных данных (структурированные данные через Trino). На практике это означает, что для полноценного описания того, что видит конкретный пользователь на платформе, часто нужно смотреть на оба уровня одновременно: сначала — какие домены/коллекции ему вообще доступны (эта часть, разделы 4 и 6), и затем — если речь идёт о структурированных/табличных данных — какие построчные фильтры и маски колонок применены лично к нему или его персоне через Граф доступа. Для документной RAG-части эта вторая проверка, как правило, не требуется — там работает только первый уровень.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Полный тест-кейс из приложения инструкции построен на тестовом отчёте брокера — том же документе, что использовался в проверке маскирования персональных данных (часть 3 этого цикла), что удобно для сквозной проверки обеих тем на одном и том же тестовом материале. Предусловия: тестовый файл без реальных данных клиентов, права администратора для создания домена/коллекции/пользователя. Логика теста выстроена как контрастная пара: шаг B доказывает, что при наличии домена+роли доступ к 'своей' коллекции есть; шаг C доказывает, что доступа к 'чужому' домену нет по умолчанию (сообщение 'информация по доступным источникам не найдена', а не ошибка и не общий отказ — важное отличие для UX); шаг D доказывает, что добавление второго домена сразу открывает доступ к его коллекции, то есть система реагирует на изменение назначенных доменов сразу, без дополнительных технических действий. Рекомендуется провести этот тест-кейс самостоятельно на пилотном контуре в рамках практики к этой части цикла, а не просто прочитать про него.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Глоссарий воспроизводит определения из исходной инструкции почти дословно — рекомендуется использовать именно эти формулировки при общении с коллегами и заказчиком, чтобы избежать расхождений в терминологии. Обратите особое внимание на разницу между просто 'Домен' (объект каталога) и 'Бизнес-домен ОМ' (поле-связь на карточке коллекции, разобранное на слайде про частую ошибку) — в устной речи их легко перепутать, хотя технически это разные вещи в разных формах. Термин 'Граф доступа' стоит запомнить как имя раздела платформы (Управление данными → Граф доступа), а не как метафору — это конкретный экран с конкретными вкладками (в частности, «Политики доступа»), где физически настраиваются и домены персон, и row/column-фильтры, о которых шла речь на предпоследних слайдах.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Эта шпаргалка собирает воедино последовательность действий Способа 1 (рекомендованного для пилота) в виде чеклиста, который можно распечатать или держать под рукой при первой настройке нового домена. Каждый шаг соответствует конкретному разделу инструкции и конкретному слайду этой части: 1 — создание домена; 2 — создание/привязка коллекции с особым вниманием на два независимых поля; 3-4 — собственно выдача доступа связкой домен+роль; 5 — обязательная проверка результата от лица пользователя, а не только визуальная проверка настроек в админке. Пункт 5 особенно легко пропустить, но именно он ловит расхождения между тем, что администратор 'настроил', и тем, что реально происходит в чате — как показывает тест-кейс из приложения инструкции (отдельный слайд ранее), иногда ожидаемый и фактический результат можно перепутать местами, если не проверить вживую. Нижняя подсказка — быстрая памятка о том, когда стоит перейти на Способ 2 вместо повторения шагов 3-4 для каждого нового человека.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Эти шесть тезисов — минимальный набор, который стоит уметь воспроизвести после изучения этой части без подглядывания в материалы. Если нужно оставить только один — это тезис №2: реальный доступ определяется исключительно связкой 'домен на профиле/команде' + роль Domain Only Access Role, все остальные механизмы (владельцы, эксперты, персона без явной настройки доменов, роли Контроль доступа) — не про это. Стоит также проговорить связь с общей архитектурой платформы: тезис №1 и №5 — про 'входную дверь' (что видно вообще), тезис №3 — про поведение по умолчанию при отсутствии настройки (важно для тестирования новых пользователей), тезис №4 — про самые частые ложные ожидания администраторов и пользователей, тезис №6 — про то, что за пределами этой части есть ещё один, более глубокий слой контроля доступа для табличных данных, который стоит держать в уме, если платформа используется не только для RAG-поиска по документам.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Обучающий цикл теперь состоит из пяти частей — раздел про статус и риски пилота Д8 исключён из курса, и пятая, финальная часть цикла посвящена итоговой оценке сильных и слабых сторон платформы в целом. Материал этой части (домены и доступ) — не изолированная тема, а один из практических столпов, на которые будет опираться итоговая оценка в части 5: насколько устройство доступа по доменам, разобранное здесь, действительно работает предсказуемо и проверяемо на практике, является одним из содержательных critериев зрелости платформы. Рекомендация для самостоятельного изучения перед переходом к части 5: пройти тест-кейс из приложения этой части на собственном контуре (если он доступен), чтобы подойти к финальной оценке платформы с личным практическим опытом, а не только с теоретическим пониманием механизма.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366760" y="502920"/>
            <a:ext cx="2834640" cy="2834640"/>
          </a:xfrm>
          <a:prstGeom prst="ellipse">
            <a:avLst/>
          </a:prstGeom>
          <a:ln w="25400">
            <a:solidFill>
              <a:srgbClr val="1C7293">
                <a:alpha val="45000"/>
              </a:srgbClr>
            </a:solidFill>
            <a:prstDash val="solid"/>
          </a:ln>
        </p:spPr>
      </p:sp>
      <p:sp>
        <p:nvSpPr>
          <p:cNvPr id="3" name="Shape 1"/>
          <p:cNvSpPr/>
          <p:nvPr/>
        </p:nvSpPr>
        <p:spPr>
          <a:xfrm>
            <a:off x="8732520" y="868680"/>
            <a:ext cx="2103120" cy="2103120"/>
          </a:xfrm>
          <a:prstGeom prst="ellipse">
            <a:avLst/>
          </a:prstGeom>
          <a:ln w="25400">
            <a:solidFill>
              <a:srgbClr val="4C86A8">
                <a:alpha val="65000"/>
              </a:srgbClr>
            </a:solidFill>
            <a:prstDash val="solid"/>
          </a:ln>
        </p:spPr>
      </p:sp>
      <p:sp>
        <p:nvSpPr>
          <p:cNvPr id="4" name="Shape 2"/>
          <p:cNvSpPr/>
          <p:nvPr/>
        </p:nvSpPr>
        <p:spPr>
          <a:xfrm>
            <a:off x="9098280" y="1234440"/>
            <a:ext cx="1371600" cy="1371600"/>
          </a:xfrm>
          <a:prstGeom prst="ellipse">
            <a:avLst/>
          </a:prstGeom>
          <a:solidFill>
            <a:srgbClr val="065A82">
              <a:alpha val="80000"/>
            </a:srgbClr>
          </a:solidFill>
          <a:ln w="15875">
            <a:solidFill>
              <a:srgbClr val="FFFFFF">
                <a:alpha val="70000"/>
              </a:srgbClr>
            </a:solidFill>
            <a:prstDash val="solid"/>
          </a:ln>
        </p:spPr>
      </p:sp>
      <p:sp>
        <p:nvSpPr>
          <p:cNvPr id="5" name="Text 3"/>
          <p:cNvSpPr txBox="1"/>
          <p:nvPr/>
        </p:nvSpPr>
        <p:spPr>
          <a:xfrm>
            <a:off x="548640" y="2103120"/>
            <a:ext cx="7863840" cy="365760"/>
          </a:xfrm>
          <a:prstGeom prst="rect">
            <a:avLst/>
          </a:prstGeom>
          <a:noFill/>
          <a:ln/>
        </p:spPr>
        <p:txBody>
          <a:bodyPr wrap="square" lIns="0" tIns="0" rIns="0" bIns="0" rtlCol="0" anchor="ctr"/>
          <a:lstStyle/>
          <a:p>
            <a:pPr indent="0" marL="0">
              <a:buNone/>
            </a:pPr>
            <a:r>
              <a:rPr lang="en-US" sz="1300" b="1" spc="200" kern="0" dirty="0">
                <a:solidFill>
                  <a:srgbClr val="8FC1D9"/>
                </a:solidFill>
                <a:latin typeface="Calibri" pitchFamily="34" charset="0"/>
                <a:ea typeface="Calibri" pitchFamily="34" charset="-122"/>
                <a:cs typeface="Calibri" pitchFamily="34" charset="-120"/>
              </a:rPr>
              <a:t>ОБУЧАЮЩИЙ ЦИКЛ · ЧАСТЬ 4 ИЗ 5</a:t>
            </a:r>
            <a:endParaRPr lang="en-US" sz="1300" dirty="0"/>
          </a:p>
        </p:txBody>
      </p:sp>
      <p:sp>
        <p:nvSpPr>
          <p:cNvPr id="6" name="Text 4"/>
          <p:cNvSpPr txBox="1"/>
          <p:nvPr/>
        </p:nvSpPr>
        <p:spPr>
          <a:xfrm>
            <a:off x="548640" y="2487168"/>
            <a:ext cx="859536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Домены и доступ</a:t>
            </a:r>
            <a:endParaRPr lang="en-US" sz="5400" dirty="0"/>
          </a:p>
        </p:txBody>
      </p:sp>
      <p:sp>
        <p:nvSpPr>
          <p:cNvPr id="7" name="Text 5"/>
          <p:cNvSpPr txBox="1"/>
          <p:nvPr/>
        </p:nvSpPr>
        <p:spPr>
          <a:xfrm>
            <a:off x="548640" y="3657600"/>
            <a:ext cx="7863840" cy="868680"/>
          </a:xfrm>
          <a:prstGeom prst="rect">
            <a:avLst/>
          </a:prstGeom>
          <a:noFill/>
          <a:ln/>
        </p:spPr>
        <p:txBody>
          <a:bodyPr wrap="square" lIns="0" tIns="0" rIns="0" bIns="0" rtlCol="0" anchor="ctr"/>
          <a:lstStyle/>
          <a:p>
            <a:pPr indent="0" marL="0">
              <a:lnSpc>
                <a:spcPct val="125000"/>
              </a:lnSpc>
              <a:buNone/>
            </a:pPr>
            <a:r>
              <a:rPr lang="en-US" sz="1650" dirty="0">
                <a:solidFill>
                  <a:srgbClr val="C8DCE7"/>
                </a:solidFill>
                <a:latin typeface="Calibri" pitchFamily="34" charset="0"/>
                <a:ea typeface="Calibri" pitchFamily="34" charset="-122"/>
                <a:cs typeface="Calibri" pitchFamily="34" charset="-120"/>
              </a:rPr>
              <a:t>Кто вообще может достучаться до документа или коллекции — ещё до того, как речь зайдёт о том, что модель покажет в самом ответе</a:t>
            </a:r>
            <a:endParaRPr lang="en-US" sz="1650" dirty="0"/>
          </a:p>
        </p:txBody>
      </p:sp>
      <p:sp>
        <p:nvSpPr>
          <p:cNvPr id="8" name="Text 6"/>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dirty="0">
                <a:solidFill>
                  <a:srgbClr val="6E97AE"/>
                </a:solidFill>
                <a:latin typeface="Calibri" pitchFamily="34" charset="0"/>
                <a:ea typeface="Calibri" pitchFamily="34" charset="-122"/>
                <a:cs typeface="Calibri" pitchFamily="34" charset="-120"/>
              </a:rPr>
              <a:t>Платформа «Камерата»  ·  обучающий цикл, часть 4 из 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КАРТА ЦИКЛА</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Где мы сейчас</a:t>
            </a:r>
            <a:endParaRPr lang="en-US" sz="2800" dirty="0"/>
          </a:p>
        </p:txBody>
      </p:sp>
      <p:sp>
        <p:nvSpPr>
          <p:cNvPr id="4" name="Shape 2"/>
          <p:cNvSpPr/>
          <p:nvPr/>
        </p:nvSpPr>
        <p:spPr>
          <a:xfrm>
            <a:off x="804672" y="1673352"/>
            <a:ext cx="0" cy="2852928"/>
          </a:xfrm>
          <a:prstGeom prst="line">
            <a:avLst/>
          </a:prstGeom>
          <a:noFill/>
          <a:ln w="25400">
            <a:solidFill>
              <a:srgbClr val="CBDEE6"/>
            </a:solidFill>
            <a:prstDash val="solid"/>
          </a:ln>
        </p:spPr>
      </p:sp>
      <p:sp>
        <p:nvSpPr>
          <p:cNvPr id="5" name="Shape 3"/>
          <p:cNvSpPr/>
          <p:nvPr/>
        </p:nvSpPr>
        <p:spPr>
          <a:xfrm>
            <a:off x="548640" y="1417320"/>
            <a:ext cx="512064" cy="512064"/>
          </a:xfrm>
          <a:prstGeom prst="ellipse">
            <a:avLst/>
          </a:prstGeom>
          <a:solidFill>
            <a:srgbClr val="FFFFFF"/>
          </a:solidFill>
          <a:ln w="19050">
            <a:solidFill>
              <a:srgbClr val="CBDEE6"/>
            </a:solidFill>
            <a:prstDash val="solid"/>
          </a:ln>
        </p:spPr>
      </p:sp>
      <p:sp>
        <p:nvSpPr>
          <p:cNvPr id="6" name="Text 4"/>
          <p:cNvSpPr txBox="1"/>
          <p:nvPr/>
        </p:nvSpPr>
        <p:spPr>
          <a:xfrm>
            <a:off x="548640" y="1417320"/>
            <a:ext cx="512064" cy="512064"/>
          </a:xfrm>
          <a:prstGeom prst="rect">
            <a:avLst/>
          </a:prstGeom>
          <a:noFill/>
          <a:ln/>
        </p:spPr>
        <p:txBody>
          <a:bodyPr wrap="square" lIns="0" tIns="0" rIns="0" bIns="0" rtlCol="0" anchor="ctr"/>
          <a:lstStyle/>
          <a:p>
            <a:pPr algn="ctr" indent="0" marL="0">
              <a:buNone/>
            </a:pPr>
            <a:r>
              <a:rPr lang="en-US" sz="1800" b="1" dirty="0">
                <a:solidFill>
                  <a:srgbClr val="7C8B98"/>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508760" y="1335024"/>
            <a:ext cx="7498080" cy="676656"/>
          </a:xfrm>
          <a:prstGeom prst="rect">
            <a:avLst/>
          </a:prstGeom>
          <a:noFill/>
          <a:ln/>
        </p:spPr>
        <p:txBody>
          <a:bodyPr wrap="square" lIns="0" tIns="0" rIns="0" bIns="0" rtlCol="0" anchor="ctr"/>
          <a:lstStyle/>
          <a:p>
            <a:pPr indent="0" marL="0">
              <a:buNone/>
            </a:pPr>
            <a:r>
              <a:rPr lang="en-US" sz="1450" dirty="0">
                <a:solidFill>
                  <a:srgbClr val="51606E"/>
                </a:solidFill>
                <a:latin typeface="Calibri" pitchFamily="34" charset="0"/>
                <a:ea typeface="Calibri" pitchFamily="34" charset="-122"/>
                <a:cs typeface="Calibri" pitchFamily="34" charset="-120"/>
              </a:rPr>
              <a:t>Фундамент: LLM, RAG и векторный поиск</a:t>
            </a:r>
            <a:endParaRPr lang="en-US" sz="1450" dirty="0"/>
          </a:p>
        </p:txBody>
      </p:sp>
      <p:sp>
        <p:nvSpPr>
          <p:cNvPr id="8" name="Shape 6"/>
          <p:cNvSpPr/>
          <p:nvPr/>
        </p:nvSpPr>
        <p:spPr>
          <a:xfrm>
            <a:off x="548640" y="2130552"/>
            <a:ext cx="512064" cy="512064"/>
          </a:xfrm>
          <a:prstGeom prst="ellipse">
            <a:avLst/>
          </a:prstGeom>
          <a:solidFill>
            <a:srgbClr val="FFFFFF"/>
          </a:solidFill>
          <a:ln w="19050">
            <a:solidFill>
              <a:srgbClr val="CBDEE6"/>
            </a:solidFill>
            <a:prstDash val="solid"/>
          </a:ln>
        </p:spPr>
      </p:sp>
      <p:sp>
        <p:nvSpPr>
          <p:cNvPr id="9" name="Text 7"/>
          <p:cNvSpPr txBox="1"/>
          <p:nvPr/>
        </p:nvSpPr>
        <p:spPr>
          <a:xfrm>
            <a:off x="548640" y="2130552"/>
            <a:ext cx="512064" cy="512064"/>
          </a:xfrm>
          <a:prstGeom prst="rect">
            <a:avLst/>
          </a:prstGeom>
          <a:noFill/>
          <a:ln/>
        </p:spPr>
        <p:txBody>
          <a:bodyPr wrap="square" lIns="0" tIns="0" rIns="0" bIns="0" rtlCol="0" anchor="ctr"/>
          <a:lstStyle/>
          <a:p>
            <a:pPr algn="ctr" indent="0" marL="0">
              <a:buNone/>
            </a:pPr>
            <a:r>
              <a:rPr lang="en-US" sz="1800" b="1" dirty="0">
                <a:solidFill>
                  <a:srgbClr val="7C8B98"/>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508760" y="2048256"/>
            <a:ext cx="7498080" cy="676656"/>
          </a:xfrm>
          <a:prstGeom prst="rect">
            <a:avLst/>
          </a:prstGeom>
          <a:noFill/>
          <a:ln/>
        </p:spPr>
        <p:txBody>
          <a:bodyPr wrap="square" lIns="0" tIns="0" rIns="0" bIns="0" rtlCol="0" anchor="ctr"/>
          <a:lstStyle/>
          <a:p>
            <a:pPr indent="0" marL="0">
              <a:buNone/>
            </a:pPr>
            <a:r>
              <a:rPr lang="en-US" sz="1450" dirty="0">
                <a:solidFill>
                  <a:srgbClr val="51606E"/>
                </a:solidFill>
                <a:latin typeface="Calibri" pitchFamily="34" charset="0"/>
                <a:ea typeface="Calibri" pitchFamily="34" charset="-122"/>
                <a:cs typeface="Calibri" pitchFamily="34" charset="-120"/>
              </a:rPr>
              <a:t>Платформа «Камерата»: архитектура и интерфейс</a:t>
            </a:r>
            <a:endParaRPr lang="en-US" sz="1450" dirty="0"/>
          </a:p>
        </p:txBody>
      </p:sp>
      <p:sp>
        <p:nvSpPr>
          <p:cNvPr id="11" name="Shape 9"/>
          <p:cNvSpPr/>
          <p:nvPr/>
        </p:nvSpPr>
        <p:spPr>
          <a:xfrm>
            <a:off x="548640" y="2843784"/>
            <a:ext cx="512064" cy="512064"/>
          </a:xfrm>
          <a:prstGeom prst="ellipse">
            <a:avLst/>
          </a:prstGeom>
          <a:solidFill>
            <a:srgbClr val="FFFFFF"/>
          </a:solidFill>
          <a:ln w="19050">
            <a:solidFill>
              <a:srgbClr val="CBDEE6"/>
            </a:solidFill>
            <a:prstDash val="solid"/>
          </a:ln>
        </p:spPr>
      </p:sp>
      <p:sp>
        <p:nvSpPr>
          <p:cNvPr id="12" name="Text 10"/>
          <p:cNvSpPr txBox="1"/>
          <p:nvPr/>
        </p:nvSpPr>
        <p:spPr>
          <a:xfrm>
            <a:off x="548640" y="2843784"/>
            <a:ext cx="512064" cy="512064"/>
          </a:xfrm>
          <a:prstGeom prst="rect">
            <a:avLst/>
          </a:prstGeom>
          <a:noFill/>
          <a:ln/>
        </p:spPr>
        <p:txBody>
          <a:bodyPr wrap="square" lIns="0" tIns="0" rIns="0" bIns="0" rtlCol="0" anchor="ctr"/>
          <a:lstStyle/>
          <a:p>
            <a:pPr algn="ctr" indent="0" marL="0">
              <a:buNone/>
            </a:pPr>
            <a:r>
              <a:rPr lang="en-US" sz="1800" b="1" dirty="0">
                <a:solidFill>
                  <a:srgbClr val="7C8B98"/>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508760" y="2761488"/>
            <a:ext cx="7498080" cy="676656"/>
          </a:xfrm>
          <a:prstGeom prst="rect">
            <a:avLst/>
          </a:prstGeom>
          <a:noFill/>
          <a:ln/>
        </p:spPr>
        <p:txBody>
          <a:bodyPr wrap="square" lIns="0" tIns="0" rIns="0" bIns="0" rtlCol="0" anchor="ctr"/>
          <a:lstStyle/>
          <a:p>
            <a:pPr indent="0" marL="0">
              <a:buNone/>
            </a:pPr>
            <a:r>
              <a:rPr lang="en-US" sz="1450" dirty="0">
                <a:solidFill>
                  <a:srgbClr val="51606E"/>
                </a:solidFill>
                <a:latin typeface="Calibri" pitchFamily="34" charset="0"/>
                <a:ea typeface="Calibri" pitchFamily="34" charset="-122"/>
                <a:cs typeface="Calibri" pitchFamily="34" charset="-120"/>
              </a:rPr>
              <a:t>Защита данных: PII Shield и DLP</a:t>
            </a:r>
            <a:endParaRPr lang="en-US" sz="1450" dirty="0"/>
          </a:p>
        </p:txBody>
      </p:sp>
      <p:sp>
        <p:nvSpPr>
          <p:cNvPr id="14" name="Shape 12"/>
          <p:cNvSpPr/>
          <p:nvPr/>
        </p:nvSpPr>
        <p:spPr>
          <a:xfrm>
            <a:off x="548640" y="3557016"/>
            <a:ext cx="512064" cy="512064"/>
          </a:xfrm>
          <a:prstGeom prst="ellipse">
            <a:avLst/>
          </a:prstGeom>
          <a:solidFill>
            <a:srgbClr val="065A82"/>
          </a:solidFill>
          <a:ln w="19050">
            <a:solidFill>
              <a:srgbClr val="065A82"/>
            </a:solidFill>
            <a:prstDash val="solid"/>
          </a:ln>
        </p:spPr>
      </p:sp>
      <p:sp>
        <p:nvSpPr>
          <p:cNvPr id="15" name="Text 13"/>
          <p:cNvSpPr txBox="1"/>
          <p:nvPr/>
        </p:nvSpPr>
        <p:spPr>
          <a:xfrm>
            <a:off x="548640" y="355701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Shape 14"/>
          <p:cNvSpPr/>
          <p:nvPr/>
        </p:nvSpPr>
        <p:spPr>
          <a:xfrm>
            <a:off x="1335024" y="3474720"/>
            <a:ext cx="7863840" cy="676656"/>
          </a:xfrm>
          <a:prstGeom prst="roundRect">
            <a:avLst>
              <a:gd name="adj" fmla="val 13514"/>
            </a:avLst>
          </a:prstGeom>
          <a:solidFill>
            <a:srgbClr val="EAF2F6"/>
          </a:solidFill>
          <a:ln w="19050">
            <a:solidFill>
              <a:srgbClr val="065A82"/>
            </a:solidFill>
            <a:prstDash val="solid"/>
          </a:ln>
        </p:spPr>
      </p:sp>
      <p:sp>
        <p:nvSpPr>
          <p:cNvPr id="17" name="Text 15"/>
          <p:cNvSpPr txBox="1"/>
          <p:nvPr/>
        </p:nvSpPr>
        <p:spPr>
          <a:xfrm>
            <a:off x="1508760" y="3474720"/>
            <a:ext cx="7498080" cy="676656"/>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Домены и доступ</a:t>
            </a:r>
            <a:endParaRPr lang="en-US" sz="1700" dirty="0"/>
          </a:p>
        </p:txBody>
      </p:sp>
      <p:sp>
        <p:nvSpPr>
          <p:cNvPr id="18" name="Text 16"/>
          <p:cNvSpPr txBox="1"/>
          <p:nvPr/>
        </p:nvSpPr>
        <p:spPr>
          <a:xfrm>
            <a:off x="7269480" y="3538728"/>
            <a:ext cx="1371600" cy="365760"/>
          </a:xfrm>
          <a:prstGeom prst="rect">
            <a:avLst/>
          </a:prstGeom>
          <a:noFill/>
          <a:ln/>
        </p:spPr>
        <p:txBody>
          <a:bodyPr wrap="square" lIns="0" tIns="0" rIns="0" bIns="0" rtlCol="0" anchor="ctr"/>
          <a:lstStyle/>
          <a:p>
            <a:pPr algn="r" indent="0" marL="0">
              <a:buNone/>
            </a:pPr>
            <a:r>
              <a:rPr lang="en-US" sz="1000" b="1" spc="100" kern="0" dirty="0">
                <a:solidFill>
                  <a:srgbClr val="065A82"/>
                </a:solidFill>
                <a:latin typeface="Calibri" pitchFamily="34" charset="0"/>
                <a:ea typeface="Calibri" pitchFamily="34" charset="-122"/>
                <a:cs typeface="Calibri" pitchFamily="34" charset="-120"/>
              </a:rPr>
              <a:t>ВЫ ЗДЕСЬ</a:t>
            </a:r>
            <a:endParaRPr lang="en-US" sz="1000" dirty="0"/>
          </a:p>
        </p:txBody>
      </p:sp>
      <p:sp>
        <p:nvSpPr>
          <p:cNvPr id="19" name="Shape 17"/>
          <p:cNvSpPr/>
          <p:nvPr/>
        </p:nvSpPr>
        <p:spPr>
          <a:xfrm>
            <a:off x="548640" y="4270248"/>
            <a:ext cx="512064" cy="512064"/>
          </a:xfrm>
          <a:prstGeom prst="ellipse">
            <a:avLst/>
          </a:prstGeom>
          <a:solidFill>
            <a:srgbClr val="FFFFFF"/>
          </a:solidFill>
          <a:ln w="19050">
            <a:solidFill>
              <a:srgbClr val="CBDEE6"/>
            </a:solidFill>
            <a:prstDash val="solid"/>
          </a:ln>
        </p:spPr>
      </p:sp>
      <p:sp>
        <p:nvSpPr>
          <p:cNvPr id="20" name="Text 18"/>
          <p:cNvSpPr txBox="1"/>
          <p:nvPr/>
        </p:nvSpPr>
        <p:spPr>
          <a:xfrm>
            <a:off x="548640" y="4270248"/>
            <a:ext cx="512064" cy="512064"/>
          </a:xfrm>
          <a:prstGeom prst="rect">
            <a:avLst/>
          </a:prstGeom>
          <a:noFill/>
          <a:ln/>
        </p:spPr>
        <p:txBody>
          <a:bodyPr wrap="square" lIns="0" tIns="0" rIns="0" bIns="0" rtlCol="0" anchor="ctr"/>
          <a:lstStyle/>
          <a:p>
            <a:pPr algn="ctr" indent="0" marL="0">
              <a:buNone/>
            </a:pPr>
            <a:r>
              <a:rPr lang="en-US" sz="1800" b="1" dirty="0">
                <a:solidFill>
                  <a:srgbClr val="7C8B98"/>
                </a:solidFill>
                <a:latin typeface="Calibri" pitchFamily="34" charset="0"/>
                <a:ea typeface="Calibri" pitchFamily="34" charset="-122"/>
                <a:cs typeface="Calibri" pitchFamily="34" charset="-120"/>
              </a:rPr>
              <a:t>5</a:t>
            </a:r>
            <a:endParaRPr lang="en-US" sz="1800" dirty="0"/>
          </a:p>
        </p:txBody>
      </p:sp>
      <p:sp>
        <p:nvSpPr>
          <p:cNvPr id="21" name="Text 19"/>
          <p:cNvSpPr txBox="1"/>
          <p:nvPr/>
        </p:nvSpPr>
        <p:spPr>
          <a:xfrm>
            <a:off x="1508760" y="4187952"/>
            <a:ext cx="7498080" cy="676656"/>
          </a:xfrm>
          <a:prstGeom prst="rect">
            <a:avLst/>
          </a:prstGeom>
          <a:noFill/>
          <a:ln/>
        </p:spPr>
        <p:txBody>
          <a:bodyPr wrap="square" lIns="0" tIns="0" rIns="0" bIns="0" rtlCol="0" anchor="ctr"/>
          <a:lstStyle/>
          <a:p>
            <a:pPr indent="0" marL="0">
              <a:buNone/>
            </a:pPr>
            <a:r>
              <a:rPr lang="en-US" sz="1450" dirty="0">
                <a:solidFill>
                  <a:srgbClr val="51606E"/>
                </a:solidFill>
                <a:latin typeface="Calibri" pitchFamily="34" charset="0"/>
                <a:ea typeface="Calibri" pitchFamily="34" charset="-122"/>
                <a:cs typeface="Calibri" pitchFamily="34" charset="-120"/>
              </a:rPr>
              <a:t>Итог: сильные и слабые стороны платформы</a:t>
            </a:r>
            <a:endParaRPr lang="en-US" sz="1450" dirty="0"/>
          </a:p>
        </p:txBody>
      </p:sp>
      <p:sp>
        <p:nvSpPr>
          <p:cNvPr id="22" name="Shape 20"/>
          <p:cNvSpPr/>
          <p:nvPr/>
        </p:nvSpPr>
        <p:spPr>
          <a:xfrm>
            <a:off x="548640" y="5074920"/>
            <a:ext cx="11094415" cy="1051560"/>
          </a:xfrm>
          <a:prstGeom prst="roundRect">
            <a:avLst>
              <a:gd name="adj" fmla="val 8696"/>
            </a:avLst>
          </a:prstGeom>
          <a:solidFill>
            <a:srgbClr val="F1F6F8"/>
          </a:solidFill>
          <a:ln w="12700">
            <a:solidFill>
              <a:srgbClr val="1C7293"/>
            </a:solidFill>
            <a:prstDash val="solid"/>
          </a:ln>
        </p:spPr>
      </p:sp>
      <p:sp>
        <p:nvSpPr>
          <p:cNvPr id="23" name="Text 21"/>
          <p:cNvSpPr txBox="1"/>
          <p:nvPr/>
        </p:nvSpPr>
        <p:spPr>
          <a:xfrm>
            <a:off x="822960" y="5184648"/>
            <a:ext cx="3657600" cy="27432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Мост от части 3</a:t>
            </a:r>
            <a:endParaRPr lang="en-US" sz="1100" dirty="0"/>
          </a:p>
        </p:txBody>
      </p:sp>
      <p:sp>
        <p:nvSpPr>
          <p:cNvPr id="24" name="Text 22"/>
          <p:cNvSpPr txBox="1"/>
          <p:nvPr/>
        </p:nvSpPr>
        <p:spPr>
          <a:xfrm>
            <a:off x="822960" y="5458968"/>
            <a:ext cx="10545775" cy="594360"/>
          </a:xfrm>
          <a:prstGeom prst="rect">
            <a:avLst/>
          </a:prstGeom>
          <a:noFill/>
          <a:ln/>
        </p:spPr>
        <p:txBody>
          <a:bodyPr wrap="square" lIns="0" tIns="0" rIns="0" bIns="0" rtlCol="0" anchor="ctr"/>
          <a:lstStyle/>
          <a:p>
            <a:pPr indent="0" marL="0">
              <a:lnSpc>
                <a:spcPct val="115000"/>
              </a:lnSpc>
              <a:buNone/>
            </a:pPr>
            <a:r>
              <a:rPr lang="en-US" sz="1350" dirty="0">
                <a:solidFill>
                  <a:srgbClr val="1B2733"/>
                </a:solidFill>
                <a:latin typeface="Calibri" pitchFamily="34" charset="0"/>
                <a:ea typeface="Calibri" pitchFamily="34" charset="-122"/>
                <a:cs typeface="Calibri" pitchFamily="34" charset="-120"/>
              </a:rPr>
              <a:t>Часть 3 разбирала, </a:t>
            </a:r>
            <a:pPr indent="0" marL="0">
              <a:lnSpc>
                <a:spcPct val="115000"/>
              </a:lnSpc>
              <a:buNone/>
            </a:pPr>
            <a:r>
              <a:rPr lang="en-US" sz="1350" b="1" dirty="0">
                <a:solidFill>
                  <a:srgbClr val="065A82"/>
                </a:solidFill>
                <a:latin typeface="Calibri" pitchFamily="34" charset="0"/>
                <a:ea typeface="Calibri" pitchFamily="34" charset="-122"/>
                <a:cs typeface="Calibri" pitchFamily="34" charset="-120"/>
              </a:rPr>
              <a:t>ЧТО</a:t>
            </a:r>
            <a:pPr indent="0" marL="0">
              <a:lnSpc>
                <a:spcPct val="115000"/>
              </a:lnSpc>
              <a:buNone/>
            </a:pPr>
            <a:r>
              <a:rPr lang="en-US" sz="1350" dirty="0">
                <a:solidFill>
                  <a:srgbClr val="1B2733"/>
                </a:solidFill>
                <a:latin typeface="Calibri" pitchFamily="34" charset="0"/>
                <a:ea typeface="Calibri" pitchFamily="34" charset="-122"/>
                <a:cs typeface="Calibri" pitchFamily="34" charset="-120"/>
              </a:rPr>
              <a:t> модель показывает внутри уже найденного ответа (маскирование PII).  Часть 4 — про более раннюю границу: </a:t>
            </a:r>
            <a:pPr indent="0" marL="0">
              <a:lnSpc>
                <a:spcPct val="115000"/>
              </a:lnSpc>
              <a:buNone/>
            </a:pPr>
            <a:r>
              <a:rPr lang="en-US" sz="1350" b="1" dirty="0">
                <a:solidFill>
                  <a:srgbClr val="065A82"/>
                </a:solidFill>
                <a:latin typeface="Calibri" pitchFamily="34" charset="0"/>
                <a:ea typeface="Calibri" pitchFamily="34" charset="-122"/>
                <a:cs typeface="Calibri" pitchFamily="34" charset="-120"/>
              </a:rPr>
              <a:t>КТО</a:t>
            </a:r>
            <a:pPr indent="0" marL="0">
              <a:lnSpc>
                <a:spcPct val="115000"/>
              </a:lnSpc>
              <a:buNone/>
            </a:pPr>
            <a:r>
              <a:rPr lang="en-US" sz="1350" dirty="0">
                <a:solidFill>
                  <a:srgbClr val="1B2733"/>
                </a:solidFill>
                <a:latin typeface="Calibri" pitchFamily="34" charset="0"/>
                <a:ea typeface="Calibri" pitchFamily="34" charset="-122"/>
                <a:cs typeface="Calibri" pitchFamily="34" charset="-120"/>
              </a:rPr>
              <a:t> вообще получает право дотянуться до документа или коллекции, прежде чем speech о содержимом ответа вообще начнётся.</a:t>
            </a:r>
            <a:endParaRPr lang="en-US" sz="1350" dirty="0"/>
          </a:p>
        </p:txBody>
      </p:sp>
      <p:sp>
        <p:nvSpPr>
          <p:cNvPr id="25" name="Text 23"/>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26" name="Text 24"/>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01 · ОСНОВЫ</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Что такое домен</a:t>
            </a:r>
            <a:endParaRPr lang="en-US" sz="2800" dirty="0"/>
          </a:p>
        </p:txBody>
      </p:sp>
      <p:sp>
        <p:nvSpPr>
          <p:cNvPr id="4" name="Text 2"/>
          <p:cNvSpPr txBox="1"/>
          <p:nvPr/>
        </p:nvSpPr>
        <p:spPr>
          <a:xfrm>
            <a:off x="548640" y="1417320"/>
            <a:ext cx="11094415" cy="548640"/>
          </a:xfrm>
          <a:prstGeom prst="rect">
            <a:avLst/>
          </a:prstGeom>
          <a:noFill/>
          <a:ln/>
        </p:spPr>
        <p:txBody>
          <a:bodyPr wrap="square" lIns="0" tIns="0" rIns="0" bIns="0" rtlCol="0" anchor="ctr"/>
          <a:lstStyle/>
          <a:p>
            <a:pPr indent="0" marL="0">
              <a:lnSpc>
                <a:spcPct val="120000"/>
              </a:lnSpc>
              <a:buNone/>
            </a:pPr>
            <a:r>
              <a:rPr lang="en-US" sz="1700" b="1" dirty="0">
                <a:solidFill>
                  <a:srgbClr val="065A82"/>
                </a:solidFill>
                <a:latin typeface="Calibri" pitchFamily="34" charset="0"/>
                <a:ea typeface="Calibri" pitchFamily="34" charset="-122"/>
                <a:cs typeface="Calibri" pitchFamily="34" charset="-120"/>
              </a:rPr>
              <a:t>Домен</a:t>
            </a:r>
            <a:pPr indent="0" marL="0">
              <a:lnSpc>
                <a:spcPct val="120000"/>
              </a:lnSpc>
              <a:buNone/>
            </a:pPr>
            <a:r>
              <a:rPr lang="en-US" sz="1700" dirty="0">
                <a:solidFill>
                  <a:srgbClr val="1B2733"/>
                </a:solidFill>
                <a:latin typeface="Calibri" pitchFamily="34" charset="0"/>
                <a:ea typeface="Calibri" pitchFamily="34" charset="-122"/>
                <a:cs typeface="Calibri" pitchFamily="34" charset="-120"/>
              </a:rPr>
              <a:t> — тематическая область данных компании: например, «Инвестиции», «Производство», «Кадры».</a:t>
            </a:r>
            <a:endParaRPr lang="en-US" sz="1700" dirty="0"/>
          </a:p>
        </p:txBody>
      </p:sp>
      <p:sp>
        <p:nvSpPr>
          <p:cNvPr id="5" name="Text 3"/>
          <p:cNvSpPr txBox="1"/>
          <p:nvPr/>
        </p:nvSpPr>
        <p:spPr>
          <a:xfrm>
            <a:off x="548640" y="2057400"/>
            <a:ext cx="11094415" cy="365760"/>
          </a:xfrm>
          <a:prstGeom prst="rect">
            <a:avLst/>
          </a:prstGeom>
          <a:noFill/>
          <a:ln/>
        </p:spPr>
        <p:txBody>
          <a:bodyPr wrap="square" lIns="0" tIns="0" rIns="0" bIns="0" rtlCol="0" anchor="ctr"/>
          <a:lstStyle/>
          <a:p>
            <a:pPr indent="0" marL="0">
              <a:buNone/>
            </a:pPr>
            <a:r>
              <a:rPr lang="en-US" sz="1400" b="1" dirty="0">
                <a:solidFill>
                  <a:srgbClr val="51606E"/>
                </a:solidFill>
                <a:latin typeface="Calibri" pitchFamily="34" charset="0"/>
                <a:ea typeface="Calibri" pitchFamily="34" charset="-122"/>
                <a:cs typeface="Calibri" pitchFamily="34" charset="-120"/>
              </a:rPr>
              <a:t>Домен решает две задачи одновременно:</a:t>
            </a:r>
            <a:endParaRPr lang="en-US" sz="1400" dirty="0"/>
          </a:p>
        </p:txBody>
      </p:sp>
      <p:sp>
        <p:nvSpPr>
          <p:cNvPr id="6" name="Shape 4"/>
          <p:cNvSpPr/>
          <p:nvPr/>
        </p:nvSpPr>
        <p:spPr>
          <a:xfrm>
            <a:off x="4907128" y="2606040"/>
            <a:ext cx="2377440" cy="777240"/>
          </a:xfrm>
          <a:prstGeom prst="roundRect">
            <a:avLst>
              <a:gd name="adj" fmla="val 16471"/>
            </a:avLst>
          </a:prstGeom>
          <a:solidFill>
            <a:srgbClr val="21295C"/>
          </a:solidFill>
          <a:ln/>
        </p:spPr>
      </p:sp>
      <p:sp>
        <p:nvSpPr>
          <p:cNvPr id="7" name="Text 5"/>
          <p:cNvSpPr txBox="1"/>
          <p:nvPr/>
        </p:nvSpPr>
        <p:spPr>
          <a:xfrm>
            <a:off x="4907128" y="2606040"/>
            <a:ext cx="2377440" cy="777240"/>
          </a:xfrm>
          <a:prstGeom prst="rect">
            <a:avLst/>
          </a:prstGeom>
          <a:noFill/>
          <a:ln/>
        </p:spPr>
        <p:txBody>
          <a:bodyPr wrap="square" lIns="0" tIns="0" rIns="0" bIns="0" rtlCol="0" anchor="ctr"/>
          <a:lstStyle/>
          <a:p>
            <a:pPr algn="ctr" indent="0" marL="0">
              <a:buNone/>
            </a:pPr>
            <a:r>
              <a:rPr lang="en-US" sz="1600" b="1" spc="150" kern="0" dirty="0">
                <a:solidFill>
                  <a:srgbClr val="FFFFFF"/>
                </a:solidFill>
                <a:latin typeface="Calibri" pitchFamily="34" charset="0"/>
                <a:ea typeface="Calibri" pitchFamily="34" charset="-122"/>
                <a:cs typeface="Calibri" pitchFamily="34" charset="-120"/>
              </a:rPr>
              <a:t>ДОМЕН</a:t>
            </a:r>
            <a:endParaRPr lang="en-US" sz="1600" dirty="0"/>
          </a:p>
        </p:txBody>
      </p:sp>
      <p:sp>
        <p:nvSpPr>
          <p:cNvPr id="8" name="Shape 6"/>
          <p:cNvSpPr/>
          <p:nvPr/>
        </p:nvSpPr>
        <p:spPr>
          <a:xfrm>
            <a:off x="5572811" y="3383280"/>
            <a:ext cx="-2265883" cy="822960"/>
          </a:xfrm>
          <a:prstGeom prst="line">
            <a:avLst/>
          </a:prstGeom>
          <a:noFill/>
          <a:ln w="19050">
            <a:solidFill>
              <a:srgbClr val="CBDEE6"/>
            </a:solidFill>
            <a:prstDash val="solid"/>
          </a:ln>
        </p:spPr>
      </p:sp>
      <p:sp>
        <p:nvSpPr>
          <p:cNvPr id="9" name="Shape 7"/>
          <p:cNvSpPr/>
          <p:nvPr/>
        </p:nvSpPr>
        <p:spPr>
          <a:xfrm>
            <a:off x="6618884" y="3383280"/>
            <a:ext cx="2265883" cy="822960"/>
          </a:xfrm>
          <a:prstGeom prst="line">
            <a:avLst/>
          </a:prstGeom>
          <a:noFill/>
          <a:ln w="19050">
            <a:solidFill>
              <a:srgbClr val="CBDEE6"/>
            </a:solidFill>
            <a:prstDash val="solid"/>
          </a:ln>
        </p:spPr>
      </p:sp>
      <p:sp>
        <p:nvSpPr>
          <p:cNvPr id="10" name="Shape 8"/>
          <p:cNvSpPr/>
          <p:nvPr/>
        </p:nvSpPr>
        <p:spPr>
          <a:xfrm>
            <a:off x="792328" y="4206240"/>
            <a:ext cx="5029200" cy="1920240"/>
          </a:xfrm>
          <a:prstGeom prst="roundRect">
            <a:avLst>
              <a:gd name="adj" fmla="val 4286"/>
            </a:avLst>
          </a:prstGeom>
          <a:solidFill>
            <a:srgbClr val="EAF2F6"/>
          </a:solidFill>
          <a:ln w="12700">
            <a:solidFill>
              <a:srgbClr val="CBDEE6"/>
            </a:solidFill>
            <a:prstDash val="solid"/>
          </a:ln>
        </p:spPr>
      </p:sp>
      <p:sp>
        <p:nvSpPr>
          <p:cNvPr id="11" name="Text 9"/>
          <p:cNvSpPr txBox="1"/>
          <p:nvPr/>
        </p:nvSpPr>
        <p:spPr>
          <a:xfrm>
            <a:off x="1066648" y="4407408"/>
            <a:ext cx="4480560" cy="36576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Группирует по смыслу</a:t>
            </a:r>
            <a:endParaRPr lang="en-US" sz="1600" dirty="0"/>
          </a:p>
        </p:txBody>
      </p:sp>
      <p:sp>
        <p:nvSpPr>
          <p:cNvPr id="12" name="Text 10"/>
          <p:cNvSpPr txBox="1"/>
          <p:nvPr/>
        </p:nvSpPr>
        <p:spPr>
          <a:xfrm>
            <a:off x="1066648" y="4828032"/>
            <a:ext cx="4480560" cy="1097280"/>
          </a:xfrm>
          <a:prstGeom prst="rect">
            <a:avLst/>
          </a:prstGeom>
          <a:noFill/>
          <a:ln/>
        </p:spPr>
        <p:txBody>
          <a:bodyPr wrap="square" lIns="0" tIns="0" rIns="0" bIns="0" rtlCol="0" anchor="ctr"/>
          <a:lstStyle/>
          <a:p>
            <a:pPr indent="0" marL="0">
              <a:lnSpc>
                <a:spcPct val="125000"/>
              </a:lnSpc>
              <a:buNone/>
            </a:pPr>
            <a:r>
              <a:rPr lang="en-US" sz="1400" dirty="0">
                <a:solidFill>
                  <a:srgbClr val="1B2733"/>
                </a:solidFill>
                <a:latin typeface="Calibri" pitchFamily="34" charset="0"/>
                <a:ea typeface="Calibri" pitchFamily="34" charset="-122"/>
                <a:cs typeface="Calibri" pitchFamily="34" charset="-120"/>
              </a:rPr>
              <a:t>Определяет, какие таблицы, отчёты и коллекции документов относятся к этой смысловой области.</a:t>
            </a:r>
            <a:endParaRPr lang="en-US" sz="1400" dirty="0"/>
          </a:p>
        </p:txBody>
      </p:sp>
      <p:sp>
        <p:nvSpPr>
          <p:cNvPr id="13" name="Shape 11"/>
          <p:cNvSpPr/>
          <p:nvPr/>
        </p:nvSpPr>
        <p:spPr>
          <a:xfrm>
            <a:off x="6370168" y="4206240"/>
            <a:ext cx="5029200" cy="1920240"/>
          </a:xfrm>
          <a:prstGeom prst="roundRect">
            <a:avLst>
              <a:gd name="adj" fmla="val 4286"/>
            </a:avLst>
          </a:prstGeom>
          <a:solidFill>
            <a:srgbClr val="EAF2F6"/>
          </a:solidFill>
          <a:ln w="12700">
            <a:solidFill>
              <a:srgbClr val="CBDEE6"/>
            </a:solidFill>
            <a:prstDash val="solid"/>
          </a:ln>
        </p:spPr>
      </p:sp>
      <p:sp>
        <p:nvSpPr>
          <p:cNvPr id="14" name="Text 12"/>
          <p:cNvSpPr txBox="1"/>
          <p:nvPr/>
        </p:nvSpPr>
        <p:spPr>
          <a:xfrm>
            <a:off x="6644488" y="4407408"/>
            <a:ext cx="4480560" cy="36576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Служит границей доступа</a:t>
            </a:r>
            <a:endParaRPr lang="en-US" sz="1600" dirty="0"/>
          </a:p>
        </p:txBody>
      </p:sp>
      <p:sp>
        <p:nvSpPr>
          <p:cNvPr id="15" name="Text 13"/>
          <p:cNvSpPr txBox="1"/>
          <p:nvPr/>
        </p:nvSpPr>
        <p:spPr>
          <a:xfrm>
            <a:off x="6644488" y="4828032"/>
            <a:ext cx="4480560" cy="1097280"/>
          </a:xfrm>
          <a:prstGeom prst="rect">
            <a:avLst/>
          </a:prstGeom>
          <a:noFill/>
          <a:ln/>
        </p:spPr>
        <p:txBody>
          <a:bodyPr wrap="square" lIns="0" tIns="0" rIns="0" bIns="0" rtlCol="0" anchor="ctr"/>
          <a:lstStyle/>
          <a:p>
            <a:pPr indent="0" marL="0">
              <a:lnSpc>
                <a:spcPct val="125000"/>
              </a:lnSpc>
              <a:buNone/>
            </a:pPr>
            <a:r>
              <a:rPr lang="en-US" sz="1400" dirty="0">
                <a:solidFill>
                  <a:srgbClr val="1B2733"/>
                </a:solidFill>
                <a:latin typeface="Calibri" pitchFamily="34" charset="0"/>
                <a:ea typeface="Calibri" pitchFamily="34" charset="-122"/>
                <a:cs typeface="Calibri" pitchFamily="34" charset="-120"/>
              </a:rPr>
              <a:t>Определяет, каким командам и пользователям эта область данных вообще видна.</a:t>
            </a:r>
            <a:endParaRPr lang="en-US" sz="1400" dirty="0"/>
          </a:p>
        </p:txBody>
      </p:sp>
      <p:sp>
        <p:nvSpPr>
          <p:cNvPr id="16" name="Text 14"/>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17" name="Text 15"/>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01 · ОСНОВЫ</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Три типа домена</a:t>
            </a:r>
            <a:endParaRPr lang="en-US" sz="2800" dirty="0"/>
          </a:p>
        </p:txBody>
      </p:sp>
      <p:sp>
        <p:nvSpPr>
          <p:cNvPr id="4" name="Text 2"/>
          <p:cNvSpPr txBox="1"/>
          <p:nvPr/>
        </p:nvSpPr>
        <p:spPr>
          <a:xfrm>
            <a:off x="548640" y="1371600"/>
            <a:ext cx="11094415" cy="365760"/>
          </a:xfrm>
          <a:prstGeom prst="rect">
            <a:avLst/>
          </a:prstGeom>
          <a:noFill/>
          <a:ln/>
        </p:spPr>
        <p:txBody>
          <a:bodyPr wrap="square" lIns="0" tIns="0" rIns="0" bIns="0" rtlCol="0" anchor="ctr"/>
          <a:lstStyle/>
          <a:p>
            <a:pPr indent="0" marL="0">
              <a:buNone/>
            </a:pPr>
            <a:r>
              <a:rPr lang="en-US" sz="1450" dirty="0">
                <a:solidFill>
                  <a:srgbClr val="51606E"/>
                </a:solidFill>
                <a:latin typeface="Calibri" pitchFamily="34" charset="0"/>
                <a:ea typeface="Calibri" pitchFamily="34" charset="-122"/>
                <a:cs typeface="Calibri" pitchFamily="34" charset="-120"/>
              </a:rPr>
              <a:t>Тип домена — обязательное поле при создании, закрытый список из трёх значений:</a:t>
            </a:r>
            <a:endParaRPr lang="en-US" sz="1450" dirty="0"/>
          </a:p>
        </p:txBody>
      </p:sp>
      <p:sp>
        <p:nvSpPr>
          <p:cNvPr id="5" name="Shape 3"/>
          <p:cNvSpPr/>
          <p:nvPr/>
        </p:nvSpPr>
        <p:spPr>
          <a:xfrm>
            <a:off x="548640" y="1965960"/>
            <a:ext cx="3515258" cy="3108960"/>
          </a:xfrm>
          <a:prstGeom prst="roundRect">
            <a:avLst>
              <a:gd name="adj" fmla="val 2647"/>
            </a:avLst>
          </a:prstGeom>
          <a:solidFill>
            <a:srgbClr val="EAF2F6"/>
          </a:solidFill>
          <a:ln w="12700">
            <a:solidFill>
              <a:srgbClr val="CBDEE6"/>
            </a:solidFill>
            <a:prstDash val="solid"/>
          </a:ln>
        </p:spPr>
      </p:sp>
      <p:sp>
        <p:nvSpPr>
          <p:cNvPr id="6" name="Shape 4"/>
          <p:cNvSpPr/>
          <p:nvPr/>
        </p:nvSpPr>
        <p:spPr>
          <a:xfrm>
            <a:off x="804672" y="2240280"/>
            <a:ext cx="566928" cy="566928"/>
          </a:xfrm>
          <a:prstGeom prst="roundRect">
            <a:avLst>
              <a:gd name="adj" fmla="val 19355"/>
            </a:avLst>
          </a:prstGeom>
          <a:solidFill>
            <a:srgbClr val="065A82"/>
          </a:solidFill>
          <a:ln/>
        </p:spPr>
      </p:sp>
      <p:sp>
        <p:nvSpPr>
          <p:cNvPr id="7" name="Text 5"/>
          <p:cNvSpPr txBox="1"/>
          <p:nvPr/>
        </p:nvSpPr>
        <p:spPr>
          <a:xfrm>
            <a:off x="804672"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txBox="1"/>
          <p:nvPr/>
        </p:nvSpPr>
        <p:spPr>
          <a:xfrm>
            <a:off x="804672" y="2990088"/>
            <a:ext cx="3003194" cy="54864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Source-aligned</a:t>
            </a:r>
            <a:endParaRPr lang="en-US" sz="1700" dirty="0"/>
          </a:p>
        </p:txBody>
      </p:sp>
      <p:sp>
        <p:nvSpPr>
          <p:cNvPr id="9" name="Text 7"/>
          <p:cNvSpPr txBox="1"/>
          <p:nvPr/>
        </p:nvSpPr>
        <p:spPr>
          <a:xfrm>
            <a:off x="804672" y="3538728"/>
            <a:ext cx="3003194" cy="1371600"/>
          </a:xfrm>
          <a:prstGeom prst="rect">
            <a:avLst/>
          </a:prstGeom>
          <a:noFill/>
          <a:ln/>
        </p:spPr>
        <p:txBody>
          <a:bodyPr wrap="square" lIns="0" tIns="0" rIns="0" bIns="0" rtlCol="0" anchor="ctr"/>
          <a:lstStyle/>
          <a:p>
            <a:pPr indent="0" marL="0">
              <a:lnSpc>
                <a:spcPct val="125000"/>
              </a:lnSpc>
              <a:buNone/>
            </a:pPr>
            <a:r>
              <a:rPr lang="en-US" sz="1300" dirty="0">
                <a:solidFill>
                  <a:srgbClr val="1B2733"/>
                </a:solidFill>
                <a:latin typeface="Calibri" pitchFamily="34" charset="0"/>
                <a:ea typeface="Calibri" pitchFamily="34" charset="-122"/>
                <a:cs typeface="Calibri" pitchFamily="34" charset="-120"/>
              </a:rPr>
              <a:t>Домен привязан к конкретному источнику данных — например, к одной учётной системе.</a:t>
            </a:r>
            <a:endParaRPr lang="en-US" sz="1300" dirty="0"/>
          </a:p>
        </p:txBody>
      </p:sp>
      <p:sp>
        <p:nvSpPr>
          <p:cNvPr id="10" name="Shape 8"/>
          <p:cNvSpPr/>
          <p:nvPr/>
        </p:nvSpPr>
        <p:spPr>
          <a:xfrm>
            <a:off x="4338218" y="1965960"/>
            <a:ext cx="3515258" cy="3108960"/>
          </a:xfrm>
          <a:prstGeom prst="roundRect">
            <a:avLst>
              <a:gd name="adj" fmla="val 2647"/>
            </a:avLst>
          </a:prstGeom>
          <a:solidFill>
            <a:srgbClr val="EAF2F6"/>
          </a:solidFill>
          <a:ln w="12700">
            <a:solidFill>
              <a:srgbClr val="CBDEE6"/>
            </a:solidFill>
            <a:prstDash val="solid"/>
          </a:ln>
        </p:spPr>
      </p:sp>
      <p:sp>
        <p:nvSpPr>
          <p:cNvPr id="11" name="Shape 9"/>
          <p:cNvSpPr/>
          <p:nvPr/>
        </p:nvSpPr>
        <p:spPr>
          <a:xfrm>
            <a:off x="4594250" y="2240280"/>
            <a:ext cx="566928" cy="566928"/>
          </a:xfrm>
          <a:prstGeom prst="roundRect">
            <a:avLst>
              <a:gd name="adj" fmla="val 19355"/>
            </a:avLst>
          </a:prstGeom>
          <a:solidFill>
            <a:srgbClr val="065A82"/>
          </a:solidFill>
          <a:ln/>
        </p:spPr>
      </p:sp>
      <p:sp>
        <p:nvSpPr>
          <p:cNvPr id="12" name="Text 10"/>
          <p:cNvSpPr txBox="1"/>
          <p:nvPr/>
        </p:nvSpPr>
        <p:spPr>
          <a:xfrm>
            <a:off x="4594250"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4594250" y="2990088"/>
            <a:ext cx="3003194" cy="54864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Consumer-aligned</a:t>
            </a:r>
            <a:endParaRPr lang="en-US" sz="1700" dirty="0"/>
          </a:p>
        </p:txBody>
      </p:sp>
      <p:sp>
        <p:nvSpPr>
          <p:cNvPr id="14" name="Text 12"/>
          <p:cNvSpPr txBox="1"/>
          <p:nvPr/>
        </p:nvSpPr>
        <p:spPr>
          <a:xfrm>
            <a:off x="4594250" y="3538728"/>
            <a:ext cx="3003194" cy="1371600"/>
          </a:xfrm>
          <a:prstGeom prst="rect">
            <a:avLst/>
          </a:prstGeom>
          <a:noFill/>
          <a:ln/>
        </p:spPr>
        <p:txBody>
          <a:bodyPr wrap="square" lIns="0" tIns="0" rIns="0" bIns="0" rtlCol="0" anchor="ctr"/>
          <a:lstStyle/>
          <a:p>
            <a:pPr indent="0" marL="0">
              <a:lnSpc>
                <a:spcPct val="125000"/>
              </a:lnSpc>
              <a:buNone/>
            </a:pPr>
            <a:r>
              <a:rPr lang="en-US" sz="1300" dirty="0">
                <a:solidFill>
                  <a:srgbClr val="1B2733"/>
                </a:solidFill>
                <a:latin typeface="Calibri" pitchFamily="34" charset="0"/>
                <a:ea typeface="Calibri" pitchFamily="34" charset="-122"/>
                <a:cs typeface="Calibri" pitchFamily="34" charset="-120"/>
              </a:rPr>
              <a:t>Домен ориентирован на конкретного потребителя данных — подразделение или направление бизнеса.</a:t>
            </a:r>
            <a:endParaRPr lang="en-US" sz="1300" dirty="0"/>
          </a:p>
        </p:txBody>
      </p:sp>
      <p:sp>
        <p:nvSpPr>
          <p:cNvPr id="15" name="Shape 13"/>
          <p:cNvSpPr/>
          <p:nvPr/>
        </p:nvSpPr>
        <p:spPr>
          <a:xfrm>
            <a:off x="8127797" y="1965960"/>
            <a:ext cx="3515258" cy="3108960"/>
          </a:xfrm>
          <a:prstGeom prst="roundRect">
            <a:avLst>
              <a:gd name="adj" fmla="val 2647"/>
            </a:avLst>
          </a:prstGeom>
          <a:solidFill>
            <a:srgbClr val="EAF2F6"/>
          </a:solidFill>
          <a:ln w="12700">
            <a:solidFill>
              <a:srgbClr val="CBDEE6"/>
            </a:solidFill>
            <a:prstDash val="solid"/>
          </a:ln>
        </p:spPr>
      </p:sp>
      <p:sp>
        <p:nvSpPr>
          <p:cNvPr id="16" name="Shape 14"/>
          <p:cNvSpPr/>
          <p:nvPr/>
        </p:nvSpPr>
        <p:spPr>
          <a:xfrm>
            <a:off x="8383829" y="2240280"/>
            <a:ext cx="566928" cy="566928"/>
          </a:xfrm>
          <a:prstGeom prst="roundRect">
            <a:avLst>
              <a:gd name="adj" fmla="val 19355"/>
            </a:avLst>
          </a:prstGeom>
          <a:solidFill>
            <a:srgbClr val="065A82"/>
          </a:solidFill>
          <a:ln/>
        </p:spPr>
      </p:sp>
      <p:sp>
        <p:nvSpPr>
          <p:cNvPr id="17" name="Text 15"/>
          <p:cNvSpPr txBox="1"/>
          <p:nvPr/>
        </p:nvSpPr>
        <p:spPr>
          <a:xfrm>
            <a:off x="8383829"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txBox="1"/>
          <p:nvPr/>
        </p:nvSpPr>
        <p:spPr>
          <a:xfrm>
            <a:off x="8383829" y="2990088"/>
            <a:ext cx="3003194" cy="54864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Aggregate</a:t>
            </a:r>
            <a:endParaRPr lang="en-US" sz="1700" dirty="0"/>
          </a:p>
        </p:txBody>
      </p:sp>
      <p:sp>
        <p:nvSpPr>
          <p:cNvPr id="19" name="Text 17"/>
          <p:cNvSpPr txBox="1"/>
          <p:nvPr/>
        </p:nvSpPr>
        <p:spPr>
          <a:xfrm>
            <a:off x="8383829" y="3538728"/>
            <a:ext cx="3003194" cy="1371600"/>
          </a:xfrm>
          <a:prstGeom prst="rect">
            <a:avLst/>
          </a:prstGeom>
          <a:noFill/>
          <a:ln/>
        </p:spPr>
        <p:txBody>
          <a:bodyPr wrap="square" lIns="0" tIns="0" rIns="0" bIns="0" rtlCol="0" anchor="ctr"/>
          <a:lstStyle/>
          <a:p>
            <a:pPr indent="0" marL="0">
              <a:lnSpc>
                <a:spcPct val="125000"/>
              </a:lnSpc>
              <a:buNone/>
            </a:pPr>
            <a:r>
              <a:rPr lang="en-US" sz="1300" dirty="0">
                <a:solidFill>
                  <a:srgbClr val="1B2733"/>
                </a:solidFill>
                <a:latin typeface="Calibri" pitchFamily="34" charset="0"/>
                <a:ea typeface="Calibri" pitchFamily="34" charset="-122"/>
                <a:cs typeface="Calibri" pitchFamily="34" charset="-120"/>
              </a:rPr>
              <a:t>Домен объединяет данные нескольких источников или направлений бизнеса.</a:t>
            </a:r>
            <a:endParaRPr lang="en-US" sz="1300" dirty="0"/>
          </a:p>
        </p:txBody>
      </p:sp>
      <p:sp>
        <p:nvSpPr>
          <p:cNvPr id="20" name="Text 18"/>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21" name="Text 19"/>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02 · СОЗДАНИЕ ДОМЕНА</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Создание домена: путь и форма</a:t>
            </a:r>
            <a:endParaRPr lang="en-US" sz="2800" dirty="0"/>
          </a:p>
        </p:txBody>
      </p:sp>
      <p:sp>
        <p:nvSpPr>
          <p:cNvPr id="4" name="Shape 2"/>
          <p:cNvSpPr/>
          <p:nvPr/>
        </p:nvSpPr>
        <p:spPr>
          <a:xfrm>
            <a:off x="548640" y="1417320"/>
            <a:ext cx="1481328" cy="384048"/>
          </a:xfrm>
          <a:prstGeom prst="roundRect">
            <a:avLst>
              <a:gd name="adj" fmla="val 50000"/>
            </a:avLst>
          </a:prstGeom>
          <a:solidFill>
            <a:srgbClr val="EAF2F6"/>
          </a:solidFill>
          <a:ln w="12700">
            <a:solidFill>
              <a:srgbClr val="CBDEE6"/>
            </a:solidFill>
            <a:prstDash val="solid"/>
          </a:ln>
        </p:spPr>
      </p:sp>
      <p:sp>
        <p:nvSpPr>
          <p:cNvPr id="5" name="Text 3"/>
          <p:cNvSpPr txBox="1"/>
          <p:nvPr/>
        </p:nvSpPr>
        <p:spPr>
          <a:xfrm>
            <a:off x="548640" y="1417320"/>
            <a:ext cx="1481328" cy="384048"/>
          </a:xfrm>
          <a:prstGeom prst="rect">
            <a:avLst/>
          </a:prstGeom>
          <a:noFill/>
          <a:ln/>
        </p:spPr>
        <p:txBody>
          <a:bodyPr wrap="square" lIns="0" tIns="0" rIns="0" bIns="0" rtlCol="0" anchor="ctr"/>
          <a:lstStyle/>
          <a:p>
            <a:pPr algn="ctr" indent="0" marL="0">
              <a:buNone/>
            </a:pPr>
            <a:r>
              <a:rPr lang="en-US" sz="1200" dirty="0">
                <a:solidFill>
                  <a:srgbClr val="51606E"/>
                </a:solidFill>
                <a:latin typeface="Calibri" pitchFamily="34" charset="0"/>
                <a:ea typeface="Calibri" pitchFamily="34" charset="-122"/>
                <a:cs typeface="Calibri" pitchFamily="34" charset="-120"/>
              </a:rPr>
              <a:t>Каталог</a:t>
            </a:r>
            <a:endParaRPr lang="en-US" sz="1200" dirty="0"/>
          </a:p>
        </p:txBody>
      </p:sp>
      <p:sp>
        <p:nvSpPr>
          <p:cNvPr id="6" name="Text 4"/>
          <p:cNvSpPr txBox="1"/>
          <p:nvPr/>
        </p:nvSpPr>
        <p:spPr>
          <a:xfrm>
            <a:off x="2048256" y="1417320"/>
            <a:ext cx="237744" cy="384048"/>
          </a:xfrm>
          <a:prstGeom prst="rect">
            <a:avLst/>
          </a:prstGeom>
          <a:noFill/>
          <a:ln/>
        </p:spPr>
        <p:txBody>
          <a:bodyPr wrap="square" lIns="0" tIns="0" rIns="0" bIns="0" rtlCol="0" anchor="ctr"/>
          <a:lstStyle/>
          <a:p>
            <a:pPr algn="ctr" indent="0" marL="0">
              <a:buNone/>
            </a:pPr>
            <a:r>
              <a:rPr lang="en-US" sz="1500" dirty="0">
                <a:solidFill>
                  <a:srgbClr val="7C8B98"/>
                </a:solidFill>
                <a:latin typeface="Calibri" pitchFamily="34" charset="0"/>
                <a:ea typeface="Calibri" pitchFamily="34" charset="-122"/>
                <a:cs typeface="Calibri" pitchFamily="34" charset="-120"/>
              </a:rPr>
              <a:t>›</a:t>
            </a:r>
            <a:endParaRPr lang="en-US" sz="1500" dirty="0"/>
          </a:p>
        </p:txBody>
      </p:sp>
      <p:sp>
        <p:nvSpPr>
          <p:cNvPr id="7" name="Shape 5"/>
          <p:cNvSpPr/>
          <p:nvPr/>
        </p:nvSpPr>
        <p:spPr>
          <a:xfrm>
            <a:off x="2322576" y="1417320"/>
            <a:ext cx="2798064" cy="384048"/>
          </a:xfrm>
          <a:prstGeom prst="roundRect">
            <a:avLst>
              <a:gd name="adj" fmla="val 50000"/>
            </a:avLst>
          </a:prstGeom>
          <a:solidFill>
            <a:srgbClr val="EAF2F6"/>
          </a:solidFill>
          <a:ln w="12700">
            <a:solidFill>
              <a:srgbClr val="CBDEE6"/>
            </a:solidFill>
            <a:prstDash val="solid"/>
          </a:ln>
        </p:spPr>
      </p:sp>
      <p:sp>
        <p:nvSpPr>
          <p:cNvPr id="8" name="Text 6"/>
          <p:cNvSpPr txBox="1"/>
          <p:nvPr/>
        </p:nvSpPr>
        <p:spPr>
          <a:xfrm>
            <a:off x="2322576" y="1417320"/>
            <a:ext cx="2798064" cy="384048"/>
          </a:xfrm>
          <a:prstGeom prst="rect">
            <a:avLst/>
          </a:prstGeom>
          <a:noFill/>
          <a:ln/>
        </p:spPr>
        <p:txBody>
          <a:bodyPr wrap="square" lIns="0" tIns="0" rIns="0" bIns="0" rtlCol="0" anchor="ctr"/>
          <a:lstStyle/>
          <a:p>
            <a:pPr algn="ctr" indent="0" marL="0">
              <a:buNone/>
            </a:pPr>
            <a:r>
              <a:rPr lang="en-US" sz="1200" dirty="0">
                <a:solidFill>
                  <a:srgbClr val="51606E"/>
                </a:solidFill>
                <a:latin typeface="Calibri" pitchFamily="34" charset="0"/>
                <a:ea typeface="Calibri" pitchFamily="34" charset="-122"/>
                <a:cs typeface="Calibri" pitchFamily="34" charset="-120"/>
              </a:rPr>
              <a:t>Data Marketplace</a:t>
            </a:r>
            <a:endParaRPr lang="en-US" sz="1200" dirty="0"/>
          </a:p>
        </p:txBody>
      </p:sp>
      <p:sp>
        <p:nvSpPr>
          <p:cNvPr id="9" name="Text 7"/>
          <p:cNvSpPr txBox="1"/>
          <p:nvPr/>
        </p:nvSpPr>
        <p:spPr>
          <a:xfrm>
            <a:off x="5138928" y="1417320"/>
            <a:ext cx="237744" cy="384048"/>
          </a:xfrm>
          <a:prstGeom prst="rect">
            <a:avLst/>
          </a:prstGeom>
          <a:noFill/>
          <a:ln/>
        </p:spPr>
        <p:txBody>
          <a:bodyPr wrap="square" lIns="0" tIns="0" rIns="0" bIns="0" rtlCol="0" anchor="ctr"/>
          <a:lstStyle/>
          <a:p>
            <a:pPr algn="ctr" indent="0" marL="0">
              <a:buNone/>
            </a:pPr>
            <a:r>
              <a:rPr lang="en-US" sz="1500" dirty="0">
                <a:solidFill>
                  <a:srgbClr val="7C8B98"/>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5413248" y="1417320"/>
            <a:ext cx="1335024" cy="384048"/>
          </a:xfrm>
          <a:prstGeom prst="roundRect">
            <a:avLst>
              <a:gd name="adj" fmla="val 50000"/>
            </a:avLst>
          </a:prstGeom>
          <a:solidFill>
            <a:srgbClr val="EAF2F6"/>
          </a:solidFill>
          <a:ln w="12700">
            <a:solidFill>
              <a:srgbClr val="CBDEE6"/>
            </a:solidFill>
            <a:prstDash val="solid"/>
          </a:ln>
        </p:spPr>
      </p:sp>
      <p:sp>
        <p:nvSpPr>
          <p:cNvPr id="11" name="Text 9"/>
          <p:cNvSpPr txBox="1"/>
          <p:nvPr/>
        </p:nvSpPr>
        <p:spPr>
          <a:xfrm>
            <a:off x="5413248" y="1417320"/>
            <a:ext cx="1335024" cy="384048"/>
          </a:xfrm>
          <a:prstGeom prst="rect">
            <a:avLst/>
          </a:prstGeom>
          <a:noFill/>
          <a:ln/>
        </p:spPr>
        <p:txBody>
          <a:bodyPr wrap="square" lIns="0" tIns="0" rIns="0" bIns="0" rtlCol="0" anchor="ctr"/>
          <a:lstStyle/>
          <a:p>
            <a:pPr algn="ctr" indent="0" marL="0">
              <a:buNone/>
            </a:pPr>
            <a:r>
              <a:rPr lang="en-US" sz="1200" dirty="0">
                <a:solidFill>
                  <a:srgbClr val="51606E"/>
                </a:solidFill>
                <a:latin typeface="Calibri" pitchFamily="34" charset="0"/>
                <a:ea typeface="Calibri" pitchFamily="34" charset="-122"/>
                <a:cs typeface="Calibri" pitchFamily="34" charset="-120"/>
              </a:rPr>
              <a:t>Домены</a:t>
            </a:r>
            <a:endParaRPr lang="en-US" sz="1200" dirty="0"/>
          </a:p>
        </p:txBody>
      </p:sp>
      <p:sp>
        <p:nvSpPr>
          <p:cNvPr id="12" name="Text 10"/>
          <p:cNvSpPr txBox="1"/>
          <p:nvPr/>
        </p:nvSpPr>
        <p:spPr>
          <a:xfrm>
            <a:off x="6766560" y="1417320"/>
            <a:ext cx="237744" cy="384048"/>
          </a:xfrm>
          <a:prstGeom prst="rect">
            <a:avLst/>
          </a:prstGeom>
          <a:noFill/>
          <a:ln/>
        </p:spPr>
        <p:txBody>
          <a:bodyPr wrap="square" lIns="0" tIns="0" rIns="0" bIns="0" rtlCol="0" anchor="ctr"/>
          <a:lstStyle/>
          <a:p>
            <a:pPr algn="ctr" indent="0" marL="0">
              <a:buNone/>
            </a:pPr>
            <a:r>
              <a:rPr lang="en-US" sz="1500" dirty="0">
                <a:solidFill>
                  <a:srgbClr val="7C8B98"/>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7040880" y="1417320"/>
            <a:ext cx="2798064" cy="384048"/>
          </a:xfrm>
          <a:prstGeom prst="roundRect">
            <a:avLst>
              <a:gd name="adj" fmla="val 50000"/>
            </a:avLst>
          </a:prstGeom>
          <a:solidFill>
            <a:srgbClr val="065A82"/>
          </a:solidFill>
          <a:ln/>
        </p:spPr>
      </p:sp>
      <p:sp>
        <p:nvSpPr>
          <p:cNvPr id="14" name="Text 12"/>
          <p:cNvSpPr txBox="1"/>
          <p:nvPr/>
        </p:nvSpPr>
        <p:spPr>
          <a:xfrm>
            <a:off x="7040880" y="1417320"/>
            <a:ext cx="279806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Добавить Домен</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6949440" cy="3977640"/>
        </p:xfrm>
        <a:graphic>
          <a:graphicData uri="http://schemas.openxmlformats.org/drawingml/2006/table">
            <a:tbl>
              <a:tblPr/>
              <a:tblGrid>
                <a:gridCol w="1737360"/>
                <a:gridCol w="731520"/>
                <a:gridCol w="448056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Поле</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solidFill>
                      <a:srgbClr val="1C729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Обяз.</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solidFill>
                      <a:srgbClr val="1C729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Что это</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solidFill>
                      <a:srgbClr val="1C7293"/>
                    </a:solidFill>
                  </a:tcPr>
                </a:tc>
              </a:tr>
              <a:tr h="457200">
                <a:tc>
                  <a:txBody>
                    <a:bodyPr/>
                    <a:lstStyle/>
                    <a:p>
                      <a:pPr indent="0" marL="0">
                        <a:buNone/>
                      </a:pPr>
                      <a:r>
                        <a:rPr lang="en-US" sz="1150" b="1" dirty="0">
                          <a:solidFill>
                            <a:srgbClr val="1B2733"/>
                          </a:solidFill>
                          <a:latin typeface="Calibri" pitchFamily="34" charset="0"/>
                          <a:ea typeface="Calibri" pitchFamily="34" charset="-122"/>
                          <a:cs typeface="Calibri" pitchFamily="34" charset="-120"/>
                        </a:rPr>
                        <a:t>Наименование</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b="1" dirty="0">
                          <a:solidFill>
                            <a:srgbClr val="1F7A5C"/>
                          </a:solidFill>
                          <a:latin typeface="Calibri" pitchFamily="34" charset="0"/>
                          <a:ea typeface="Calibri" pitchFamily="34" charset="-122"/>
                          <a:cs typeface="Calibri" pitchFamily="34" charset="-120"/>
                        </a:rPr>
                        <a:t>Да</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51606E"/>
                          </a:solidFill>
                          <a:latin typeface="Calibri" pitchFamily="34" charset="0"/>
                          <a:ea typeface="Calibri" pitchFamily="34" charset="-122"/>
                          <a:cs typeface="Calibri" pitchFamily="34" charset="-120"/>
                        </a:rPr>
                        <a:t>Название домена</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57200">
                <a:tc>
                  <a:txBody>
                    <a:bodyPr/>
                    <a:lstStyle/>
                    <a:p>
                      <a:pPr indent="0" marL="0">
                        <a:buNone/>
                      </a:pPr>
                      <a:r>
                        <a:rPr lang="en-US" sz="1150" b="1" dirty="0">
                          <a:solidFill>
                            <a:srgbClr val="1B2733"/>
                          </a:solidFill>
                          <a:latin typeface="Calibri" pitchFamily="34" charset="0"/>
                          <a:ea typeface="Calibri" pitchFamily="34" charset="-122"/>
                          <a:cs typeface="Calibri" pitchFamily="34" charset="-120"/>
                        </a:rPr>
                        <a:t>Отображаемое имя</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7C8B98"/>
                          </a:solidFill>
                          <a:latin typeface="Calibri" pitchFamily="34" charset="0"/>
                          <a:ea typeface="Calibri" pitchFamily="34" charset="-122"/>
                          <a:cs typeface="Calibri" pitchFamily="34" charset="-120"/>
                        </a:rPr>
                        <a:t>Нет</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51606E"/>
                          </a:solidFill>
                          <a:latin typeface="Calibri" pitchFamily="34" charset="0"/>
                          <a:ea typeface="Calibri" pitchFamily="34" charset="-122"/>
                          <a:cs typeface="Calibri" pitchFamily="34" charset="-120"/>
                        </a:rPr>
                        <a:t>Как домен называется в интерфейсе, если отличается</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57200">
                <a:tc>
                  <a:txBody>
                    <a:bodyPr/>
                    <a:lstStyle/>
                    <a:p>
                      <a:pPr indent="0" marL="0">
                        <a:buNone/>
                      </a:pPr>
                      <a:r>
                        <a:rPr lang="en-US" sz="1150" b="1" dirty="0">
                          <a:solidFill>
                            <a:srgbClr val="1B2733"/>
                          </a:solidFill>
                          <a:latin typeface="Calibri" pitchFamily="34" charset="0"/>
                          <a:ea typeface="Calibri" pitchFamily="34" charset="-122"/>
                          <a:cs typeface="Calibri" pitchFamily="34" charset="-120"/>
                        </a:rPr>
                        <a:t>Описание</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b="1" dirty="0">
                          <a:solidFill>
                            <a:srgbClr val="1F7A5C"/>
                          </a:solidFill>
                          <a:latin typeface="Calibri" pitchFamily="34" charset="0"/>
                          <a:ea typeface="Calibri" pitchFamily="34" charset="-122"/>
                          <a:cs typeface="Calibri" pitchFamily="34" charset="-120"/>
                        </a:rPr>
                        <a:t>Да</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51606E"/>
                          </a:solidFill>
                          <a:latin typeface="Calibri" pitchFamily="34" charset="0"/>
                          <a:ea typeface="Calibri" pitchFamily="34" charset="-122"/>
                          <a:cs typeface="Calibri" pitchFamily="34" charset="-120"/>
                        </a:rPr>
                        <a:t>Форматированный текст — назначение домена</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57200">
                <a:tc>
                  <a:txBody>
                    <a:bodyPr/>
                    <a:lstStyle/>
                    <a:p>
                      <a:pPr indent="0" marL="0">
                        <a:buNone/>
                      </a:pPr>
                      <a:r>
                        <a:rPr lang="en-US" sz="1150" b="1" dirty="0">
                          <a:solidFill>
                            <a:srgbClr val="1B2733"/>
                          </a:solidFill>
                          <a:latin typeface="Calibri" pitchFamily="34" charset="0"/>
                          <a:ea typeface="Calibri" pitchFamily="34" charset="-122"/>
                          <a:cs typeface="Calibri" pitchFamily="34" charset="-120"/>
                        </a:rPr>
                        <a:t>Теги</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7C8B98"/>
                          </a:solidFill>
                          <a:latin typeface="Calibri" pitchFamily="34" charset="0"/>
                          <a:ea typeface="Calibri" pitchFamily="34" charset="-122"/>
                          <a:cs typeface="Calibri" pitchFamily="34" charset="-120"/>
                        </a:rPr>
                        <a:t>Нет</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51606E"/>
                          </a:solidFill>
                          <a:latin typeface="Calibri" pitchFamily="34" charset="0"/>
                          <a:ea typeface="Calibri" pitchFamily="34" charset="-122"/>
                          <a:cs typeface="Calibri" pitchFamily="34" charset="-120"/>
                        </a:rPr>
                        <a:t>Произвольные метки</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57200">
                <a:tc>
                  <a:txBody>
                    <a:bodyPr/>
                    <a:lstStyle/>
                    <a:p>
                      <a:pPr indent="0" marL="0">
                        <a:buNone/>
                      </a:pPr>
                      <a:r>
                        <a:rPr lang="en-US" sz="1150" b="1" dirty="0">
                          <a:solidFill>
                            <a:srgbClr val="1B2733"/>
                          </a:solidFill>
                          <a:latin typeface="Calibri" pitchFamily="34" charset="0"/>
                          <a:ea typeface="Calibri" pitchFamily="34" charset="-122"/>
                          <a:cs typeface="Calibri" pitchFamily="34" charset="-120"/>
                        </a:rPr>
                        <a:t>Термины глоссария</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7C8B98"/>
                          </a:solidFill>
                          <a:latin typeface="Calibri" pitchFamily="34" charset="0"/>
                          <a:ea typeface="Calibri" pitchFamily="34" charset="-122"/>
                          <a:cs typeface="Calibri" pitchFamily="34" charset="-120"/>
                        </a:rPr>
                        <a:t>Нет</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51606E"/>
                          </a:solidFill>
                          <a:latin typeface="Calibri" pitchFamily="34" charset="0"/>
                          <a:ea typeface="Calibri" pitchFamily="34" charset="-122"/>
                          <a:cs typeface="Calibri" pitchFamily="34" charset="-120"/>
                        </a:rPr>
                        <a:t>Связь домена с деловыми терминами компании</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57200">
                <a:tc>
                  <a:txBody>
                    <a:bodyPr/>
                    <a:lstStyle/>
                    <a:p>
                      <a:pPr indent="0" marL="0">
                        <a:buNone/>
                      </a:pPr>
                      <a:r>
                        <a:rPr lang="en-US" sz="1150" b="1" dirty="0">
                          <a:solidFill>
                            <a:srgbClr val="1B2733"/>
                          </a:solidFill>
                          <a:latin typeface="Calibri" pitchFamily="34" charset="0"/>
                          <a:ea typeface="Calibri" pitchFamily="34" charset="-122"/>
                          <a:cs typeface="Calibri" pitchFamily="34" charset="-120"/>
                        </a:rPr>
                        <a:t>Тип домена</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b="1" dirty="0">
                          <a:solidFill>
                            <a:srgbClr val="1F7A5C"/>
                          </a:solidFill>
                          <a:latin typeface="Calibri" pitchFamily="34" charset="0"/>
                          <a:ea typeface="Calibri" pitchFamily="34" charset="-122"/>
                          <a:cs typeface="Calibri" pitchFamily="34" charset="-120"/>
                        </a:rPr>
                        <a:t>Да</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51606E"/>
                          </a:solidFill>
                          <a:latin typeface="Calibri" pitchFamily="34" charset="0"/>
                          <a:ea typeface="Calibri" pitchFamily="34" charset="-122"/>
                          <a:cs typeface="Calibri" pitchFamily="34" charset="-120"/>
                        </a:rPr>
                        <a:t>Закрытый список из трёх значений (см. пред. слайд)</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57200">
                <a:tc>
                  <a:txBody>
                    <a:bodyPr/>
                    <a:lstStyle/>
                    <a:p>
                      <a:pPr indent="0" marL="0">
                        <a:buNone/>
                      </a:pPr>
                      <a:r>
                        <a:rPr lang="en-US" sz="1150" b="1" dirty="0">
                          <a:solidFill>
                            <a:srgbClr val="1B2733"/>
                          </a:solidFill>
                          <a:latin typeface="Calibri" pitchFamily="34" charset="0"/>
                          <a:ea typeface="Calibri" pitchFamily="34" charset="-122"/>
                          <a:cs typeface="Calibri" pitchFamily="34" charset="-120"/>
                        </a:rPr>
                        <a:t>Владельцы</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7C8B98"/>
                          </a:solidFill>
                          <a:latin typeface="Calibri" pitchFamily="34" charset="0"/>
                          <a:ea typeface="Calibri" pitchFamily="34" charset="-122"/>
                          <a:cs typeface="Calibri" pitchFamily="34" charset="-120"/>
                        </a:rPr>
                        <a:t>Нет</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51606E"/>
                          </a:solidFill>
                          <a:latin typeface="Calibri" pitchFamily="34" charset="0"/>
                          <a:ea typeface="Calibri" pitchFamily="34" charset="-122"/>
                          <a:cs typeface="Calibri" pitchFamily="34" charset="-120"/>
                        </a:rPr>
                        <a:t>Пользователи или целая команда</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57200">
                <a:tc>
                  <a:txBody>
                    <a:bodyPr/>
                    <a:lstStyle/>
                    <a:p>
                      <a:pPr indent="0" marL="0">
                        <a:buNone/>
                      </a:pPr>
                      <a:r>
                        <a:rPr lang="en-US" sz="1150" b="1" dirty="0">
                          <a:solidFill>
                            <a:srgbClr val="1B2733"/>
                          </a:solidFill>
                          <a:latin typeface="Calibri" pitchFamily="34" charset="0"/>
                          <a:ea typeface="Calibri" pitchFamily="34" charset="-122"/>
                          <a:cs typeface="Calibri" pitchFamily="34" charset="-120"/>
                        </a:rPr>
                        <a:t>Эксперты</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7C8B98"/>
                          </a:solidFill>
                          <a:latin typeface="Calibri" pitchFamily="34" charset="0"/>
                          <a:ea typeface="Calibri" pitchFamily="34" charset="-122"/>
                          <a:cs typeface="Calibri" pitchFamily="34" charset="-120"/>
                        </a:rPr>
                        <a:t>Нет</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51606E"/>
                          </a:solidFill>
                          <a:latin typeface="Calibri" pitchFamily="34" charset="0"/>
                          <a:ea typeface="Calibri" pitchFamily="34" charset="-122"/>
                          <a:cs typeface="Calibri" pitchFamily="34" charset="-120"/>
                        </a:rPr>
                        <a:t>Пользователи — к кому обращаться по содержанию</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bl>
          </a:graphicData>
        </a:graphic>
      </p:graphicFrame>
      <p:sp>
        <p:nvSpPr>
          <p:cNvPr id="16" name="Shape 13"/>
          <p:cNvSpPr/>
          <p:nvPr/>
        </p:nvSpPr>
        <p:spPr>
          <a:xfrm>
            <a:off x="7726680" y="2011680"/>
            <a:ext cx="3913632" cy="3977640"/>
          </a:xfrm>
          <a:prstGeom prst="roundRect">
            <a:avLst>
              <a:gd name="adj" fmla="val 2336"/>
            </a:avLst>
          </a:prstGeom>
          <a:solidFill>
            <a:srgbClr val="FBF0DC"/>
          </a:solidFill>
          <a:ln w="12700">
            <a:solidFill>
              <a:srgbClr val="8A5A10"/>
            </a:solidFill>
            <a:prstDash val="solid"/>
          </a:ln>
        </p:spPr>
      </p:sp>
      <p:sp>
        <p:nvSpPr>
          <p:cNvPr id="17" name="Text 14"/>
          <p:cNvSpPr txBox="1"/>
          <p:nvPr/>
        </p:nvSpPr>
        <p:spPr>
          <a:xfrm>
            <a:off x="7955280" y="2212848"/>
            <a:ext cx="3383280" cy="274320"/>
          </a:xfrm>
          <a:prstGeom prst="rect">
            <a:avLst/>
          </a:prstGeom>
          <a:noFill/>
          <a:ln/>
        </p:spPr>
        <p:txBody>
          <a:bodyPr wrap="square" lIns="0" tIns="0" rIns="0" bIns="0" rtlCol="0" anchor="ctr"/>
          <a:lstStyle/>
          <a:p>
            <a:pPr indent="0" marL="0">
              <a:buNone/>
            </a:pPr>
            <a:r>
              <a:rPr lang="en-US" sz="1100" b="1" spc="100" kern="0" dirty="0">
                <a:solidFill>
                  <a:srgbClr val="8A5A10"/>
                </a:solidFill>
                <a:latin typeface="Calibri" pitchFamily="34" charset="0"/>
                <a:ea typeface="Calibri" pitchFamily="34" charset="-122"/>
                <a:cs typeface="Calibri" pitchFamily="34" charset="-120"/>
              </a:rPr>
              <a:t>ВАЖНО</a:t>
            </a:r>
            <a:endParaRPr lang="en-US" sz="1100" dirty="0"/>
          </a:p>
        </p:txBody>
      </p:sp>
      <p:sp>
        <p:nvSpPr>
          <p:cNvPr id="18" name="Text 15"/>
          <p:cNvSpPr txBox="1"/>
          <p:nvPr/>
        </p:nvSpPr>
        <p:spPr>
          <a:xfrm>
            <a:off x="7955280" y="2560320"/>
            <a:ext cx="3429000" cy="3291840"/>
          </a:xfrm>
          <a:prstGeom prst="rect">
            <a:avLst/>
          </a:prstGeom>
          <a:noFill/>
          <a:ln/>
        </p:spPr>
        <p:txBody>
          <a:bodyPr wrap="square" lIns="0" tIns="0" rIns="0" bIns="0" rtlCol="0" anchor="ctr"/>
          <a:lstStyle/>
          <a:p>
            <a:pPr indent="0" marL="0">
              <a:lnSpc>
                <a:spcPct val="130000"/>
              </a:lnSpc>
              <a:buNone/>
            </a:pPr>
            <a:r>
              <a:rPr lang="en-US" sz="1300" dirty="0">
                <a:solidFill>
                  <a:srgbClr val="1B2733"/>
                </a:solidFill>
                <a:latin typeface="Calibri" pitchFamily="34" charset="0"/>
                <a:ea typeface="Calibri" pitchFamily="34" charset="-122"/>
                <a:cs typeface="Calibri" pitchFamily="34" charset="-120"/>
              </a:rPr>
              <a:t>«Владельцы» и «Эксперты» на этом шаге — </a:t>
            </a:r>
            <a:pPr indent="0" marL="0">
              <a:lnSpc>
                <a:spcPct val="130000"/>
              </a:lnSpc>
              <a:buNone/>
            </a:pPr>
            <a:r>
              <a:rPr lang="en-US" sz="1300" b="1" dirty="0">
                <a:solidFill>
                  <a:srgbClr val="AE3B46"/>
                </a:solidFill>
                <a:latin typeface="Calibri" pitchFamily="34" charset="0"/>
                <a:ea typeface="Calibri" pitchFamily="34" charset="-122"/>
                <a:cs typeface="Calibri" pitchFamily="34" charset="-120"/>
              </a:rPr>
              <a:t>это НЕ выдача доступа к данным</a:t>
            </a:r>
            <a:pPr indent="0" marL="0">
              <a:lnSpc>
                <a:spcPct val="130000"/>
              </a:lnSpc>
              <a:buNone/>
            </a:pPr>
            <a:r>
              <a:rPr lang="en-US" sz="1300" dirty="0">
                <a:solidFill>
                  <a:srgbClr val="1B2733"/>
                </a:solidFill>
                <a:latin typeface="Calibri" pitchFamily="34" charset="0"/>
                <a:ea typeface="Calibri" pitchFamily="34" charset="-122"/>
                <a:cs typeface="Calibri" pitchFamily="34" charset="-120"/>
              </a:rPr>
              <a:t>, а организационная информация: кто отвечает за домен, к кому обращаться по содержанию.
</a:t>
            </a:r>
            <a:pPr indent="0" marL="0">
              <a:lnSpc>
                <a:spcPct val="130000"/>
              </a:lnSpc>
              <a:buNone/>
            </a:pPr>
            <a:r>
              <a:rPr lang="en-US" sz="1300" dirty="0">
                <a:solidFill>
                  <a:srgbClr val="1B2733"/>
                </a:solidFill>
                <a:latin typeface="Calibri" pitchFamily="34" charset="0"/>
                <a:ea typeface="Calibri" pitchFamily="34" charset="-122"/>
                <a:cs typeface="Calibri" pitchFamily="34" charset="-120"/>
              </a:rPr>
              <a:t>Реальный доступ к данным домена настраивается совсем отдельно — на карточке пользователя или команды (раздел про доступ далее в этой части).</a:t>
            </a:r>
            <a:endParaRPr lang="en-US" sz="1300" dirty="0"/>
          </a:p>
        </p:txBody>
      </p:sp>
      <p:sp>
        <p:nvSpPr>
          <p:cNvPr id="19" name="Text 16"/>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20" name="Text 17"/>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03 · КОЛЛЕКЦИИ</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Коллекция документов: привязка к домену</a:t>
            </a:r>
            <a:endParaRPr lang="en-US" sz="2800" dirty="0"/>
          </a:p>
        </p:txBody>
      </p:sp>
      <p:sp>
        <p:nvSpPr>
          <p:cNvPr id="4" name="Text 2"/>
          <p:cNvSpPr txBox="1"/>
          <p:nvPr/>
        </p:nvSpPr>
        <p:spPr>
          <a:xfrm>
            <a:off x="548640" y="1371600"/>
            <a:ext cx="11094415" cy="320040"/>
          </a:xfrm>
          <a:prstGeom prst="rect">
            <a:avLst/>
          </a:prstGeom>
          <a:noFill/>
          <a:ln/>
        </p:spPr>
        <p:txBody>
          <a:bodyPr wrap="square" lIns="0" tIns="0" rIns="0" bIns="0" rtlCol="0" anchor="ctr"/>
          <a:lstStyle/>
          <a:p>
            <a:pPr indent="0" marL="0">
              <a:buNone/>
            </a:pPr>
            <a:r>
              <a:rPr lang="en-US" sz="1350" i="1" dirty="0">
                <a:solidFill>
                  <a:srgbClr val="51606E"/>
                </a:solidFill>
                <a:latin typeface="Calibri" pitchFamily="34" charset="0"/>
                <a:ea typeface="Calibri" pitchFamily="34" charset="-122"/>
                <a:cs typeface="Calibri" pitchFamily="34" charset="-120"/>
              </a:rPr>
              <a:t>Путь: Администрирование → Платформа → Коллекции → «Создать коллекцию»</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3794760"/>
        </p:xfrm>
        <a:graphic>
          <a:graphicData uri="http://schemas.openxmlformats.org/drawingml/2006/table">
            <a:tbl>
              <a:tblPr/>
              <a:tblGrid>
                <a:gridCol w="2651760"/>
                <a:gridCol w="777240"/>
                <a:gridCol w="7662672"/>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Поле</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solidFill>
                      <a:srgbClr val="1C729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Обяз.</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solidFill>
                      <a:srgbClr val="1C729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Что это</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solidFill>
                      <a:srgbClr val="1C7293"/>
                    </a:solidFill>
                  </a:tcPr>
                </a:tc>
              </a:tr>
              <a:tr h="402336">
                <a:tc>
                  <a:txBody>
                    <a:bodyPr/>
                    <a:lstStyle/>
                    <a:p>
                      <a:pPr indent="0" marL="0">
                        <a:buNone/>
                      </a:pPr>
                      <a:r>
                        <a:rPr lang="en-US" sz="1100" b="1" dirty="0">
                          <a:solidFill>
                            <a:srgbClr val="1B2733"/>
                          </a:solidFill>
                          <a:latin typeface="Calibri" pitchFamily="34" charset="0"/>
                          <a:ea typeface="Calibri" pitchFamily="34" charset="-122"/>
                          <a:cs typeface="Calibri" pitchFamily="34" charset="-120"/>
                        </a:rPr>
                        <a:t>🔒 Идентификатор коллекции</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b="1" dirty="0">
                          <a:solidFill>
                            <a:srgbClr val="1F7A5C"/>
                          </a:solidFill>
                          <a:latin typeface="Calibri" pitchFamily="34" charset="0"/>
                          <a:ea typeface="Calibri" pitchFamily="34" charset="-122"/>
                          <a:cs typeface="Calibri" pitchFamily="34" charset="-120"/>
                        </a:rPr>
                        <a:t>Да</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00" dirty="0">
                          <a:solidFill>
                            <a:srgbClr val="51606E"/>
                          </a:solidFill>
                          <a:latin typeface="Calibri" pitchFamily="34" charset="0"/>
                          <a:ea typeface="Calibri" pitchFamily="34" charset="-122"/>
                          <a:cs typeface="Calibri" pitchFamily="34" charset="-120"/>
                        </a:rPr>
                        <a:t>Технический код namespace_doc_type. Нельзя изменить после создания.</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02336">
                <a:tc>
                  <a:txBody>
                    <a:bodyPr/>
                    <a:lstStyle/>
                    <a:p>
                      <a:pPr indent="0" marL="0">
                        <a:buNone/>
                      </a:pPr>
                      <a:r>
                        <a:rPr lang="en-US" sz="1100" b="1" dirty="0">
                          <a:solidFill>
                            <a:srgbClr val="1B2733"/>
                          </a:solidFill>
                          <a:latin typeface="Calibri" pitchFamily="34" charset="0"/>
                          <a:ea typeface="Calibri" pitchFamily="34" charset="-122"/>
                          <a:cs typeface="Calibri" pitchFamily="34" charset="-120"/>
                        </a:rPr>
                        <a:t>Отображаемое название</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b="1" dirty="0">
                          <a:solidFill>
                            <a:srgbClr val="1F7A5C"/>
                          </a:solidFill>
                          <a:latin typeface="Calibri" pitchFamily="34" charset="0"/>
                          <a:ea typeface="Calibri" pitchFamily="34" charset="-122"/>
                          <a:cs typeface="Calibri" pitchFamily="34" charset="-120"/>
                        </a:rPr>
                        <a:t>Да</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00" dirty="0">
                          <a:solidFill>
                            <a:srgbClr val="51606E"/>
                          </a:solidFill>
                          <a:latin typeface="Calibri" pitchFamily="34" charset="0"/>
                          <a:ea typeface="Calibri" pitchFamily="34" charset="-122"/>
                          <a:cs typeface="Calibri" pitchFamily="34" charset="-120"/>
                        </a:rPr>
                        <a:t>Название в интерфейсе</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02336">
                <a:tc>
                  <a:txBody>
                    <a:bodyPr/>
                    <a:lstStyle/>
                    <a:p>
                      <a:pPr indent="0" marL="0">
                        <a:buNone/>
                      </a:pPr>
                      <a:r>
                        <a:rPr lang="en-US" sz="1100" b="1" dirty="0">
                          <a:solidFill>
                            <a:srgbClr val="1B2733"/>
                          </a:solidFill>
                          <a:latin typeface="Calibri" pitchFamily="34" charset="0"/>
                          <a:ea typeface="Calibri" pitchFamily="34" charset="-122"/>
                          <a:cs typeface="Calibri" pitchFamily="34" charset="-120"/>
                        </a:rPr>
                        <a:t>🔒 Домен</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b="1" dirty="0">
                          <a:solidFill>
                            <a:srgbClr val="1F7A5C"/>
                          </a:solidFill>
                          <a:latin typeface="Calibri" pitchFamily="34" charset="0"/>
                          <a:ea typeface="Calibri" pitchFamily="34" charset="-122"/>
                          <a:cs typeface="Calibri" pitchFamily="34" charset="-120"/>
                        </a:rPr>
                        <a:t>Да</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00" dirty="0">
                          <a:solidFill>
                            <a:srgbClr val="51606E"/>
                          </a:solidFill>
                          <a:latin typeface="Calibri" pitchFamily="34" charset="0"/>
                          <a:ea typeface="Calibri" pitchFamily="34" charset="-122"/>
                          <a:cs typeface="Calibri" pitchFamily="34" charset="-120"/>
                        </a:rPr>
                        <a:t>Текстовая метка (например, hr, finance). Нельзя изменить после создания.</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02336">
                <a:tc>
                  <a:txBody>
                    <a:bodyPr/>
                    <a:lstStyle/>
                    <a:p>
                      <a:pPr indent="0" marL="0">
                        <a:buNone/>
                      </a:pPr>
                      <a:r>
                        <a:rPr lang="en-US" sz="1100" b="1" dirty="0">
                          <a:solidFill>
                            <a:srgbClr val="1B2733"/>
                          </a:solidFill>
                          <a:latin typeface="Calibri" pitchFamily="34" charset="0"/>
                          <a:ea typeface="Calibri" pitchFamily="34" charset="-122"/>
                          <a:cs typeface="Calibri" pitchFamily="34" charset="-120"/>
                        </a:rPr>
                        <a:t>🔒 Бизнес-домен(ы) ОМ</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7C8B98"/>
                          </a:solidFill>
                          <a:latin typeface="Calibri" pitchFamily="34" charset="0"/>
                          <a:ea typeface="Calibri" pitchFamily="34" charset="-122"/>
                          <a:cs typeface="Calibri" pitchFamily="34" charset="-120"/>
                        </a:rPr>
                        <a:t>Нет</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00" dirty="0">
                          <a:solidFill>
                            <a:srgbClr val="51606E"/>
                          </a:solidFill>
                          <a:latin typeface="Calibri" pitchFamily="34" charset="0"/>
                          <a:ea typeface="Calibri" pitchFamily="34" charset="-122"/>
                          <a:cs typeface="Calibri" pitchFamily="34" charset="-120"/>
                        </a:rPr>
                        <a:t>Привязка к домену каталога (можно несколько). Нельзя изменить после создания.</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02336">
                <a:tc>
                  <a:txBody>
                    <a:bodyPr/>
                    <a:lstStyle/>
                    <a:p>
                      <a:pPr indent="0" marL="0">
                        <a:buNone/>
                      </a:pPr>
                      <a:r>
                        <a:rPr lang="en-US" sz="1100" b="1" dirty="0">
                          <a:solidFill>
                            <a:srgbClr val="1B2733"/>
                          </a:solidFill>
                          <a:latin typeface="Calibri" pitchFamily="34" charset="0"/>
                          <a:ea typeface="Calibri" pitchFamily="34" charset="-122"/>
                          <a:cs typeface="Calibri" pitchFamily="34" charset="-120"/>
                        </a:rPr>
                        <a:t>Тип документа</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b="1" dirty="0">
                          <a:solidFill>
                            <a:srgbClr val="1F7A5C"/>
                          </a:solidFill>
                          <a:latin typeface="Calibri" pitchFamily="34" charset="0"/>
                          <a:ea typeface="Calibri" pitchFamily="34" charset="-122"/>
                          <a:cs typeface="Calibri" pitchFamily="34" charset="-120"/>
                        </a:rPr>
                        <a:t>Да</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00" dirty="0">
                          <a:solidFill>
                            <a:srgbClr val="51606E"/>
                          </a:solidFill>
                          <a:latin typeface="Calibri" pitchFamily="34" charset="0"/>
                          <a:ea typeface="Calibri" pitchFamily="34" charset="-122"/>
                          <a:cs typeface="Calibri" pitchFamily="34" charset="-120"/>
                        </a:rPr>
                        <a:t>Например, «Регламент»</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02336">
                <a:tc>
                  <a:txBody>
                    <a:bodyPr/>
                    <a:lstStyle/>
                    <a:p>
                      <a:pPr indent="0" marL="0">
                        <a:buNone/>
                      </a:pPr>
                      <a:r>
                        <a:rPr lang="en-US" sz="1100" b="1" dirty="0">
                          <a:solidFill>
                            <a:srgbClr val="1B2733"/>
                          </a:solidFill>
                          <a:latin typeface="Calibri" pitchFamily="34" charset="0"/>
                          <a:ea typeface="Calibri" pitchFamily="34" charset="-122"/>
                          <a:cs typeface="Calibri" pitchFamily="34" charset="-120"/>
                        </a:rPr>
                        <a:t>🔒 Тип коллекции</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b="1" dirty="0">
                          <a:solidFill>
                            <a:srgbClr val="1F7A5C"/>
                          </a:solidFill>
                          <a:latin typeface="Calibri" pitchFamily="34" charset="0"/>
                          <a:ea typeface="Calibri" pitchFamily="34" charset="-122"/>
                          <a:cs typeface="Calibri" pitchFamily="34" charset="-120"/>
                        </a:rPr>
                        <a:t>Да</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00" dirty="0">
                          <a:solidFill>
                            <a:srgbClr val="51606E"/>
                          </a:solidFill>
                          <a:latin typeface="Calibri" pitchFamily="34" charset="0"/>
                          <a:ea typeface="Calibri" pitchFamily="34" charset="-122"/>
                          <a:cs typeface="Calibri" pitchFamily="34" charset="-120"/>
                        </a:rPr>
                        <a:t>Текстовые документы / кодовая коллекция. Нельзя изменить после создания.</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02336">
                <a:tc>
                  <a:txBody>
                    <a:bodyPr/>
                    <a:lstStyle/>
                    <a:p>
                      <a:pPr indent="0" marL="0">
                        <a:buNone/>
                      </a:pPr>
                      <a:r>
                        <a:rPr lang="en-US" sz="1100" b="1" dirty="0">
                          <a:solidFill>
                            <a:srgbClr val="1B2733"/>
                          </a:solidFill>
                          <a:latin typeface="Calibri" pitchFamily="34" charset="0"/>
                          <a:ea typeface="Calibri" pitchFamily="34" charset="-122"/>
                          <a:cs typeface="Calibri" pitchFamily="34" charset="-120"/>
                        </a:rPr>
                        <a:t>Назначение</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7C8B98"/>
                          </a:solidFill>
                          <a:latin typeface="Calibri" pitchFamily="34" charset="0"/>
                          <a:ea typeface="Calibri" pitchFamily="34" charset="-122"/>
                          <a:cs typeface="Calibri" pitchFamily="34" charset="-120"/>
                        </a:rPr>
                        <a:t>Нет</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00" dirty="0">
                          <a:solidFill>
                            <a:srgbClr val="51606E"/>
                          </a:solidFill>
                          <a:latin typeface="Calibri" pitchFamily="34" charset="0"/>
                          <a:ea typeface="Calibri" pitchFamily="34" charset="-122"/>
                          <a:cs typeface="Calibri" pitchFamily="34" charset="-120"/>
                        </a:rPr>
                        <a:t>«Обычные документы» или «Библиотека шаблонов»</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402336">
                <a:tc>
                  <a:txBody>
                    <a:bodyPr/>
                    <a:lstStyle/>
                    <a:p>
                      <a:pPr indent="0" marL="0">
                        <a:buNone/>
                      </a:pPr>
                      <a:r>
                        <a:rPr lang="en-US" sz="1100" b="1" dirty="0">
                          <a:solidFill>
                            <a:srgbClr val="1B2733"/>
                          </a:solidFill>
                          <a:latin typeface="Calibri" pitchFamily="34" charset="0"/>
                          <a:ea typeface="Calibri" pitchFamily="34" charset="-122"/>
                          <a:cs typeface="Calibri" pitchFamily="34" charset="-120"/>
                        </a:rPr>
                        <a:t>Описание</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50" dirty="0">
                          <a:solidFill>
                            <a:srgbClr val="7C8B98"/>
                          </a:solidFill>
                          <a:latin typeface="Calibri" pitchFamily="34" charset="0"/>
                          <a:ea typeface="Calibri" pitchFamily="34" charset="-122"/>
                          <a:cs typeface="Calibri" pitchFamily="34" charset="-120"/>
                        </a:rPr>
                        <a:t>Нет</a:t>
                      </a:r>
                      <a:endParaRPr lang="en-US" sz="115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100" dirty="0">
                          <a:solidFill>
                            <a:srgbClr val="51606E"/>
                          </a:solidFill>
                          <a:latin typeface="Calibri" pitchFamily="34" charset="0"/>
                          <a:ea typeface="Calibri" pitchFamily="34" charset="-122"/>
                          <a:cs typeface="Calibri" pitchFamily="34" charset="-120"/>
                        </a:rPr>
                        <a:t>Свободный текст</a:t>
                      </a:r>
                      <a:endParaRPr lang="en-US" sz="11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bl>
          </a:graphicData>
        </a:graphic>
      </p:graphicFrame>
      <p:sp>
        <p:nvSpPr>
          <p:cNvPr id="6" name="Text 3"/>
          <p:cNvSpPr txBox="1"/>
          <p:nvPr/>
        </p:nvSpPr>
        <p:spPr>
          <a:xfrm>
            <a:off x="548640" y="5742432"/>
            <a:ext cx="5486400" cy="274320"/>
          </a:xfrm>
          <a:prstGeom prst="rect">
            <a:avLst/>
          </a:prstGeom>
          <a:noFill/>
          <a:ln/>
        </p:spPr>
        <p:txBody>
          <a:bodyPr wrap="square" lIns="0" tIns="0" rIns="0" bIns="0" rtlCol="0" anchor="ctr"/>
          <a:lstStyle/>
          <a:p>
            <a:pPr indent="0" marL="0">
              <a:buNone/>
            </a:pPr>
            <a:r>
              <a:rPr lang="en-US" sz="1050" i="1" dirty="0">
                <a:solidFill>
                  <a:srgbClr val="7C8B98"/>
                </a:solidFill>
                <a:latin typeface="Calibri" pitchFamily="34" charset="0"/>
                <a:ea typeface="Calibri" pitchFamily="34" charset="-122"/>
                <a:cs typeface="Calibri" pitchFamily="34" charset="-120"/>
              </a:rPr>
              <a:t>🔒 — нельзя изменить после создания коллекции</a:t>
            </a:r>
            <a:endParaRPr lang="en-US" sz="1050" dirty="0"/>
          </a:p>
        </p:txBody>
      </p:sp>
      <p:sp>
        <p:nvSpPr>
          <p:cNvPr id="7" name="Text 4"/>
          <p:cNvSpPr txBox="1"/>
          <p:nvPr/>
        </p:nvSpPr>
        <p:spPr>
          <a:xfrm>
            <a:off x="6309360" y="5742432"/>
            <a:ext cx="5303520" cy="274320"/>
          </a:xfrm>
          <a:prstGeom prst="rect">
            <a:avLst/>
          </a:prstGeom>
          <a:noFill/>
          <a:ln/>
        </p:spPr>
        <p:txBody>
          <a:bodyPr wrap="square" lIns="0" tIns="0" rIns="0" bIns="0" rtlCol="0" anchor="ctr"/>
          <a:lstStyle/>
          <a:p>
            <a:pPr algn="r" indent="0" marL="0">
              <a:buNone/>
            </a:pPr>
            <a:r>
              <a:rPr lang="en-US" sz="1050" i="1" dirty="0">
                <a:solidFill>
                  <a:srgbClr val="7C8B98"/>
                </a:solidFill>
                <a:latin typeface="Calibri" pitchFamily="34" charset="0"/>
                <a:ea typeface="Calibri" pitchFamily="34" charset="-122"/>
                <a:cs typeface="Calibri" pitchFamily="34" charset="-120"/>
              </a:rPr>
              <a:t>После сохранения коллекция активна и готова к загрузке документов.</a:t>
            </a:r>
            <a:endParaRPr lang="en-US" sz="1050" dirty="0"/>
          </a:p>
        </p:txBody>
      </p:sp>
      <p:sp>
        <p:nvSpPr>
          <p:cNvPr id="8" name="Text 5"/>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9" name="Text 6"/>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03 · КОЛЛЕКЦИИ</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Частая ошибка: два независимых поля</a:t>
            </a:r>
            <a:endParaRPr lang="en-US" sz="2800" dirty="0"/>
          </a:p>
        </p:txBody>
      </p:sp>
      <p:sp>
        <p:nvSpPr>
          <p:cNvPr id="4" name="Text 2"/>
          <p:cNvSpPr txBox="1"/>
          <p:nvPr/>
        </p:nvSpPr>
        <p:spPr>
          <a:xfrm>
            <a:off x="548640" y="1371600"/>
            <a:ext cx="11094415" cy="457200"/>
          </a:xfrm>
          <a:prstGeom prst="rect">
            <a:avLst/>
          </a:prstGeom>
          <a:noFill/>
          <a:ln/>
        </p:spPr>
        <p:txBody>
          <a:bodyPr wrap="square" lIns="0" tIns="0" rIns="0" bIns="0" rtlCol="0" anchor="ctr"/>
          <a:lstStyle/>
          <a:p>
            <a:pPr indent="0" marL="0">
              <a:lnSpc>
                <a:spcPct val="120000"/>
              </a:lnSpc>
              <a:buNone/>
            </a:pPr>
            <a:r>
              <a:rPr lang="en-US" sz="1450" dirty="0">
                <a:solidFill>
                  <a:srgbClr val="1B2733"/>
                </a:solidFill>
                <a:latin typeface="Calibri" pitchFamily="34" charset="0"/>
                <a:ea typeface="Calibri" pitchFamily="34" charset="-122"/>
                <a:cs typeface="Calibri" pitchFamily="34" charset="-120"/>
              </a:rPr>
              <a:t>«Домен» и «Бизнес-домен(ы) ОМ» — независимые поля формы коллекции. Оба обязательно нужно заполнить отдельно.</a:t>
            </a:r>
            <a:endParaRPr lang="en-US" sz="1450" dirty="0"/>
          </a:p>
        </p:txBody>
      </p:sp>
      <p:sp>
        <p:nvSpPr>
          <p:cNvPr id="5" name="Shape 3"/>
          <p:cNvSpPr/>
          <p:nvPr/>
        </p:nvSpPr>
        <p:spPr>
          <a:xfrm>
            <a:off x="822960" y="2148840"/>
            <a:ext cx="4206240" cy="1554480"/>
          </a:xfrm>
          <a:prstGeom prst="roundRect">
            <a:avLst>
              <a:gd name="adj" fmla="val 5294"/>
            </a:avLst>
          </a:prstGeom>
          <a:solidFill>
            <a:srgbClr val="EAF2F6"/>
          </a:solidFill>
          <a:ln w="12700">
            <a:solidFill>
              <a:srgbClr val="CBDEE6"/>
            </a:solidFill>
            <a:prstDash val="solid"/>
          </a:ln>
        </p:spPr>
      </p:sp>
      <p:sp>
        <p:nvSpPr>
          <p:cNvPr id="6" name="Text 4"/>
          <p:cNvSpPr txBox="1"/>
          <p:nvPr/>
        </p:nvSpPr>
        <p:spPr>
          <a:xfrm>
            <a:off x="1051560" y="2313432"/>
            <a:ext cx="3749040" cy="32004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Поле «Домен»</a:t>
            </a:r>
            <a:endParaRPr lang="en-US" sz="1450" dirty="0"/>
          </a:p>
        </p:txBody>
      </p:sp>
      <p:sp>
        <p:nvSpPr>
          <p:cNvPr id="7" name="Text 5"/>
          <p:cNvSpPr txBox="1"/>
          <p:nvPr/>
        </p:nvSpPr>
        <p:spPr>
          <a:xfrm>
            <a:off x="1051560" y="2679192"/>
            <a:ext cx="3749040" cy="914400"/>
          </a:xfrm>
          <a:prstGeom prst="rect">
            <a:avLst/>
          </a:prstGeom>
          <a:noFill/>
          <a:ln/>
        </p:spPr>
        <p:txBody>
          <a:bodyPr wrap="square" lIns="0" tIns="0" rIns="0" bIns="0" rtlCol="0" anchor="ctr"/>
          <a:lstStyle/>
          <a:p>
            <a:pPr indent="0" marL="0">
              <a:lnSpc>
                <a:spcPct val="120000"/>
              </a:lnSpc>
              <a:buNone/>
            </a:pPr>
            <a:r>
              <a:rPr lang="en-US" sz="1300" dirty="0">
                <a:solidFill>
                  <a:srgbClr val="1B2733"/>
                </a:solidFill>
                <a:latin typeface="Calibri" pitchFamily="34" charset="0"/>
                <a:ea typeface="Calibri" pitchFamily="34" charset="-122"/>
                <a:cs typeface="Calibri" pitchFamily="34" charset="-120"/>
              </a:rPr>
              <a:t>Текстовая метка, например hr, finance. Вводится вручную.</a:t>
            </a:r>
            <a:endParaRPr lang="en-US" sz="1300" dirty="0"/>
          </a:p>
        </p:txBody>
      </p:sp>
      <p:sp>
        <p:nvSpPr>
          <p:cNvPr id="8" name="Shape 6"/>
          <p:cNvSpPr/>
          <p:nvPr/>
        </p:nvSpPr>
        <p:spPr>
          <a:xfrm>
            <a:off x="7162495" y="2148840"/>
            <a:ext cx="4206240" cy="1554480"/>
          </a:xfrm>
          <a:prstGeom prst="roundRect">
            <a:avLst>
              <a:gd name="adj" fmla="val 5294"/>
            </a:avLst>
          </a:prstGeom>
          <a:solidFill>
            <a:srgbClr val="EAF2F6"/>
          </a:solidFill>
          <a:ln w="12700">
            <a:solidFill>
              <a:srgbClr val="CBDEE6"/>
            </a:solidFill>
            <a:prstDash val="solid"/>
          </a:ln>
        </p:spPr>
      </p:sp>
      <p:sp>
        <p:nvSpPr>
          <p:cNvPr id="9" name="Text 7"/>
          <p:cNvSpPr txBox="1"/>
          <p:nvPr/>
        </p:nvSpPr>
        <p:spPr>
          <a:xfrm>
            <a:off x="7391095" y="2313432"/>
            <a:ext cx="3749040" cy="32004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«Бизнес-домен(ы) ОМ»</a:t>
            </a:r>
            <a:endParaRPr lang="en-US" sz="1450" dirty="0"/>
          </a:p>
        </p:txBody>
      </p:sp>
      <p:sp>
        <p:nvSpPr>
          <p:cNvPr id="10" name="Text 8"/>
          <p:cNvSpPr txBox="1"/>
          <p:nvPr/>
        </p:nvSpPr>
        <p:spPr>
          <a:xfrm>
            <a:off x="7391095" y="2679192"/>
            <a:ext cx="3749040" cy="914400"/>
          </a:xfrm>
          <a:prstGeom prst="rect">
            <a:avLst/>
          </a:prstGeom>
          <a:noFill/>
          <a:ln/>
        </p:spPr>
        <p:txBody>
          <a:bodyPr wrap="square" lIns="0" tIns="0" rIns="0" bIns="0" rtlCol="0" anchor="ctr"/>
          <a:lstStyle/>
          <a:p>
            <a:pPr indent="0" marL="0">
              <a:lnSpc>
                <a:spcPct val="120000"/>
              </a:lnSpc>
              <a:buNone/>
            </a:pPr>
            <a:r>
              <a:rPr lang="en-US" sz="1300" dirty="0">
                <a:solidFill>
                  <a:srgbClr val="1B2733"/>
                </a:solidFill>
                <a:latin typeface="Calibri" pitchFamily="34" charset="0"/>
                <a:ea typeface="Calibri" pitchFamily="34" charset="-122"/>
                <a:cs typeface="Calibri" pitchFamily="34" charset="-120"/>
              </a:rPr>
              <a:t>Выбор домена из раздела 2 (Каталог). Можно выбрать несколько.</a:t>
            </a:r>
            <a:endParaRPr lang="en-US" sz="1300" dirty="0"/>
          </a:p>
        </p:txBody>
      </p:sp>
      <p:sp>
        <p:nvSpPr>
          <p:cNvPr id="11" name="Shape 9"/>
          <p:cNvSpPr/>
          <p:nvPr/>
        </p:nvSpPr>
        <p:spPr>
          <a:xfrm>
            <a:off x="5803240" y="2633472"/>
            <a:ext cx="585216" cy="585216"/>
          </a:xfrm>
          <a:prstGeom prst="ellipse">
            <a:avLst/>
          </a:prstGeom>
          <a:solidFill>
            <a:srgbClr val="FBE9EA"/>
          </a:solidFill>
          <a:ln w="19050">
            <a:solidFill>
              <a:srgbClr val="AE3B46"/>
            </a:solidFill>
            <a:prstDash val="solid"/>
          </a:ln>
        </p:spPr>
      </p:sp>
      <p:sp>
        <p:nvSpPr>
          <p:cNvPr id="12" name="Text 10"/>
          <p:cNvSpPr txBox="1"/>
          <p:nvPr/>
        </p:nvSpPr>
        <p:spPr>
          <a:xfrm>
            <a:off x="5803240" y="2633472"/>
            <a:ext cx="585216" cy="585216"/>
          </a:xfrm>
          <a:prstGeom prst="rect">
            <a:avLst/>
          </a:prstGeom>
          <a:noFill/>
          <a:ln/>
        </p:spPr>
        <p:txBody>
          <a:bodyPr wrap="square" lIns="0" tIns="0" rIns="0" bIns="0" rtlCol="0" anchor="ctr"/>
          <a:lstStyle/>
          <a:p>
            <a:pPr algn="ctr" indent="0" marL="0">
              <a:buNone/>
            </a:pPr>
            <a:r>
              <a:rPr lang="en-US" sz="2400" b="1" dirty="0">
                <a:solidFill>
                  <a:srgbClr val="AE3B46"/>
                </a:solidFill>
                <a:latin typeface="Calibri" pitchFamily="34" charset="0"/>
                <a:ea typeface="Calibri" pitchFamily="34" charset="-122"/>
                <a:cs typeface="Calibri" pitchFamily="34" charset="-120"/>
              </a:rPr>
              <a:t>✗</a:t>
            </a:r>
            <a:endParaRPr lang="en-US" sz="2400" dirty="0"/>
          </a:p>
        </p:txBody>
      </p:sp>
      <p:sp>
        <p:nvSpPr>
          <p:cNvPr id="13" name="Text 11"/>
          <p:cNvSpPr txBox="1"/>
          <p:nvPr/>
        </p:nvSpPr>
        <p:spPr>
          <a:xfrm>
            <a:off x="5029200" y="3749040"/>
            <a:ext cx="2133295" cy="640080"/>
          </a:xfrm>
          <a:prstGeom prst="rect">
            <a:avLst/>
          </a:prstGeom>
          <a:noFill/>
          <a:ln/>
        </p:spPr>
        <p:txBody>
          <a:bodyPr wrap="square" lIns="0" tIns="0" rIns="0" bIns="0" rtlCol="0" anchor="ctr"/>
          <a:lstStyle/>
          <a:p>
            <a:pPr algn="ctr" indent="0" marL="0">
              <a:lnSpc>
                <a:spcPct val="110000"/>
              </a:lnSpc>
              <a:buNone/>
            </a:pPr>
            <a:r>
              <a:rPr lang="en-US" sz="1050" i="1" dirty="0">
                <a:solidFill>
                  <a:srgbClr val="AE3B46"/>
                </a:solidFill>
                <a:latin typeface="Calibri" pitchFamily="34" charset="0"/>
                <a:ea typeface="Calibri" pitchFamily="34" charset="-122"/>
                <a:cs typeface="Calibri" pitchFamily="34" charset="-120"/>
              </a:rPr>
              <a:t>не заполняются</a:t>
            </a:r>
            <a:endParaRPr lang="en-US" sz="1050" dirty="0"/>
          </a:p>
          <a:p>
            <a:pPr algn="ctr" indent="0" marL="0">
              <a:lnSpc>
                <a:spcPct val="110000"/>
              </a:lnSpc>
              <a:buNone/>
            </a:pPr>
            <a:r>
              <a:rPr lang="en-US" sz="1050" i="1" dirty="0">
                <a:solidFill>
                  <a:srgbClr val="AE3B46"/>
                </a:solidFill>
                <a:latin typeface="Calibri" pitchFamily="34" charset="0"/>
                <a:ea typeface="Calibri" pitchFamily="34" charset="-122"/>
                <a:cs typeface="Calibri" pitchFamily="34" charset="-120"/>
              </a:rPr>
              <a:t>друг за другом</a:t>
            </a:r>
            <a:endParaRPr lang="en-US" sz="1050" dirty="0"/>
          </a:p>
          <a:p>
            <a:pPr algn="ctr" indent="0" marL="0">
              <a:lnSpc>
                <a:spcPct val="110000"/>
              </a:lnSpc>
              <a:buNone/>
            </a:pPr>
            <a:r>
              <a:rPr lang="en-US" sz="1050" i="1" dirty="0">
                <a:solidFill>
                  <a:srgbClr val="AE3B46"/>
                </a:solidFill>
                <a:latin typeface="Calibri" pitchFamily="34" charset="0"/>
                <a:ea typeface="Calibri" pitchFamily="34" charset="-122"/>
                <a:cs typeface="Calibri" pitchFamily="34" charset="-120"/>
              </a:rPr>
              <a:t>автоматически</a:t>
            </a:r>
            <a:endParaRPr lang="en-US" sz="1050" dirty="0"/>
          </a:p>
        </p:txBody>
      </p:sp>
      <p:sp>
        <p:nvSpPr>
          <p:cNvPr id="14" name="Shape 12"/>
          <p:cNvSpPr/>
          <p:nvPr/>
        </p:nvSpPr>
        <p:spPr>
          <a:xfrm>
            <a:off x="548640" y="3977640"/>
            <a:ext cx="11094415" cy="777240"/>
          </a:xfrm>
          <a:prstGeom prst="roundRect">
            <a:avLst>
              <a:gd name="adj" fmla="val 11765"/>
            </a:avLst>
          </a:prstGeom>
          <a:solidFill>
            <a:srgbClr val="FBE9EA"/>
          </a:solidFill>
          <a:ln w="12700">
            <a:solidFill>
              <a:srgbClr val="AE3B46"/>
            </a:solidFill>
            <a:prstDash val="solid"/>
          </a:ln>
        </p:spPr>
      </p:sp>
      <p:sp>
        <p:nvSpPr>
          <p:cNvPr id="15" name="Text 13"/>
          <p:cNvSpPr txBox="1"/>
          <p:nvPr/>
        </p:nvSpPr>
        <p:spPr>
          <a:xfrm>
            <a:off x="822960" y="3977640"/>
            <a:ext cx="10545775" cy="777240"/>
          </a:xfrm>
          <a:prstGeom prst="rect">
            <a:avLst/>
          </a:prstGeom>
          <a:noFill/>
          <a:ln/>
        </p:spPr>
        <p:txBody>
          <a:bodyPr wrap="square" lIns="0" tIns="0" rIns="0" bIns="0" rtlCol="0" anchor="ctr"/>
          <a:lstStyle/>
          <a:p>
            <a:pPr indent="0" marL="0">
              <a:lnSpc>
                <a:spcPct val="120000"/>
              </a:lnSpc>
              <a:buNone/>
            </a:pPr>
            <a:r>
              <a:rPr lang="en-US" sz="1400" b="1" dirty="0">
                <a:solidFill>
                  <a:srgbClr val="AE3B46"/>
                </a:solidFill>
                <a:latin typeface="Calibri" pitchFamily="34" charset="0"/>
                <a:ea typeface="Calibri" pitchFamily="34" charset="-122"/>
                <a:cs typeface="Calibri" pitchFamily="34" charset="-120"/>
              </a:rPr>
              <a:t>Форма не даст сохранить коллекцию</a:t>
            </a:r>
            <a:pPr indent="0" marL="0">
              <a:lnSpc>
                <a:spcPct val="120000"/>
              </a:lnSpc>
              <a:buNone/>
            </a:pPr>
            <a:r>
              <a:rPr lang="en-US" sz="1400" dirty="0">
                <a:solidFill>
                  <a:srgbClr val="1B2733"/>
                </a:solidFill>
                <a:latin typeface="Calibri" pitchFamily="34" charset="0"/>
                <a:ea typeface="Calibri" pitchFamily="34" charset="-122"/>
                <a:cs typeface="Calibri" pitchFamily="34" charset="-120"/>
              </a:rPr>
              <a:t>, если текстовое поле «Домен» пустое — даже если «Бизнес-домен(ы) ОМ» уже выбран из списка.</a:t>
            </a:r>
            <a:endParaRPr lang="en-US" sz="1400" dirty="0"/>
          </a:p>
        </p:txBody>
      </p:sp>
      <p:sp>
        <p:nvSpPr>
          <p:cNvPr id="16" name="Shape 14"/>
          <p:cNvSpPr/>
          <p:nvPr/>
        </p:nvSpPr>
        <p:spPr>
          <a:xfrm>
            <a:off x="548640" y="4937760"/>
            <a:ext cx="11094415" cy="914400"/>
          </a:xfrm>
          <a:prstGeom prst="roundRect">
            <a:avLst>
              <a:gd name="adj" fmla="val 9000"/>
            </a:avLst>
          </a:prstGeom>
          <a:solidFill>
            <a:srgbClr val="DCEAF0"/>
          </a:solidFill>
          <a:ln w="12700">
            <a:solidFill>
              <a:srgbClr val="CBDEE6"/>
            </a:solidFill>
            <a:prstDash val="solid"/>
          </a:ln>
        </p:spPr>
      </p:sp>
      <p:sp>
        <p:nvSpPr>
          <p:cNvPr id="17" name="Text 15"/>
          <p:cNvSpPr txBox="1"/>
          <p:nvPr/>
        </p:nvSpPr>
        <p:spPr>
          <a:xfrm>
            <a:off x="822960" y="4937760"/>
            <a:ext cx="10545775" cy="914400"/>
          </a:xfrm>
          <a:prstGeom prst="rect">
            <a:avLst/>
          </a:prstGeom>
          <a:noFill/>
          <a:ln/>
        </p:spPr>
        <p:txBody>
          <a:bodyPr wrap="square" lIns="0" tIns="0" rIns="0" bIns="0" rtlCol="0" anchor="ctr"/>
          <a:lstStyle/>
          <a:p>
            <a:pPr indent="0" marL="0">
              <a:lnSpc>
                <a:spcPct val="125000"/>
              </a:lnSpc>
              <a:buNone/>
            </a:pPr>
            <a:r>
              <a:rPr lang="en-US" sz="1300" b="1" dirty="0">
                <a:solidFill>
                  <a:srgbClr val="065A82"/>
                </a:solidFill>
                <a:latin typeface="Calibri" pitchFamily="34" charset="0"/>
                <a:ea typeface="Calibri" pitchFamily="34" charset="-122"/>
                <a:cs typeface="Calibri" pitchFamily="34" charset="-120"/>
              </a:rPr>
              <a:t>Кстати: </a:t>
            </a:r>
            <a:pPr indent="0" marL="0">
              <a:lnSpc>
                <a:spcPct val="125000"/>
              </a:lnSpc>
              <a:buNone/>
            </a:pPr>
            <a:r>
              <a:rPr lang="en-US" sz="1300" dirty="0">
                <a:solidFill>
                  <a:srgbClr val="1B2733"/>
                </a:solidFill>
                <a:latin typeface="Calibri" pitchFamily="34" charset="0"/>
                <a:ea typeface="Calibri" pitchFamily="34" charset="-122"/>
                <a:cs typeface="Calibri" pitchFamily="34" charset="-120"/>
              </a:rPr>
              <a:t>выбранный «Бизнес-домен ОМ» становится частью технического идентификатора коллекции в поиске — например, домен «Инвестиции» → идентификатор вида </a:t>
            </a:r>
            <a:pPr indent="0" marL="0">
              <a:lnSpc>
                <a:spcPct val="125000"/>
              </a:lnSpc>
              <a:buNone/>
            </a:pPr>
            <a:r>
              <a:rPr lang="en-US" sz="1300" b="1" dirty="0">
                <a:solidFill>
                  <a:srgbClr val="21295C"/>
                </a:solidFill>
                <a:latin typeface="Courier New" pitchFamily="34" charset="0"/>
                <a:ea typeface="Courier New" pitchFamily="34" charset="-122"/>
                <a:cs typeface="Courier New" pitchFamily="34" charset="-120"/>
              </a:rPr>
              <a:t>ns_Инвестиции.&lt;код коллекции&gt;</a:t>
            </a:r>
            <a:pPr indent="0" marL="0">
              <a:lnSpc>
                <a:spcPct val="125000"/>
              </a:lnSpc>
              <a:buNone/>
            </a:pPr>
            <a:r>
              <a:rPr lang="en-US" sz="1300" dirty="0">
                <a:solidFill>
                  <a:srgbClr val="1B2733"/>
                </a:solidFill>
                <a:latin typeface="Calibri" pitchFamily="34" charset="0"/>
                <a:ea typeface="Calibri" pitchFamily="34" charset="-122"/>
                <a:cs typeface="Calibri" pitchFamily="34" charset="-120"/>
              </a:rPr>
              <a:t>.</a:t>
            </a:r>
            <a:endParaRPr lang="en-US" sz="1300" dirty="0"/>
          </a:p>
        </p:txBody>
      </p:sp>
      <p:sp>
        <p:nvSpPr>
          <p:cNvPr id="18" name="Text 16"/>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19" name="Text 17"/>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КЛЮЧЕВАЯ ИДЕЯ</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Главный вопрос: что реально даёт доступ</a:t>
            </a:r>
            <a:endParaRPr lang="en-US" sz="2800" dirty="0"/>
          </a:p>
        </p:txBody>
      </p:sp>
      <p:sp>
        <p:nvSpPr>
          <p:cNvPr id="4" name="Shape 2"/>
          <p:cNvSpPr/>
          <p:nvPr/>
        </p:nvSpPr>
        <p:spPr>
          <a:xfrm>
            <a:off x="548640" y="1691640"/>
            <a:ext cx="2464994" cy="1234440"/>
          </a:xfrm>
          <a:prstGeom prst="roundRect">
            <a:avLst>
              <a:gd name="adj" fmla="val 6667"/>
            </a:avLst>
          </a:prstGeom>
          <a:solidFill>
            <a:srgbClr val="EAF2F6"/>
          </a:solidFill>
          <a:ln w="12700">
            <a:solidFill>
              <a:srgbClr val="CBDEE6"/>
            </a:solidFill>
            <a:prstDash val="solid"/>
          </a:ln>
        </p:spPr>
      </p:sp>
      <p:sp>
        <p:nvSpPr>
          <p:cNvPr id="5" name="Text 3"/>
          <p:cNvSpPr txBox="1"/>
          <p:nvPr/>
        </p:nvSpPr>
        <p:spPr>
          <a:xfrm>
            <a:off x="685800" y="1837944"/>
            <a:ext cx="2190674" cy="457200"/>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1 · Домен</a:t>
            </a:r>
            <a:endParaRPr lang="en-US" sz="1350" dirty="0"/>
          </a:p>
        </p:txBody>
      </p:sp>
      <p:sp>
        <p:nvSpPr>
          <p:cNvPr id="6" name="Text 4"/>
          <p:cNvSpPr txBox="1"/>
          <p:nvPr/>
        </p:nvSpPr>
        <p:spPr>
          <a:xfrm>
            <a:off x="685800" y="2258568"/>
            <a:ext cx="2190674" cy="594360"/>
          </a:xfrm>
          <a:prstGeom prst="rect">
            <a:avLst/>
          </a:prstGeom>
          <a:noFill/>
          <a:ln/>
        </p:spPr>
        <p:txBody>
          <a:bodyPr wrap="square" lIns="0" tIns="0" rIns="0" bIns="0" rtlCol="0" anchor="ctr"/>
          <a:lstStyle/>
          <a:p>
            <a:pPr indent="0" marL="0">
              <a:lnSpc>
                <a:spcPct val="115000"/>
              </a:lnSpc>
              <a:buNone/>
            </a:pPr>
            <a:r>
              <a:rPr lang="en-US" sz="1100" dirty="0">
                <a:solidFill>
                  <a:srgbClr val="51606E"/>
                </a:solidFill>
                <a:latin typeface="Calibri" pitchFamily="34" charset="0"/>
                <a:ea typeface="Calibri" pitchFamily="34" charset="-122"/>
                <a:cs typeface="Calibri" pitchFamily="34" charset="-120"/>
              </a:rPr>
              <a:t>создать в Каталоге</a:t>
            </a:r>
            <a:endParaRPr lang="en-US" sz="1100" dirty="0"/>
          </a:p>
        </p:txBody>
      </p:sp>
      <p:sp>
        <p:nvSpPr>
          <p:cNvPr id="7" name="Text 5"/>
          <p:cNvSpPr txBox="1"/>
          <p:nvPr/>
        </p:nvSpPr>
        <p:spPr>
          <a:xfrm>
            <a:off x="3013634" y="2071116"/>
            <a:ext cx="411480" cy="365760"/>
          </a:xfrm>
          <a:prstGeom prst="rect">
            <a:avLst/>
          </a:prstGeom>
          <a:noFill/>
          <a:ln/>
        </p:spPr>
        <p:txBody>
          <a:bodyPr wrap="square" lIns="0" tIns="0" rIns="0" bIns="0" rtlCol="0" anchor="ctr"/>
          <a:lstStyle/>
          <a:p>
            <a:pPr algn="ctr" indent="0" marL="0">
              <a:buNone/>
            </a:pPr>
            <a:r>
              <a:rPr lang="en-US" sz="1800" b="1" dirty="0">
                <a:solidFill>
                  <a:srgbClr val="7C8B98"/>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3425114" y="1691640"/>
            <a:ext cx="2464994" cy="1234440"/>
          </a:xfrm>
          <a:prstGeom prst="roundRect">
            <a:avLst>
              <a:gd name="adj" fmla="val 6667"/>
            </a:avLst>
          </a:prstGeom>
          <a:solidFill>
            <a:srgbClr val="EAF2F6"/>
          </a:solidFill>
          <a:ln w="12700">
            <a:solidFill>
              <a:srgbClr val="CBDEE6"/>
            </a:solidFill>
            <a:prstDash val="solid"/>
          </a:ln>
        </p:spPr>
      </p:sp>
      <p:sp>
        <p:nvSpPr>
          <p:cNvPr id="9" name="Text 7"/>
          <p:cNvSpPr txBox="1"/>
          <p:nvPr/>
        </p:nvSpPr>
        <p:spPr>
          <a:xfrm>
            <a:off x="3562274" y="1837944"/>
            <a:ext cx="2190674" cy="457200"/>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2 · Коллекция</a:t>
            </a:r>
            <a:endParaRPr lang="en-US" sz="1350" dirty="0"/>
          </a:p>
        </p:txBody>
      </p:sp>
      <p:sp>
        <p:nvSpPr>
          <p:cNvPr id="10" name="Text 8"/>
          <p:cNvSpPr txBox="1"/>
          <p:nvPr/>
        </p:nvSpPr>
        <p:spPr>
          <a:xfrm>
            <a:off x="3562274" y="2258568"/>
            <a:ext cx="2190674" cy="594360"/>
          </a:xfrm>
          <a:prstGeom prst="rect">
            <a:avLst/>
          </a:prstGeom>
          <a:noFill/>
          <a:ln/>
        </p:spPr>
        <p:txBody>
          <a:bodyPr wrap="square" lIns="0" tIns="0" rIns="0" bIns="0" rtlCol="0" anchor="ctr"/>
          <a:lstStyle/>
          <a:p>
            <a:pPr indent="0" marL="0">
              <a:lnSpc>
                <a:spcPct val="115000"/>
              </a:lnSpc>
              <a:buNone/>
            </a:pPr>
            <a:r>
              <a:rPr lang="en-US" sz="1100" dirty="0">
                <a:solidFill>
                  <a:srgbClr val="51606E"/>
                </a:solidFill>
                <a:latin typeface="Calibri" pitchFamily="34" charset="0"/>
                <a:ea typeface="Calibri" pitchFamily="34" charset="-122"/>
                <a:cs typeface="Calibri" pitchFamily="34" charset="-120"/>
              </a:rPr>
              <a:t>привязать к домену</a:t>
            </a:r>
            <a:endParaRPr lang="en-US" sz="1100" dirty="0"/>
          </a:p>
        </p:txBody>
      </p:sp>
      <p:sp>
        <p:nvSpPr>
          <p:cNvPr id="11" name="Text 9"/>
          <p:cNvSpPr txBox="1"/>
          <p:nvPr/>
        </p:nvSpPr>
        <p:spPr>
          <a:xfrm>
            <a:off x="5890108" y="2071116"/>
            <a:ext cx="411480" cy="365760"/>
          </a:xfrm>
          <a:prstGeom prst="rect">
            <a:avLst/>
          </a:prstGeom>
          <a:noFill/>
          <a:ln/>
        </p:spPr>
        <p:txBody>
          <a:bodyPr wrap="square" lIns="0" tIns="0" rIns="0" bIns="0" rtlCol="0" anchor="ctr"/>
          <a:lstStyle/>
          <a:p>
            <a:pPr algn="ctr" indent="0" marL="0">
              <a:buNone/>
            </a:pPr>
            <a:r>
              <a:rPr lang="en-US" sz="1800" b="1" dirty="0">
                <a:solidFill>
                  <a:srgbClr val="7C8B98"/>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6301588" y="1691640"/>
            <a:ext cx="2464994" cy="1234440"/>
          </a:xfrm>
          <a:prstGeom prst="roundRect">
            <a:avLst>
              <a:gd name="adj" fmla="val 6667"/>
            </a:avLst>
          </a:prstGeom>
          <a:solidFill>
            <a:srgbClr val="DCEAF0"/>
          </a:solidFill>
          <a:ln w="12700">
            <a:solidFill>
              <a:srgbClr val="CBDEE6"/>
            </a:solidFill>
            <a:prstDash val="solid"/>
          </a:ln>
        </p:spPr>
      </p:sp>
      <p:sp>
        <p:nvSpPr>
          <p:cNvPr id="13" name="Text 11"/>
          <p:cNvSpPr txBox="1"/>
          <p:nvPr/>
        </p:nvSpPr>
        <p:spPr>
          <a:xfrm>
            <a:off x="6438748" y="1837944"/>
            <a:ext cx="2190674" cy="457200"/>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3 · Пользователь / команда</a:t>
            </a:r>
            <a:endParaRPr lang="en-US" sz="1350" dirty="0"/>
          </a:p>
        </p:txBody>
      </p:sp>
      <p:sp>
        <p:nvSpPr>
          <p:cNvPr id="14" name="Text 12"/>
          <p:cNvSpPr txBox="1"/>
          <p:nvPr/>
        </p:nvSpPr>
        <p:spPr>
          <a:xfrm>
            <a:off x="6438748" y="2258568"/>
            <a:ext cx="2190674" cy="594360"/>
          </a:xfrm>
          <a:prstGeom prst="rect">
            <a:avLst/>
          </a:prstGeom>
          <a:noFill/>
          <a:ln/>
        </p:spPr>
        <p:txBody>
          <a:bodyPr wrap="square" lIns="0" tIns="0" rIns="0" bIns="0" rtlCol="0" anchor="ctr"/>
          <a:lstStyle/>
          <a:p>
            <a:pPr indent="0" marL="0">
              <a:lnSpc>
                <a:spcPct val="115000"/>
              </a:lnSpc>
              <a:buNone/>
            </a:pPr>
            <a:r>
              <a:rPr lang="en-US" sz="1100" dirty="0">
                <a:solidFill>
                  <a:srgbClr val="51606E"/>
                </a:solidFill>
                <a:latin typeface="Calibri" pitchFamily="34" charset="0"/>
                <a:ea typeface="Calibri" pitchFamily="34" charset="-122"/>
                <a:cs typeface="Calibri" pitchFamily="34" charset="-120"/>
              </a:rPr>
              <a:t>домен + роль Domain Only</a:t>
            </a:r>
            <a:endParaRPr lang="en-US" sz="1100" dirty="0"/>
          </a:p>
          <a:p>
            <a:pPr indent="0" marL="0">
              <a:lnSpc>
                <a:spcPct val="115000"/>
              </a:lnSpc>
              <a:buNone/>
            </a:pPr>
            <a:r>
              <a:rPr lang="en-US" sz="1100" dirty="0">
                <a:solidFill>
                  <a:srgbClr val="51606E"/>
                </a:solidFill>
                <a:latin typeface="Calibri" pitchFamily="34" charset="0"/>
                <a:ea typeface="Calibri" pitchFamily="34" charset="-122"/>
                <a:cs typeface="Calibri" pitchFamily="34" charset="-120"/>
              </a:rPr>
              <a:t>Access Role</a:t>
            </a:r>
            <a:endParaRPr lang="en-US" sz="1100" dirty="0"/>
          </a:p>
        </p:txBody>
      </p:sp>
      <p:sp>
        <p:nvSpPr>
          <p:cNvPr id="15" name="Text 13"/>
          <p:cNvSpPr txBox="1"/>
          <p:nvPr/>
        </p:nvSpPr>
        <p:spPr>
          <a:xfrm>
            <a:off x="8766581" y="2071116"/>
            <a:ext cx="411480" cy="365760"/>
          </a:xfrm>
          <a:prstGeom prst="rect">
            <a:avLst/>
          </a:prstGeom>
          <a:noFill/>
          <a:ln/>
        </p:spPr>
        <p:txBody>
          <a:bodyPr wrap="square" lIns="0" tIns="0" rIns="0" bIns="0" rtlCol="0" anchor="ctr"/>
          <a:lstStyle/>
          <a:p>
            <a:pPr algn="ctr" indent="0" marL="0">
              <a:buNone/>
            </a:pPr>
            <a:r>
              <a:rPr lang="en-US" sz="1800" b="1" dirty="0">
                <a:solidFill>
                  <a:srgbClr val="7C8B98"/>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9178061" y="1691640"/>
            <a:ext cx="2464994" cy="1234440"/>
          </a:xfrm>
          <a:prstGeom prst="roundRect">
            <a:avLst>
              <a:gd name="adj" fmla="val 6667"/>
            </a:avLst>
          </a:prstGeom>
          <a:solidFill>
            <a:srgbClr val="E1F1EA"/>
          </a:solidFill>
          <a:ln w="19050">
            <a:solidFill>
              <a:srgbClr val="1F7A5C"/>
            </a:solidFill>
            <a:prstDash val="solid"/>
          </a:ln>
        </p:spPr>
      </p:sp>
      <p:sp>
        <p:nvSpPr>
          <p:cNvPr id="17" name="Text 15"/>
          <p:cNvSpPr txBox="1"/>
          <p:nvPr/>
        </p:nvSpPr>
        <p:spPr>
          <a:xfrm>
            <a:off x="9315221" y="1837944"/>
            <a:ext cx="2190674" cy="457200"/>
          </a:xfrm>
          <a:prstGeom prst="rect">
            <a:avLst/>
          </a:prstGeom>
          <a:noFill/>
          <a:ln/>
        </p:spPr>
        <p:txBody>
          <a:bodyPr wrap="square" lIns="0" tIns="0" rIns="0" bIns="0" rtlCol="0" anchor="ctr"/>
          <a:lstStyle/>
          <a:p>
            <a:pPr indent="0" marL="0">
              <a:buNone/>
            </a:pPr>
            <a:r>
              <a:rPr lang="en-US" sz="1350" b="1" dirty="0">
                <a:solidFill>
                  <a:srgbClr val="1F7A5C"/>
                </a:solidFill>
                <a:latin typeface="Calibri" pitchFamily="34" charset="0"/>
                <a:ea typeface="Calibri" pitchFamily="34" charset="-122"/>
                <a:cs typeface="Calibri" pitchFamily="34" charset="-120"/>
              </a:rPr>
              <a:t>Результат</a:t>
            </a:r>
            <a:endParaRPr lang="en-US" sz="1350" dirty="0"/>
          </a:p>
        </p:txBody>
      </p:sp>
      <p:sp>
        <p:nvSpPr>
          <p:cNvPr id="18" name="Text 16"/>
          <p:cNvSpPr txBox="1"/>
          <p:nvPr/>
        </p:nvSpPr>
        <p:spPr>
          <a:xfrm>
            <a:off x="9315221" y="2258568"/>
            <a:ext cx="2190674" cy="594360"/>
          </a:xfrm>
          <a:prstGeom prst="rect">
            <a:avLst/>
          </a:prstGeom>
          <a:noFill/>
          <a:ln/>
        </p:spPr>
        <p:txBody>
          <a:bodyPr wrap="square" lIns="0" tIns="0" rIns="0" bIns="0" rtlCol="0" anchor="ctr"/>
          <a:lstStyle/>
          <a:p>
            <a:pPr indent="0" marL="0">
              <a:lnSpc>
                <a:spcPct val="115000"/>
              </a:lnSpc>
              <a:buNone/>
            </a:pPr>
            <a:r>
              <a:rPr lang="en-US" sz="1100" dirty="0">
                <a:solidFill>
                  <a:srgbClr val="51606E"/>
                </a:solidFill>
                <a:latin typeface="Calibri" pitchFamily="34" charset="0"/>
                <a:ea typeface="Calibri" pitchFamily="34" charset="-122"/>
                <a:cs typeface="Calibri" pitchFamily="34" charset="-120"/>
              </a:rPr>
              <a:t>видит только данные</a:t>
            </a:r>
            <a:endParaRPr lang="en-US" sz="1100" dirty="0"/>
          </a:p>
          <a:p>
            <a:pPr indent="0" marL="0">
              <a:lnSpc>
                <a:spcPct val="115000"/>
              </a:lnSpc>
              <a:buNone/>
            </a:pPr>
            <a:r>
              <a:rPr lang="en-US" sz="1100" dirty="0">
                <a:solidFill>
                  <a:srgbClr val="51606E"/>
                </a:solidFill>
                <a:latin typeface="Calibri" pitchFamily="34" charset="0"/>
                <a:ea typeface="Calibri" pitchFamily="34" charset="-122"/>
                <a:cs typeface="Calibri" pitchFamily="34" charset="-120"/>
              </a:rPr>
              <a:t>своего домена</a:t>
            </a:r>
            <a:endParaRPr lang="en-US" sz="1100" dirty="0"/>
          </a:p>
        </p:txBody>
      </p:sp>
      <p:sp>
        <p:nvSpPr>
          <p:cNvPr id="19" name="Text 17"/>
          <p:cNvSpPr txBox="1"/>
          <p:nvPr/>
        </p:nvSpPr>
        <p:spPr>
          <a:xfrm>
            <a:off x="548640" y="3063240"/>
            <a:ext cx="11094415" cy="274320"/>
          </a:xfrm>
          <a:prstGeom prst="rect">
            <a:avLst/>
          </a:prstGeom>
          <a:noFill/>
          <a:ln/>
        </p:spPr>
        <p:txBody>
          <a:bodyPr wrap="square" lIns="0" tIns="0" rIns="0" bIns="0" rtlCol="0" anchor="ctr"/>
          <a:lstStyle/>
          <a:p>
            <a:pPr algn="ctr" indent="0" marL="0">
              <a:buNone/>
            </a:pPr>
            <a:r>
              <a:rPr lang="en-US" sz="1100" i="1" dirty="0">
                <a:solidFill>
                  <a:srgbClr val="7C8B98"/>
                </a:solidFill>
                <a:latin typeface="Calibri" pitchFamily="34" charset="0"/>
                <a:ea typeface="Calibri" pitchFamily="34" charset="-122"/>
                <a:cs typeface="Calibri" pitchFamily="34" charset="-120"/>
              </a:rPr>
              <a:t>Шаги 1–3 выполняет администратор; результат стоит проверить от лица самого пользователя.</a:t>
            </a:r>
            <a:endParaRPr lang="en-US" sz="1100" dirty="0"/>
          </a:p>
        </p:txBody>
      </p:sp>
      <p:sp>
        <p:nvSpPr>
          <p:cNvPr id="20" name="Shape 18"/>
          <p:cNvSpPr/>
          <p:nvPr/>
        </p:nvSpPr>
        <p:spPr>
          <a:xfrm>
            <a:off x="548640" y="3611880"/>
            <a:ext cx="11094415" cy="1691640"/>
          </a:xfrm>
          <a:prstGeom prst="roundRect">
            <a:avLst>
              <a:gd name="adj" fmla="val 4865"/>
            </a:avLst>
          </a:prstGeom>
          <a:solidFill>
            <a:srgbClr val="F5F5F7"/>
          </a:solidFill>
          <a:ln w="12700">
            <a:solidFill>
              <a:srgbClr val="D8D8DE"/>
            </a:solidFill>
            <a:prstDash val="solid"/>
          </a:ln>
        </p:spPr>
      </p:sp>
      <p:sp>
        <p:nvSpPr>
          <p:cNvPr id="21" name="Text 19"/>
          <p:cNvSpPr txBox="1"/>
          <p:nvPr/>
        </p:nvSpPr>
        <p:spPr>
          <a:xfrm>
            <a:off x="822960" y="3749040"/>
            <a:ext cx="10545775" cy="274320"/>
          </a:xfrm>
          <a:prstGeom prst="rect">
            <a:avLst/>
          </a:prstGeom>
          <a:noFill/>
          <a:ln/>
        </p:spPr>
        <p:txBody>
          <a:bodyPr wrap="square" lIns="0" tIns="0" rIns="0" bIns="0" rtlCol="0" anchor="ctr"/>
          <a:lstStyle/>
          <a:p>
            <a:pPr indent="0" marL="0">
              <a:buNone/>
            </a:pPr>
            <a:r>
              <a:rPr lang="en-US" sz="1150" b="1" spc="50" kern="0" dirty="0">
                <a:solidFill>
                  <a:srgbClr val="51606E"/>
                </a:solidFill>
                <a:latin typeface="Calibri" pitchFamily="34" charset="0"/>
                <a:ea typeface="Calibri" pitchFamily="34" charset="-122"/>
                <a:cs typeface="Calibri" pitchFamily="34" charset="-120"/>
              </a:rPr>
              <a:t>НЕ входит в эту цепочку — отдельные, governance-механизмы</a:t>
            </a:r>
            <a:endParaRPr lang="en-US" sz="1150" dirty="0"/>
          </a:p>
        </p:txBody>
      </p:sp>
      <p:sp>
        <p:nvSpPr>
          <p:cNvPr id="22" name="Shape 20"/>
          <p:cNvSpPr/>
          <p:nvPr/>
        </p:nvSpPr>
        <p:spPr>
          <a:xfrm>
            <a:off x="822960" y="4114800"/>
            <a:ext cx="3271418" cy="1005840"/>
          </a:xfrm>
          <a:prstGeom prst="roundRect">
            <a:avLst>
              <a:gd name="adj" fmla="val 7273"/>
            </a:avLst>
          </a:prstGeom>
          <a:solidFill>
            <a:srgbClr val="EDEDF1"/>
          </a:solidFill>
          <a:ln w="12700">
            <a:solidFill>
              <a:srgbClr val="D3D3DA"/>
            </a:solidFill>
            <a:prstDash val="solid"/>
          </a:ln>
        </p:spPr>
      </p:sp>
      <p:sp>
        <p:nvSpPr>
          <p:cNvPr id="23" name="Text 21"/>
          <p:cNvSpPr txBox="1"/>
          <p:nvPr/>
        </p:nvSpPr>
        <p:spPr>
          <a:xfrm>
            <a:off x="960120" y="4178808"/>
            <a:ext cx="457200" cy="457200"/>
          </a:xfrm>
          <a:prstGeom prst="rect">
            <a:avLst/>
          </a:prstGeom>
          <a:noFill/>
          <a:ln/>
        </p:spPr>
        <p:txBody>
          <a:bodyPr wrap="square" lIns="0" tIns="0" rIns="0" bIns="0" rtlCol="0" anchor="ctr"/>
          <a:lstStyle/>
          <a:p>
            <a:pPr indent="0" marL="0">
              <a:buNone/>
            </a:pPr>
            <a:r>
              <a:rPr lang="en-US" sz="2000" b="1" dirty="0">
                <a:solidFill>
                  <a:srgbClr val="7C8B98"/>
                </a:solidFill>
                <a:latin typeface="Calibri" pitchFamily="34" charset="0"/>
                <a:ea typeface="Calibri" pitchFamily="34" charset="-122"/>
                <a:cs typeface="Calibri" pitchFamily="34" charset="-120"/>
              </a:rPr>
              <a:t>✗</a:t>
            </a:r>
            <a:endParaRPr lang="en-US" sz="2000" dirty="0"/>
          </a:p>
        </p:txBody>
      </p:sp>
      <p:sp>
        <p:nvSpPr>
          <p:cNvPr id="24" name="Text 22"/>
          <p:cNvSpPr txBox="1"/>
          <p:nvPr/>
        </p:nvSpPr>
        <p:spPr>
          <a:xfrm>
            <a:off x="960120" y="4572000"/>
            <a:ext cx="2997098" cy="502920"/>
          </a:xfrm>
          <a:prstGeom prst="rect">
            <a:avLst/>
          </a:prstGeom>
          <a:noFill/>
          <a:ln/>
        </p:spPr>
        <p:txBody>
          <a:bodyPr wrap="square" lIns="0" tIns="0" rIns="0" bIns="0" rtlCol="0" anchor="ctr"/>
          <a:lstStyle/>
          <a:p>
            <a:pPr indent="0" marL="0">
              <a:lnSpc>
                <a:spcPct val="110000"/>
              </a:lnSpc>
              <a:buNone/>
            </a:pPr>
            <a:r>
              <a:rPr lang="en-US" sz="1150" dirty="0">
                <a:solidFill>
                  <a:srgbClr val="51606E"/>
                </a:solidFill>
                <a:latin typeface="Calibri" pitchFamily="34" charset="0"/>
                <a:ea typeface="Calibri" pitchFamily="34" charset="-122"/>
                <a:cs typeface="Calibri" pitchFamily="34" charset="-120"/>
              </a:rPr>
              <a:t>Владельцы / Эксперты</a:t>
            </a:r>
            <a:endParaRPr lang="en-US" sz="1150" dirty="0"/>
          </a:p>
          <a:p>
            <a:pPr indent="0" marL="0">
              <a:lnSpc>
                <a:spcPct val="110000"/>
              </a:lnSpc>
              <a:buNone/>
            </a:pPr>
            <a:r>
              <a:rPr lang="en-US" sz="1150" dirty="0">
                <a:solidFill>
                  <a:srgbClr val="51606E"/>
                </a:solidFill>
                <a:latin typeface="Calibri" pitchFamily="34" charset="0"/>
                <a:ea typeface="Calibri" pitchFamily="34" charset="-122"/>
                <a:cs typeface="Calibri" pitchFamily="34" charset="-120"/>
              </a:rPr>
              <a:t>домена</a:t>
            </a:r>
            <a:endParaRPr lang="en-US" sz="1150" dirty="0"/>
          </a:p>
        </p:txBody>
      </p:sp>
      <p:sp>
        <p:nvSpPr>
          <p:cNvPr id="25" name="Shape 23"/>
          <p:cNvSpPr/>
          <p:nvPr/>
        </p:nvSpPr>
        <p:spPr>
          <a:xfrm>
            <a:off x="4460138" y="4114800"/>
            <a:ext cx="3271418" cy="1005840"/>
          </a:xfrm>
          <a:prstGeom prst="roundRect">
            <a:avLst>
              <a:gd name="adj" fmla="val 7273"/>
            </a:avLst>
          </a:prstGeom>
          <a:solidFill>
            <a:srgbClr val="EDEDF1"/>
          </a:solidFill>
          <a:ln w="12700">
            <a:solidFill>
              <a:srgbClr val="D3D3DA"/>
            </a:solidFill>
            <a:prstDash val="solid"/>
          </a:ln>
        </p:spPr>
      </p:sp>
      <p:sp>
        <p:nvSpPr>
          <p:cNvPr id="26" name="Text 24"/>
          <p:cNvSpPr txBox="1"/>
          <p:nvPr/>
        </p:nvSpPr>
        <p:spPr>
          <a:xfrm>
            <a:off x="4597298" y="4178808"/>
            <a:ext cx="457200" cy="457200"/>
          </a:xfrm>
          <a:prstGeom prst="rect">
            <a:avLst/>
          </a:prstGeom>
          <a:noFill/>
          <a:ln/>
        </p:spPr>
        <p:txBody>
          <a:bodyPr wrap="square" lIns="0" tIns="0" rIns="0" bIns="0" rtlCol="0" anchor="ctr"/>
          <a:lstStyle/>
          <a:p>
            <a:pPr indent="0" marL="0">
              <a:buNone/>
            </a:pPr>
            <a:r>
              <a:rPr lang="en-US" sz="2000" b="1" dirty="0">
                <a:solidFill>
                  <a:srgbClr val="7C8B98"/>
                </a:solidFill>
                <a:latin typeface="Calibri" pitchFamily="34" charset="0"/>
                <a:ea typeface="Calibri" pitchFamily="34" charset="-122"/>
                <a:cs typeface="Calibri" pitchFamily="34" charset="-120"/>
              </a:rPr>
              <a:t>✗</a:t>
            </a:r>
            <a:endParaRPr lang="en-US" sz="2000" dirty="0"/>
          </a:p>
        </p:txBody>
      </p:sp>
      <p:sp>
        <p:nvSpPr>
          <p:cNvPr id="27" name="Text 25"/>
          <p:cNvSpPr txBox="1"/>
          <p:nvPr/>
        </p:nvSpPr>
        <p:spPr>
          <a:xfrm>
            <a:off x="4597298" y="4572000"/>
            <a:ext cx="2997098" cy="502920"/>
          </a:xfrm>
          <a:prstGeom prst="rect">
            <a:avLst/>
          </a:prstGeom>
          <a:noFill/>
          <a:ln/>
        </p:spPr>
        <p:txBody>
          <a:bodyPr wrap="square" lIns="0" tIns="0" rIns="0" bIns="0" rtlCol="0" anchor="ctr"/>
          <a:lstStyle/>
          <a:p>
            <a:pPr indent="0" marL="0">
              <a:lnSpc>
                <a:spcPct val="110000"/>
              </a:lnSpc>
              <a:buNone/>
            </a:pPr>
            <a:r>
              <a:rPr lang="en-US" sz="1150" dirty="0">
                <a:solidFill>
                  <a:srgbClr val="51606E"/>
                </a:solidFill>
                <a:latin typeface="Calibri" pitchFamily="34" charset="0"/>
                <a:ea typeface="Calibri" pitchFamily="34" charset="-122"/>
                <a:cs typeface="Calibri" pitchFamily="34" charset="-120"/>
              </a:rPr>
              <a:t>Персона</a:t>
            </a:r>
            <a:endParaRPr lang="en-US" sz="1150" dirty="0"/>
          </a:p>
          <a:p>
            <a:pPr indent="0" marL="0">
              <a:lnSpc>
                <a:spcPct val="110000"/>
              </a:lnSpc>
              <a:buNone/>
            </a:pPr>
            <a:r>
              <a:rPr lang="en-US" sz="1150" dirty="0">
                <a:solidFill>
                  <a:srgbClr val="51606E"/>
                </a:solidFill>
                <a:latin typeface="Calibri" pitchFamily="34" charset="0"/>
                <a:ea typeface="Calibri" pitchFamily="34" charset="-122"/>
                <a:cs typeface="Calibri" pitchFamily="34" charset="-120"/>
              </a:rPr>
              <a:t>пользователя</a:t>
            </a:r>
            <a:endParaRPr lang="en-US" sz="1150" dirty="0"/>
          </a:p>
        </p:txBody>
      </p:sp>
      <p:sp>
        <p:nvSpPr>
          <p:cNvPr id="28" name="Shape 26"/>
          <p:cNvSpPr/>
          <p:nvPr/>
        </p:nvSpPr>
        <p:spPr>
          <a:xfrm>
            <a:off x="8097317" y="4114800"/>
            <a:ext cx="3271418" cy="1005840"/>
          </a:xfrm>
          <a:prstGeom prst="roundRect">
            <a:avLst>
              <a:gd name="adj" fmla="val 7273"/>
            </a:avLst>
          </a:prstGeom>
          <a:solidFill>
            <a:srgbClr val="EDEDF1"/>
          </a:solidFill>
          <a:ln w="12700">
            <a:solidFill>
              <a:srgbClr val="D3D3DA"/>
            </a:solidFill>
            <a:prstDash val="solid"/>
          </a:ln>
        </p:spPr>
      </p:sp>
      <p:sp>
        <p:nvSpPr>
          <p:cNvPr id="29" name="Text 27"/>
          <p:cNvSpPr txBox="1"/>
          <p:nvPr/>
        </p:nvSpPr>
        <p:spPr>
          <a:xfrm>
            <a:off x="8234477" y="4178808"/>
            <a:ext cx="457200" cy="457200"/>
          </a:xfrm>
          <a:prstGeom prst="rect">
            <a:avLst/>
          </a:prstGeom>
          <a:noFill/>
          <a:ln/>
        </p:spPr>
        <p:txBody>
          <a:bodyPr wrap="square" lIns="0" tIns="0" rIns="0" bIns="0" rtlCol="0" anchor="ctr"/>
          <a:lstStyle/>
          <a:p>
            <a:pPr indent="0" marL="0">
              <a:buNone/>
            </a:pPr>
            <a:r>
              <a:rPr lang="en-US" sz="2000" b="1" dirty="0">
                <a:solidFill>
                  <a:srgbClr val="7C8B98"/>
                </a:solidFill>
                <a:latin typeface="Calibri" pitchFamily="34" charset="0"/>
                <a:ea typeface="Calibri" pitchFamily="34" charset="-122"/>
                <a:cs typeface="Calibri" pitchFamily="34" charset="-120"/>
              </a:rPr>
              <a:t>✗</a:t>
            </a:r>
            <a:endParaRPr lang="en-US" sz="2000" dirty="0"/>
          </a:p>
        </p:txBody>
      </p:sp>
      <p:sp>
        <p:nvSpPr>
          <p:cNvPr id="30" name="Text 28"/>
          <p:cNvSpPr txBox="1"/>
          <p:nvPr/>
        </p:nvSpPr>
        <p:spPr>
          <a:xfrm>
            <a:off x="8234477" y="4572000"/>
            <a:ext cx="2997098" cy="502920"/>
          </a:xfrm>
          <a:prstGeom prst="rect">
            <a:avLst/>
          </a:prstGeom>
          <a:noFill/>
          <a:ln/>
        </p:spPr>
        <p:txBody>
          <a:bodyPr wrap="square" lIns="0" tIns="0" rIns="0" bIns="0" rtlCol="0" anchor="ctr"/>
          <a:lstStyle/>
          <a:p>
            <a:pPr indent="0" marL="0">
              <a:lnSpc>
                <a:spcPct val="110000"/>
              </a:lnSpc>
              <a:buNone/>
            </a:pPr>
            <a:r>
              <a:rPr lang="en-US" sz="1150" dirty="0">
                <a:solidFill>
                  <a:srgbClr val="51606E"/>
                </a:solidFill>
                <a:latin typeface="Calibri" pitchFamily="34" charset="0"/>
                <a:ea typeface="Calibri" pitchFamily="34" charset="-122"/>
                <a:cs typeface="Calibri" pitchFamily="34" charset="-120"/>
              </a:rPr>
              <a:t>Роли раздела</a:t>
            </a:r>
            <a:endParaRPr lang="en-US" sz="1150" dirty="0"/>
          </a:p>
          <a:p>
            <a:pPr indent="0" marL="0">
              <a:lnSpc>
                <a:spcPct val="110000"/>
              </a:lnSpc>
              <a:buNone/>
            </a:pPr>
            <a:r>
              <a:rPr lang="en-US" sz="1150" dirty="0">
                <a:solidFill>
                  <a:srgbClr val="51606E"/>
                </a:solidFill>
                <a:latin typeface="Calibri" pitchFamily="34" charset="0"/>
                <a:ea typeface="Calibri" pitchFamily="34" charset="-122"/>
                <a:cs typeface="Calibri" pitchFamily="34" charset="-120"/>
              </a:rPr>
              <a:t>«Контроль доступа»</a:t>
            </a:r>
            <a:endParaRPr lang="en-US" sz="1150" dirty="0"/>
          </a:p>
        </p:txBody>
      </p:sp>
      <p:sp>
        <p:nvSpPr>
          <p:cNvPr id="31" name="Text 29"/>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32" name="Text 30"/>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04 · СПОСОБ 1 — НАПРЯМУЮ</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Способ 1: домен — напрямую пользователю или команде</a:t>
            </a:r>
            <a:endParaRPr lang="en-US" sz="2800" dirty="0"/>
          </a:p>
        </p:txBody>
      </p:sp>
      <p:sp>
        <p:nvSpPr>
          <p:cNvPr id="4" name="Shape 2"/>
          <p:cNvSpPr/>
          <p:nvPr/>
        </p:nvSpPr>
        <p:spPr>
          <a:xfrm>
            <a:off x="548640" y="1417320"/>
            <a:ext cx="1554480" cy="457200"/>
          </a:xfrm>
          <a:prstGeom prst="roundRect">
            <a:avLst>
              <a:gd name="adj" fmla="val 50000"/>
            </a:avLst>
          </a:prstGeom>
          <a:solidFill>
            <a:srgbClr val="065A82"/>
          </a:solidFill>
          <a:ln/>
        </p:spPr>
      </p:sp>
      <p:sp>
        <p:nvSpPr>
          <p:cNvPr id="5" name="Text 3"/>
          <p:cNvSpPr txBox="1"/>
          <p:nvPr/>
        </p:nvSpPr>
        <p:spPr>
          <a:xfrm>
            <a:off x="548640" y="1417320"/>
            <a:ext cx="15544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ШАГ 1</a:t>
            </a:r>
            <a:endParaRPr lang="en-US" sz="1400" dirty="0"/>
          </a:p>
        </p:txBody>
      </p:sp>
      <p:sp>
        <p:nvSpPr>
          <p:cNvPr id="6" name="Text 4"/>
          <p:cNvSpPr txBox="1"/>
          <p:nvPr/>
        </p:nvSpPr>
        <p:spPr>
          <a:xfrm>
            <a:off x="2331720" y="1417320"/>
            <a:ext cx="9265615" cy="45720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Назначить домен — двумя способами, выбирайте по ситуации</a:t>
            </a:r>
            <a:endParaRPr lang="en-US" sz="1500" dirty="0"/>
          </a:p>
        </p:txBody>
      </p:sp>
      <p:sp>
        <p:nvSpPr>
          <p:cNvPr id="7" name="Shape 5"/>
          <p:cNvSpPr/>
          <p:nvPr/>
        </p:nvSpPr>
        <p:spPr>
          <a:xfrm>
            <a:off x="548640" y="2148840"/>
            <a:ext cx="5318608" cy="2377440"/>
          </a:xfrm>
          <a:prstGeom prst="roundRect">
            <a:avLst>
              <a:gd name="adj" fmla="val 3462"/>
            </a:avLst>
          </a:prstGeom>
          <a:solidFill>
            <a:srgbClr val="EAF2F6"/>
          </a:solidFill>
          <a:ln w="12700">
            <a:solidFill>
              <a:srgbClr val="CBDEE6"/>
            </a:solidFill>
            <a:prstDash val="solid"/>
          </a:ln>
        </p:spPr>
      </p:sp>
      <p:sp>
        <p:nvSpPr>
          <p:cNvPr id="8" name="Text 6"/>
          <p:cNvSpPr txBox="1"/>
          <p:nvPr/>
        </p:nvSpPr>
        <p:spPr>
          <a:xfrm>
            <a:off x="804672" y="2350008"/>
            <a:ext cx="4806544" cy="411480"/>
          </a:xfrm>
          <a:prstGeom prst="rect">
            <a:avLst/>
          </a:prstGeom>
          <a:noFill/>
          <a:ln/>
        </p:spPr>
        <p:txBody>
          <a:bodyPr wrap="square" lIns="0" tIns="0" rIns="0" bIns="0" rtlCol="0" anchor="ctr"/>
          <a:lstStyle/>
          <a:p>
            <a:pPr indent="0" marL="0">
              <a:buNone/>
            </a:pPr>
            <a:r>
              <a:rPr lang="en-US" sz="1550" b="1" dirty="0">
                <a:solidFill>
                  <a:srgbClr val="065A82"/>
                </a:solidFill>
                <a:latin typeface="Calibri" pitchFamily="34" charset="0"/>
                <a:ea typeface="Calibri" pitchFamily="34" charset="-122"/>
                <a:cs typeface="Calibri" pitchFamily="34" charset="-120"/>
              </a:rPr>
              <a:t>Пользователю индивидуально</a:t>
            </a:r>
            <a:endParaRPr lang="en-US" sz="1550" dirty="0"/>
          </a:p>
        </p:txBody>
      </p:sp>
      <p:sp>
        <p:nvSpPr>
          <p:cNvPr id="9" name="Text 7"/>
          <p:cNvSpPr txBox="1"/>
          <p:nvPr/>
        </p:nvSpPr>
        <p:spPr>
          <a:xfrm>
            <a:off x="804672" y="2862072"/>
            <a:ext cx="4806544" cy="1554480"/>
          </a:xfrm>
          <a:prstGeom prst="rect">
            <a:avLst/>
          </a:prstGeom>
          <a:noFill/>
          <a:ln/>
        </p:spPr>
        <p:txBody>
          <a:bodyPr wrap="square" lIns="0" tIns="0" rIns="0" bIns="0" rtlCol="0" anchor="ctr"/>
          <a:lstStyle/>
          <a:p>
            <a:pPr indent="0" marL="0">
              <a:lnSpc>
                <a:spcPct val="130000"/>
              </a:lnSpc>
              <a:buNone/>
            </a:pPr>
            <a:r>
              <a:rPr lang="en-US" sz="1300" dirty="0">
                <a:solidFill>
                  <a:srgbClr val="1B2733"/>
                </a:solidFill>
                <a:latin typeface="Calibri" pitchFamily="34" charset="0"/>
                <a:ea typeface="Calibri" pitchFamily="34" charset="-122"/>
                <a:cs typeface="Calibri" pitchFamily="34" charset="-120"/>
              </a:rPr>
              <a:t>Каталог → Настройки → Команды и пользователи → Пользователи → карточка пользователя → блок «Домены» → выбрать домен(ы) из списка.</a:t>
            </a:r>
            <a:endParaRPr lang="en-US" sz="1300" dirty="0"/>
          </a:p>
        </p:txBody>
      </p:sp>
      <p:sp>
        <p:nvSpPr>
          <p:cNvPr id="10" name="Shape 8"/>
          <p:cNvSpPr/>
          <p:nvPr/>
        </p:nvSpPr>
        <p:spPr>
          <a:xfrm>
            <a:off x="6324448" y="2148840"/>
            <a:ext cx="5318608" cy="2377440"/>
          </a:xfrm>
          <a:prstGeom prst="roundRect">
            <a:avLst>
              <a:gd name="adj" fmla="val 3462"/>
            </a:avLst>
          </a:prstGeom>
          <a:solidFill>
            <a:srgbClr val="EAF2F6"/>
          </a:solidFill>
          <a:ln w="12700">
            <a:solidFill>
              <a:srgbClr val="CBDEE6"/>
            </a:solidFill>
            <a:prstDash val="solid"/>
          </a:ln>
        </p:spPr>
      </p:sp>
      <p:sp>
        <p:nvSpPr>
          <p:cNvPr id="11" name="Text 9"/>
          <p:cNvSpPr txBox="1"/>
          <p:nvPr/>
        </p:nvSpPr>
        <p:spPr>
          <a:xfrm>
            <a:off x="6580480" y="2350008"/>
            <a:ext cx="4806544" cy="411480"/>
          </a:xfrm>
          <a:prstGeom prst="rect">
            <a:avLst/>
          </a:prstGeom>
          <a:noFill/>
          <a:ln/>
        </p:spPr>
        <p:txBody>
          <a:bodyPr wrap="square" lIns="0" tIns="0" rIns="0" bIns="0" rtlCol="0" anchor="ctr"/>
          <a:lstStyle/>
          <a:p>
            <a:pPr indent="0" marL="0">
              <a:buNone/>
            </a:pPr>
            <a:r>
              <a:rPr lang="en-US" sz="1550" b="1" dirty="0">
                <a:solidFill>
                  <a:srgbClr val="065A82"/>
                </a:solidFill>
                <a:latin typeface="Calibri" pitchFamily="34" charset="0"/>
                <a:ea typeface="Calibri" pitchFamily="34" charset="-122"/>
                <a:cs typeface="Calibri" pitchFamily="34" charset="-120"/>
              </a:rPr>
              <a:t>Команде целиком</a:t>
            </a:r>
            <a:endParaRPr lang="en-US" sz="1550" dirty="0"/>
          </a:p>
        </p:txBody>
      </p:sp>
      <p:sp>
        <p:nvSpPr>
          <p:cNvPr id="12" name="Text 10"/>
          <p:cNvSpPr txBox="1"/>
          <p:nvPr/>
        </p:nvSpPr>
        <p:spPr>
          <a:xfrm>
            <a:off x="6580480" y="2862072"/>
            <a:ext cx="4806544" cy="1554480"/>
          </a:xfrm>
          <a:prstGeom prst="rect">
            <a:avLst/>
          </a:prstGeom>
          <a:noFill/>
          <a:ln/>
        </p:spPr>
        <p:txBody>
          <a:bodyPr wrap="square" lIns="0" tIns="0" rIns="0" bIns="0" rtlCol="0" anchor="ctr"/>
          <a:lstStyle/>
          <a:p>
            <a:pPr indent="0" marL="0">
              <a:lnSpc>
                <a:spcPct val="130000"/>
              </a:lnSpc>
              <a:buNone/>
            </a:pPr>
            <a:r>
              <a:rPr lang="en-US" sz="1300" dirty="0">
                <a:solidFill>
                  <a:srgbClr val="1B2733"/>
                </a:solidFill>
                <a:latin typeface="Calibri" pitchFamily="34" charset="0"/>
                <a:ea typeface="Calibri" pitchFamily="34" charset="-122"/>
                <a:cs typeface="Calibri" pitchFamily="34" charset="-120"/>
              </a:rPr>
              <a:t>Настройки → Команды и пользователи → Команды → карточка команды → блок «Домены» → выбрать домен(ы) из списка. </a:t>
            </a:r>
            <a:pPr indent="0" marL="0">
              <a:lnSpc>
                <a:spcPct val="130000"/>
              </a:lnSpc>
              <a:buNone/>
            </a:pPr>
            <a:r>
              <a:rPr lang="en-US" sz="1300" b="1" dirty="0">
                <a:solidFill>
                  <a:srgbClr val="21295C"/>
                </a:solidFill>
                <a:latin typeface="Calibri" pitchFamily="34" charset="0"/>
                <a:ea typeface="Calibri" pitchFamily="34" charset="-122"/>
                <a:cs typeface="Calibri" pitchFamily="34" charset="-120"/>
              </a:rPr>
              <a:t>Все участники команды наследуют назначенные домены автоматически.</a:t>
            </a:r>
            <a:endParaRPr lang="en-US" sz="1300" dirty="0"/>
          </a:p>
        </p:txBody>
      </p:sp>
      <p:sp>
        <p:nvSpPr>
          <p:cNvPr id="13" name="Shape 11"/>
          <p:cNvSpPr/>
          <p:nvPr/>
        </p:nvSpPr>
        <p:spPr>
          <a:xfrm>
            <a:off x="548640" y="4800600"/>
            <a:ext cx="11094415" cy="1051560"/>
          </a:xfrm>
          <a:prstGeom prst="roundRect">
            <a:avLst>
              <a:gd name="adj" fmla="val 7826"/>
            </a:avLst>
          </a:prstGeom>
          <a:solidFill>
            <a:srgbClr val="FBF0DC"/>
          </a:solidFill>
          <a:ln w="12700">
            <a:solidFill>
              <a:srgbClr val="8A5A10"/>
            </a:solidFill>
            <a:prstDash val="solid"/>
          </a:ln>
        </p:spPr>
      </p:sp>
      <p:sp>
        <p:nvSpPr>
          <p:cNvPr id="14" name="Text 12"/>
          <p:cNvSpPr txBox="1"/>
          <p:nvPr/>
        </p:nvSpPr>
        <p:spPr>
          <a:xfrm>
            <a:off x="822960" y="4800600"/>
            <a:ext cx="10545775" cy="1051560"/>
          </a:xfrm>
          <a:prstGeom prst="rect">
            <a:avLst/>
          </a:prstGeom>
          <a:noFill/>
          <a:ln/>
        </p:spPr>
        <p:txBody>
          <a:bodyPr wrap="square" lIns="0" tIns="0" rIns="0" bIns="0" rtlCol="0" anchor="ctr"/>
          <a:lstStyle/>
          <a:p>
            <a:pPr indent="0" marL="0">
              <a:lnSpc>
                <a:spcPct val="125000"/>
              </a:lnSpc>
              <a:buNone/>
            </a:pPr>
            <a:r>
              <a:rPr lang="en-US" sz="1400" b="1" dirty="0">
                <a:solidFill>
                  <a:srgbClr val="8A5A10"/>
                </a:solidFill>
                <a:latin typeface="Calibri" pitchFamily="34" charset="0"/>
                <a:ea typeface="Calibri" pitchFamily="34" charset="-122"/>
                <a:cs typeface="Calibri" pitchFamily="34" charset="-120"/>
              </a:rPr>
              <a:t>Пока это только шаг 1 из двух. </a:t>
            </a:r>
            <a:pPr indent="0" marL="0">
              <a:lnSpc>
                <a:spcPct val="125000"/>
              </a:lnSpc>
              <a:buNone/>
            </a:pPr>
            <a:r>
              <a:rPr lang="en-US" sz="1400" dirty="0">
                <a:solidFill>
                  <a:srgbClr val="1B2733"/>
                </a:solidFill>
                <a:latin typeface="Calibri" pitchFamily="34" charset="0"/>
                <a:ea typeface="Calibri" pitchFamily="34" charset="-122"/>
                <a:cs typeface="Calibri" pitchFamily="34" charset="-120"/>
              </a:rPr>
              <a:t>Назначенный домен сам по себе ещё ничего не ограничивает — платформе нужен ещё один компонент, роль, о которой на следующем слайде.</a:t>
            </a:r>
            <a:endParaRPr lang="en-US" sz="1400" dirty="0"/>
          </a:p>
        </p:txBody>
      </p:sp>
      <p:sp>
        <p:nvSpPr>
          <p:cNvPr id="15" name="Text 13"/>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16" name="Text 14"/>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04 · СПОСОБ 1 — НАПРЯМУЮ</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Шаг 2: роль «Domain Only Access Role»</a:t>
            </a:r>
            <a:endParaRPr lang="en-US" sz="2800" dirty="0"/>
          </a:p>
        </p:txBody>
      </p:sp>
      <p:sp>
        <p:nvSpPr>
          <p:cNvPr id="4" name="Shape 2"/>
          <p:cNvSpPr/>
          <p:nvPr/>
        </p:nvSpPr>
        <p:spPr>
          <a:xfrm>
            <a:off x="548640" y="1417320"/>
            <a:ext cx="1554480" cy="457200"/>
          </a:xfrm>
          <a:prstGeom prst="roundRect">
            <a:avLst>
              <a:gd name="adj" fmla="val 50000"/>
            </a:avLst>
          </a:prstGeom>
          <a:solidFill>
            <a:srgbClr val="065A82"/>
          </a:solidFill>
          <a:ln/>
        </p:spPr>
      </p:sp>
      <p:sp>
        <p:nvSpPr>
          <p:cNvPr id="5" name="Text 3"/>
          <p:cNvSpPr txBox="1"/>
          <p:nvPr/>
        </p:nvSpPr>
        <p:spPr>
          <a:xfrm>
            <a:off x="548640" y="1417320"/>
            <a:ext cx="15544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ШАГ 2</a:t>
            </a:r>
            <a:endParaRPr lang="en-US" sz="1400" dirty="0"/>
          </a:p>
        </p:txBody>
      </p:sp>
      <p:sp>
        <p:nvSpPr>
          <p:cNvPr id="6" name="Text 4"/>
          <p:cNvSpPr txBox="1"/>
          <p:nvPr/>
        </p:nvSpPr>
        <p:spPr>
          <a:xfrm>
            <a:off x="2331720" y="1417320"/>
            <a:ext cx="9265615" cy="45720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Тот же блок «Роли» на карточке — добавить </a:t>
            </a:r>
            <a:pPr indent="0" marL="0">
              <a:buNone/>
            </a:pPr>
            <a:r>
              <a:rPr lang="en-US" sz="1500" b="1" dirty="0">
                <a:solidFill>
                  <a:srgbClr val="21295C"/>
                </a:solidFill>
                <a:latin typeface="Calibri" pitchFamily="34" charset="0"/>
                <a:ea typeface="Calibri" pitchFamily="34" charset="-122"/>
                <a:cs typeface="Calibri" pitchFamily="34" charset="-120"/>
              </a:rPr>
              <a:t>Domain Only Access Role</a:t>
            </a:r>
            <a:endParaRPr lang="en-US" sz="1500" dirty="0"/>
          </a:p>
        </p:txBody>
      </p:sp>
      <p:sp>
        <p:nvSpPr>
          <p:cNvPr id="7" name="Shape 5"/>
          <p:cNvSpPr/>
          <p:nvPr/>
        </p:nvSpPr>
        <p:spPr>
          <a:xfrm>
            <a:off x="548640" y="2057400"/>
            <a:ext cx="11094415" cy="777240"/>
          </a:xfrm>
          <a:prstGeom prst="roundRect">
            <a:avLst>
              <a:gd name="adj" fmla="val 10588"/>
            </a:avLst>
          </a:prstGeom>
          <a:solidFill>
            <a:srgbClr val="FBE9EA"/>
          </a:solidFill>
          <a:ln w="12700">
            <a:solidFill>
              <a:srgbClr val="AE3B46"/>
            </a:solidFill>
            <a:prstDash val="solid"/>
          </a:ln>
        </p:spPr>
      </p:sp>
      <p:sp>
        <p:nvSpPr>
          <p:cNvPr id="8" name="Text 6"/>
          <p:cNvSpPr txBox="1"/>
          <p:nvPr/>
        </p:nvSpPr>
        <p:spPr>
          <a:xfrm>
            <a:off x="822960" y="2057400"/>
            <a:ext cx="10545775" cy="777240"/>
          </a:xfrm>
          <a:prstGeom prst="rect">
            <a:avLst/>
          </a:prstGeom>
          <a:noFill/>
          <a:ln/>
        </p:spPr>
        <p:txBody>
          <a:bodyPr wrap="square" lIns="0" tIns="0" rIns="0" bIns="0" rtlCol="0" anchor="ctr"/>
          <a:lstStyle/>
          <a:p>
            <a:pPr indent="0" marL="0">
              <a:lnSpc>
                <a:spcPct val="120000"/>
              </a:lnSpc>
              <a:buNone/>
            </a:pPr>
            <a:r>
              <a:rPr lang="en-US" sz="1350" b="1" dirty="0">
                <a:solidFill>
                  <a:srgbClr val="AE3B46"/>
                </a:solidFill>
                <a:latin typeface="Calibri" pitchFamily="34" charset="0"/>
                <a:ea typeface="Calibri" pitchFamily="34" charset="-122"/>
                <a:cs typeface="Calibri" pitchFamily="34" charset="-120"/>
              </a:rPr>
              <a:t>Без этой роли </a:t>
            </a:r>
            <a:pPr indent="0" marL="0">
              <a:lnSpc>
                <a:spcPct val="120000"/>
              </a:lnSpc>
              <a:buNone/>
            </a:pPr>
            <a:r>
              <a:rPr lang="en-US" sz="1350" dirty="0">
                <a:solidFill>
                  <a:srgbClr val="1B2733"/>
                </a:solidFill>
                <a:latin typeface="Calibri" pitchFamily="34" charset="0"/>
                <a:ea typeface="Calibri" pitchFamily="34" charset="-122"/>
                <a:cs typeface="Calibri" pitchFamily="34" charset="-120"/>
              </a:rPr>
              <a:t>пользователь продолжает работать по своей базовой роли (например, «Data Consumer»), а назначенный домен ничего не ограничивает и не расширяет сам по себе.</a:t>
            </a:r>
            <a:endParaRPr lang="en-US" sz="1350" dirty="0"/>
          </a:p>
        </p:txBody>
      </p:sp>
      <p:sp>
        <p:nvSpPr>
          <p:cNvPr id="9" name="Text 7"/>
          <p:cNvSpPr txBox="1"/>
          <p:nvPr/>
        </p:nvSpPr>
        <p:spPr>
          <a:xfrm>
            <a:off x="548640" y="3017520"/>
            <a:ext cx="11094415" cy="32004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Точная логика роли </a:t>
            </a:r>
            <a:pPr indent="0" marL="0">
              <a:buNone/>
            </a:pPr>
            <a:r>
              <a:rPr lang="en-US" sz="1300" i="1" dirty="0">
                <a:solidFill>
                  <a:srgbClr val="51606E"/>
                </a:solidFill>
                <a:latin typeface="Calibri" pitchFamily="34" charset="0"/>
                <a:ea typeface="Calibri" pitchFamily="34" charset="-122"/>
                <a:cs typeface="Calibri" pitchFamily="34" charset="-120"/>
              </a:rPr>
              <a:t>(техническое имя DomainOnlyAccessRole, политика Domain Only Access Policy):</a:t>
            </a:r>
            <a:endParaRPr lang="en-US" sz="1300" dirty="0"/>
          </a:p>
        </p:txBody>
      </p:sp>
      <p:sp>
        <p:nvSpPr>
          <p:cNvPr id="10" name="Shape 8"/>
          <p:cNvSpPr/>
          <p:nvPr/>
        </p:nvSpPr>
        <p:spPr>
          <a:xfrm>
            <a:off x="548640" y="3429000"/>
            <a:ext cx="5272888" cy="1417320"/>
          </a:xfrm>
          <a:prstGeom prst="roundRect">
            <a:avLst>
              <a:gd name="adj" fmla="val 5806"/>
            </a:avLst>
          </a:prstGeom>
          <a:solidFill>
            <a:srgbClr val="E1F1EA"/>
          </a:solidFill>
          <a:ln w="12700">
            <a:solidFill>
              <a:srgbClr val="1F7A5C"/>
            </a:solidFill>
            <a:prstDash val="solid"/>
          </a:ln>
        </p:spPr>
      </p:sp>
      <p:sp>
        <p:nvSpPr>
          <p:cNvPr id="11" name="Text 9"/>
          <p:cNvSpPr txBox="1"/>
          <p:nvPr/>
        </p:nvSpPr>
        <p:spPr>
          <a:xfrm>
            <a:off x="777240" y="3575304"/>
            <a:ext cx="4815688" cy="320040"/>
          </a:xfrm>
          <a:prstGeom prst="rect">
            <a:avLst/>
          </a:prstGeom>
          <a:noFill/>
          <a:ln/>
        </p:spPr>
        <p:txBody>
          <a:bodyPr wrap="square" lIns="0" tIns="0" rIns="0" bIns="0" rtlCol="0" anchor="ctr"/>
          <a:lstStyle/>
          <a:p>
            <a:pPr indent="0" marL="0">
              <a:buNone/>
            </a:pPr>
            <a:r>
              <a:rPr lang="en-US" sz="1400" b="1" dirty="0">
                <a:solidFill>
                  <a:srgbClr val="1F7A5C"/>
                </a:solidFill>
                <a:latin typeface="Calibri" pitchFamily="34" charset="0"/>
                <a:ea typeface="Calibri" pitchFamily="34" charset="-122"/>
                <a:cs typeface="Calibri" pitchFamily="34" charset="-120"/>
              </a:rPr>
              <a:t>Домен назначен</a:t>
            </a:r>
            <a:endParaRPr lang="en-US" sz="1400" dirty="0"/>
          </a:p>
        </p:txBody>
      </p:sp>
      <p:sp>
        <p:nvSpPr>
          <p:cNvPr id="12" name="Text 10"/>
          <p:cNvSpPr txBox="1"/>
          <p:nvPr/>
        </p:nvSpPr>
        <p:spPr>
          <a:xfrm>
            <a:off x="777240" y="3959352"/>
            <a:ext cx="4815688" cy="822960"/>
          </a:xfrm>
          <a:prstGeom prst="rect">
            <a:avLst/>
          </a:prstGeom>
          <a:noFill/>
          <a:ln/>
        </p:spPr>
        <p:txBody>
          <a:bodyPr wrap="square" lIns="0" tIns="0" rIns="0" bIns="0" rtlCol="0" anchor="ctr"/>
          <a:lstStyle/>
          <a:p>
            <a:pPr indent="0" marL="0">
              <a:lnSpc>
                <a:spcPct val="120000"/>
              </a:lnSpc>
              <a:buNone/>
            </a:pPr>
            <a:r>
              <a:rPr lang="en-US" sz="1350" dirty="0">
                <a:solidFill>
                  <a:srgbClr val="1B2733"/>
                </a:solidFill>
                <a:latin typeface="Calibri" pitchFamily="34" charset="0"/>
                <a:ea typeface="Calibri" pitchFamily="34" charset="-122"/>
                <a:cs typeface="Calibri" pitchFamily="34" charset="-120"/>
              </a:rPr>
              <a:t>→ доступ ТОЛЬКО к данным этого домена.</a:t>
            </a:r>
            <a:endParaRPr lang="en-US" sz="1350" dirty="0"/>
          </a:p>
        </p:txBody>
      </p:sp>
      <p:sp>
        <p:nvSpPr>
          <p:cNvPr id="13" name="Shape 11"/>
          <p:cNvSpPr/>
          <p:nvPr/>
        </p:nvSpPr>
        <p:spPr>
          <a:xfrm>
            <a:off x="6370168" y="3429000"/>
            <a:ext cx="5272888" cy="1417320"/>
          </a:xfrm>
          <a:prstGeom prst="roundRect">
            <a:avLst>
              <a:gd name="adj" fmla="val 5806"/>
            </a:avLst>
          </a:prstGeom>
          <a:solidFill>
            <a:srgbClr val="FBF0DC"/>
          </a:solidFill>
          <a:ln w="12700">
            <a:solidFill>
              <a:srgbClr val="8A5A10"/>
            </a:solidFill>
            <a:prstDash val="solid"/>
          </a:ln>
        </p:spPr>
      </p:sp>
      <p:sp>
        <p:nvSpPr>
          <p:cNvPr id="14" name="Text 12"/>
          <p:cNvSpPr txBox="1"/>
          <p:nvPr/>
        </p:nvSpPr>
        <p:spPr>
          <a:xfrm>
            <a:off x="6598768" y="3575304"/>
            <a:ext cx="4815688" cy="320040"/>
          </a:xfrm>
          <a:prstGeom prst="rect">
            <a:avLst/>
          </a:prstGeom>
          <a:noFill/>
          <a:ln/>
        </p:spPr>
        <p:txBody>
          <a:bodyPr wrap="square" lIns="0" tIns="0" rIns="0" bIns="0" rtlCol="0" anchor="ctr"/>
          <a:lstStyle/>
          <a:p>
            <a:pPr indent="0" marL="0">
              <a:buNone/>
            </a:pPr>
            <a:r>
              <a:rPr lang="en-US" sz="1400" b="1" dirty="0">
                <a:solidFill>
                  <a:srgbClr val="8A5A10"/>
                </a:solidFill>
                <a:latin typeface="Calibri" pitchFamily="34" charset="0"/>
                <a:ea typeface="Calibri" pitchFamily="34" charset="-122"/>
                <a:cs typeface="Calibri" pitchFamily="34" charset="-120"/>
              </a:rPr>
              <a:t>Домен НЕ назначен</a:t>
            </a:r>
            <a:endParaRPr lang="en-US" sz="1400" dirty="0"/>
          </a:p>
        </p:txBody>
      </p:sp>
      <p:sp>
        <p:nvSpPr>
          <p:cNvPr id="15" name="Text 13"/>
          <p:cNvSpPr txBox="1"/>
          <p:nvPr/>
        </p:nvSpPr>
        <p:spPr>
          <a:xfrm>
            <a:off x="6598768" y="3959352"/>
            <a:ext cx="4815688" cy="822960"/>
          </a:xfrm>
          <a:prstGeom prst="rect">
            <a:avLst/>
          </a:prstGeom>
          <a:noFill/>
          <a:ln/>
        </p:spPr>
        <p:txBody>
          <a:bodyPr wrap="square" lIns="0" tIns="0" rIns="0" bIns="0" rtlCol="0" anchor="ctr"/>
          <a:lstStyle/>
          <a:p>
            <a:pPr indent="0" marL="0">
              <a:lnSpc>
                <a:spcPct val="120000"/>
              </a:lnSpc>
              <a:buNone/>
            </a:pPr>
            <a:r>
              <a:rPr lang="en-US" sz="1350" dirty="0">
                <a:solidFill>
                  <a:srgbClr val="1B2733"/>
                </a:solidFill>
                <a:latin typeface="Calibri" pitchFamily="34" charset="0"/>
                <a:ea typeface="Calibri" pitchFamily="34" charset="-122"/>
                <a:cs typeface="Calibri" pitchFamily="34" charset="-120"/>
              </a:rPr>
              <a:t>→ доступ ТОЛЬКО к объектам, у которых тоже не задан домен.</a:t>
            </a:r>
            <a:endParaRPr lang="en-US" sz="1350" dirty="0"/>
          </a:p>
        </p:txBody>
      </p:sp>
      <p:sp>
        <p:nvSpPr>
          <p:cNvPr id="16" name="Shape 14"/>
          <p:cNvSpPr/>
          <p:nvPr/>
        </p:nvSpPr>
        <p:spPr>
          <a:xfrm>
            <a:off x="548640" y="5029200"/>
            <a:ext cx="11094415" cy="868680"/>
          </a:xfrm>
          <a:prstGeom prst="roundRect">
            <a:avLst>
              <a:gd name="adj" fmla="val 9474"/>
            </a:avLst>
          </a:prstGeom>
          <a:solidFill>
            <a:srgbClr val="DCEAF0"/>
          </a:solidFill>
          <a:ln w="12700">
            <a:solidFill>
              <a:srgbClr val="CBDEE6"/>
            </a:solidFill>
            <a:prstDash val="solid"/>
          </a:ln>
        </p:spPr>
      </p:sp>
      <p:sp>
        <p:nvSpPr>
          <p:cNvPr id="17" name="Text 15"/>
          <p:cNvSpPr txBox="1"/>
          <p:nvPr/>
        </p:nvSpPr>
        <p:spPr>
          <a:xfrm>
            <a:off x="822960" y="5029200"/>
            <a:ext cx="10545775" cy="868680"/>
          </a:xfrm>
          <a:prstGeom prst="rect">
            <a:avLst/>
          </a:prstGeom>
          <a:noFill/>
          <a:ln/>
        </p:spPr>
        <p:txBody>
          <a:bodyPr wrap="square" lIns="0" tIns="0" rIns="0" bIns="0" rtlCol="0" anchor="ctr"/>
          <a:lstStyle/>
          <a:p>
            <a:pPr indent="0" marL="0">
              <a:lnSpc>
                <a:spcPct val="120000"/>
              </a:lnSpc>
              <a:buNone/>
            </a:pPr>
            <a:r>
              <a:rPr lang="en-US" sz="1400" b="1" dirty="0">
                <a:solidFill>
                  <a:srgbClr val="21295C"/>
                </a:solidFill>
                <a:latin typeface="Calibri" pitchFamily="34" charset="0"/>
                <a:ea typeface="Calibri" pitchFamily="34" charset="-122"/>
                <a:cs typeface="Calibri" pitchFamily="34" charset="-120"/>
              </a:rPr>
              <a:t>У роли нет режима «по умолчанию — видно всё». </a:t>
            </a:r>
            <a:pPr indent="0" marL="0">
              <a:lnSpc>
                <a:spcPct val="120000"/>
              </a:lnSpc>
              <a:buNone/>
            </a:pPr>
            <a:r>
              <a:rPr lang="en-US" sz="1400" dirty="0">
                <a:solidFill>
                  <a:srgbClr val="1B2733"/>
                </a:solidFill>
                <a:latin typeface="Calibri" pitchFamily="34" charset="0"/>
                <a:ea typeface="Calibri" pitchFamily="34" charset="-122"/>
                <a:cs typeface="Calibri" pitchFamily="34" charset="-120"/>
              </a:rPr>
              <a:t>Без домена доступны только объекты без домена — не общий доступ ко всему.</a:t>
            </a:r>
            <a:endParaRPr lang="en-US" sz="1400" dirty="0"/>
          </a:p>
        </p:txBody>
      </p:sp>
      <p:sp>
        <p:nvSpPr>
          <p:cNvPr id="18" name="Text 16"/>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19" name="Text 17"/>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04 · СПОСОБ 1 — НАПРЯМУЮ</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Пример: пользователь с доменом «Инвестиции»</a:t>
            </a:r>
            <a:endParaRPr lang="en-US" sz="2800" dirty="0"/>
          </a:p>
        </p:txBody>
      </p:sp>
      <p:sp>
        <p:nvSpPr>
          <p:cNvPr id="4" name="Shape 2"/>
          <p:cNvSpPr/>
          <p:nvPr/>
        </p:nvSpPr>
        <p:spPr>
          <a:xfrm>
            <a:off x="548640" y="1463040"/>
            <a:ext cx="11094415" cy="1188720"/>
          </a:xfrm>
          <a:prstGeom prst="roundRect">
            <a:avLst>
              <a:gd name="adj" fmla="val 6923"/>
            </a:avLst>
          </a:prstGeom>
          <a:solidFill>
            <a:srgbClr val="EAF2F6"/>
          </a:solidFill>
          <a:ln w="12700">
            <a:solidFill>
              <a:srgbClr val="CBDEE6"/>
            </a:solidFill>
            <a:prstDash val="solid"/>
          </a:ln>
        </p:spPr>
      </p:sp>
      <p:sp>
        <p:nvSpPr>
          <p:cNvPr id="5" name="Text 3"/>
          <p:cNvSpPr txBox="1"/>
          <p:nvPr/>
        </p:nvSpPr>
        <p:spPr>
          <a:xfrm>
            <a:off x="822960" y="1627632"/>
            <a:ext cx="365760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Настройка пользователя</a:t>
            </a:r>
            <a:endParaRPr lang="en-US" sz="1300" dirty="0"/>
          </a:p>
        </p:txBody>
      </p:sp>
      <p:sp>
        <p:nvSpPr>
          <p:cNvPr id="6" name="Text 4"/>
          <p:cNvSpPr txBox="1"/>
          <p:nvPr/>
        </p:nvSpPr>
        <p:spPr>
          <a:xfrm>
            <a:off x="822960" y="1993392"/>
            <a:ext cx="10545775" cy="548640"/>
          </a:xfrm>
          <a:prstGeom prst="rect">
            <a:avLst/>
          </a:prstGeom>
          <a:noFill/>
          <a:ln/>
        </p:spPr>
        <p:txBody>
          <a:bodyPr wrap="square" lIns="0" tIns="0" rIns="0" bIns="0" rtlCol="0" anchor="ctr"/>
          <a:lstStyle/>
          <a:p>
            <a:pPr indent="0" marL="0">
              <a:buNone/>
            </a:pPr>
            <a:r>
              <a:rPr lang="en-US" sz="1500" dirty="0">
                <a:solidFill>
                  <a:srgbClr val="51606E"/>
                </a:solidFill>
                <a:latin typeface="Calibri" pitchFamily="34" charset="0"/>
                <a:ea typeface="Calibri" pitchFamily="34" charset="-122"/>
                <a:cs typeface="Calibri" pitchFamily="34" charset="-120"/>
              </a:rPr>
              <a:t>Домен: </a:t>
            </a:r>
            <a:pPr indent="0" marL="0">
              <a:buNone/>
            </a:pPr>
            <a:r>
              <a:rPr lang="en-US" sz="1500" b="1" dirty="0">
                <a:solidFill>
                  <a:srgbClr val="1B2733"/>
                </a:solidFill>
                <a:latin typeface="Calibri" pitchFamily="34" charset="0"/>
                <a:ea typeface="Calibri" pitchFamily="34" charset="-122"/>
                <a:cs typeface="Calibri" pitchFamily="34" charset="-120"/>
              </a:rPr>
              <a:t>«Инвестиции»   </a:t>
            </a:r>
            <a:pPr indent="0" marL="0">
              <a:buNone/>
            </a:pPr>
            <a:r>
              <a:rPr lang="en-US" sz="1500" dirty="0">
                <a:solidFill>
                  <a:srgbClr val="51606E"/>
                </a:solidFill>
                <a:latin typeface="Calibri" pitchFamily="34" charset="0"/>
                <a:ea typeface="Calibri" pitchFamily="34" charset="-122"/>
                <a:cs typeface="Calibri" pitchFamily="34" charset="-120"/>
              </a:rPr>
              <a:t>Роли: </a:t>
            </a:r>
            <a:pPr indent="0" marL="0">
              <a:buNone/>
            </a:pPr>
            <a:r>
              <a:rPr lang="en-US" sz="1500" b="1" dirty="0">
                <a:solidFill>
                  <a:srgbClr val="1B2733"/>
                </a:solidFill>
                <a:latin typeface="Calibri" pitchFamily="34" charset="0"/>
                <a:ea typeface="Calibri" pitchFamily="34" charset="-122"/>
                <a:cs typeface="Calibri" pitchFamily="34" charset="-120"/>
              </a:rPr>
              <a:t>«Data Consumer» + «Domain Only Access Role»</a:t>
            </a:r>
            <a:endParaRPr lang="en-US" sz="1500" dirty="0"/>
          </a:p>
        </p:txBody>
      </p:sp>
      <p:sp>
        <p:nvSpPr>
          <p:cNvPr id="7" name="Text 5"/>
          <p:cNvSpPr txBox="1"/>
          <p:nvPr/>
        </p:nvSpPr>
        <p:spPr>
          <a:xfrm>
            <a:off x="548640" y="2880360"/>
            <a:ext cx="11094415" cy="320040"/>
          </a:xfrm>
          <a:prstGeom prst="rect">
            <a:avLst/>
          </a:prstGeom>
          <a:noFill/>
          <a:ln/>
        </p:spPr>
        <p:txBody>
          <a:bodyPr wrap="square" lIns="0" tIns="0" rIns="0" bIns="0" rtlCol="0" anchor="ctr"/>
          <a:lstStyle/>
          <a:p>
            <a:pPr indent="0" marL="0">
              <a:buNone/>
            </a:pPr>
            <a:r>
              <a:rPr lang="en-US" sz="1350" b="1" dirty="0">
                <a:solidFill>
                  <a:srgbClr val="51606E"/>
                </a:solidFill>
                <a:latin typeface="Calibri" pitchFamily="34" charset="0"/>
                <a:ea typeface="Calibri" pitchFamily="34" charset="-122"/>
                <a:cs typeface="Calibri" pitchFamily="34" charset="-120"/>
              </a:rPr>
              <a:t>Что видит пользователь в чате и поиске:</a:t>
            </a:r>
            <a:endParaRPr lang="en-US" sz="1350" dirty="0"/>
          </a:p>
        </p:txBody>
      </p:sp>
      <p:sp>
        <p:nvSpPr>
          <p:cNvPr id="8" name="Shape 6"/>
          <p:cNvSpPr/>
          <p:nvPr/>
        </p:nvSpPr>
        <p:spPr>
          <a:xfrm>
            <a:off x="548640" y="3291840"/>
            <a:ext cx="5318608" cy="2331720"/>
          </a:xfrm>
          <a:prstGeom prst="roundRect">
            <a:avLst>
              <a:gd name="adj" fmla="val 3529"/>
            </a:avLst>
          </a:prstGeom>
          <a:solidFill>
            <a:srgbClr val="E1F1EA"/>
          </a:solidFill>
          <a:ln w="12700">
            <a:solidFill>
              <a:srgbClr val="1F7A5C"/>
            </a:solidFill>
            <a:prstDash val="solid"/>
          </a:ln>
        </p:spPr>
      </p:sp>
      <p:sp>
        <p:nvSpPr>
          <p:cNvPr id="9" name="Shape 7"/>
          <p:cNvSpPr/>
          <p:nvPr/>
        </p:nvSpPr>
        <p:spPr>
          <a:xfrm>
            <a:off x="804672" y="3520440"/>
            <a:ext cx="502920" cy="502920"/>
          </a:xfrm>
          <a:prstGeom prst="ellipse">
            <a:avLst/>
          </a:prstGeom>
          <a:solidFill>
            <a:srgbClr val="1F7A5C"/>
          </a:solidFill>
          <a:ln/>
        </p:spPr>
      </p:sp>
      <p:sp>
        <p:nvSpPr>
          <p:cNvPr id="10" name="Text 8"/>
          <p:cNvSpPr txBox="1"/>
          <p:nvPr/>
        </p:nvSpPr>
        <p:spPr>
          <a:xfrm>
            <a:off x="804672" y="35204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1417320" y="3566160"/>
            <a:ext cx="4221328" cy="411480"/>
          </a:xfrm>
          <a:prstGeom prst="rect">
            <a:avLst/>
          </a:prstGeom>
          <a:noFill/>
          <a:ln/>
        </p:spPr>
        <p:txBody>
          <a:bodyPr wrap="square" lIns="0" tIns="0" rIns="0" bIns="0" rtlCol="0" anchor="ctr"/>
          <a:lstStyle/>
          <a:p>
            <a:pPr indent="0" marL="0">
              <a:buNone/>
            </a:pPr>
            <a:r>
              <a:rPr lang="en-US" sz="1500" b="1" dirty="0">
                <a:solidFill>
                  <a:srgbClr val="1F7A5C"/>
                </a:solidFill>
                <a:latin typeface="Calibri" pitchFamily="34" charset="0"/>
                <a:ea typeface="Calibri" pitchFamily="34" charset="-122"/>
                <a:cs typeface="Calibri" pitchFamily="34" charset="-120"/>
              </a:rPr>
              <a:t>Домен «Инвестиции»</a:t>
            </a:r>
            <a:endParaRPr lang="en-US" sz="1500" dirty="0"/>
          </a:p>
        </p:txBody>
      </p:sp>
      <p:sp>
        <p:nvSpPr>
          <p:cNvPr id="12" name="Text 10"/>
          <p:cNvSpPr txBox="1"/>
          <p:nvPr/>
        </p:nvSpPr>
        <p:spPr>
          <a:xfrm>
            <a:off x="804672" y="4251960"/>
            <a:ext cx="4806544" cy="1188720"/>
          </a:xfrm>
          <a:prstGeom prst="rect">
            <a:avLst/>
          </a:prstGeom>
          <a:noFill/>
          <a:ln/>
        </p:spPr>
        <p:txBody>
          <a:bodyPr wrap="square" lIns="0" tIns="0" rIns="0" bIns="0" rtlCol="0" anchor="ctr"/>
          <a:lstStyle/>
          <a:p>
            <a:pPr indent="0" marL="0">
              <a:lnSpc>
                <a:spcPct val="125000"/>
              </a:lnSpc>
              <a:buNone/>
            </a:pPr>
            <a:r>
              <a:rPr lang="en-US" sz="1350" dirty="0">
                <a:solidFill>
                  <a:srgbClr val="1B2733"/>
                </a:solidFill>
                <a:latin typeface="Calibri" pitchFamily="34" charset="0"/>
                <a:ea typeface="Calibri" pitchFamily="34" charset="-122"/>
                <a:cs typeface="Calibri" pitchFamily="34" charset="-120"/>
              </a:rPr>
              <a:t>Данные и коллекции, отнесённые к этому домену, — видны и доступны для поиска.</a:t>
            </a:r>
            <a:endParaRPr lang="en-US" sz="1350" dirty="0"/>
          </a:p>
        </p:txBody>
      </p:sp>
      <p:sp>
        <p:nvSpPr>
          <p:cNvPr id="13" name="Shape 11"/>
          <p:cNvSpPr/>
          <p:nvPr/>
        </p:nvSpPr>
        <p:spPr>
          <a:xfrm>
            <a:off x="6324448" y="3291840"/>
            <a:ext cx="5318608" cy="2331720"/>
          </a:xfrm>
          <a:prstGeom prst="roundRect">
            <a:avLst>
              <a:gd name="adj" fmla="val 3529"/>
            </a:avLst>
          </a:prstGeom>
          <a:solidFill>
            <a:srgbClr val="FBE9EA"/>
          </a:solidFill>
          <a:ln w="12700">
            <a:solidFill>
              <a:srgbClr val="AE3B46"/>
            </a:solidFill>
            <a:prstDash val="solid"/>
          </a:ln>
        </p:spPr>
      </p:sp>
      <p:sp>
        <p:nvSpPr>
          <p:cNvPr id="14" name="Shape 12"/>
          <p:cNvSpPr/>
          <p:nvPr/>
        </p:nvSpPr>
        <p:spPr>
          <a:xfrm>
            <a:off x="6580480" y="3520440"/>
            <a:ext cx="502920" cy="502920"/>
          </a:xfrm>
          <a:prstGeom prst="ellipse">
            <a:avLst/>
          </a:prstGeom>
          <a:solidFill>
            <a:srgbClr val="AE3B46"/>
          </a:solidFill>
          <a:ln/>
        </p:spPr>
      </p:sp>
      <p:sp>
        <p:nvSpPr>
          <p:cNvPr id="15" name="Text 13"/>
          <p:cNvSpPr txBox="1"/>
          <p:nvPr/>
        </p:nvSpPr>
        <p:spPr>
          <a:xfrm>
            <a:off x="6580480" y="35204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7193128" y="3566160"/>
            <a:ext cx="4221328" cy="411480"/>
          </a:xfrm>
          <a:prstGeom prst="rect">
            <a:avLst/>
          </a:prstGeom>
          <a:noFill/>
          <a:ln/>
        </p:spPr>
        <p:txBody>
          <a:bodyPr wrap="square" lIns="0" tIns="0" rIns="0" bIns="0" rtlCol="0" anchor="ctr"/>
          <a:lstStyle/>
          <a:p>
            <a:pPr indent="0" marL="0">
              <a:buNone/>
            </a:pPr>
            <a:r>
              <a:rPr lang="en-US" sz="1500" b="1" dirty="0">
                <a:solidFill>
                  <a:srgbClr val="AE3B46"/>
                </a:solidFill>
                <a:latin typeface="Calibri" pitchFamily="34" charset="0"/>
                <a:ea typeface="Calibri" pitchFamily="34" charset="-122"/>
                <a:cs typeface="Calibri" pitchFamily="34" charset="-120"/>
              </a:rPr>
              <a:t>Домен «Производство»</a:t>
            </a:r>
            <a:endParaRPr lang="en-US" sz="1500" dirty="0"/>
          </a:p>
        </p:txBody>
      </p:sp>
      <p:sp>
        <p:nvSpPr>
          <p:cNvPr id="17" name="Text 15"/>
          <p:cNvSpPr txBox="1"/>
          <p:nvPr/>
        </p:nvSpPr>
        <p:spPr>
          <a:xfrm>
            <a:off x="6580480" y="4251960"/>
            <a:ext cx="4806544" cy="1188720"/>
          </a:xfrm>
          <a:prstGeom prst="rect">
            <a:avLst/>
          </a:prstGeom>
          <a:noFill/>
          <a:ln/>
        </p:spPr>
        <p:txBody>
          <a:bodyPr wrap="square" lIns="0" tIns="0" rIns="0" bIns="0" rtlCol="0" anchor="ctr"/>
          <a:lstStyle/>
          <a:p>
            <a:pPr indent="0" marL="0">
              <a:lnSpc>
                <a:spcPct val="125000"/>
              </a:lnSpc>
              <a:buNone/>
            </a:pPr>
            <a:r>
              <a:rPr lang="en-US" sz="1350" dirty="0">
                <a:solidFill>
                  <a:srgbClr val="1B2733"/>
                </a:solidFill>
                <a:latin typeface="Calibri" pitchFamily="34" charset="0"/>
                <a:ea typeface="Calibri" pitchFamily="34" charset="-122"/>
                <a:cs typeface="Calibri" pitchFamily="34" charset="-120"/>
              </a:rPr>
              <a:t>Данные другого домена пользователю не видны и не найдутся в поиске.</a:t>
            </a:r>
            <a:endParaRPr lang="en-US" sz="1350" dirty="0"/>
          </a:p>
        </p:txBody>
      </p:sp>
      <p:sp>
        <p:nvSpPr>
          <p:cNvPr id="18" name="Text 16"/>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19" name="Text 17"/>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05 · СПОСОБ 2 — ЧЕРЕЗ ПЕРСОНУ</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Способ 2: доступ через Персону</a:t>
            </a:r>
            <a:endParaRPr lang="en-US" sz="2800" dirty="0"/>
          </a:p>
        </p:txBody>
      </p:sp>
      <p:sp>
        <p:nvSpPr>
          <p:cNvPr id="4" name="Text 2"/>
          <p:cNvSpPr txBox="1"/>
          <p:nvPr/>
        </p:nvSpPr>
        <p:spPr>
          <a:xfrm>
            <a:off x="548640" y="1371600"/>
            <a:ext cx="11094415" cy="502920"/>
          </a:xfrm>
          <a:prstGeom prst="rect">
            <a:avLst/>
          </a:prstGeom>
          <a:noFill/>
          <a:ln/>
        </p:spPr>
        <p:txBody>
          <a:bodyPr wrap="square" lIns="0" tIns="0" rIns="0" bIns="0" rtlCol="0" anchor="ctr"/>
          <a:lstStyle/>
          <a:p>
            <a:pPr indent="0" marL="0">
              <a:lnSpc>
                <a:spcPct val="120000"/>
              </a:lnSpc>
              <a:buNone/>
            </a:pPr>
            <a:r>
              <a:rPr lang="en-US" sz="1400" dirty="0">
                <a:solidFill>
                  <a:srgbClr val="1B2733"/>
                </a:solidFill>
                <a:latin typeface="Calibri" pitchFamily="34" charset="0"/>
                <a:ea typeface="Calibri" pitchFamily="34" charset="-122"/>
                <a:cs typeface="Calibri" pitchFamily="34" charset="-120"/>
              </a:rPr>
              <a:t>Второй, независимый способ дать доступ по домену — не напрямую пользователю или команде, а через Персону, которая затем привязывается к пользователю.</a:t>
            </a:r>
            <a:endParaRPr lang="en-US" sz="1400" dirty="0"/>
          </a:p>
        </p:txBody>
      </p:sp>
      <p:sp>
        <p:nvSpPr>
          <p:cNvPr id="5" name="Shape 3"/>
          <p:cNvSpPr/>
          <p:nvPr/>
        </p:nvSpPr>
        <p:spPr>
          <a:xfrm>
            <a:off x="548640" y="2148840"/>
            <a:ext cx="1984797" cy="1280160"/>
          </a:xfrm>
          <a:prstGeom prst="roundRect">
            <a:avLst>
              <a:gd name="adj" fmla="val 6429"/>
            </a:avLst>
          </a:prstGeom>
          <a:solidFill>
            <a:srgbClr val="EAF2F6"/>
          </a:solidFill>
          <a:ln w="12700">
            <a:solidFill>
              <a:srgbClr val="CBDEE6"/>
            </a:solidFill>
            <a:prstDash val="solid"/>
          </a:ln>
        </p:spPr>
      </p:sp>
      <p:sp>
        <p:nvSpPr>
          <p:cNvPr id="6" name="Text 4"/>
          <p:cNvSpPr txBox="1"/>
          <p:nvPr/>
        </p:nvSpPr>
        <p:spPr>
          <a:xfrm>
            <a:off x="658368" y="2276856"/>
            <a:ext cx="1765341" cy="36576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Домен</a:t>
            </a:r>
            <a:endParaRPr lang="en-US" sz="1300" dirty="0"/>
          </a:p>
        </p:txBody>
      </p:sp>
      <p:sp>
        <p:nvSpPr>
          <p:cNvPr id="7" name="Text 5"/>
          <p:cNvSpPr txBox="1"/>
          <p:nvPr/>
        </p:nvSpPr>
        <p:spPr>
          <a:xfrm>
            <a:off x="658368" y="2660904"/>
            <a:ext cx="1765341" cy="685800"/>
          </a:xfrm>
          <a:prstGeom prst="rect">
            <a:avLst/>
          </a:prstGeom>
          <a:noFill/>
          <a:ln/>
        </p:spPr>
        <p:txBody>
          <a:bodyPr wrap="square" lIns="0" tIns="0" rIns="0" bIns="0" rtlCol="0" anchor="ctr"/>
          <a:lstStyle/>
          <a:p>
            <a:pPr indent="0" marL="0">
              <a:lnSpc>
                <a:spcPct val="115000"/>
              </a:lnSpc>
              <a:buNone/>
            </a:pPr>
            <a:r>
              <a:rPr lang="en-US" sz="1050" dirty="0">
                <a:solidFill>
                  <a:srgbClr val="51606E"/>
                </a:solidFill>
                <a:latin typeface="Calibri" pitchFamily="34" charset="0"/>
                <a:ea typeface="Calibri" pitchFamily="34" charset="-122"/>
                <a:cs typeface="Calibri" pitchFamily="34" charset="-120"/>
              </a:rPr>
              <a:t>создать в Каталоге</a:t>
            </a:r>
            <a:endParaRPr lang="en-US" sz="1050" dirty="0"/>
          </a:p>
          <a:p>
            <a:pPr indent="0" marL="0">
              <a:lnSpc>
                <a:spcPct val="115000"/>
              </a:lnSpc>
              <a:buNone/>
            </a:pPr>
            <a:r>
              <a:rPr lang="en-US" sz="1050" dirty="0">
                <a:solidFill>
                  <a:srgbClr val="51606E"/>
                </a:solidFill>
                <a:latin typeface="Calibri" pitchFamily="34" charset="0"/>
                <a:ea typeface="Calibri" pitchFamily="34" charset="-122"/>
                <a:cs typeface="Calibri" pitchFamily="34" charset="-120"/>
              </a:rPr>
              <a:t>(раздел 2)</a:t>
            </a:r>
            <a:endParaRPr lang="en-US" sz="1050" dirty="0"/>
          </a:p>
        </p:txBody>
      </p:sp>
      <p:sp>
        <p:nvSpPr>
          <p:cNvPr id="8" name="Text 6"/>
          <p:cNvSpPr txBox="1"/>
          <p:nvPr/>
        </p:nvSpPr>
        <p:spPr>
          <a:xfrm>
            <a:off x="2533437" y="2551176"/>
            <a:ext cx="292608" cy="365760"/>
          </a:xfrm>
          <a:prstGeom prst="rect">
            <a:avLst/>
          </a:prstGeom>
          <a:noFill/>
          <a:ln/>
        </p:spPr>
        <p:txBody>
          <a:bodyPr wrap="square" lIns="0" tIns="0" rIns="0" bIns="0" rtlCol="0" anchor="ctr"/>
          <a:lstStyle/>
          <a:p>
            <a:pPr algn="ctr" indent="0" marL="0">
              <a:buNone/>
            </a:pPr>
            <a:r>
              <a:rPr lang="en-US" sz="1500" b="1" dirty="0">
                <a:solidFill>
                  <a:srgbClr val="7C8B98"/>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2826045" y="2148840"/>
            <a:ext cx="1984797" cy="1280160"/>
          </a:xfrm>
          <a:prstGeom prst="roundRect">
            <a:avLst>
              <a:gd name="adj" fmla="val 6429"/>
            </a:avLst>
          </a:prstGeom>
          <a:solidFill>
            <a:srgbClr val="EAF2F6"/>
          </a:solidFill>
          <a:ln w="12700">
            <a:solidFill>
              <a:srgbClr val="CBDEE6"/>
            </a:solidFill>
            <a:prstDash val="solid"/>
          </a:ln>
        </p:spPr>
      </p:sp>
      <p:sp>
        <p:nvSpPr>
          <p:cNvPr id="10" name="Text 8"/>
          <p:cNvSpPr txBox="1"/>
          <p:nvPr/>
        </p:nvSpPr>
        <p:spPr>
          <a:xfrm>
            <a:off x="2935773" y="2276856"/>
            <a:ext cx="1765341" cy="36576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Коллекция</a:t>
            </a:r>
            <a:endParaRPr lang="en-US" sz="1300" dirty="0"/>
          </a:p>
        </p:txBody>
      </p:sp>
      <p:sp>
        <p:nvSpPr>
          <p:cNvPr id="11" name="Text 9"/>
          <p:cNvSpPr txBox="1"/>
          <p:nvPr/>
        </p:nvSpPr>
        <p:spPr>
          <a:xfrm>
            <a:off x="2935773" y="2660904"/>
            <a:ext cx="1765341" cy="685800"/>
          </a:xfrm>
          <a:prstGeom prst="rect">
            <a:avLst/>
          </a:prstGeom>
          <a:noFill/>
          <a:ln/>
        </p:spPr>
        <p:txBody>
          <a:bodyPr wrap="square" lIns="0" tIns="0" rIns="0" bIns="0" rtlCol="0" anchor="ctr"/>
          <a:lstStyle/>
          <a:p>
            <a:pPr indent="0" marL="0">
              <a:lnSpc>
                <a:spcPct val="115000"/>
              </a:lnSpc>
              <a:buNone/>
            </a:pPr>
            <a:r>
              <a:rPr lang="en-US" sz="1050" dirty="0">
                <a:solidFill>
                  <a:srgbClr val="51606E"/>
                </a:solidFill>
                <a:latin typeface="Calibri" pitchFamily="34" charset="0"/>
                <a:ea typeface="Calibri" pitchFamily="34" charset="-122"/>
                <a:cs typeface="Calibri" pitchFamily="34" charset="-120"/>
              </a:rPr>
              <a:t>привязать к домену</a:t>
            </a:r>
            <a:endParaRPr lang="en-US" sz="1050" dirty="0"/>
          </a:p>
          <a:p>
            <a:pPr indent="0" marL="0">
              <a:lnSpc>
                <a:spcPct val="115000"/>
              </a:lnSpc>
              <a:buNone/>
            </a:pPr>
            <a:r>
              <a:rPr lang="en-US" sz="1050" dirty="0">
                <a:solidFill>
                  <a:srgbClr val="51606E"/>
                </a:solidFill>
                <a:latin typeface="Calibri" pitchFamily="34" charset="0"/>
                <a:ea typeface="Calibri" pitchFamily="34" charset="-122"/>
                <a:cs typeface="Calibri" pitchFamily="34" charset="-120"/>
              </a:rPr>
              <a:t>(раздел 3)</a:t>
            </a:r>
            <a:endParaRPr lang="en-US" sz="1050" dirty="0"/>
          </a:p>
        </p:txBody>
      </p:sp>
      <p:sp>
        <p:nvSpPr>
          <p:cNvPr id="12" name="Text 10"/>
          <p:cNvSpPr txBox="1"/>
          <p:nvPr/>
        </p:nvSpPr>
        <p:spPr>
          <a:xfrm>
            <a:off x="4810841" y="2551176"/>
            <a:ext cx="292608" cy="365760"/>
          </a:xfrm>
          <a:prstGeom prst="rect">
            <a:avLst/>
          </a:prstGeom>
          <a:noFill/>
          <a:ln/>
        </p:spPr>
        <p:txBody>
          <a:bodyPr wrap="square" lIns="0" tIns="0" rIns="0" bIns="0" rtlCol="0" anchor="ctr"/>
          <a:lstStyle/>
          <a:p>
            <a:pPr algn="ctr" indent="0" marL="0">
              <a:buNone/>
            </a:pPr>
            <a:r>
              <a:rPr lang="en-US" sz="1500" b="1" dirty="0">
                <a:solidFill>
                  <a:srgbClr val="7C8B98"/>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5103449" y="2148840"/>
            <a:ext cx="1984797" cy="1280160"/>
          </a:xfrm>
          <a:prstGeom prst="roundRect">
            <a:avLst>
              <a:gd name="adj" fmla="val 6429"/>
            </a:avLst>
          </a:prstGeom>
          <a:solidFill>
            <a:srgbClr val="DCEAF0"/>
          </a:solidFill>
          <a:ln w="12700">
            <a:solidFill>
              <a:srgbClr val="CBDEE6"/>
            </a:solidFill>
            <a:prstDash val="solid"/>
          </a:ln>
        </p:spPr>
      </p:sp>
      <p:sp>
        <p:nvSpPr>
          <p:cNvPr id="14" name="Text 12"/>
          <p:cNvSpPr txBox="1"/>
          <p:nvPr/>
        </p:nvSpPr>
        <p:spPr>
          <a:xfrm>
            <a:off x="5213177" y="2276856"/>
            <a:ext cx="1765341" cy="36576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Персона</a:t>
            </a:r>
            <a:endParaRPr lang="en-US" sz="1300" dirty="0"/>
          </a:p>
        </p:txBody>
      </p:sp>
      <p:sp>
        <p:nvSpPr>
          <p:cNvPr id="15" name="Text 13"/>
          <p:cNvSpPr txBox="1"/>
          <p:nvPr/>
        </p:nvSpPr>
        <p:spPr>
          <a:xfrm>
            <a:off x="5213177" y="2660904"/>
            <a:ext cx="1765341" cy="685800"/>
          </a:xfrm>
          <a:prstGeom prst="rect">
            <a:avLst/>
          </a:prstGeom>
          <a:noFill/>
          <a:ln/>
        </p:spPr>
        <p:txBody>
          <a:bodyPr wrap="square" lIns="0" tIns="0" rIns="0" bIns="0" rtlCol="0" anchor="ctr"/>
          <a:lstStyle/>
          <a:p>
            <a:pPr indent="0" marL="0">
              <a:lnSpc>
                <a:spcPct val="115000"/>
              </a:lnSpc>
              <a:buNone/>
            </a:pPr>
            <a:r>
              <a:rPr lang="en-US" sz="1050" dirty="0">
                <a:solidFill>
                  <a:srgbClr val="51606E"/>
                </a:solidFill>
                <a:latin typeface="Calibri" pitchFamily="34" charset="0"/>
                <a:ea typeface="Calibri" pitchFamily="34" charset="-122"/>
                <a:cs typeface="Calibri" pitchFamily="34" charset="-120"/>
              </a:rPr>
              <a:t>«Разрешённые</a:t>
            </a:r>
            <a:endParaRPr lang="en-US" sz="1050" dirty="0"/>
          </a:p>
          <a:p>
            <a:pPr indent="0" marL="0">
              <a:lnSpc>
                <a:spcPct val="115000"/>
              </a:lnSpc>
              <a:buNone/>
            </a:pPr>
            <a:r>
              <a:rPr lang="en-US" sz="1050" dirty="0">
                <a:solidFill>
                  <a:srgbClr val="51606E"/>
                </a:solidFill>
                <a:latin typeface="Calibri" pitchFamily="34" charset="0"/>
                <a:ea typeface="Calibri" pitchFamily="34" charset="-122"/>
                <a:cs typeface="Calibri" pitchFamily="34" charset="-120"/>
              </a:rPr>
              <a:t>домены» (6.1)</a:t>
            </a:r>
            <a:endParaRPr lang="en-US" sz="1050" dirty="0"/>
          </a:p>
        </p:txBody>
      </p:sp>
      <p:sp>
        <p:nvSpPr>
          <p:cNvPr id="16" name="Text 14"/>
          <p:cNvSpPr txBox="1"/>
          <p:nvPr/>
        </p:nvSpPr>
        <p:spPr>
          <a:xfrm>
            <a:off x="7088246" y="2551176"/>
            <a:ext cx="292608" cy="365760"/>
          </a:xfrm>
          <a:prstGeom prst="rect">
            <a:avLst/>
          </a:prstGeom>
          <a:noFill/>
          <a:ln/>
        </p:spPr>
        <p:txBody>
          <a:bodyPr wrap="square" lIns="0" tIns="0" rIns="0" bIns="0" rtlCol="0" anchor="ctr"/>
          <a:lstStyle/>
          <a:p>
            <a:pPr algn="ctr" indent="0" marL="0">
              <a:buNone/>
            </a:pPr>
            <a:r>
              <a:rPr lang="en-US" sz="1500" b="1" dirty="0">
                <a:solidFill>
                  <a:srgbClr val="7C8B98"/>
                </a:solidFill>
                <a:latin typeface="Calibri" pitchFamily="34" charset="0"/>
                <a:ea typeface="Calibri" pitchFamily="34" charset="-122"/>
                <a:cs typeface="Calibri" pitchFamily="34" charset="-120"/>
              </a:rPr>
              <a:t>→</a:t>
            </a:r>
            <a:endParaRPr lang="en-US" sz="1500" dirty="0"/>
          </a:p>
        </p:txBody>
      </p:sp>
      <p:sp>
        <p:nvSpPr>
          <p:cNvPr id="17" name="Shape 15"/>
          <p:cNvSpPr/>
          <p:nvPr/>
        </p:nvSpPr>
        <p:spPr>
          <a:xfrm>
            <a:off x="7380854" y="2148840"/>
            <a:ext cx="1984797" cy="1280160"/>
          </a:xfrm>
          <a:prstGeom prst="roundRect">
            <a:avLst>
              <a:gd name="adj" fmla="val 6429"/>
            </a:avLst>
          </a:prstGeom>
          <a:solidFill>
            <a:srgbClr val="DCEAF0"/>
          </a:solidFill>
          <a:ln w="12700">
            <a:solidFill>
              <a:srgbClr val="CBDEE6"/>
            </a:solidFill>
            <a:prstDash val="solid"/>
          </a:ln>
        </p:spPr>
      </p:sp>
      <p:sp>
        <p:nvSpPr>
          <p:cNvPr id="18" name="Text 16"/>
          <p:cNvSpPr txBox="1"/>
          <p:nvPr/>
        </p:nvSpPr>
        <p:spPr>
          <a:xfrm>
            <a:off x="7490582" y="2276856"/>
            <a:ext cx="1765341" cy="36576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Пользователь</a:t>
            </a:r>
            <a:endParaRPr lang="en-US" sz="1300" dirty="0"/>
          </a:p>
        </p:txBody>
      </p:sp>
      <p:sp>
        <p:nvSpPr>
          <p:cNvPr id="19" name="Text 17"/>
          <p:cNvSpPr txBox="1"/>
          <p:nvPr/>
        </p:nvSpPr>
        <p:spPr>
          <a:xfrm>
            <a:off x="7490582" y="2660904"/>
            <a:ext cx="1765341" cy="685800"/>
          </a:xfrm>
          <a:prstGeom prst="rect">
            <a:avLst/>
          </a:prstGeom>
          <a:noFill/>
          <a:ln/>
        </p:spPr>
        <p:txBody>
          <a:bodyPr wrap="square" lIns="0" tIns="0" rIns="0" bIns="0" rtlCol="0" anchor="ctr"/>
          <a:lstStyle/>
          <a:p>
            <a:pPr indent="0" marL="0">
              <a:lnSpc>
                <a:spcPct val="115000"/>
              </a:lnSpc>
              <a:buNone/>
            </a:pPr>
            <a:r>
              <a:rPr lang="en-US" sz="1050" dirty="0">
                <a:solidFill>
                  <a:srgbClr val="51606E"/>
                </a:solidFill>
                <a:latin typeface="Calibri" pitchFamily="34" charset="0"/>
                <a:ea typeface="Calibri" pitchFamily="34" charset="-122"/>
                <a:cs typeface="Calibri" pitchFamily="34" charset="-120"/>
              </a:rPr>
              <a:t>привязать</a:t>
            </a:r>
            <a:endParaRPr lang="en-US" sz="1050" dirty="0"/>
          </a:p>
          <a:p>
            <a:pPr indent="0" marL="0">
              <a:lnSpc>
                <a:spcPct val="115000"/>
              </a:lnSpc>
              <a:buNone/>
            </a:pPr>
            <a:r>
              <a:rPr lang="en-US" sz="1050" dirty="0">
                <a:solidFill>
                  <a:srgbClr val="51606E"/>
                </a:solidFill>
                <a:latin typeface="Calibri" pitchFamily="34" charset="0"/>
                <a:ea typeface="Calibri" pitchFamily="34" charset="-122"/>
                <a:cs typeface="Calibri" pitchFamily="34" charset="-120"/>
              </a:rPr>
              <a:t>персону (6.2)</a:t>
            </a:r>
            <a:endParaRPr lang="en-US" sz="1050" dirty="0"/>
          </a:p>
        </p:txBody>
      </p:sp>
      <p:sp>
        <p:nvSpPr>
          <p:cNvPr id="20" name="Text 18"/>
          <p:cNvSpPr txBox="1"/>
          <p:nvPr/>
        </p:nvSpPr>
        <p:spPr>
          <a:xfrm>
            <a:off x="9365651" y="2551176"/>
            <a:ext cx="292608" cy="365760"/>
          </a:xfrm>
          <a:prstGeom prst="rect">
            <a:avLst/>
          </a:prstGeom>
          <a:noFill/>
          <a:ln/>
        </p:spPr>
        <p:txBody>
          <a:bodyPr wrap="square" lIns="0" tIns="0" rIns="0" bIns="0" rtlCol="0" anchor="ctr"/>
          <a:lstStyle/>
          <a:p>
            <a:pPr algn="ctr" indent="0" marL="0">
              <a:buNone/>
            </a:pPr>
            <a:r>
              <a:rPr lang="en-US" sz="1500" b="1" dirty="0">
                <a:solidFill>
                  <a:srgbClr val="7C8B98"/>
                </a:solidFill>
                <a:latin typeface="Calibri" pitchFamily="34" charset="0"/>
                <a:ea typeface="Calibri" pitchFamily="34" charset="-122"/>
                <a:cs typeface="Calibri" pitchFamily="34" charset="-120"/>
              </a:rPr>
              <a:t>→</a:t>
            </a:r>
            <a:endParaRPr lang="en-US" sz="1500" dirty="0"/>
          </a:p>
        </p:txBody>
      </p:sp>
      <p:sp>
        <p:nvSpPr>
          <p:cNvPr id="21" name="Shape 19"/>
          <p:cNvSpPr/>
          <p:nvPr/>
        </p:nvSpPr>
        <p:spPr>
          <a:xfrm>
            <a:off x="9658259" y="2148840"/>
            <a:ext cx="1984797" cy="1280160"/>
          </a:xfrm>
          <a:prstGeom prst="roundRect">
            <a:avLst>
              <a:gd name="adj" fmla="val 6429"/>
            </a:avLst>
          </a:prstGeom>
          <a:solidFill>
            <a:srgbClr val="E1F1EA"/>
          </a:solidFill>
          <a:ln w="19050">
            <a:solidFill>
              <a:srgbClr val="1F7A5C"/>
            </a:solidFill>
            <a:prstDash val="solid"/>
          </a:ln>
        </p:spPr>
      </p:sp>
      <p:sp>
        <p:nvSpPr>
          <p:cNvPr id="22" name="Text 20"/>
          <p:cNvSpPr txBox="1"/>
          <p:nvPr/>
        </p:nvSpPr>
        <p:spPr>
          <a:xfrm>
            <a:off x="9767987" y="2276856"/>
            <a:ext cx="1765341" cy="365760"/>
          </a:xfrm>
          <a:prstGeom prst="rect">
            <a:avLst/>
          </a:prstGeom>
          <a:noFill/>
          <a:ln/>
        </p:spPr>
        <p:txBody>
          <a:bodyPr wrap="square" lIns="0" tIns="0" rIns="0" bIns="0" rtlCol="0" anchor="ctr"/>
          <a:lstStyle/>
          <a:p>
            <a:pPr indent="0" marL="0">
              <a:buNone/>
            </a:pPr>
            <a:r>
              <a:rPr lang="en-US" sz="1300" b="1" dirty="0">
                <a:solidFill>
                  <a:srgbClr val="1F7A5C"/>
                </a:solidFill>
                <a:latin typeface="Calibri" pitchFamily="34" charset="0"/>
                <a:ea typeface="Calibri" pitchFamily="34" charset="-122"/>
                <a:cs typeface="Calibri" pitchFamily="34" charset="-120"/>
              </a:rPr>
              <a:t>Результат</a:t>
            </a:r>
            <a:endParaRPr lang="en-US" sz="1300" dirty="0"/>
          </a:p>
        </p:txBody>
      </p:sp>
      <p:sp>
        <p:nvSpPr>
          <p:cNvPr id="23" name="Text 21"/>
          <p:cNvSpPr txBox="1"/>
          <p:nvPr/>
        </p:nvSpPr>
        <p:spPr>
          <a:xfrm>
            <a:off x="9767987" y="2660904"/>
            <a:ext cx="1765341" cy="685800"/>
          </a:xfrm>
          <a:prstGeom prst="rect">
            <a:avLst/>
          </a:prstGeom>
          <a:noFill/>
          <a:ln/>
        </p:spPr>
        <p:txBody>
          <a:bodyPr wrap="square" lIns="0" tIns="0" rIns="0" bIns="0" rtlCol="0" anchor="ctr"/>
          <a:lstStyle/>
          <a:p>
            <a:pPr indent="0" marL="0">
              <a:lnSpc>
                <a:spcPct val="115000"/>
              </a:lnSpc>
              <a:buNone/>
            </a:pPr>
            <a:r>
              <a:rPr lang="en-US" sz="1050" dirty="0">
                <a:solidFill>
                  <a:srgbClr val="51606E"/>
                </a:solidFill>
                <a:latin typeface="Calibri" pitchFamily="34" charset="0"/>
                <a:ea typeface="Calibri" pitchFamily="34" charset="-122"/>
                <a:cs typeface="Calibri" pitchFamily="34" charset="-120"/>
              </a:rPr>
              <a:t>наследует домены</a:t>
            </a:r>
            <a:endParaRPr lang="en-US" sz="1050" dirty="0"/>
          </a:p>
          <a:p>
            <a:pPr indent="0" marL="0">
              <a:lnSpc>
                <a:spcPct val="115000"/>
              </a:lnSpc>
              <a:buNone/>
            </a:pPr>
            <a:r>
              <a:rPr lang="en-US" sz="1050" dirty="0">
                <a:solidFill>
                  <a:srgbClr val="51606E"/>
                </a:solidFill>
                <a:latin typeface="Calibri" pitchFamily="34" charset="0"/>
                <a:ea typeface="Calibri" pitchFamily="34" charset="-122"/>
                <a:cs typeface="Calibri" pitchFamily="34" charset="-120"/>
              </a:rPr>
              <a:t>своей персоны</a:t>
            </a:r>
            <a:endParaRPr lang="en-US" sz="1050" dirty="0"/>
          </a:p>
        </p:txBody>
      </p:sp>
      <p:sp>
        <p:nvSpPr>
          <p:cNvPr id="24" name="Shape 22"/>
          <p:cNvSpPr/>
          <p:nvPr/>
        </p:nvSpPr>
        <p:spPr>
          <a:xfrm>
            <a:off x="548640" y="3749040"/>
            <a:ext cx="11094415" cy="960120"/>
          </a:xfrm>
          <a:prstGeom prst="roundRect">
            <a:avLst>
              <a:gd name="adj" fmla="val 8571"/>
            </a:avLst>
          </a:prstGeom>
          <a:solidFill>
            <a:srgbClr val="F1F6F8"/>
          </a:solidFill>
          <a:ln w="12700">
            <a:solidFill>
              <a:srgbClr val="1C7293"/>
            </a:solidFill>
            <a:prstDash val="solid"/>
          </a:ln>
        </p:spPr>
      </p:sp>
      <p:sp>
        <p:nvSpPr>
          <p:cNvPr id="25" name="Text 23"/>
          <p:cNvSpPr txBox="1"/>
          <p:nvPr/>
        </p:nvSpPr>
        <p:spPr>
          <a:xfrm>
            <a:off x="822960" y="3749040"/>
            <a:ext cx="10545775" cy="960120"/>
          </a:xfrm>
          <a:prstGeom prst="rect">
            <a:avLst/>
          </a:prstGeom>
          <a:noFill/>
          <a:ln/>
        </p:spPr>
        <p:txBody>
          <a:bodyPr wrap="square" lIns="0" tIns="0" rIns="0" bIns="0" rtlCol="0" anchor="ctr"/>
          <a:lstStyle/>
          <a:p>
            <a:pPr indent="0" marL="0">
              <a:lnSpc>
                <a:spcPct val="125000"/>
              </a:lnSpc>
              <a:buNone/>
            </a:pPr>
            <a:r>
              <a:rPr lang="en-US" sz="1400" b="1" dirty="0">
                <a:solidFill>
                  <a:srgbClr val="1C7293"/>
                </a:solidFill>
                <a:latin typeface="Calibri" pitchFamily="34" charset="0"/>
                <a:ea typeface="Calibri" pitchFamily="34" charset="-122"/>
                <a:cs typeface="Calibri" pitchFamily="34" charset="-120"/>
              </a:rPr>
              <a:t>Персона</a:t>
            </a:r>
            <a:pPr indent="0" marL="0">
              <a:lnSpc>
                <a:spcPct val="125000"/>
              </a:lnSpc>
              <a:buNone/>
            </a:pPr>
            <a:r>
              <a:rPr lang="en-US" sz="1400" dirty="0">
                <a:solidFill>
                  <a:srgbClr val="1B2733"/>
                </a:solidFill>
                <a:latin typeface="Calibri" pitchFamily="34" charset="0"/>
                <a:ea typeface="Calibri" pitchFamily="34" charset="-122"/>
                <a:cs typeface="Calibri" pitchFamily="34" charset="-120"/>
              </a:rPr>
              <a:t> — типовая роль сотрудника, например «Менеджер» или «Аналитик». Один раз назначаете домены персоне — дальше пользователю достаточно выбрать готовую персону, а не настраивать домен вручную.</a:t>
            </a:r>
            <a:endParaRPr lang="en-US" sz="1400" dirty="0"/>
          </a:p>
        </p:txBody>
      </p:sp>
      <p:sp>
        <p:nvSpPr>
          <p:cNvPr id="26" name="Shape 24"/>
          <p:cNvSpPr/>
          <p:nvPr/>
        </p:nvSpPr>
        <p:spPr>
          <a:xfrm>
            <a:off x="548640" y="4892040"/>
            <a:ext cx="11094415" cy="1005840"/>
          </a:xfrm>
          <a:prstGeom prst="roundRect">
            <a:avLst>
              <a:gd name="adj" fmla="val 8182"/>
            </a:avLst>
          </a:prstGeom>
          <a:solidFill>
            <a:srgbClr val="EAF2F6"/>
          </a:solidFill>
          <a:ln w="12700">
            <a:solidFill>
              <a:srgbClr val="CBDEE6"/>
            </a:solidFill>
            <a:prstDash val="solid"/>
          </a:ln>
        </p:spPr>
      </p:sp>
      <p:sp>
        <p:nvSpPr>
          <p:cNvPr id="27" name="Text 25"/>
          <p:cNvSpPr txBox="1"/>
          <p:nvPr/>
        </p:nvSpPr>
        <p:spPr>
          <a:xfrm>
            <a:off x="822960" y="5029200"/>
            <a:ext cx="365760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Практический пример</a:t>
            </a:r>
            <a:endParaRPr lang="en-US" sz="1200" dirty="0"/>
          </a:p>
        </p:txBody>
      </p:sp>
      <p:sp>
        <p:nvSpPr>
          <p:cNvPr id="28" name="Text 26"/>
          <p:cNvSpPr txBox="1"/>
          <p:nvPr/>
        </p:nvSpPr>
        <p:spPr>
          <a:xfrm>
            <a:off x="822960" y="5321808"/>
            <a:ext cx="10545775" cy="548640"/>
          </a:xfrm>
          <a:prstGeom prst="rect">
            <a:avLst/>
          </a:prstGeom>
          <a:noFill/>
          <a:ln/>
        </p:spPr>
        <p:txBody>
          <a:bodyPr wrap="square" lIns="0" tIns="0" rIns="0" bIns="0" rtlCol="0" anchor="ctr"/>
          <a:lstStyle/>
          <a:p>
            <a:pPr indent="0" marL="0">
              <a:lnSpc>
                <a:spcPct val="120000"/>
              </a:lnSpc>
              <a:buNone/>
            </a:pPr>
            <a:r>
              <a:rPr lang="en-US" sz="1250" dirty="0">
                <a:solidFill>
                  <a:srgbClr val="1B2733"/>
                </a:solidFill>
                <a:latin typeface="Calibri" pitchFamily="34" charset="0"/>
                <a:ea typeface="Calibri" pitchFamily="34" charset="-122"/>
                <a:cs typeface="Calibri" pitchFamily="34" charset="-120"/>
              </a:rPr>
              <a:t>Персоне «Менеджер» назначен домен «Финтех» (6.1). Пользователю на карточке назначена персона «Менеджер» (6.2). Результат: пользователь наследует домен «Финтех» — так же, как если бы он был назначен ему напрямую.</a:t>
            </a:r>
            <a:endParaRPr lang="en-US" sz="1250" dirty="0"/>
          </a:p>
        </p:txBody>
      </p:sp>
      <p:sp>
        <p:nvSpPr>
          <p:cNvPr id="29" name="Text 27"/>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30" name="Text 28"/>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05 · СПОСОБ 2 — ЧЕРЕЗ ПЕРСОНУ</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Где это настраивается: Граф доступа</a:t>
            </a:r>
            <a:endParaRPr lang="en-US" sz="2800" dirty="0"/>
          </a:p>
        </p:txBody>
      </p:sp>
      <p:sp>
        <p:nvSpPr>
          <p:cNvPr id="4" name="Text 2"/>
          <p:cNvSpPr txBox="1"/>
          <p:nvPr/>
        </p:nvSpPr>
        <p:spPr>
          <a:xfrm>
            <a:off x="548640" y="1371600"/>
            <a:ext cx="11094415" cy="320040"/>
          </a:xfrm>
          <a:prstGeom prst="rect">
            <a:avLst/>
          </a:prstGeom>
          <a:noFill/>
          <a:ln/>
        </p:spPr>
        <p:txBody>
          <a:bodyPr wrap="square" lIns="0" tIns="0" rIns="0" bIns="0" rtlCol="0" anchor="ctr"/>
          <a:lstStyle/>
          <a:p>
            <a:pPr indent="0" marL="0">
              <a:buNone/>
            </a:pPr>
            <a:r>
              <a:rPr lang="en-US" sz="1350" i="1" dirty="0">
                <a:solidFill>
                  <a:srgbClr val="51606E"/>
                </a:solidFill>
                <a:latin typeface="Calibri" pitchFamily="34" charset="0"/>
                <a:ea typeface="Calibri" pitchFamily="34" charset="-122"/>
                <a:cs typeface="Calibri" pitchFamily="34" charset="-120"/>
              </a:rPr>
              <a:t>Путь: Управление данными → Граф доступа → Политики доступа</a:t>
            </a:r>
            <a:endParaRPr lang="en-US" sz="1350" dirty="0"/>
          </a:p>
        </p:txBody>
      </p:sp>
      <p:sp>
        <p:nvSpPr>
          <p:cNvPr id="5" name="Shape 3"/>
          <p:cNvSpPr/>
          <p:nvPr/>
        </p:nvSpPr>
        <p:spPr>
          <a:xfrm>
            <a:off x="548640" y="1828800"/>
            <a:ext cx="384048" cy="384048"/>
          </a:xfrm>
          <a:prstGeom prst="roundRect">
            <a:avLst>
              <a:gd name="adj" fmla="val 19048"/>
            </a:avLst>
          </a:prstGeom>
          <a:solidFill>
            <a:srgbClr val="1C7293"/>
          </a:solidFill>
          <a:ln/>
        </p:spPr>
      </p:sp>
      <p:sp>
        <p:nvSpPr>
          <p:cNvPr id="6" name="Text 4"/>
          <p:cNvSpPr txBox="1"/>
          <p:nvPr/>
        </p:nvSpPr>
        <p:spPr>
          <a:xfrm>
            <a:off x="548640"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15568" y="1810512"/>
            <a:ext cx="10527487" cy="438912"/>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На вкладке «Политики доступа» выбрать Тип — «Персона» и саму персону (например, «Менеджер»).</a:t>
            </a:r>
            <a:endParaRPr lang="en-US" sz="1350" dirty="0"/>
          </a:p>
        </p:txBody>
      </p:sp>
      <p:sp>
        <p:nvSpPr>
          <p:cNvPr id="8" name="Shape 6"/>
          <p:cNvSpPr/>
          <p:nvPr/>
        </p:nvSpPr>
        <p:spPr>
          <a:xfrm>
            <a:off x="548640" y="2359152"/>
            <a:ext cx="384048" cy="384048"/>
          </a:xfrm>
          <a:prstGeom prst="roundRect">
            <a:avLst>
              <a:gd name="adj" fmla="val 19048"/>
            </a:avLst>
          </a:prstGeom>
          <a:solidFill>
            <a:srgbClr val="1C7293"/>
          </a:solidFill>
          <a:ln/>
        </p:spPr>
      </p:sp>
      <p:sp>
        <p:nvSpPr>
          <p:cNvPr id="9" name="Text 7"/>
          <p:cNvSpPr txBox="1"/>
          <p:nvPr/>
        </p:nvSpPr>
        <p:spPr>
          <a:xfrm>
            <a:off x="548640" y="23591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15568" y="2340864"/>
            <a:ext cx="10527487" cy="438912"/>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В блоке «Разрешённые домены» добавить нужный домен(ы) — так же, как теги.</a:t>
            </a:r>
            <a:endParaRPr lang="en-US" sz="1350" dirty="0"/>
          </a:p>
        </p:txBody>
      </p:sp>
      <p:sp>
        <p:nvSpPr>
          <p:cNvPr id="11" name="Shape 9"/>
          <p:cNvSpPr/>
          <p:nvPr/>
        </p:nvSpPr>
        <p:spPr>
          <a:xfrm>
            <a:off x="548640" y="2889504"/>
            <a:ext cx="384048" cy="384048"/>
          </a:xfrm>
          <a:prstGeom prst="roundRect">
            <a:avLst>
              <a:gd name="adj" fmla="val 19048"/>
            </a:avLst>
          </a:prstGeom>
          <a:solidFill>
            <a:srgbClr val="1C7293"/>
          </a:solidFill>
          <a:ln/>
        </p:spPr>
      </p:sp>
      <p:sp>
        <p:nvSpPr>
          <p:cNvPr id="12" name="Text 10"/>
          <p:cNvSpPr txBox="1"/>
          <p:nvPr/>
        </p:nvSpPr>
        <p:spPr>
          <a:xfrm>
            <a:off x="548640" y="28895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115568" y="2871216"/>
            <a:ext cx="10527487" cy="438912"/>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Сохранить.</a:t>
            </a:r>
            <a:endParaRPr lang="en-US" sz="1350" dirty="0"/>
          </a:p>
        </p:txBody>
      </p:sp>
      <p:sp>
        <p:nvSpPr>
          <p:cNvPr id="14" name="Shape 12"/>
          <p:cNvSpPr/>
          <p:nvPr/>
        </p:nvSpPr>
        <p:spPr>
          <a:xfrm>
            <a:off x="548640" y="3511296"/>
            <a:ext cx="11094415" cy="777240"/>
          </a:xfrm>
          <a:prstGeom prst="roundRect">
            <a:avLst>
              <a:gd name="adj" fmla="val 10588"/>
            </a:avLst>
          </a:prstGeom>
          <a:solidFill>
            <a:srgbClr val="DCEAF0"/>
          </a:solidFill>
          <a:ln w="12700">
            <a:solidFill>
              <a:srgbClr val="CBDEE6"/>
            </a:solidFill>
            <a:prstDash val="solid"/>
          </a:ln>
        </p:spPr>
      </p:sp>
      <p:sp>
        <p:nvSpPr>
          <p:cNvPr id="15" name="Text 13"/>
          <p:cNvSpPr txBox="1"/>
          <p:nvPr/>
        </p:nvSpPr>
        <p:spPr>
          <a:xfrm>
            <a:off x="822960" y="3511296"/>
            <a:ext cx="10545775" cy="777240"/>
          </a:xfrm>
          <a:prstGeom prst="rect">
            <a:avLst/>
          </a:prstGeom>
          <a:noFill/>
          <a:ln/>
        </p:spPr>
        <p:txBody>
          <a:bodyPr wrap="square" lIns="0" tIns="0" rIns="0" bIns="0" rtlCol="0" anchor="ctr"/>
          <a:lstStyle/>
          <a:p>
            <a:pPr indent="0" marL="0">
              <a:lnSpc>
                <a:spcPct val="120000"/>
              </a:lnSpc>
              <a:buNone/>
            </a:pPr>
            <a:r>
              <a:rPr lang="en-US" sz="1350" dirty="0">
                <a:solidFill>
                  <a:srgbClr val="1B2733"/>
                </a:solidFill>
                <a:latin typeface="Calibri" pitchFamily="34" charset="0"/>
                <a:ea typeface="Calibri" pitchFamily="34" charset="-122"/>
                <a:cs typeface="Calibri" pitchFamily="34" charset="-120"/>
              </a:rPr>
              <a:t>Домены записываются в поле </a:t>
            </a:r>
            <a:pPr indent="0" marL="0">
              <a:lnSpc>
                <a:spcPct val="120000"/>
              </a:lnSpc>
              <a:buNone/>
            </a:pPr>
            <a:r>
              <a:rPr lang="en-US" sz="1350" b="1" dirty="0">
                <a:solidFill>
                  <a:srgbClr val="21295C"/>
                </a:solidFill>
                <a:latin typeface="Courier New" pitchFamily="34" charset="0"/>
                <a:ea typeface="Courier New" pitchFamily="34" charset="-122"/>
                <a:cs typeface="Courier New" pitchFamily="34" charset="-120"/>
              </a:rPr>
              <a:t>allowedDomains</a:t>
            </a:r>
            <a:pPr indent="0" marL="0">
              <a:lnSpc>
                <a:spcPct val="120000"/>
              </a:lnSpc>
              <a:buNone/>
            </a:pPr>
            <a:r>
              <a:rPr lang="en-US" sz="1350" dirty="0">
                <a:solidFill>
                  <a:srgbClr val="1B2733"/>
                </a:solidFill>
                <a:latin typeface="Calibri" pitchFamily="34" charset="0"/>
                <a:ea typeface="Calibri" pitchFamily="34" charset="-122"/>
                <a:cs typeface="Calibri" pitchFamily="34" charset="-120"/>
              </a:rPr>
              <a:t> персоны и объединяются с доменами команд пользователя в общем JWT-токене.</a:t>
            </a:r>
            <a:endParaRPr lang="en-US" sz="1350" dirty="0"/>
          </a:p>
        </p:txBody>
      </p:sp>
      <p:sp>
        <p:nvSpPr>
          <p:cNvPr id="16" name="Shape 14"/>
          <p:cNvSpPr/>
          <p:nvPr/>
        </p:nvSpPr>
        <p:spPr>
          <a:xfrm>
            <a:off x="548640" y="4425696"/>
            <a:ext cx="11094415" cy="1051560"/>
          </a:xfrm>
          <a:prstGeom prst="roundRect">
            <a:avLst>
              <a:gd name="adj" fmla="val 7826"/>
            </a:avLst>
          </a:prstGeom>
          <a:solidFill>
            <a:srgbClr val="FBF0DC"/>
          </a:solidFill>
          <a:ln w="12700">
            <a:solidFill>
              <a:srgbClr val="8A5A10"/>
            </a:solidFill>
            <a:prstDash val="solid"/>
          </a:ln>
        </p:spPr>
      </p:sp>
      <p:sp>
        <p:nvSpPr>
          <p:cNvPr id="17" name="Text 15"/>
          <p:cNvSpPr txBox="1"/>
          <p:nvPr/>
        </p:nvSpPr>
        <p:spPr>
          <a:xfrm>
            <a:off x="822960" y="4535424"/>
            <a:ext cx="10545775" cy="274320"/>
          </a:xfrm>
          <a:prstGeom prst="rect">
            <a:avLst/>
          </a:prstGeom>
          <a:noFill/>
          <a:ln/>
        </p:spPr>
        <p:txBody>
          <a:bodyPr wrap="square" lIns="0" tIns="0" rIns="0" bIns="0" rtlCol="0" anchor="ctr"/>
          <a:lstStyle/>
          <a:p>
            <a:pPr indent="0" marL="0">
              <a:buNone/>
            </a:pPr>
            <a:r>
              <a:rPr lang="en-US" sz="1100" b="1" spc="50" kern="0" dirty="0">
                <a:solidFill>
                  <a:srgbClr val="8A5A10"/>
                </a:solidFill>
                <a:latin typeface="Calibri" pitchFamily="34" charset="0"/>
                <a:ea typeface="Calibri" pitchFamily="34" charset="-122"/>
                <a:cs typeface="Calibri" pitchFamily="34" charset="-120"/>
              </a:rPr>
              <a:t>НЕ ПУТАТЬ С «НАСТРОИТЬ ИНТЕРФЕЙС»</a:t>
            </a:r>
            <a:endParaRPr lang="en-US" sz="1100" dirty="0"/>
          </a:p>
        </p:txBody>
      </p:sp>
      <p:sp>
        <p:nvSpPr>
          <p:cNvPr id="18" name="Text 16"/>
          <p:cNvSpPr txBox="1"/>
          <p:nvPr/>
        </p:nvSpPr>
        <p:spPr>
          <a:xfrm>
            <a:off x="822960" y="4791456"/>
            <a:ext cx="10545775" cy="685800"/>
          </a:xfrm>
          <a:prstGeom prst="rect">
            <a:avLst/>
          </a:prstGeom>
          <a:noFill/>
          <a:ln/>
        </p:spPr>
        <p:txBody>
          <a:bodyPr wrap="square" lIns="0" tIns="0" rIns="0" bIns="0" rtlCol="0" anchor="ctr"/>
          <a:lstStyle/>
          <a:p>
            <a:pPr indent="0" marL="0">
              <a:lnSpc>
                <a:spcPct val="120000"/>
              </a:lnSpc>
              <a:buNone/>
            </a:pPr>
            <a:r>
              <a:rPr lang="en-US" sz="1250" dirty="0">
                <a:solidFill>
                  <a:srgbClr val="1B2733"/>
                </a:solidFill>
                <a:latin typeface="Calibri" pitchFamily="34" charset="0"/>
                <a:ea typeface="Calibri" pitchFamily="34" charset="-122"/>
                <a:cs typeface="Calibri" pitchFamily="34" charset="-120"/>
              </a:rPr>
              <a:t>Вкладка «Настроить интерфейс» на карточке персоны к домену отношения не имеет — она задаёт только шаблон страниц (какие вкладки и виджеты видны). Привязка домена к персоне выполняется исключительно на экране Граф доступа → Политики доступа.</a:t>
            </a:r>
            <a:endParaRPr lang="en-US" sz="1250" dirty="0"/>
          </a:p>
        </p:txBody>
      </p:sp>
      <p:sp>
        <p:nvSpPr>
          <p:cNvPr id="19" name="Text 17"/>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20" name="Text 18"/>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СРАВНЕНИЕ</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Способ 1 vs Способ 2 — что выбрать</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3931920"/>
        </p:xfrm>
        <a:graphic>
          <a:graphicData uri="http://schemas.openxmlformats.org/drawingml/2006/table">
            <a:tbl>
              <a:tblPr/>
              <a:tblGrid>
                <a:gridCol w="1828800"/>
                <a:gridCol w="4480560"/>
                <a:gridCol w="4453128"/>
              </a:tblGrid>
              <a:tr h="457200">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Способ 1 — напрямую</a:t>
                      </a:r>
                      <a:endParaRPr lang="en-US" sz="13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Способ 2 — через Персону</a:t>
                      </a:r>
                      <a:endParaRPr lang="en-US" sz="13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solidFill>
                      <a:srgbClr val="1C7293"/>
                    </a:solidFill>
                  </a:tcPr>
                </a:tc>
              </a:tr>
              <a:tr h="1051560">
                <a:tc>
                  <a:txBody>
                    <a:bodyPr/>
                    <a:lstStyle/>
                    <a:p>
                      <a:pPr indent="0" marL="0">
                        <a:buNone/>
                      </a:pPr>
                      <a:r>
                        <a:rPr lang="en-US" sz="1300" b="1" dirty="0">
                          <a:solidFill>
                            <a:srgbClr val="21295C"/>
                          </a:solidFill>
                          <a:latin typeface="Calibri" pitchFamily="34" charset="0"/>
                          <a:ea typeface="Calibri" pitchFamily="34" charset="-122"/>
                          <a:cs typeface="Calibri" pitchFamily="34" charset="-120"/>
                        </a:rPr>
                        <a:t>Как работает</a:t>
                      </a:r>
                      <a:endParaRPr lang="en-US" sz="13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solidFill>
                      <a:srgbClr val="EAF2F6"/>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Домен назначается пользователю или команде напрямую, плюс роль Domain Only Access Role</a:t>
                      </a:r>
                      <a:endParaRPr lang="en-US" sz="13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Домен назначается Персоне (типовой роли — «Менеджер», «Аналитик»), персона привязывается к пользователю</a:t>
                      </a:r>
                      <a:endParaRPr lang="en-US" sz="13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914400">
                <a:tc>
                  <a:txBody>
                    <a:bodyPr/>
                    <a:lstStyle/>
                    <a:p>
                      <a:pPr indent="0" marL="0">
                        <a:buNone/>
                      </a:pPr>
                      <a:r>
                        <a:rPr lang="en-US" sz="1300" b="1" dirty="0">
                          <a:solidFill>
                            <a:srgbClr val="21295C"/>
                          </a:solidFill>
                          <a:latin typeface="Calibri" pitchFamily="34" charset="0"/>
                          <a:ea typeface="Calibri" pitchFamily="34" charset="-122"/>
                          <a:cs typeface="Calibri" pitchFamily="34" charset="-120"/>
                        </a:rPr>
                        <a:t>Что настраивается</a:t>
                      </a:r>
                      <a:endParaRPr lang="en-US" sz="13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solidFill>
                      <a:srgbClr val="EAF2F6"/>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Домен и роль — каждому пользователю или команде отдельно</a:t>
                      </a:r>
                      <a:endParaRPr lang="en-US" sz="13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Домены — один раз на Персоне; дальше достаточно назначить готовую персону</a:t>
                      </a:r>
                      <a:endParaRPr lang="en-US" sz="13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r h="1005840">
                <a:tc>
                  <a:txBody>
                    <a:bodyPr/>
                    <a:lstStyle/>
                    <a:p>
                      <a:pPr indent="0" marL="0">
                        <a:buNone/>
                      </a:pPr>
                      <a:r>
                        <a:rPr lang="en-US" sz="1300" b="1" dirty="0">
                          <a:solidFill>
                            <a:srgbClr val="21295C"/>
                          </a:solidFill>
                          <a:latin typeface="Calibri" pitchFamily="34" charset="0"/>
                          <a:ea typeface="Calibri" pitchFamily="34" charset="-122"/>
                          <a:cs typeface="Calibri" pitchFamily="34" charset="-120"/>
                        </a:rPr>
                        <a:t>Когда удобнее</a:t>
                      </a:r>
                      <a:endParaRPr lang="en-US" sz="13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solidFill>
                      <a:srgbClr val="EAF2F6"/>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Нужно точечно дать доступ одному человеку или одной команде</a:t>
                      </a:r>
                      <a:endParaRPr lang="en-US" sz="13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В компании уже есть устоявшиеся роли, и один и тот же доступ нужно раздавать многим людям по этой роли</a:t>
                      </a:r>
                      <a:endParaRPr lang="en-US" sz="1300" dirty="0">
                        <a:latin typeface="Calibri" charset="0"/>
                        <a:ea typeface="Calibri" charset="0"/>
                        <a:cs typeface="Calibri" charset="0"/>
                      </a:endParaRPr>
                    </a:p>
                  </a:txBody>
                  <a:tcPr marL="91440" marR="91440" marT="45720" marB="45720" anchor="ctr">
                    <a:lnL w="9525" cap="flat" cmpd="sng" algn="ctr">
                      <a:solidFill>
                        <a:srgbClr val="CBDEE6"/>
                      </a:solidFill>
                      <a:prstDash val="solid"/>
                      <a:round/>
                      <a:headEnd type="none" w="med" len="med"/>
                      <a:tailEnd type="none" w="med" len="med"/>
                    </a:lnL>
                    <a:lnR w="9525" cap="flat" cmpd="sng" algn="ctr">
                      <a:solidFill>
                        <a:srgbClr val="CBDEE6"/>
                      </a:solidFill>
                      <a:prstDash val="solid"/>
                      <a:round/>
                      <a:headEnd type="none" w="med" len="med"/>
                      <a:tailEnd type="none" w="med" len="med"/>
                    </a:lnR>
                    <a:lnT w="9525" cap="flat" cmpd="sng" algn="ctr">
                      <a:solidFill>
                        <a:srgbClr val="CBDEE6"/>
                      </a:solidFill>
                      <a:prstDash val="solid"/>
                      <a:round/>
                      <a:headEnd type="none" w="med" len="med"/>
                      <a:tailEnd type="none" w="med" len="med"/>
                    </a:lnT>
                    <a:lnB w="9525" cap="flat" cmpd="sng" algn="ctr">
                      <a:solidFill>
                        <a:srgbClr val="CBDEE6"/>
                      </a:solidFill>
                      <a:prstDash val="solid"/>
                      <a:round/>
                      <a:headEnd type="none" w="med" len="med"/>
                      <a:tailEnd type="none" w="med" len="med"/>
                    </a:lnB>
                  </a:tcPr>
                </a:tc>
              </a:tr>
            </a:tbl>
          </a:graphicData>
        </a:graphic>
      </p:graphicFrame>
      <p:sp>
        <p:nvSpPr>
          <p:cNvPr id="5" name="Shape 2"/>
          <p:cNvSpPr/>
          <p:nvPr/>
        </p:nvSpPr>
        <p:spPr>
          <a:xfrm>
            <a:off x="548640" y="5577840"/>
            <a:ext cx="11094415" cy="594360"/>
          </a:xfrm>
          <a:prstGeom prst="roundRect">
            <a:avLst>
              <a:gd name="adj" fmla="val 13846"/>
            </a:avLst>
          </a:prstGeom>
          <a:solidFill>
            <a:srgbClr val="DCEAF0"/>
          </a:solidFill>
          <a:ln w="12700">
            <a:solidFill>
              <a:srgbClr val="CBDEE6"/>
            </a:solidFill>
            <a:prstDash val="solid"/>
          </a:ln>
        </p:spPr>
      </p:sp>
      <p:sp>
        <p:nvSpPr>
          <p:cNvPr id="6" name="Text 3"/>
          <p:cNvSpPr txBox="1"/>
          <p:nvPr/>
        </p:nvSpPr>
        <p:spPr>
          <a:xfrm>
            <a:off x="822960" y="5577840"/>
            <a:ext cx="10545775" cy="594360"/>
          </a:xfrm>
          <a:prstGeom prst="rect">
            <a:avLst/>
          </a:prstGeom>
          <a:noFill/>
          <a:ln/>
        </p:spPr>
        <p:txBody>
          <a:bodyPr wrap="square" lIns="0" tIns="0" rIns="0" bIns="0" rtlCol="0" anchor="ctr"/>
          <a:lstStyle/>
          <a:p>
            <a:pPr indent="0" marL="0">
              <a:buNone/>
            </a:pPr>
            <a:r>
              <a:rPr lang="en-US" sz="1350" i="1" dirty="0">
                <a:solidFill>
                  <a:srgbClr val="1B2733"/>
                </a:solidFill>
                <a:latin typeface="Calibri" pitchFamily="34" charset="0"/>
                <a:ea typeface="Calibri" pitchFamily="34" charset="-122"/>
                <a:cs typeface="Calibri" pitchFamily="34" charset="-120"/>
              </a:rPr>
              <a:t>Если не уверены, с чего начать — начните со Способа 1: он проще и подходит для точечных случаев.</a:t>
            </a:r>
            <a:endParaRPr lang="en-US" sz="1350" dirty="0"/>
          </a:p>
        </p:txBody>
      </p:sp>
      <p:sp>
        <p:nvSpPr>
          <p:cNvPr id="7" name="Text 4"/>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8" name="Text 5"/>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РЕКОМЕНДАЦИЯ ДЛЯ ПИЛОТА</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Для пилота используется Способ 1</a:t>
            </a:r>
            <a:endParaRPr lang="en-US" sz="2800" dirty="0"/>
          </a:p>
        </p:txBody>
      </p:sp>
      <p:sp>
        <p:nvSpPr>
          <p:cNvPr id="4" name="Shape 2"/>
          <p:cNvSpPr/>
          <p:nvPr/>
        </p:nvSpPr>
        <p:spPr>
          <a:xfrm>
            <a:off x="548640" y="1600200"/>
            <a:ext cx="11094415" cy="1417320"/>
          </a:xfrm>
          <a:prstGeom prst="roundRect">
            <a:avLst>
              <a:gd name="adj" fmla="val 7742"/>
            </a:avLst>
          </a:prstGeom>
          <a:solidFill>
            <a:srgbClr val="E1F1EA"/>
          </a:solidFill>
          <a:ln w="12700">
            <a:solidFill>
              <a:srgbClr val="1F7A5C"/>
            </a:solidFill>
            <a:prstDash val="solid"/>
          </a:ln>
        </p:spPr>
      </p:sp>
      <p:sp>
        <p:nvSpPr>
          <p:cNvPr id="5" name="Shape 3"/>
          <p:cNvSpPr/>
          <p:nvPr/>
        </p:nvSpPr>
        <p:spPr>
          <a:xfrm>
            <a:off x="868680" y="1920240"/>
            <a:ext cx="777240" cy="777240"/>
          </a:xfrm>
          <a:prstGeom prst="ellipse">
            <a:avLst/>
          </a:prstGeom>
          <a:solidFill>
            <a:srgbClr val="1F7A5C"/>
          </a:solidFill>
          <a:ln/>
        </p:spPr>
      </p:sp>
      <p:sp>
        <p:nvSpPr>
          <p:cNvPr id="6" name="Text 4"/>
          <p:cNvSpPr txBox="1"/>
          <p:nvPr/>
        </p:nvSpPr>
        <p:spPr>
          <a:xfrm>
            <a:off x="868680" y="1920240"/>
            <a:ext cx="777240" cy="77724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a:t>
            </a:r>
            <a:endParaRPr lang="en-US" sz="3400" dirty="0"/>
          </a:p>
        </p:txBody>
      </p:sp>
      <p:sp>
        <p:nvSpPr>
          <p:cNvPr id="7" name="Text 5"/>
          <p:cNvSpPr txBox="1"/>
          <p:nvPr/>
        </p:nvSpPr>
        <p:spPr>
          <a:xfrm>
            <a:off x="1874520" y="1965960"/>
            <a:ext cx="9448495" cy="411480"/>
          </a:xfrm>
          <a:prstGeom prst="rect">
            <a:avLst/>
          </a:prstGeom>
          <a:noFill/>
          <a:ln/>
        </p:spPr>
        <p:txBody>
          <a:bodyPr wrap="square" lIns="0" tIns="0" rIns="0" bIns="0" rtlCol="0" anchor="ctr"/>
          <a:lstStyle/>
          <a:p>
            <a:pPr indent="0" marL="0">
              <a:buNone/>
            </a:pPr>
            <a:r>
              <a:rPr lang="en-US" sz="1900" b="1" dirty="0">
                <a:solidFill>
                  <a:srgbClr val="1F7A5C"/>
                </a:solidFill>
                <a:latin typeface="Cambria" pitchFamily="34" charset="0"/>
                <a:ea typeface="Cambria" pitchFamily="34" charset="-122"/>
                <a:cs typeface="Cambria" pitchFamily="34" charset="-120"/>
              </a:rPr>
              <a:t>Способ 1 — напрямую пользователю/команде</a:t>
            </a:r>
            <a:endParaRPr lang="en-US" sz="1900" dirty="0"/>
          </a:p>
        </p:txBody>
      </p:sp>
      <p:sp>
        <p:nvSpPr>
          <p:cNvPr id="8" name="Text 6"/>
          <p:cNvSpPr txBox="1"/>
          <p:nvPr/>
        </p:nvSpPr>
        <p:spPr>
          <a:xfrm>
            <a:off x="1874520" y="2423160"/>
            <a:ext cx="9448495" cy="502920"/>
          </a:xfrm>
          <a:prstGeom prst="rect">
            <a:avLst/>
          </a:prstGeom>
          <a:noFill/>
          <a:ln/>
        </p:spPr>
        <p:txBody>
          <a:bodyPr wrap="square" lIns="0" tIns="0" rIns="0" bIns="0" rtlCol="0" anchor="ctr"/>
          <a:lstStyle/>
          <a:p>
            <a:pPr indent="0" marL="0">
              <a:lnSpc>
                <a:spcPct val="120000"/>
              </a:lnSpc>
              <a:buNone/>
            </a:pPr>
            <a:r>
              <a:rPr lang="en-US" sz="1400" dirty="0">
                <a:solidFill>
                  <a:srgbClr val="1B2733"/>
                </a:solidFill>
                <a:latin typeface="Calibri" pitchFamily="34" charset="0"/>
                <a:ea typeface="Calibri" pitchFamily="34" charset="-122"/>
                <a:cs typeface="Calibri" pitchFamily="34" charset="-120"/>
              </a:rPr>
              <a:t>Домен на профиле/команде + роль Domain Only Access Role — именно эта связка используется в пилотном проекте.</a:t>
            </a:r>
            <a:endParaRPr lang="en-US" sz="1400" dirty="0"/>
          </a:p>
        </p:txBody>
      </p:sp>
      <p:sp>
        <p:nvSpPr>
          <p:cNvPr id="9" name="Text 7"/>
          <p:cNvSpPr txBox="1"/>
          <p:nvPr/>
        </p:nvSpPr>
        <p:spPr>
          <a:xfrm>
            <a:off x="548640" y="3246120"/>
            <a:ext cx="11094415" cy="320040"/>
          </a:xfrm>
          <a:prstGeom prst="rect">
            <a:avLst/>
          </a:prstGeom>
          <a:noFill/>
          <a:ln/>
        </p:spPr>
        <p:txBody>
          <a:bodyPr wrap="square" lIns="0" tIns="0" rIns="0" bIns="0" rtlCol="0" anchor="ctr"/>
          <a:lstStyle/>
          <a:p>
            <a:pPr indent="0" marL="0">
              <a:buNone/>
            </a:pPr>
            <a:r>
              <a:rPr lang="en-US" sz="1400" b="1" dirty="0">
                <a:solidFill>
                  <a:srgbClr val="51606E"/>
                </a:solidFill>
                <a:latin typeface="Calibri" pitchFamily="34" charset="0"/>
                <a:ea typeface="Calibri" pitchFamily="34" charset="-122"/>
                <a:cs typeface="Calibri" pitchFamily="34" charset="-120"/>
              </a:rPr>
              <a:t>Почему именно так:</a:t>
            </a:r>
            <a:endParaRPr lang="en-US" sz="1400" dirty="0"/>
          </a:p>
        </p:txBody>
      </p:sp>
      <p:sp>
        <p:nvSpPr>
          <p:cNvPr id="10" name="Shape 8"/>
          <p:cNvSpPr/>
          <p:nvPr/>
        </p:nvSpPr>
        <p:spPr>
          <a:xfrm>
            <a:off x="548640" y="3685032"/>
            <a:ext cx="219456" cy="219456"/>
          </a:xfrm>
          <a:prstGeom prst="ellipse">
            <a:avLst/>
          </a:prstGeom>
          <a:solidFill>
            <a:srgbClr val="065A82"/>
          </a:solidFill>
          <a:ln/>
        </p:spPr>
      </p:sp>
      <p:sp>
        <p:nvSpPr>
          <p:cNvPr id="11" name="Text 9"/>
          <p:cNvSpPr txBox="1"/>
          <p:nvPr/>
        </p:nvSpPr>
        <p:spPr>
          <a:xfrm>
            <a:off x="914400" y="3584448"/>
            <a:ext cx="10728655" cy="548640"/>
          </a:xfrm>
          <a:prstGeom prst="rect">
            <a:avLst/>
          </a:prstGeom>
          <a:noFill/>
          <a:ln/>
        </p:spPr>
        <p:txBody>
          <a:bodyPr wrap="square" lIns="0" tIns="0" rIns="0" bIns="0" rtlCol="0" anchor="ctr"/>
          <a:lstStyle/>
          <a:p>
            <a:pPr indent="0" marL="0">
              <a:lnSpc>
                <a:spcPct val="120000"/>
              </a:lnSpc>
              <a:buNone/>
            </a:pPr>
            <a:r>
              <a:rPr lang="en-US" sz="1400" dirty="0">
                <a:solidFill>
                  <a:srgbClr val="1B2733"/>
                </a:solidFill>
                <a:latin typeface="Calibri" pitchFamily="34" charset="0"/>
                <a:ea typeface="Calibri" pitchFamily="34" charset="-122"/>
                <a:cs typeface="Calibri" pitchFamily="34" charset="-120"/>
              </a:rPr>
              <a:t>Проще и прямее — не требует предварительно выстраивать ролевую модель персон.</a:t>
            </a:r>
            <a:endParaRPr lang="en-US" sz="1400" dirty="0"/>
          </a:p>
        </p:txBody>
      </p:sp>
      <p:sp>
        <p:nvSpPr>
          <p:cNvPr id="12" name="Shape 10"/>
          <p:cNvSpPr/>
          <p:nvPr/>
        </p:nvSpPr>
        <p:spPr>
          <a:xfrm>
            <a:off x="548640" y="4343400"/>
            <a:ext cx="219456" cy="219456"/>
          </a:xfrm>
          <a:prstGeom prst="ellipse">
            <a:avLst/>
          </a:prstGeom>
          <a:solidFill>
            <a:srgbClr val="065A82"/>
          </a:solidFill>
          <a:ln/>
        </p:spPr>
      </p:sp>
      <p:sp>
        <p:nvSpPr>
          <p:cNvPr id="13" name="Text 11"/>
          <p:cNvSpPr txBox="1"/>
          <p:nvPr/>
        </p:nvSpPr>
        <p:spPr>
          <a:xfrm>
            <a:off x="914400" y="4242816"/>
            <a:ext cx="10728655" cy="548640"/>
          </a:xfrm>
          <a:prstGeom prst="rect">
            <a:avLst/>
          </a:prstGeom>
          <a:noFill/>
          <a:ln/>
        </p:spPr>
        <p:txBody>
          <a:bodyPr wrap="square" lIns="0" tIns="0" rIns="0" bIns="0" rtlCol="0" anchor="ctr"/>
          <a:lstStyle/>
          <a:p>
            <a:pPr indent="0" marL="0">
              <a:lnSpc>
                <a:spcPct val="120000"/>
              </a:lnSpc>
              <a:buNone/>
            </a:pPr>
            <a:r>
              <a:rPr lang="en-US" sz="1400" dirty="0">
                <a:solidFill>
                  <a:srgbClr val="1B2733"/>
                </a:solidFill>
                <a:latin typeface="Calibri" pitchFamily="34" charset="0"/>
                <a:ea typeface="Calibri" pitchFamily="34" charset="-122"/>
                <a:cs typeface="Calibri" pitchFamily="34" charset="-120"/>
              </a:rPr>
              <a:t>Подходит для точечных случаев: конкретные тестовые пользователи, конкретные команды пилота.</a:t>
            </a:r>
            <a:endParaRPr lang="en-US" sz="1400" dirty="0"/>
          </a:p>
        </p:txBody>
      </p:sp>
      <p:sp>
        <p:nvSpPr>
          <p:cNvPr id="14" name="Shape 12"/>
          <p:cNvSpPr/>
          <p:nvPr/>
        </p:nvSpPr>
        <p:spPr>
          <a:xfrm>
            <a:off x="548640" y="5001768"/>
            <a:ext cx="219456" cy="219456"/>
          </a:xfrm>
          <a:prstGeom prst="ellipse">
            <a:avLst/>
          </a:prstGeom>
          <a:solidFill>
            <a:srgbClr val="065A82"/>
          </a:solidFill>
          <a:ln/>
        </p:spPr>
      </p:sp>
      <p:sp>
        <p:nvSpPr>
          <p:cNvPr id="15" name="Text 13"/>
          <p:cNvSpPr txBox="1"/>
          <p:nvPr/>
        </p:nvSpPr>
        <p:spPr>
          <a:xfrm>
            <a:off x="914400" y="4901184"/>
            <a:ext cx="10728655" cy="548640"/>
          </a:xfrm>
          <a:prstGeom prst="rect">
            <a:avLst/>
          </a:prstGeom>
          <a:noFill/>
          <a:ln/>
        </p:spPr>
        <p:txBody>
          <a:bodyPr wrap="square" lIns="0" tIns="0" rIns="0" bIns="0" rtlCol="0" anchor="ctr"/>
          <a:lstStyle/>
          <a:p>
            <a:pPr indent="0" marL="0">
              <a:lnSpc>
                <a:spcPct val="120000"/>
              </a:lnSpc>
              <a:buNone/>
            </a:pPr>
            <a:r>
              <a:rPr lang="en-US" sz="1400" dirty="0">
                <a:solidFill>
                  <a:srgbClr val="1B2733"/>
                </a:solidFill>
                <a:latin typeface="Calibri" pitchFamily="34" charset="0"/>
                <a:ea typeface="Calibri" pitchFamily="34" charset="-122"/>
                <a:cs typeface="Calibri" pitchFamily="34" charset="-120"/>
              </a:rPr>
              <a:t>Способ 2 (через Персону) оправдан, когда типовых ролей и пользователей становится много — на пилоте это ещё не критично.</a:t>
            </a:r>
            <a:endParaRPr lang="en-US" sz="1400" dirty="0"/>
          </a:p>
        </p:txBody>
      </p:sp>
      <p:sp>
        <p:nvSpPr>
          <p:cNvPr id="16" name="Text 14"/>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17" name="Text 15"/>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06 · ЧАСТЫЕ ЗАБЛУЖДЕНИЯ (1/2)</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Что НЕ даёт доступа</a:t>
            </a:r>
            <a:endParaRPr lang="en-US" sz="2800" dirty="0"/>
          </a:p>
        </p:txBody>
      </p:sp>
      <p:sp>
        <p:nvSpPr>
          <p:cNvPr id="4" name="Shape 2"/>
          <p:cNvSpPr/>
          <p:nvPr/>
        </p:nvSpPr>
        <p:spPr>
          <a:xfrm>
            <a:off x="548640" y="1508760"/>
            <a:ext cx="5318608" cy="4434840"/>
          </a:xfrm>
          <a:prstGeom prst="roundRect">
            <a:avLst>
              <a:gd name="adj" fmla="val 1856"/>
            </a:avLst>
          </a:prstGeom>
          <a:solidFill>
            <a:srgbClr val="FFFFFF"/>
          </a:solidFill>
          <a:ln w="15875">
            <a:solidFill>
              <a:srgbClr val="AE3B46"/>
            </a:solidFill>
            <a:prstDash val="solid"/>
          </a:ln>
        </p:spPr>
      </p:sp>
      <p:sp>
        <p:nvSpPr>
          <p:cNvPr id="5" name="Shape 3"/>
          <p:cNvSpPr/>
          <p:nvPr/>
        </p:nvSpPr>
        <p:spPr>
          <a:xfrm>
            <a:off x="548640" y="1508760"/>
            <a:ext cx="5318608" cy="502920"/>
          </a:xfrm>
          <a:prstGeom prst="roundRect">
            <a:avLst>
              <a:gd name="adj" fmla="val 16364"/>
            </a:avLst>
          </a:prstGeom>
          <a:solidFill>
            <a:srgbClr val="FBE9EA"/>
          </a:solidFill>
          <a:ln/>
        </p:spPr>
      </p:sp>
      <p:sp>
        <p:nvSpPr>
          <p:cNvPr id="6" name="Text 4"/>
          <p:cNvSpPr txBox="1"/>
          <p:nvPr/>
        </p:nvSpPr>
        <p:spPr>
          <a:xfrm>
            <a:off x="777240" y="1508760"/>
            <a:ext cx="4861408" cy="502920"/>
          </a:xfrm>
          <a:prstGeom prst="rect">
            <a:avLst/>
          </a:prstGeom>
          <a:noFill/>
          <a:ln/>
        </p:spPr>
        <p:txBody>
          <a:bodyPr wrap="square" lIns="0" tIns="0" rIns="0" bIns="0" rtlCol="0" anchor="ctr"/>
          <a:lstStyle/>
          <a:p>
            <a:pPr indent="0" marL="0">
              <a:buNone/>
            </a:pPr>
            <a:r>
              <a:rPr lang="en-US" sz="1500" b="1" dirty="0">
                <a:solidFill>
                  <a:srgbClr val="AE3B46"/>
                </a:solidFill>
                <a:latin typeface="Calibri" pitchFamily="34" charset="0"/>
                <a:ea typeface="Calibri" pitchFamily="34" charset="-122"/>
                <a:cs typeface="Calibri" pitchFamily="34" charset="-120"/>
              </a:rPr>
              <a:t>✗ Владельцы / Эксперты домена</a:t>
            </a:r>
            <a:endParaRPr lang="en-US" sz="1500" dirty="0"/>
          </a:p>
        </p:txBody>
      </p:sp>
      <p:sp>
        <p:nvSpPr>
          <p:cNvPr id="7" name="Text 5"/>
          <p:cNvSpPr txBox="1"/>
          <p:nvPr/>
        </p:nvSpPr>
        <p:spPr>
          <a:xfrm>
            <a:off x="777240" y="2148840"/>
            <a:ext cx="4861408" cy="274320"/>
          </a:xfrm>
          <a:prstGeom prst="rect">
            <a:avLst/>
          </a:prstGeom>
          <a:noFill/>
          <a:ln/>
        </p:spPr>
        <p:txBody>
          <a:bodyPr wrap="square" lIns="0" tIns="0" rIns="0" bIns="0" rtlCol="0" anchor="ctr"/>
          <a:lstStyle/>
          <a:p>
            <a:pPr indent="0" marL="0">
              <a:buNone/>
            </a:pPr>
            <a:r>
              <a:rPr lang="en-US" sz="1100" b="1" dirty="0">
                <a:solidFill>
                  <a:srgbClr val="7C8B98"/>
                </a:solidFill>
                <a:latin typeface="Calibri" pitchFamily="34" charset="0"/>
                <a:ea typeface="Calibri" pitchFamily="34" charset="-122"/>
                <a:cs typeface="Calibri" pitchFamily="34" charset="-120"/>
              </a:rPr>
              <a:t>Где находится</a:t>
            </a:r>
            <a:endParaRPr lang="en-US" sz="1100" dirty="0"/>
          </a:p>
        </p:txBody>
      </p:sp>
      <p:sp>
        <p:nvSpPr>
          <p:cNvPr id="8" name="Text 6"/>
          <p:cNvSpPr txBox="1"/>
          <p:nvPr/>
        </p:nvSpPr>
        <p:spPr>
          <a:xfrm>
            <a:off x="777240" y="2423160"/>
            <a:ext cx="4861408" cy="36576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Карточка домена (Data Marketplace)</a:t>
            </a:r>
            <a:endParaRPr lang="en-US" sz="1350" dirty="0"/>
          </a:p>
        </p:txBody>
      </p:sp>
      <p:sp>
        <p:nvSpPr>
          <p:cNvPr id="9" name="Text 7"/>
          <p:cNvSpPr txBox="1"/>
          <p:nvPr/>
        </p:nvSpPr>
        <p:spPr>
          <a:xfrm>
            <a:off x="777240" y="2926080"/>
            <a:ext cx="4861408" cy="274320"/>
          </a:xfrm>
          <a:prstGeom prst="rect">
            <a:avLst/>
          </a:prstGeom>
          <a:noFill/>
          <a:ln/>
        </p:spPr>
        <p:txBody>
          <a:bodyPr wrap="square" lIns="0" tIns="0" rIns="0" bIns="0" rtlCol="0" anchor="ctr"/>
          <a:lstStyle/>
          <a:p>
            <a:pPr indent="0" marL="0">
              <a:buNone/>
            </a:pPr>
            <a:r>
              <a:rPr lang="en-US" sz="1100" b="1" dirty="0">
                <a:solidFill>
                  <a:srgbClr val="7C8B98"/>
                </a:solidFill>
                <a:latin typeface="Calibri" pitchFamily="34" charset="0"/>
                <a:ea typeface="Calibri" pitchFamily="34" charset="-122"/>
                <a:cs typeface="Calibri" pitchFamily="34" charset="-120"/>
              </a:rPr>
              <a:t>Что реально делает</a:t>
            </a:r>
            <a:endParaRPr lang="en-US" sz="1100" dirty="0"/>
          </a:p>
        </p:txBody>
      </p:sp>
      <p:sp>
        <p:nvSpPr>
          <p:cNvPr id="10" name="Text 8"/>
          <p:cNvSpPr txBox="1"/>
          <p:nvPr/>
        </p:nvSpPr>
        <p:spPr>
          <a:xfrm>
            <a:off x="777240" y="3200400"/>
            <a:ext cx="4861408" cy="1005840"/>
          </a:xfrm>
          <a:prstGeom prst="rect">
            <a:avLst/>
          </a:prstGeom>
          <a:noFill/>
          <a:ln/>
        </p:spPr>
        <p:txBody>
          <a:bodyPr wrap="square" lIns="0" tIns="0" rIns="0" bIns="0" rtlCol="0" anchor="ctr"/>
          <a:lstStyle/>
          <a:p>
            <a:pPr indent="0" marL="0">
              <a:lnSpc>
                <a:spcPct val="125000"/>
              </a:lnSpc>
              <a:buNone/>
            </a:pPr>
            <a:r>
              <a:rPr lang="en-US" sz="1350" dirty="0">
                <a:solidFill>
                  <a:srgbClr val="1B2733"/>
                </a:solidFill>
                <a:latin typeface="Calibri" pitchFamily="34" charset="0"/>
                <a:ea typeface="Calibri" pitchFamily="34" charset="-122"/>
                <a:cs typeface="Calibri" pitchFamily="34" charset="-120"/>
              </a:rPr>
              <a:t>Организационная информация: кто отвечает за домен, к кому обращаться по содержанию. Доступа к данным НЕ даёт.</a:t>
            </a:r>
            <a:endParaRPr lang="en-US" sz="1350" dirty="0"/>
          </a:p>
        </p:txBody>
      </p:sp>
      <p:sp>
        <p:nvSpPr>
          <p:cNvPr id="11" name="Shape 9"/>
          <p:cNvSpPr/>
          <p:nvPr/>
        </p:nvSpPr>
        <p:spPr>
          <a:xfrm>
            <a:off x="777240" y="4343400"/>
            <a:ext cx="4861408" cy="0"/>
          </a:xfrm>
          <a:prstGeom prst="line">
            <a:avLst/>
          </a:prstGeom>
          <a:noFill/>
          <a:ln w="12700">
            <a:solidFill>
              <a:srgbClr val="CBDEE6"/>
            </a:solidFill>
            <a:prstDash val="solid"/>
          </a:ln>
        </p:spPr>
      </p:sp>
      <p:sp>
        <p:nvSpPr>
          <p:cNvPr id="12" name="Text 10"/>
          <p:cNvSpPr txBox="1"/>
          <p:nvPr/>
        </p:nvSpPr>
        <p:spPr>
          <a:xfrm>
            <a:off x="777240" y="4480560"/>
            <a:ext cx="4861408" cy="1280160"/>
          </a:xfrm>
          <a:prstGeom prst="rect">
            <a:avLst/>
          </a:prstGeom>
          <a:noFill/>
          <a:ln/>
        </p:spPr>
        <p:txBody>
          <a:bodyPr wrap="square" lIns="0" tIns="0" rIns="0" bIns="0" rtlCol="0" anchor="ctr"/>
          <a:lstStyle/>
          <a:p>
            <a:pPr indent="0" marL="0">
              <a:lnSpc>
                <a:spcPct val="125000"/>
              </a:lnSpc>
              <a:buNone/>
            </a:pPr>
            <a:r>
              <a:rPr lang="en-US" sz="1250" i="1" dirty="0">
                <a:solidFill>
                  <a:srgbClr val="51606E"/>
                </a:solidFill>
                <a:latin typeface="Calibri" pitchFamily="34" charset="0"/>
                <a:ea typeface="Calibri" pitchFamily="34" charset="-122"/>
                <a:cs typeface="Calibri" pitchFamily="34" charset="-120"/>
              </a:rPr>
              <a:t>Может быть и пользователем, и целой командой — но остаётся governance-полем.</a:t>
            </a:r>
            <a:endParaRPr lang="en-US" sz="1250" dirty="0"/>
          </a:p>
        </p:txBody>
      </p:sp>
      <p:sp>
        <p:nvSpPr>
          <p:cNvPr id="13" name="Shape 11"/>
          <p:cNvSpPr/>
          <p:nvPr/>
        </p:nvSpPr>
        <p:spPr>
          <a:xfrm>
            <a:off x="6324448" y="1508760"/>
            <a:ext cx="5318608" cy="4434840"/>
          </a:xfrm>
          <a:prstGeom prst="roundRect">
            <a:avLst>
              <a:gd name="adj" fmla="val 1856"/>
            </a:avLst>
          </a:prstGeom>
          <a:solidFill>
            <a:srgbClr val="FFFFFF"/>
          </a:solidFill>
          <a:ln w="15875">
            <a:solidFill>
              <a:srgbClr val="AE3B46"/>
            </a:solidFill>
            <a:prstDash val="solid"/>
          </a:ln>
        </p:spPr>
      </p:sp>
      <p:sp>
        <p:nvSpPr>
          <p:cNvPr id="14" name="Shape 12"/>
          <p:cNvSpPr/>
          <p:nvPr/>
        </p:nvSpPr>
        <p:spPr>
          <a:xfrm>
            <a:off x="6324448" y="1508760"/>
            <a:ext cx="5318608" cy="502920"/>
          </a:xfrm>
          <a:prstGeom prst="roundRect">
            <a:avLst>
              <a:gd name="adj" fmla="val 16364"/>
            </a:avLst>
          </a:prstGeom>
          <a:solidFill>
            <a:srgbClr val="FBE9EA"/>
          </a:solidFill>
          <a:ln/>
        </p:spPr>
      </p:sp>
      <p:sp>
        <p:nvSpPr>
          <p:cNvPr id="15" name="Text 13"/>
          <p:cNvSpPr txBox="1"/>
          <p:nvPr/>
        </p:nvSpPr>
        <p:spPr>
          <a:xfrm>
            <a:off x="6553048" y="1508760"/>
            <a:ext cx="4861408" cy="502920"/>
          </a:xfrm>
          <a:prstGeom prst="rect">
            <a:avLst/>
          </a:prstGeom>
          <a:noFill/>
          <a:ln/>
        </p:spPr>
        <p:txBody>
          <a:bodyPr wrap="square" lIns="0" tIns="0" rIns="0" bIns="0" rtlCol="0" anchor="ctr"/>
          <a:lstStyle/>
          <a:p>
            <a:pPr indent="0" marL="0">
              <a:buNone/>
            </a:pPr>
            <a:r>
              <a:rPr lang="en-US" sz="1500" b="1" dirty="0">
                <a:solidFill>
                  <a:srgbClr val="AE3B46"/>
                </a:solidFill>
                <a:latin typeface="Calibri" pitchFamily="34" charset="0"/>
                <a:ea typeface="Calibri" pitchFamily="34" charset="-122"/>
                <a:cs typeface="Calibri" pitchFamily="34" charset="-120"/>
              </a:rPr>
              <a:t>✗ Персона пользователя</a:t>
            </a:r>
            <a:endParaRPr lang="en-US" sz="1500" dirty="0"/>
          </a:p>
        </p:txBody>
      </p:sp>
      <p:sp>
        <p:nvSpPr>
          <p:cNvPr id="16" name="Text 14"/>
          <p:cNvSpPr txBox="1"/>
          <p:nvPr/>
        </p:nvSpPr>
        <p:spPr>
          <a:xfrm>
            <a:off x="6553048" y="2148840"/>
            <a:ext cx="4861408" cy="274320"/>
          </a:xfrm>
          <a:prstGeom prst="rect">
            <a:avLst/>
          </a:prstGeom>
          <a:noFill/>
          <a:ln/>
        </p:spPr>
        <p:txBody>
          <a:bodyPr wrap="square" lIns="0" tIns="0" rIns="0" bIns="0" rtlCol="0" anchor="ctr"/>
          <a:lstStyle/>
          <a:p>
            <a:pPr indent="0" marL="0">
              <a:buNone/>
            </a:pPr>
            <a:r>
              <a:rPr lang="en-US" sz="1100" b="1" dirty="0">
                <a:solidFill>
                  <a:srgbClr val="7C8B98"/>
                </a:solidFill>
                <a:latin typeface="Calibri" pitchFamily="34" charset="0"/>
                <a:ea typeface="Calibri" pitchFamily="34" charset="-122"/>
                <a:cs typeface="Calibri" pitchFamily="34" charset="-120"/>
              </a:rPr>
              <a:t>Где находится</a:t>
            </a:r>
            <a:endParaRPr lang="en-US" sz="1100" dirty="0"/>
          </a:p>
        </p:txBody>
      </p:sp>
      <p:sp>
        <p:nvSpPr>
          <p:cNvPr id="17" name="Text 15"/>
          <p:cNvSpPr txBox="1"/>
          <p:nvPr/>
        </p:nvSpPr>
        <p:spPr>
          <a:xfrm>
            <a:off x="6553048" y="2423160"/>
            <a:ext cx="4861408" cy="36576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Карточка пользователя, поле «Персона»</a:t>
            </a:r>
            <a:endParaRPr lang="en-US" sz="1350" dirty="0"/>
          </a:p>
        </p:txBody>
      </p:sp>
      <p:sp>
        <p:nvSpPr>
          <p:cNvPr id="18" name="Text 16"/>
          <p:cNvSpPr txBox="1"/>
          <p:nvPr/>
        </p:nvSpPr>
        <p:spPr>
          <a:xfrm>
            <a:off x="6553048" y="2926080"/>
            <a:ext cx="4861408" cy="274320"/>
          </a:xfrm>
          <a:prstGeom prst="rect">
            <a:avLst/>
          </a:prstGeom>
          <a:noFill/>
          <a:ln/>
        </p:spPr>
        <p:txBody>
          <a:bodyPr wrap="square" lIns="0" tIns="0" rIns="0" bIns="0" rtlCol="0" anchor="ctr"/>
          <a:lstStyle/>
          <a:p>
            <a:pPr indent="0" marL="0">
              <a:buNone/>
            </a:pPr>
            <a:r>
              <a:rPr lang="en-US" sz="1100" b="1" dirty="0">
                <a:solidFill>
                  <a:srgbClr val="7C8B98"/>
                </a:solidFill>
                <a:latin typeface="Calibri" pitchFamily="34" charset="0"/>
                <a:ea typeface="Calibri" pitchFamily="34" charset="-122"/>
                <a:cs typeface="Calibri" pitchFamily="34" charset="-120"/>
              </a:rPr>
              <a:t>Что реально делает</a:t>
            </a:r>
            <a:endParaRPr lang="en-US" sz="1100" dirty="0"/>
          </a:p>
        </p:txBody>
      </p:sp>
      <p:sp>
        <p:nvSpPr>
          <p:cNvPr id="19" name="Text 17"/>
          <p:cNvSpPr txBox="1"/>
          <p:nvPr/>
        </p:nvSpPr>
        <p:spPr>
          <a:xfrm>
            <a:off x="6553048" y="3200400"/>
            <a:ext cx="4861408" cy="1005840"/>
          </a:xfrm>
          <a:prstGeom prst="rect">
            <a:avLst/>
          </a:prstGeom>
          <a:noFill/>
          <a:ln/>
        </p:spPr>
        <p:txBody>
          <a:bodyPr wrap="square" lIns="0" tIns="0" rIns="0" bIns="0" rtlCol="0" anchor="ctr"/>
          <a:lstStyle/>
          <a:p>
            <a:pPr indent="0" marL="0">
              <a:lnSpc>
                <a:spcPct val="125000"/>
              </a:lnSpc>
              <a:buNone/>
            </a:pPr>
            <a:r>
              <a:rPr lang="en-US" sz="1350" dirty="0">
                <a:solidFill>
                  <a:srgbClr val="1B2733"/>
                </a:solidFill>
                <a:latin typeface="Calibri" pitchFamily="34" charset="0"/>
                <a:ea typeface="Calibri" pitchFamily="34" charset="-122"/>
                <a:cs typeface="Calibri" pitchFamily="34" charset="-120"/>
              </a:rPr>
              <a:t>Сама по себе настраивает стиль и тон ответов ассистента в чате. К доступу отношения не имеет.</a:t>
            </a:r>
            <a:endParaRPr lang="en-US" sz="1350" dirty="0"/>
          </a:p>
        </p:txBody>
      </p:sp>
      <p:sp>
        <p:nvSpPr>
          <p:cNvPr id="20" name="Shape 18"/>
          <p:cNvSpPr/>
          <p:nvPr/>
        </p:nvSpPr>
        <p:spPr>
          <a:xfrm>
            <a:off x="6553048" y="4343400"/>
            <a:ext cx="4861408" cy="0"/>
          </a:xfrm>
          <a:prstGeom prst="line">
            <a:avLst/>
          </a:prstGeom>
          <a:noFill/>
          <a:ln w="12700">
            <a:solidFill>
              <a:srgbClr val="CBDEE6"/>
            </a:solidFill>
            <a:prstDash val="solid"/>
          </a:ln>
        </p:spPr>
      </p:sp>
      <p:sp>
        <p:nvSpPr>
          <p:cNvPr id="21" name="Text 19"/>
          <p:cNvSpPr txBox="1"/>
          <p:nvPr/>
        </p:nvSpPr>
        <p:spPr>
          <a:xfrm>
            <a:off x="6553048" y="4480560"/>
            <a:ext cx="4861408" cy="1280160"/>
          </a:xfrm>
          <a:prstGeom prst="rect">
            <a:avLst/>
          </a:prstGeom>
          <a:noFill/>
          <a:ln/>
        </p:spPr>
        <p:txBody>
          <a:bodyPr wrap="square" lIns="0" tIns="0" rIns="0" bIns="0" rtlCol="0" anchor="ctr"/>
          <a:lstStyle/>
          <a:p>
            <a:pPr indent="0" marL="0">
              <a:lnSpc>
                <a:spcPct val="125000"/>
              </a:lnSpc>
              <a:buNone/>
            </a:pPr>
            <a:r>
              <a:rPr lang="en-US" sz="1250" b="1" i="1" dirty="0">
                <a:solidFill>
                  <a:srgbClr val="8A5A10"/>
                </a:solidFill>
                <a:latin typeface="Calibri" pitchFamily="34" charset="0"/>
                <a:ea typeface="Calibri" pitchFamily="34" charset="-122"/>
                <a:cs typeface="Calibri" pitchFamily="34" charset="-120"/>
              </a:rPr>
              <a:t>Исключение: </a:t>
            </a:r>
            <a:pPr indent="0" marL="0">
              <a:lnSpc>
                <a:spcPct val="125000"/>
              </a:lnSpc>
              <a:buNone/>
            </a:pPr>
            <a:r>
              <a:rPr lang="en-US" sz="1250" i="1" dirty="0">
                <a:solidFill>
                  <a:srgbClr val="51606E"/>
                </a:solidFill>
                <a:latin typeface="Calibri" pitchFamily="34" charset="0"/>
                <a:ea typeface="Calibri" pitchFamily="34" charset="-122"/>
                <a:cs typeface="Calibri" pitchFamily="34" charset="-120"/>
              </a:rPr>
              <a:t>доступ появляется, только если админ ОТДЕЛЬНО настроил для этой персоны «Разрешённые домены» в Граф доступа (Способ 2) — это уже другой, явный шаг.</a:t>
            </a:r>
            <a:endParaRPr lang="en-US" sz="1250" dirty="0"/>
          </a:p>
        </p:txBody>
      </p:sp>
      <p:sp>
        <p:nvSpPr>
          <p:cNvPr id="22" name="Text 20"/>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23" name="Text 21"/>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06 · ЧАСТЫЕ ЗАБЛУЖДЕНИЯ (2/2)</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Заблуждение: роли «Контроль доступа»</a:t>
            </a:r>
            <a:endParaRPr lang="en-US" sz="2800" dirty="0"/>
          </a:p>
        </p:txBody>
      </p:sp>
      <p:sp>
        <p:nvSpPr>
          <p:cNvPr id="4" name="Shape 2"/>
          <p:cNvSpPr/>
          <p:nvPr/>
        </p:nvSpPr>
        <p:spPr>
          <a:xfrm>
            <a:off x="548640" y="1463040"/>
            <a:ext cx="11094415" cy="502920"/>
          </a:xfrm>
          <a:prstGeom prst="roundRect">
            <a:avLst>
              <a:gd name="adj" fmla="val 16364"/>
            </a:avLst>
          </a:prstGeom>
          <a:solidFill>
            <a:srgbClr val="FBE9EA"/>
          </a:solidFill>
          <a:ln/>
        </p:spPr>
      </p:sp>
      <p:sp>
        <p:nvSpPr>
          <p:cNvPr id="5" name="Text 3"/>
          <p:cNvSpPr txBox="1"/>
          <p:nvPr/>
        </p:nvSpPr>
        <p:spPr>
          <a:xfrm>
            <a:off x="777240" y="1463040"/>
            <a:ext cx="10637215" cy="502920"/>
          </a:xfrm>
          <a:prstGeom prst="rect">
            <a:avLst/>
          </a:prstGeom>
          <a:noFill/>
          <a:ln/>
        </p:spPr>
        <p:txBody>
          <a:bodyPr wrap="square" lIns="0" tIns="0" rIns="0" bIns="0" rtlCol="0" anchor="ctr"/>
          <a:lstStyle/>
          <a:p>
            <a:pPr indent="0" marL="0">
              <a:buNone/>
            </a:pPr>
            <a:r>
              <a:rPr lang="en-US" sz="1600" b="1" dirty="0">
                <a:solidFill>
                  <a:srgbClr val="AE3B46"/>
                </a:solidFill>
                <a:latin typeface="Calibri" pitchFamily="34" charset="0"/>
                <a:ea typeface="Calibri" pitchFamily="34" charset="-122"/>
                <a:cs typeface="Calibri" pitchFamily="34" charset="-120"/>
              </a:rPr>
              <a:t>✗ Роли и политики в разделе «Контроль доступа»</a:t>
            </a:r>
            <a:endParaRPr lang="en-US" sz="1600" dirty="0"/>
          </a:p>
        </p:txBody>
      </p:sp>
      <p:sp>
        <p:nvSpPr>
          <p:cNvPr id="6" name="Text 4"/>
          <p:cNvSpPr txBox="1"/>
          <p:nvPr/>
        </p:nvSpPr>
        <p:spPr>
          <a:xfrm>
            <a:off x="548640" y="2103120"/>
            <a:ext cx="11094415" cy="320040"/>
          </a:xfrm>
          <a:prstGeom prst="rect">
            <a:avLst/>
          </a:prstGeom>
          <a:noFill/>
          <a:ln/>
        </p:spPr>
        <p:txBody>
          <a:bodyPr wrap="square" lIns="0" tIns="0" rIns="0" bIns="0" rtlCol="0" anchor="ctr"/>
          <a:lstStyle/>
          <a:p>
            <a:pPr indent="0" marL="0">
              <a:buNone/>
            </a:pPr>
            <a:r>
              <a:rPr lang="en-US" sz="1300" i="1" dirty="0">
                <a:solidFill>
                  <a:srgbClr val="51606E"/>
                </a:solidFill>
                <a:latin typeface="Calibri" pitchFamily="34" charset="0"/>
                <a:ea typeface="Calibri" pitchFamily="34" charset="-122"/>
                <a:cs typeface="Calibri" pitchFamily="34" charset="-120"/>
              </a:rPr>
              <a:t>Настройки → Контроль доступа → Роли / Политики</a:t>
            </a:r>
            <a:endParaRPr lang="en-US" sz="1300" dirty="0"/>
          </a:p>
        </p:txBody>
      </p:sp>
      <p:sp>
        <p:nvSpPr>
          <p:cNvPr id="7" name="Shape 5"/>
          <p:cNvSpPr/>
          <p:nvPr/>
        </p:nvSpPr>
        <p:spPr>
          <a:xfrm>
            <a:off x="548640" y="2560320"/>
            <a:ext cx="5318608" cy="1737360"/>
          </a:xfrm>
          <a:prstGeom prst="roundRect">
            <a:avLst>
              <a:gd name="adj" fmla="val 4737"/>
            </a:avLst>
          </a:prstGeom>
          <a:solidFill>
            <a:srgbClr val="EAF2F6"/>
          </a:solidFill>
          <a:ln w="12700">
            <a:solidFill>
              <a:srgbClr val="CBDEE6"/>
            </a:solidFill>
            <a:prstDash val="solid"/>
          </a:ln>
        </p:spPr>
      </p:sp>
      <p:sp>
        <p:nvSpPr>
          <p:cNvPr id="8" name="Text 6"/>
          <p:cNvSpPr txBox="1"/>
          <p:nvPr/>
        </p:nvSpPr>
        <p:spPr>
          <a:xfrm>
            <a:off x="777240" y="2724912"/>
            <a:ext cx="4861408" cy="274320"/>
          </a:xfrm>
          <a:prstGeom prst="rect">
            <a:avLst/>
          </a:prstGeom>
          <a:noFill/>
          <a:ln/>
        </p:spPr>
        <p:txBody>
          <a:bodyPr wrap="square" lIns="0" tIns="0" rIns="0" bIns="0" rtlCol="0" anchor="ctr"/>
          <a:lstStyle/>
          <a:p>
            <a:pPr indent="0" marL="0">
              <a:buNone/>
            </a:pPr>
            <a:r>
              <a:rPr lang="en-US" sz="1150" b="1" dirty="0">
                <a:solidFill>
                  <a:srgbClr val="7C8B98"/>
                </a:solidFill>
                <a:latin typeface="Calibri" pitchFamily="34" charset="0"/>
                <a:ea typeface="Calibri" pitchFamily="34" charset="-122"/>
                <a:cs typeface="Calibri" pitchFamily="34" charset="-120"/>
              </a:rPr>
              <a:t>Кажется, что это про:</a:t>
            </a:r>
            <a:endParaRPr lang="en-US" sz="1150" dirty="0"/>
          </a:p>
        </p:txBody>
      </p:sp>
      <p:sp>
        <p:nvSpPr>
          <p:cNvPr id="9" name="Text 7"/>
          <p:cNvSpPr txBox="1"/>
          <p:nvPr/>
        </p:nvSpPr>
        <p:spPr>
          <a:xfrm>
            <a:off x="777240" y="3063240"/>
            <a:ext cx="4861408" cy="1097280"/>
          </a:xfrm>
          <a:prstGeom prst="rect">
            <a:avLst/>
          </a:prstGeom>
          <a:noFill/>
          <a:ln/>
        </p:spPr>
        <p:txBody>
          <a:bodyPr wrap="square" lIns="0" tIns="0" rIns="0" bIns="0" rtlCol="0" anchor="ctr"/>
          <a:lstStyle/>
          <a:p>
            <a:pPr indent="0" marL="0">
              <a:lnSpc>
                <a:spcPct val="125000"/>
              </a:lnSpc>
              <a:buNone/>
            </a:pPr>
            <a:r>
              <a:rPr lang="en-US" sz="1500" dirty="0">
                <a:solidFill>
                  <a:srgbClr val="1B2733"/>
                </a:solidFill>
                <a:latin typeface="Calibri" pitchFamily="34" charset="0"/>
                <a:ea typeface="Calibri" pitchFamily="34" charset="-122"/>
                <a:cs typeface="Calibri" pitchFamily="34" charset="-120"/>
              </a:rPr>
              <a:t>«Кто что видит в чате» — раз это раздел про роли и доступ.</a:t>
            </a:r>
            <a:endParaRPr lang="en-US" sz="1500" dirty="0"/>
          </a:p>
        </p:txBody>
      </p:sp>
      <p:sp>
        <p:nvSpPr>
          <p:cNvPr id="10" name="Shape 8"/>
          <p:cNvSpPr/>
          <p:nvPr/>
        </p:nvSpPr>
        <p:spPr>
          <a:xfrm>
            <a:off x="6324448" y="2560320"/>
            <a:ext cx="5318608" cy="1737360"/>
          </a:xfrm>
          <a:prstGeom prst="roundRect">
            <a:avLst>
              <a:gd name="adj" fmla="val 4737"/>
            </a:avLst>
          </a:prstGeom>
          <a:solidFill>
            <a:srgbClr val="E1F1EA"/>
          </a:solidFill>
          <a:ln w="12700">
            <a:solidFill>
              <a:srgbClr val="1F7A5C"/>
            </a:solidFill>
            <a:prstDash val="solid"/>
          </a:ln>
        </p:spPr>
      </p:sp>
      <p:sp>
        <p:nvSpPr>
          <p:cNvPr id="11" name="Text 9"/>
          <p:cNvSpPr txBox="1"/>
          <p:nvPr/>
        </p:nvSpPr>
        <p:spPr>
          <a:xfrm>
            <a:off x="6553048" y="2724912"/>
            <a:ext cx="4861408" cy="274320"/>
          </a:xfrm>
          <a:prstGeom prst="rect">
            <a:avLst/>
          </a:prstGeom>
          <a:noFill/>
          <a:ln/>
        </p:spPr>
        <p:txBody>
          <a:bodyPr wrap="square" lIns="0" tIns="0" rIns="0" bIns="0" rtlCol="0" anchor="ctr"/>
          <a:lstStyle/>
          <a:p>
            <a:pPr indent="0" marL="0">
              <a:buNone/>
            </a:pPr>
            <a:r>
              <a:rPr lang="en-US" sz="1150" b="1" dirty="0">
                <a:solidFill>
                  <a:srgbClr val="1F7A5C"/>
                </a:solidFill>
                <a:latin typeface="Calibri" pitchFamily="34" charset="0"/>
                <a:ea typeface="Calibri" pitchFamily="34" charset="-122"/>
                <a:cs typeface="Calibri" pitchFamily="34" charset="-120"/>
              </a:rPr>
              <a:t>На самом деле это про:</a:t>
            </a:r>
            <a:endParaRPr lang="en-US" sz="1150" dirty="0"/>
          </a:p>
        </p:txBody>
      </p:sp>
      <p:sp>
        <p:nvSpPr>
          <p:cNvPr id="12" name="Text 10"/>
          <p:cNvSpPr txBox="1"/>
          <p:nvPr/>
        </p:nvSpPr>
        <p:spPr>
          <a:xfrm>
            <a:off x="6553048" y="3063240"/>
            <a:ext cx="4861408" cy="1097280"/>
          </a:xfrm>
          <a:prstGeom prst="rect">
            <a:avLst/>
          </a:prstGeom>
          <a:noFill/>
          <a:ln/>
        </p:spPr>
        <p:txBody>
          <a:bodyPr wrap="square" lIns="0" tIns="0" rIns="0" bIns="0" rtlCol="0" anchor="ctr"/>
          <a:lstStyle/>
          <a:p>
            <a:pPr indent="0" marL="0">
              <a:lnSpc>
                <a:spcPct val="125000"/>
              </a:lnSpc>
              <a:buNone/>
            </a:pPr>
            <a:r>
              <a:rPr lang="en-US" sz="1500" dirty="0">
                <a:solidFill>
                  <a:srgbClr val="1B2733"/>
                </a:solidFill>
                <a:latin typeface="Calibri" pitchFamily="34" charset="0"/>
                <a:ea typeface="Calibri" pitchFamily="34" charset="-122"/>
                <a:cs typeface="Calibri" pitchFamily="34" charset="-120"/>
              </a:rPr>
              <a:t>Права на редактирование метаданных каталога — описания, теги, владельцы объектов. Кто может курировать сам каталог.</a:t>
            </a:r>
            <a:endParaRPr lang="en-US" sz="1500" dirty="0"/>
          </a:p>
        </p:txBody>
      </p:sp>
      <p:sp>
        <p:nvSpPr>
          <p:cNvPr id="13" name="Shape 11"/>
          <p:cNvSpPr/>
          <p:nvPr/>
        </p:nvSpPr>
        <p:spPr>
          <a:xfrm>
            <a:off x="548640" y="4572000"/>
            <a:ext cx="11094415" cy="1234440"/>
          </a:xfrm>
          <a:prstGeom prst="roundRect">
            <a:avLst>
              <a:gd name="adj" fmla="val 8889"/>
            </a:avLst>
          </a:prstGeom>
          <a:solidFill>
            <a:srgbClr val="21295C"/>
          </a:solidFill>
          <a:ln/>
        </p:spPr>
      </p:sp>
      <p:sp>
        <p:nvSpPr>
          <p:cNvPr id="14" name="Text 12"/>
          <p:cNvSpPr txBox="1"/>
          <p:nvPr/>
        </p:nvSpPr>
        <p:spPr>
          <a:xfrm>
            <a:off x="868680" y="4736592"/>
            <a:ext cx="2743200" cy="274320"/>
          </a:xfrm>
          <a:prstGeom prst="rect">
            <a:avLst/>
          </a:prstGeom>
          <a:noFill/>
          <a:ln/>
        </p:spPr>
        <p:txBody>
          <a:bodyPr wrap="square" lIns="0" tIns="0" rIns="0" bIns="0" rtlCol="0" anchor="ctr"/>
          <a:lstStyle/>
          <a:p>
            <a:pPr indent="0" marL="0">
              <a:buNone/>
            </a:pPr>
            <a:r>
              <a:rPr lang="en-US" sz="1100" b="1" spc="100" kern="0" dirty="0">
                <a:solidFill>
                  <a:srgbClr val="8FC1D9"/>
                </a:solidFill>
                <a:latin typeface="Calibri" pitchFamily="34" charset="0"/>
                <a:ea typeface="Calibri" pitchFamily="34" charset="-122"/>
                <a:cs typeface="Calibri" pitchFamily="34" charset="-120"/>
              </a:rPr>
              <a:t>Запомнить:</a:t>
            </a:r>
            <a:endParaRPr lang="en-US" sz="1100" dirty="0"/>
          </a:p>
        </p:txBody>
      </p:sp>
      <p:sp>
        <p:nvSpPr>
          <p:cNvPr id="15" name="Text 13"/>
          <p:cNvSpPr txBox="1"/>
          <p:nvPr/>
        </p:nvSpPr>
        <p:spPr>
          <a:xfrm>
            <a:off x="868680" y="5029200"/>
            <a:ext cx="10454335" cy="685800"/>
          </a:xfrm>
          <a:prstGeom prst="rect">
            <a:avLst/>
          </a:prstGeom>
          <a:noFill/>
          <a:ln/>
        </p:spPr>
        <p:txBody>
          <a:bodyPr wrap="square" lIns="0" tIns="0" rIns="0" bIns="0" rtlCol="0" anchor="ctr"/>
          <a:lstStyle/>
          <a:p>
            <a:pPr indent="0" marL="0">
              <a:lnSpc>
                <a:spcPct val="125000"/>
              </a:lnSpc>
              <a:buNone/>
            </a:pPr>
            <a:r>
              <a:rPr lang="en-US" sz="1600" dirty="0">
                <a:solidFill>
                  <a:srgbClr val="FFFFFF"/>
                </a:solidFill>
                <a:latin typeface="Calibri" pitchFamily="34" charset="0"/>
                <a:ea typeface="Calibri" pitchFamily="34" charset="-122"/>
                <a:cs typeface="Calibri" pitchFamily="34" charset="-120"/>
              </a:rPr>
              <a:t>Реальный доступ к данным домена в чате и поиске задаётся </a:t>
            </a:r>
            <a:pPr indent="0" marL="0">
              <a:lnSpc>
                <a:spcPct val="125000"/>
              </a:lnSpc>
              <a:buNone/>
            </a:pPr>
            <a:r>
              <a:rPr lang="en-US" sz="1600" b="1" dirty="0">
                <a:solidFill>
                  <a:srgbClr val="8FC1D9"/>
                </a:solidFill>
                <a:latin typeface="Calibri" pitchFamily="34" charset="0"/>
                <a:ea typeface="Calibri" pitchFamily="34" charset="-122"/>
                <a:cs typeface="Calibri" pitchFamily="34" charset="-120"/>
              </a:rPr>
              <a:t>только</a:t>
            </a:r>
            <a:pPr indent="0" marL="0">
              <a:lnSpc>
                <a:spcPct val="125000"/>
              </a:lnSpc>
              <a:buNone/>
            </a:pPr>
            <a:r>
              <a:rPr lang="en-US" sz="1600" dirty="0">
                <a:solidFill>
                  <a:srgbClr val="FFFFFF"/>
                </a:solidFill>
                <a:latin typeface="Calibri" pitchFamily="34" charset="0"/>
                <a:ea typeface="Calibri" pitchFamily="34" charset="-122"/>
                <a:cs typeface="Calibri" pitchFamily="34" charset="-120"/>
              </a:rPr>
              <a:t> связкой «Домен на профиле/команде» + роль «Domain Only Access Role».</a:t>
            </a:r>
            <a:endParaRPr lang="en-US" sz="1600" dirty="0"/>
          </a:p>
        </p:txBody>
      </p:sp>
      <p:sp>
        <p:nvSpPr>
          <p:cNvPr id="16" name="Text 14"/>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17" name="Text 15"/>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СИНТЕЗ</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Единственный работающий путь</a:t>
            </a:r>
            <a:endParaRPr lang="en-US" sz="2800" dirty="0"/>
          </a:p>
        </p:txBody>
      </p:sp>
      <p:sp>
        <p:nvSpPr>
          <p:cNvPr id="4" name="Text 2"/>
          <p:cNvSpPr txBox="1"/>
          <p:nvPr/>
        </p:nvSpPr>
        <p:spPr>
          <a:xfrm>
            <a:off x="548640" y="1417320"/>
            <a:ext cx="11094415" cy="548640"/>
          </a:xfrm>
          <a:prstGeom prst="rect">
            <a:avLst/>
          </a:prstGeom>
          <a:noFill/>
          <a:ln/>
        </p:spPr>
        <p:txBody>
          <a:bodyPr wrap="square" lIns="0" tIns="0" rIns="0" bIns="0" rtlCol="0" anchor="ctr"/>
          <a:lstStyle/>
          <a:p>
            <a:pPr indent="0" marL="0">
              <a:lnSpc>
                <a:spcPct val="125000"/>
              </a:lnSpc>
              <a:buNone/>
            </a:pPr>
            <a:r>
              <a:rPr lang="en-US" sz="1400" dirty="0">
                <a:solidFill>
                  <a:srgbClr val="1B2733"/>
                </a:solidFill>
                <a:latin typeface="Calibri" pitchFamily="34" charset="0"/>
                <a:ea typeface="Calibri" pitchFamily="34" charset="-122"/>
                <a:cs typeface="Calibri" pitchFamily="34" charset="-120"/>
              </a:rPr>
              <a:t>Независимо от того, как домен попал к пользователю (напрямую, через команду или через персону), доступ в чате и поиске определяет одна и та же связка:</a:t>
            </a:r>
            <a:endParaRPr lang="en-US" sz="1400" dirty="0"/>
          </a:p>
        </p:txBody>
      </p:sp>
      <p:sp>
        <p:nvSpPr>
          <p:cNvPr id="5" name="Shape 3"/>
          <p:cNvSpPr/>
          <p:nvPr/>
        </p:nvSpPr>
        <p:spPr>
          <a:xfrm>
            <a:off x="548640" y="2148840"/>
            <a:ext cx="3200400" cy="868680"/>
          </a:xfrm>
          <a:prstGeom prst="roundRect">
            <a:avLst>
              <a:gd name="adj" fmla="val 9474"/>
            </a:avLst>
          </a:prstGeom>
          <a:solidFill>
            <a:srgbClr val="EAF2F6"/>
          </a:solidFill>
          <a:ln w="12700">
            <a:solidFill>
              <a:srgbClr val="CBDEE6"/>
            </a:solidFill>
            <a:prstDash val="solid"/>
          </a:ln>
        </p:spPr>
      </p:sp>
      <p:sp>
        <p:nvSpPr>
          <p:cNvPr id="6" name="Text 4"/>
          <p:cNvSpPr txBox="1"/>
          <p:nvPr/>
        </p:nvSpPr>
        <p:spPr>
          <a:xfrm>
            <a:off x="731520" y="2240280"/>
            <a:ext cx="2834640" cy="27432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Способ 1</a:t>
            </a:r>
            <a:endParaRPr lang="en-US" sz="1250" dirty="0"/>
          </a:p>
        </p:txBody>
      </p:sp>
      <p:sp>
        <p:nvSpPr>
          <p:cNvPr id="7" name="Text 5"/>
          <p:cNvSpPr txBox="1"/>
          <p:nvPr/>
        </p:nvSpPr>
        <p:spPr>
          <a:xfrm>
            <a:off x="731520" y="2532888"/>
            <a:ext cx="2834640" cy="457200"/>
          </a:xfrm>
          <a:prstGeom prst="rect">
            <a:avLst/>
          </a:prstGeom>
          <a:noFill/>
          <a:ln/>
        </p:spPr>
        <p:txBody>
          <a:bodyPr wrap="square" lIns="0" tIns="0" rIns="0" bIns="0" rtlCol="0" anchor="ctr"/>
          <a:lstStyle/>
          <a:p>
            <a:pPr indent="0" marL="0">
              <a:lnSpc>
                <a:spcPct val="110000"/>
              </a:lnSpc>
              <a:buNone/>
            </a:pPr>
            <a:r>
              <a:rPr lang="en-US" sz="1150" dirty="0">
                <a:solidFill>
                  <a:srgbClr val="1B2733"/>
                </a:solidFill>
                <a:latin typeface="Calibri" pitchFamily="34" charset="0"/>
                <a:ea typeface="Calibri" pitchFamily="34" charset="-122"/>
                <a:cs typeface="Calibri" pitchFamily="34" charset="-120"/>
              </a:rPr>
              <a:t>домен на профиле пользователя / команды</a:t>
            </a:r>
            <a:endParaRPr lang="en-US" sz="1150" dirty="0"/>
          </a:p>
        </p:txBody>
      </p:sp>
      <p:sp>
        <p:nvSpPr>
          <p:cNvPr id="8" name="Shape 6"/>
          <p:cNvSpPr/>
          <p:nvPr/>
        </p:nvSpPr>
        <p:spPr>
          <a:xfrm>
            <a:off x="548640" y="3200400"/>
            <a:ext cx="3200400" cy="868680"/>
          </a:xfrm>
          <a:prstGeom prst="roundRect">
            <a:avLst>
              <a:gd name="adj" fmla="val 9474"/>
            </a:avLst>
          </a:prstGeom>
          <a:solidFill>
            <a:srgbClr val="EAF2F6"/>
          </a:solidFill>
          <a:ln w="12700">
            <a:solidFill>
              <a:srgbClr val="CBDEE6"/>
            </a:solidFill>
            <a:prstDash val="solid"/>
          </a:ln>
        </p:spPr>
      </p:sp>
      <p:sp>
        <p:nvSpPr>
          <p:cNvPr id="9" name="Text 7"/>
          <p:cNvSpPr txBox="1"/>
          <p:nvPr/>
        </p:nvSpPr>
        <p:spPr>
          <a:xfrm>
            <a:off x="731520" y="3291840"/>
            <a:ext cx="2834640" cy="27432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Способ 2</a:t>
            </a:r>
            <a:endParaRPr lang="en-US" sz="1250" dirty="0"/>
          </a:p>
        </p:txBody>
      </p:sp>
      <p:sp>
        <p:nvSpPr>
          <p:cNvPr id="10" name="Text 8"/>
          <p:cNvSpPr txBox="1"/>
          <p:nvPr/>
        </p:nvSpPr>
        <p:spPr>
          <a:xfrm>
            <a:off x="731520" y="3584448"/>
            <a:ext cx="2834640" cy="457200"/>
          </a:xfrm>
          <a:prstGeom prst="rect">
            <a:avLst/>
          </a:prstGeom>
          <a:noFill/>
          <a:ln/>
        </p:spPr>
        <p:txBody>
          <a:bodyPr wrap="square" lIns="0" tIns="0" rIns="0" bIns="0" rtlCol="0" anchor="ctr"/>
          <a:lstStyle/>
          <a:p>
            <a:pPr indent="0" marL="0">
              <a:lnSpc>
                <a:spcPct val="110000"/>
              </a:lnSpc>
              <a:buNone/>
            </a:pPr>
            <a:r>
              <a:rPr lang="en-US" sz="1150" dirty="0">
                <a:solidFill>
                  <a:srgbClr val="1B2733"/>
                </a:solidFill>
                <a:latin typeface="Calibri" pitchFamily="34" charset="0"/>
                <a:ea typeface="Calibri" pitchFamily="34" charset="-122"/>
                <a:cs typeface="Calibri" pitchFamily="34" charset="-120"/>
              </a:rPr>
              <a:t>домен на персоне → унаследован пользователем</a:t>
            </a:r>
            <a:endParaRPr lang="en-US" sz="1150" dirty="0"/>
          </a:p>
        </p:txBody>
      </p:sp>
      <p:sp>
        <p:nvSpPr>
          <p:cNvPr id="11" name="Shape 9"/>
          <p:cNvSpPr/>
          <p:nvPr/>
        </p:nvSpPr>
        <p:spPr>
          <a:xfrm>
            <a:off x="3749040" y="2583180"/>
            <a:ext cx="731520" cy="571500"/>
          </a:xfrm>
          <a:prstGeom prst="line">
            <a:avLst/>
          </a:prstGeom>
          <a:noFill/>
          <a:ln w="19050">
            <a:solidFill>
              <a:srgbClr val="CBDEE6"/>
            </a:solidFill>
            <a:prstDash val="solid"/>
          </a:ln>
        </p:spPr>
      </p:sp>
      <p:sp>
        <p:nvSpPr>
          <p:cNvPr id="12" name="Shape 10"/>
          <p:cNvSpPr/>
          <p:nvPr/>
        </p:nvSpPr>
        <p:spPr>
          <a:xfrm>
            <a:off x="3749040" y="3634740"/>
            <a:ext cx="731520" cy="-480060"/>
          </a:xfrm>
          <a:prstGeom prst="line">
            <a:avLst/>
          </a:prstGeom>
          <a:noFill/>
          <a:ln w="19050">
            <a:solidFill>
              <a:srgbClr val="CBDEE6"/>
            </a:solidFill>
            <a:prstDash val="solid"/>
          </a:ln>
        </p:spPr>
      </p:sp>
      <p:sp>
        <p:nvSpPr>
          <p:cNvPr id="13" name="Shape 11"/>
          <p:cNvSpPr/>
          <p:nvPr/>
        </p:nvSpPr>
        <p:spPr>
          <a:xfrm>
            <a:off x="4480560" y="2651760"/>
            <a:ext cx="3200400" cy="1005840"/>
          </a:xfrm>
          <a:prstGeom prst="roundRect">
            <a:avLst>
              <a:gd name="adj" fmla="val 10909"/>
            </a:avLst>
          </a:prstGeom>
          <a:solidFill>
            <a:srgbClr val="21295C"/>
          </a:solidFill>
          <a:ln/>
        </p:spPr>
      </p:sp>
      <p:sp>
        <p:nvSpPr>
          <p:cNvPr id="14" name="Text 12"/>
          <p:cNvSpPr txBox="1"/>
          <p:nvPr/>
        </p:nvSpPr>
        <p:spPr>
          <a:xfrm>
            <a:off x="4663440" y="2788920"/>
            <a:ext cx="2834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Domain Only Access Role</a:t>
            </a:r>
            <a:endParaRPr lang="en-US" sz="1400" dirty="0"/>
          </a:p>
        </p:txBody>
      </p:sp>
      <p:sp>
        <p:nvSpPr>
          <p:cNvPr id="15" name="Text 13"/>
          <p:cNvSpPr txBox="1"/>
          <p:nvPr/>
        </p:nvSpPr>
        <p:spPr>
          <a:xfrm>
            <a:off x="4663440" y="3127248"/>
            <a:ext cx="2834640" cy="274320"/>
          </a:xfrm>
          <a:prstGeom prst="rect">
            <a:avLst/>
          </a:prstGeom>
          <a:noFill/>
          <a:ln/>
        </p:spPr>
        <p:txBody>
          <a:bodyPr wrap="square" lIns="0" tIns="0" rIns="0" bIns="0" rtlCol="0" anchor="ctr"/>
          <a:lstStyle/>
          <a:p>
            <a:pPr indent="0" marL="0">
              <a:buNone/>
            </a:pPr>
            <a:r>
              <a:rPr lang="en-US" sz="1050" i="1" dirty="0">
                <a:solidFill>
                  <a:srgbClr val="8FC1D9"/>
                </a:solidFill>
                <a:latin typeface="Calibri" pitchFamily="34" charset="0"/>
                <a:ea typeface="Calibri" pitchFamily="34" charset="-122"/>
                <a:cs typeface="Calibri" pitchFamily="34" charset="-120"/>
              </a:rPr>
              <a:t>(политика Domain Only Access Policy)</a:t>
            </a:r>
            <a:endParaRPr lang="en-US" sz="1050" dirty="0"/>
          </a:p>
        </p:txBody>
      </p:sp>
      <p:sp>
        <p:nvSpPr>
          <p:cNvPr id="16" name="Text 14"/>
          <p:cNvSpPr txBox="1"/>
          <p:nvPr/>
        </p:nvSpPr>
        <p:spPr>
          <a:xfrm>
            <a:off x="4663440" y="3364992"/>
            <a:ext cx="2834640" cy="274320"/>
          </a:xfrm>
          <a:prstGeom prst="rect">
            <a:avLst/>
          </a:prstGeom>
          <a:noFill/>
          <a:ln/>
        </p:spPr>
        <p:txBody>
          <a:bodyPr wrap="square" lIns="0" tIns="0" rIns="0" bIns="0" rtlCol="0" anchor="ctr"/>
          <a:lstStyle/>
          <a:p>
            <a:pPr indent="0" marL="0">
              <a:buNone/>
            </a:pPr>
            <a:r>
              <a:rPr lang="en-US" sz="1000" dirty="0">
                <a:solidFill>
                  <a:srgbClr val="C8DCE7"/>
                </a:solidFill>
                <a:latin typeface="Calibri" pitchFamily="34" charset="0"/>
                <a:ea typeface="Calibri" pitchFamily="34" charset="-122"/>
                <a:cs typeface="Calibri" pitchFamily="34" charset="-120"/>
              </a:rPr>
              <a:t>применяет одну и ту же логику к любому источнику домена</a:t>
            </a:r>
            <a:endParaRPr lang="en-US" sz="1000" dirty="0"/>
          </a:p>
        </p:txBody>
      </p:sp>
      <p:sp>
        <p:nvSpPr>
          <p:cNvPr id="17" name="Text 15"/>
          <p:cNvSpPr txBox="1"/>
          <p:nvPr/>
        </p:nvSpPr>
        <p:spPr>
          <a:xfrm>
            <a:off x="7680960" y="2916936"/>
            <a:ext cx="457200" cy="365760"/>
          </a:xfrm>
          <a:prstGeom prst="rect">
            <a:avLst/>
          </a:prstGeom>
          <a:noFill/>
          <a:ln/>
        </p:spPr>
        <p:txBody>
          <a:bodyPr wrap="square" lIns="0" tIns="0" rIns="0" bIns="0" rtlCol="0" anchor="ctr"/>
          <a:lstStyle/>
          <a:p>
            <a:pPr algn="ctr" indent="0" marL="0">
              <a:buNone/>
            </a:pPr>
            <a:r>
              <a:rPr lang="en-US" sz="2000" b="1" dirty="0">
                <a:solidFill>
                  <a:srgbClr val="7C8B98"/>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8229600" y="2148840"/>
            <a:ext cx="3413455" cy="868680"/>
          </a:xfrm>
          <a:prstGeom prst="roundRect">
            <a:avLst>
              <a:gd name="adj" fmla="val 9474"/>
            </a:avLst>
          </a:prstGeom>
          <a:solidFill>
            <a:srgbClr val="E1F1EA"/>
          </a:solidFill>
          <a:ln w="12700">
            <a:solidFill>
              <a:srgbClr val="1F7A5C"/>
            </a:solidFill>
            <a:prstDash val="solid"/>
          </a:ln>
        </p:spPr>
      </p:sp>
      <p:sp>
        <p:nvSpPr>
          <p:cNvPr id="19" name="Text 17"/>
          <p:cNvSpPr txBox="1"/>
          <p:nvPr/>
        </p:nvSpPr>
        <p:spPr>
          <a:xfrm>
            <a:off x="8394192" y="2221992"/>
            <a:ext cx="3084271" cy="274320"/>
          </a:xfrm>
          <a:prstGeom prst="rect">
            <a:avLst/>
          </a:prstGeom>
          <a:noFill/>
          <a:ln/>
        </p:spPr>
        <p:txBody>
          <a:bodyPr wrap="square" lIns="0" tIns="0" rIns="0" bIns="0" rtlCol="0" anchor="ctr"/>
          <a:lstStyle/>
          <a:p>
            <a:pPr indent="0" marL="0">
              <a:buNone/>
            </a:pPr>
            <a:r>
              <a:rPr lang="en-US" sz="1200" b="1" dirty="0">
                <a:solidFill>
                  <a:srgbClr val="1F7A5C"/>
                </a:solidFill>
                <a:latin typeface="Calibri" pitchFamily="34" charset="0"/>
                <a:ea typeface="Calibri" pitchFamily="34" charset="-122"/>
                <a:cs typeface="Calibri" pitchFamily="34" charset="-120"/>
              </a:rPr>
              <a:t>С доменом</a:t>
            </a:r>
            <a:endParaRPr lang="en-US" sz="1200" dirty="0"/>
          </a:p>
        </p:txBody>
      </p:sp>
      <p:sp>
        <p:nvSpPr>
          <p:cNvPr id="20" name="Text 18"/>
          <p:cNvSpPr txBox="1"/>
          <p:nvPr/>
        </p:nvSpPr>
        <p:spPr>
          <a:xfrm>
            <a:off x="8394192" y="2514600"/>
            <a:ext cx="3084271" cy="457200"/>
          </a:xfrm>
          <a:prstGeom prst="rect">
            <a:avLst/>
          </a:prstGeom>
          <a:noFill/>
          <a:ln/>
        </p:spPr>
        <p:txBody>
          <a:bodyPr wrap="square" lIns="0" tIns="0" rIns="0" bIns="0" rtlCol="0" anchor="ctr"/>
          <a:lstStyle/>
          <a:p>
            <a:pPr indent="0" marL="0">
              <a:lnSpc>
                <a:spcPct val="110000"/>
              </a:lnSpc>
              <a:buNone/>
            </a:pPr>
            <a:r>
              <a:rPr lang="en-US" sz="1100" dirty="0">
                <a:solidFill>
                  <a:srgbClr val="1B2733"/>
                </a:solidFill>
                <a:latin typeface="Calibri" pitchFamily="34" charset="0"/>
                <a:ea typeface="Calibri" pitchFamily="34" charset="-122"/>
                <a:cs typeface="Calibri" pitchFamily="34" charset="-120"/>
              </a:rPr>
              <a:t>видит только данные своего домена</a:t>
            </a:r>
            <a:endParaRPr lang="en-US" sz="1100" dirty="0"/>
          </a:p>
        </p:txBody>
      </p:sp>
      <p:sp>
        <p:nvSpPr>
          <p:cNvPr id="21" name="Shape 19"/>
          <p:cNvSpPr/>
          <p:nvPr/>
        </p:nvSpPr>
        <p:spPr>
          <a:xfrm>
            <a:off x="8229600" y="3200400"/>
            <a:ext cx="3413455" cy="868680"/>
          </a:xfrm>
          <a:prstGeom prst="roundRect">
            <a:avLst>
              <a:gd name="adj" fmla="val 9474"/>
            </a:avLst>
          </a:prstGeom>
          <a:solidFill>
            <a:srgbClr val="FBF0DC"/>
          </a:solidFill>
          <a:ln w="12700">
            <a:solidFill>
              <a:srgbClr val="8A5A10"/>
            </a:solidFill>
            <a:prstDash val="solid"/>
          </a:ln>
        </p:spPr>
      </p:sp>
      <p:sp>
        <p:nvSpPr>
          <p:cNvPr id="22" name="Text 20"/>
          <p:cNvSpPr txBox="1"/>
          <p:nvPr/>
        </p:nvSpPr>
        <p:spPr>
          <a:xfrm>
            <a:off x="8394192" y="3273552"/>
            <a:ext cx="3084271" cy="274320"/>
          </a:xfrm>
          <a:prstGeom prst="rect">
            <a:avLst/>
          </a:prstGeom>
          <a:noFill/>
          <a:ln/>
        </p:spPr>
        <p:txBody>
          <a:bodyPr wrap="square" lIns="0" tIns="0" rIns="0" bIns="0" rtlCol="0" anchor="ctr"/>
          <a:lstStyle/>
          <a:p>
            <a:pPr indent="0" marL="0">
              <a:buNone/>
            </a:pPr>
            <a:r>
              <a:rPr lang="en-US" sz="1200" b="1" dirty="0">
                <a:solidFill>
                  <a:srgbClr val="8A5A10"/>
                </a:solidFill>
                <a:latin typeface="Calibri" pitchFamily="34" charset="0"/>
                <a:ea typeface="Calibri" pitchFamily="34" charset="-122"/>
                <a:cs typeface="Calibri" pitchFamily="34" charset="-120"/>
              </a:rPr>
              <a:t>Без домена</a:t>
            </a:r>
            <a:endParaRPr lang="en-US" sz="1200" dirty="0"/>
          </a:p>
        </p:txBody>
      </p:sp>
      <p:sp>
        <p:nvSpPr>
          <p:cNvPr id="23" name="Text 21"/>
          <p:cNvSpPr txBox="1"/>
          <p:nvPr/>
        </p:nvSpPr>
        <p:spPr>
          <a:xfrm>
            <a:off x="8394192" y="3566160"/>
            <a:ext cx="3084271" cy="457200"/>
          </a:xfrm>
          <a:prstGeom prst="rect">
            <a:avLst/>
          </a:prstGeom>
          <a:noFill/>
          <a:ln/>
        </p:spPr>
        <p:txBody>
          <a:bodyPr wrap="square" lIns="0" tIns="0" rIns="0" bIns="0" rtlCol="0" anchor="ctr"/>
          <a:lstStyle/>
          <a:p>
            <a:pPr indent="0" marL="0">
              <a:lnSpc>
                <a:spcPct val="110000"/>
              </a:lnSpc>
              <a:buNone/>
            </a:pPr>
            <a:r>
              <a:rPr lang="en-US" sz="1100" dirty="0">
                <a:solidFill>
                  <a:srgbClr val="1B2733"/>
                </a:solidFill>
                <a:latin typeface="Calibri" pitchFamily="34" charset="0"/>
                <a:ea typeface="Calibri" pitchFamily="34" charset="-122"/>
                <a:cs typeface="Calibri" pitchFamily="34" charset="-120"/>
              </a:rPr>
              <a:t>видит только объекты без домена</a:t>
            </a:r>
            <a:endParaRPr lang="en-US" sz="1100" dirty="0"/>
          </a:p>
        </p:txBody>
      </p:sp>
      <p:sp>
        <p:nvSpPr>
          <p:cNvPr id="24" name="Shape 22"/>
          <p:cNvSpPr/>
          <p:nvPr/>
        </p:nvSpPr>
        <p:spPr>
          <a:xfrm>
            <a:off x="548640" y="4389120"/>
            <a:ext cx="11094415" cy="1417320"/>
          </a:xfrm>
          <a:prstGeom prst="roundRect">
            <a:avLst>
              <a:gd name="adj" fmla="val 5806"/>
            </a:avLst>
          </a:prstGeom>
          <a:solidFill>
            <a:srgbClr val="DCEAF0"/>
          </a:solidFill>
          <a:ln w="12700">
            <a:solidFill>
              <a:srgbClr val="CBDEE6"/>
            </a:solidFill>
            <a:prstDash val="solid"/>
          </a:ln>
        </p:spPr>
      </p:sp>
      <p:sp>
        <p:nvSpPr>
          <p:cNvPr id="25" name="Text 23"/>
          <p:cNvSpPr txBox="1"/>
          <p:nvPr/>
        </p:nvSpPr>
        <p:spPr>
          <a:xfrm>
            <a:off x="822960" y="4389120"/>
            <a:ext cx="10545775" cy="1417320"/>
          </a:xfrm>
          <a:prstGeom prst="rect">
            <a:avLst/>
          </a:prstGeom>
          <a:noFill/>
          <a:ln/>
        </p:spPr>
        <p:txBody>
          <a:bodyPr wrap="square" lIns="0" tIns="0" rIns="0" bIns="0" rtlCol="0" anchor="ctr"/>
          <a:lstStyle/>
          <a:p>
            <a:pPr indent="0" marL="0">
              <a:lnSpc>
                <a:spcPct val="130000"/>
              </a:lnSpc>
              <a:buNone/>
            </a:pPr>
            <a:r>
              <a:rPr lang="en-US" sz="1450" b="1" dirty="0">
                <a:solidFill>
                  <a:srgbClr val="21295C"/>
                </a:solidFill>
                <a:latin typeface="Calibri" pitchFamily="34" charset="0"/>
                <a:ea typeface="Calibri" pitchFamily="34" charset="-122"/>
                <a:cs typeface="Calibri" pitchFamily="34" charset="-120"/>
              </a:rPr>
              <a:t>Итог: </a:t>
            </a:r>
            <a:pPr indent="0" marL="0">
              <a:lnSpc>
                <a:spcPct val="130000"/>
              </a:lnSpc>
              <a:buNone/>
            </a:pPr>
            <a:r>
              <a:rPr lang="en-US" sz="1450" dirty="0">
                <a:solidFill>
                  <a:srgbClr val="1B2733"/>
                </a:solidFill>
                <a:latin typeface="Calibri" pitchFamily="34" charset="0"/>
                <a:ea typeface="Calibri" pitchFamily="34" charset="-122"/>
                <a:cs typeface="Calibri" pitchFamily="34" charset="-120"/>
              </a:rPr>
              <a:t>путей передать домен пользователю — два (напрямую и через Персону), но реально ограничивает видимые данные всегда одна и та же роль-политика. Ни один из механизмов с прошлых двух слайдов (владельцы/эксперты, персона «сама по себе», роли «Контроль доступа») в эту схему не входит.</a:t>
            </a:r>
            <a:endParaRPr lang="en-US" sz="1450" dirty="0"/>
          </a:p>
        </p:txBody>
      </p:sp>
      <p:sp>
        <p:nvSpPr>
          <p:cNvPr id="26" name="Text 24"/>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27" name="Text 25"/>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07 · БОЛЕЕ ГЛУБОКИЙ УРОВЕНЬ</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Построчный и поколоночный доступ</a:t>
            </a:r>
            <a:endParaRPr lang="en-US" sz="2800" dirty="0"/>
          </a:p>
        </p:txBody>
      </p:sp>
      <p:sp>
        <p:nvSpPr>
          <p:cNvPr id="4" name="Text 2"/>
          <p:cNvSpPr txBox="1"/>
          <p:nvPr/>
        </p:nvSpPr>
        <p:spPr>
          <a:xfrm>
            <a:off x="548640" y="1417320"/>
            <a:ext cx="11094415" cy="548640"/>
          </a:xfrm>
          <a:prstGeom prst="rect">
            <a:avLst/>
          </a:prstGeom>
          <a:noFill/>
          <a:ln/>
        </p:spPr>
        <p:txBody>
          <a:bodyPr wrap="square" lIns="0" tIns="0" rIns="0" bIns="0" rtlCol="0" anchor="ctr"/>
          <a:lstStyle/>
          <a:p>
            <a:pPr indent="0" marL="0">
              <a:lnSpc>
                <a:spcPct val="125000"/>
              </a:lnSpc>
              <a:buNone/>
            </a:pPr>
            <a:r>
              <a:rPr lang="en-US" sz="1450" dirty="0">
                <a:solidFill>
                  <a:srgbClr val="1B2733"/>
                </a:solidFill>
                <a:latin typeface="Calibri" pitchFamily="34" charset="0"/>
                <a:ea typeface="Calibri" pitchFamily="34" charset="-122"/>
                <a:cs typeface="Calibri" pitchFamily="34" charset="-120"/>
              </a:rPr>
              <a:t>Тот же экран Граф доступа → Политики доступа, где настраиваются домены персоны, </a:t>
            </a:r>
            <a:pPr indent="0" marL="0">
              <a:lnSpc>
                <a:spcPct val="125000"/>
              </a:lnSpc>
              <a:buNone/>
            </a:pPr>
            <a:r>
              <a:rPr lang="en-US" sz="1450" b="1" dirty="0">
                <a:solidFill>
                  <a:srgbClr val="065A82"/>
                </a:solidFill>
                <a:latin typeface="Calibri" pitchFamily="34" charset="0"/>
                <a:ea typeface="Calibri" pitchFamily="34" charset="-122"/>
                <a:cs typeface="Calibri" pitchFamily="34" charset="-120"/>
              </a:rPr>
              <a:t>одновременно позволяет задать более тонкую фильтрацию — уже внутри табличных данных.</a:t>
            </a:r>
            <a:endParaRPr lang="en-US" sz="1450" dirty="0"/>
          </a:p>
        </p:txBody>
      </p:sp>
      <p:sp>
        <p:nvSpPr>
          <p:cNvPr id="5" name="Shape 3"/>
          <p:cNvSpPr/>
          <p:nvPr/>
        </p:nvSpPr>
        <p:spPr>
          <a:xfrm>
            <a:off x="548640" y="2148840"/>
            <a:ext cx="5318608" cy="2286000"/>
          </a:xfrm>
          <a:prstGeom prst="roundRect">
            <a:avLst>
              <a:gd name="adj" fmla="val 3600"/>
            </a:avLst>
          </a:prstGeom>
          <a:solidFill>
            <a:srgbClr val="EAF2F6"/>
          </a:solidFill>
          <a:ln w="12700">
            <a:solidFill>
              <a:srgbClr val="CBDEE6"/>
            </a:solidFill>
            <a:prstDash val="solid"/>
          </a:ln>
        </p:spPr>
      </p:sp>
      <p:sp>
        <p:nvSpPr>
          <p:cNvPr id="6" name="Text 4"/>
          <p:cNvSpPr txBox="1"/>
          <p:nvPr/>
        </p:nvSpPr>
        <p:spPr>
          <a:xfrm>
            <a:off x="777240" y="2313432"/>
            <a:ext cx="4861408"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Row-фильтры</a:t>
            </a:r>
            <a:endParaRPr lang="en-US" sz="1500" dirty="0"/>
          </a:p>
        </p:txBody>
      </p:sp>
      <p:sp>
        <p:nvSpPr>
          <p:cNvPr id="7" name="Text 5"/>
          <p:cNvSpPr txBox="1"/>
          <p:nvPr/>
        </p:nvSpPr>
        <p:spPr>
          <a:xfrm>
            <a:off x="777240" y="2651760"/>
            <a:ext cx="4861408" cy="274320"/>
          </a:xfrm>
          <a:prstGeom prst="rect">
            <a:avLst/>
          </a:prstGeom>
          <a:noFill/>
          <a:ln/>
        </p:spPr>
        <p:txBody>
          <a:bodyPr wrap="square" lIns="0" tIns="0" rIns="0" bIns="0" rtlCol="0" anchor="ctr"/>
          <a:lstStyle/>
          <a:p>
            <a:pPr indent="0" marL="0">
              <a:buNone/>
            </a:pPr>
            <a:r>
              <a:rPr lang="en-US" sz="1150" dirty="0">
                <a:solidFill>
                  <a:srgbClr val="21295C"/>
                </a:solidFill>
                <a:latin typeface="Courier New" pitchFamily="34" charset="0"/>
                <a:ea typeface="Courier New" pitchFamily="34" charset="-122"/>
                <a:cs typeface="Courier New" pitchFamily="34" charset="-120"/>
              </a:rPr>
              <a:t>По ключу схема.таблица</a:t>
            </a:r>
            <a:endParaRPr lang="en-US" sz="1150" dirty="0"/>
          </a:p>
        </p:txBody>
      </p:sp>
      <p:sp>
        <p:nvSpPr>
          <p:cNvPr id="8" name="Text 6"/>
          <p:cNvSpPr txBox="1"/>
          <p:nvPr/>
        </p:nvSpPr>
        <p:spPr>
          <a:xfrm>
            <a:off x="777240" y="2971800"/>
            <a:ext cx="4861408" cy="1371600"/>
          </a:xfrm>
          <a:prstGeom prst="rect">
            <a:avLst/>
          </a:prstGeom>
          <a:noFill/>
          <a:ln/>
        </p:spPr>
        <p:txBody>
          <a:bodyPr wrap="square" lIns="0" tIns="0" rIns="0" bIns="0" rtlCol="0" anchor="ctr"/>
          <a:lstStyle/>
          <a:p>
            <a:pPr indent="0" marL="0">
              <a:lnSpc>
                <a:spcPct val="125000"/>
              </a:lnSpc>
              <a:buNone/>
            </a:pPr>
            <a:r>
              <a:rPr lang="en-US" sz="1250" dirty="0">
                <a:solidFill>
                  <a:srgbClr val="1B2733"/>
                </a:solidFill>
                <a:latin typeface="Calibri" pitchFamily="34" charset="0"/>
                <a:ea typeface="Calibri" pitchFamily="34" charset="-122"/>
                <a:cs typeface="Calibri" pitchFamily="34" charset="-120"/>
              </a:rPr>
              <a:t>JSON-шаблон вида {"схема.таблица": "выражение с :param из юзера"} — какие строки таблицы видны конкретному пользователю/персоне.</a:t>
            </a:r>
            <a:endParaRPr lang="en-US" sz="1250" dirty="0"/>
          </a:p>
        </p:txBody>
      </p:sp>
      <p:sp>
        <p:nvSpPr>
          <p:cNvPr id="9" name="Shape 7"/>
          <p:cNvSpPr/>
          <p:nvPr/>
        </p:nvSpPr>
        <p:spPr>
          <a:xfrm>
            <a:off x="6324448" y="2148840"/>
            <a:ext cx="5318608" cy="2286000"/>
          </a:xfrm>
          <a:prstGeom prst="roundRect">
            <a:avLst>
              <a:gd name="adj" fmla="val 3600"/>
            </a:avLst>
          </a:prstGeom>
          <a:solidFill>
            <a:srgbClr val="EAF2F6"/>
          </a:solidFill>
          <a:ln w="12700">
            <a:solidFill>
              <a:srgbClr val="CBDEE6"/>
            </a:solidFill>
            <a:prstDash val="solid"/>
          </a:ln>
        </p:spPr>
      </p:sp>
      <p:sp>
        <p:nvSpPr>
          <p:cNvPr id="10" name="Text 8"/>
          <p:cNvSpPr txBox="1"/>
          <p:nvPr/>
        </p:nvSpPr>
        <p:spPr>
          <a:xfrm>
            <a:off x="6553048" y="2313432"/>
            <a:ext cx="4861408"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Маскируемые колонки</a:t>
            </a:r>
            <a:endParaRPr lang="en-US" sz="1500" dirty="0"/>
          </a:p>
        </p:txBody>
      </p:sp>
      <p:sp>
        <p:nvSpPr>
          <p:cNvPr id="11" name="Text 9"/>
          <p:cNvSpPr txBox="1"/>
          <p:nvPr/>
        </p:nvSpPr>
        <p:spPr>
          <a:xfrm>
            <a:off x="6553048" y="2651760"/>
            <a:ext cx="4861408" cy="274320"/>
          </a:xfrm>
          <a:prstGeom prst="rect">
            <a:avLst/>
          </a:prstGeom>
          <a:noFill/>
          <a:ln/>
        </p:spPr>
        <p:txBody>
          <a:bodyPr wrap="square" lIns="0" tIns="0" rIns="0" bIns="0" rtlCol="0" anchor="ctr"/>
          <a:lstStyle/>
          <a:p>
            <a:pPr indent="0" marL="0">
              <a:buNone/>
            </a:pPr>
            <a:r>
              <a:rPr lang="en-US" sz="1150" dirty="0">
                <a:solidFill>
                  <a:srgbClr val="21295C"/>
                </a:solidFill>
                <a:latin typeface="Courier New" pitchFamily="34" charset="0"/>
                <a:ea typeface="Courier New" pitchFamily="34" charset="-122"/>
                <a:cs typeface="Courier New" pitchFamily="34" charset="-120"/>
              </a:rPr>
              <a:t>По ключу схема.таблица.колонка</a:t>
            </a:r>
            <a:endParaRPr lang="en-US" sz="1150" dirty="0"/>
          </a:p>
        </p:txBody>
      </p:sp>
      <p:sp>
        <p:nvSpPr>
          <p:cNvPr id="12" name="Text 10"/>
          <p:cNvSpPr txBox="1"/>
          <p:nvPr/>
        </p:nvSpPr>
        <p:spPr>
          <a:xfrm>
            <a:off x="6553048" y="2971800"/>
            <a:ext cx="4861408" cy="1371600"/>
          </a:xfrm>
          <a:prstGeom prst="rect">
            <a:avLst/>
          </a:prstGeom>
          <a:noFill/>
          <a:ln/>
        </p:spPr>
        <p:txBody>
          <a:bodyPr wrap="square" lIns="0" tIns="0" rIns="0" bIns="0" rtlCol="0" anchor="ctr"/>
          <a:lstStyle/>
          <a:p>
            <a:pPr indent="0" marL="0">
              <a:lnSpc>
                <a:spcPct val="125000"/>
              </a:lnSpc>
              <a:buNone/>
            </a:pPr>
            <a:r>
              <a:rPr lang="en-US" sz="1250" dirty="0">
                <a:solidFill>
                  <a:srgbClr val="1B2733"/>
                </a:solidFill>
                <a:latin typeface="Calibri" pitchFamily="34" charset="0"/>
                <a:ea typeface="Calibri" pitchFamily="34" charset="-122"/>
                <a:cs typeface="Calibri" pitchFamily="34" charset="-120"/>
              </a:rPr>
              <a:t>Ключи вида catalog.schema.table, которые различает механизм OPA — какие колонки маскируются для конкретного пользователя/персоны.</a:t>
            </a:r>
            <a:endParaRPr lang="en-US" sz="1250" dirty="0"/>
          </a:p>
        </p:txBody>
      </p:sp>
      <p:sp>
        <p:nvSpPr>
          <p:cNvPr id="13" name="Shape 11"/>
          <p:cNvSpPr/>
          <p:nvPr/>
        </p:nvSpPr>
        <p:spPr>
          <a:xfrm>
            <a:off x="548640" y="4617720"/>
            <a:ext cx="11094415" cy="1143000"/>
          </a:xfrm>
          <a:prstGeom prst="roundRect">
            <a:avLst>
              <a:gd name="adj" fmla="val 7200"/>
            </a:avLst>
          </a:prstGeom>
          <a:solidFill>
            <a:srgbClr val="FBF0DC"/>
          </a:solidFill>
          <a:ln w="12700">
            <a:solidFill>
              <a:srgbClr val="8A5A10"/>
            </a:solidFill>
            <a:prstDash val="solid"/>
          </a:ln>
        </p:spPr>
      </p:sp>
      <p:sp>
        <p:nvSpPr>
          <p:cNvPr id="14" name="Text 12"/>
          <p:cNvSpPr txBox="1"/>
          <p:nvPr/>
        </p:nvSpPr>
        <p:spPr>
          <a:xfrm>
            <a:off x="822960" y="4617720"/>
            <a:ext cx="10545775" cy="1143000"/>
          </a:xfrm>
          <a:prstGeom prst="rect">
            <a:avLst/>
          </a:prstGeom>
          <a:noFill/>
          <a:ln/>
        </p:spPr>
        <p:txBody>
          <a:bodyPr wrap="square" lIns="0" tIns="0" rIns="0" bIns="0" rtlCol="0" anchor="ctr"/>
          <a:lstStyle/>
          <a:p>
            <a:pPr indent="0" marL="0">
              <a:lnSpc>
                <a:spcPct val="125000"/>
              </a:lnSpc>
              <a:buNone/>
            </a:pPr>
            <a:r>
              <a:rPr lang="en-US" sz="1350" b="1" dirty="0">
                <a:solidFill>
                  <a:srgbClr val="8A5A10"/>
                </a:solidFill>
                <a:latin typeface="Calibri" pitchFamily="34" charset="0"/>
                <a:ea typeface="Calibri" pitchFamily="34" charset="-122"/>
                <a:cs typeface="Calibri" pitchFamily="34" charset="-120"/>
              </a:rPr>
              <a:t>Это уже про доступ к данным на уровне SQL-запросов (Trino), а НЕ про RAG-поиск по документам</a:t>
            </a:r>
            <a:pPr indent="0" marL="0">
              <a:lnSpc>
                <a:spcPct val="125000"/>
              </a:lnSpc>
              <a:buNone/>
            </a:pPr>
            <a:r>
              <a:rPr lang="en-US" sz="1350" dirty="0">
                <a:solidFill>
                  <a:srgbClr val="1B2733"/>
                </a:solidFill>
                <a:latin typeface="Calibri" pitchFamily="34" charset="0"/>
                <a:ea typeface="Calibri" pitchFamily="34" charset="-122"/>
                <a:cs typeface="Calibri" pitchFamily="34" charset="-120"/>
              </a:rPr>
              <a:t> — отдельная тема от коллекций документов, разобранных ранее в этой части. Настраивается по персонам и пользователям.</a:t>
            </a:r>
            <a:endParaRPr lang="en-US" sz="1350" dirty="0"/>
          </a:p>
        </p:txBody>
      </p:sp>
      <p:sp>
        <p:nvSpPr>
          <p:cNvPr id="15" name="Text 13"/>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16" name="Text 14"/>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07 · БОЛЕЕ ГЛУБОКИЙ УРОВЕНЬ</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Как два уровня доступа работают вместе</a:t>
            </a:r>
            <a:endParaRPr lang="en-US" sz="2800" dirty="0"/>
          </a:p>
        </p:txBody>
      </p:sp>
      <p:sp>
        <p:nvSpPr>
          <p:cNvPr id="4" name="Shape 2"/>
          <p:cNvSpPr/>
          <p:nvPr/>
        </p:nvSpPr>
        <p:spPr>
          <a:xfrm>
            <a:off x="548640" y="1463040"/>
            <a:ext cx="6949440" cy="4069080"/>
          </a:xfrm>
          <a:prstGeom prst="roundRect">
            <a:avLst>
              <a:gd name="adj" fmla="val 3146"/>
            </a:avLst>
          </a:prstGeom>
          <a:solidFill>
            <a:srgbClr val="EAF2F6"/>
          </a:solidFill>
          <a:ln w="22225">
            <a:solidFill>
              <a:srgbClr val="065A82"/>
            </a:solidFill>
            <a:prstDash val="solid"/>
          </a:ln>
        </p:spPr>
      </p:sp>
      <p:sp>
        <p:nvSpPr>
          <p:cNvPr id="5" name="Text 3"/>
          <p:cNvSpPr txBox="1"/>
          <p:nvPr/>
        </p:nvSpPr>
        <p:spPr>
          <a:xfrm>
            <a:off x="822960" y="1645920"/>
            <a:ext cx="6400800" cy="41148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УРОВЕНЬ 1 · Домен → доступ к коллекции (RAG-поиск по документам)</a:t>
            </a:r>
            <a:endParaRPr lang="en-US" sz="1250" dirty="0"/>
          </a:p>
        </p:txBody>
      </p:sp>
      <p:sp>
        <p:nvSpPr>
          <p:cNvPr id="6" name="Text 4"/>
          <p:cNvSpPr txBox="1"/>
          <p:nvPr/>
        </p:nvSpPr>
        <p:spPr>
          <a:xfrm>
            <a:off x="822960" y="2057400"/>
            <a:ext cx="6400800" cy="640080"/>
          </a:xfrm>
          <a:prstGeom prst="rect">
            <a:avLst/>
          </a:prstGeom>
          <a:noFill/>
          <a:ln/>
        </p:spPr>
        <p:txBody>
          <a:bodyPr wrap="square" lIns="0" tIns="0" rIns="0" bIns="0" rtlCol="0" anchor="ctr"/>
          <a:lstStyle/>
          <a:p>
            <a:pPr indent="0" marL="0">
              <a:lnSpc>
                <a:spcPct val="120000"/>
              </a:lnSpc>
              <a:buNone/>
            </a:pPr>
            <a:r>
              <a:rPr lang="en-US" sz="1200" dirty="0">
                <a:solidFill>
                  <a:srgbClr val="1B2733"/>
                </a:solidFill>
                <a:latin typeface="Calibri" pitchFamily="34" charset="0"/>
                <a:ea typeface="Calibri" pitchFamily="34" charset="-122"/>
                <a:cs typeface="Calibri" pitchFamily="34" charset="-120"/>
              </a:rPr>
              <a:t>Домен + роль Domain Only Access Role определяют, какие коллекции документов пользователь вообще видит в чате и поиске.</a:t>
            </a:r>
            <a:endParaRPr lang="en-US" sz="1200" dirty="0"/>
          </a:p>
        </p:txBody>
      </p:sp>
      <p:sp>
        <p:nvSpPr>
          <p:cNvPr id="7" name="Shape 5"/>
          <p:cNvSpPr/>
          <p:nvPr/>
        </p:nvSpPr>
        <p:spPr>
          <a:xfrm>
            <a:off x="1005840" y="2926080"/>
            <a:ext cx="6035040" cy="2148840"/>
          </a:xfrm>
          <a:prstGeom prst="roundRect">
            <a:avLst>
              <a:gd name="adj" fmla="val 5106"/>
            </a:avLst>
          </a:prstGeom>
          <a:solidFill>
            <a:srgbClr val="FFFFFF"/>
          </a:solidFill>
          <a:ln w="22225">
            <a:solidFill>
              <a:srgbClr val="1C7293"/>
            </a:solidFill>
            <a:prstDash val="solid"/>
          </a:ln>
        </p:spPr>
      </p:sp>
      <p:sp>
        <p:nvSpPr>
          <p:cNvPr id="8" name="Text 6"/>
          <p:cNvSpPr txBox="1"/>
          <p:nvPr/>
        </p:nvSpPr>
        <p:spPr>
          <a:xfrm>
            <a:off x="1261872" y="3090672"/>
            <a:ext cx="5522976"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УРОВЕНЬ 2 · Граф доступа → row/column маски (SQL / Trino)</a:t>
            </a:r>
            <a:endParaRPr lang="en-US" sz="1200" dirty="0"/>
          </a:p>
        </p:txBody>
      </p:sp>
      <p:sp>
        <p:nvSpPr>
          <p:cNvPr id="9" name="Text 7"/>
          <p:cNvSpPr txBox="1"/>
          <p:nvPr/>
        </p:nvSpPr>
        <p:spPr>
          <a:xfrm>
            <a:off x="1261872" y="3456432"/>
            <a:ext cx="5522976" cy="822960"/>
          </a:xfrm>
          <a:prstGeom prst="rect">
            <a:avLst/>
          </a:prstGeom>
          <a:noFill/>
          <a:ln/>
        </p:spPr>
        <p:txBody>
          <a:bodyPr wrap="square" lIns="0" tIns="0" rIns="0" bIns="0" rtlCol="0" anchor="ctr"/>
          <a:lstStyle/>
          <a:p>
            <a:pPr indent="0" marL="0">
              <a:lnSpc>
                <a:spcPct val="120000"/>
              </a:lnSpc>
              <a:buNone/>
            </a:pPr>
            <a:r>
              <a:rPr lang="en-US" sz="1150" dirty="0">
                <a:solidFill>
                  <a:srgbClr val="1B2733"/>
                </a:solidFill>
                <a:latin typeface="Calibri" pitchFamily="34" charset="0"/>
                <a:ea typeface="Calibri" pitchFamily="34" charset="-122"/>
                <a:cs typeface="Calibri" pitchFamily="34" charset="-120"/>
              </a:rPr>
              <a:t>Внутри уже разрешённых табличных данных — какие строки и колонки видны конкретному пользователю/персоне.</a:t>
            </a:r>
            <a:endParaRPr lang="en-US" sz="1150" dirty="0"/>
          </a:p>
        </p:txBody>
      </p:sp>
      <p:sp>
        <p:nvSpPr>
          <p:cNvPr id="10" name="Text 8"/>
          <p:cNvSpPr txBox="1"/>
          <p:nvPr/>
        </p:nvSpPr>
        <p:spPr>
          <a:xfrm>
            <a:off x="7909560" y="1463040"/>
            <a:ext cx="3733495" cy="256032"/>
          </a:xfrm>
          <a:prstGeom prst="rect">
            <a:avLst/>
          </a:prstGeom>
          <a:noFill/>
          <a:ln/>
        </p:spPr>
        <p:txBody>
          <a:bodyPr wrap="square" lIns="0" tIns="0" rIns="0" bIns="0" rtlCol="0" anchor="ctr"/>
          <a:lstStyle/>
          <a:p>
            <a:pPr indent="0" marL="0">
              <a:buNone/>
            </a:pPr>
            <a:r>
              <a:rPr lang="en-US" sz="1050" b="1" dirty="0">
                <a:solidFill>
                  <a:srgbClr val="7C8B98"/>
                </a:solidFill>
                <a:latin typeface="Calibri" pitchFamily="34" charset="0"/>
                <a:ea typeface="Calibri" pitchFamily="34" charset="-122"/>
                <a:cs typeface="Calibri" pitchFamily="34" charset="-120"/>
              </a:rPr>
              <a:t>Что ограничивает</a:t>
            </a:r>
            <a:endParaRPr lang="en-US" sz="1050" dirty="0"/>
          </a:p>
        </p:txBody>
      </p:sp>
      <p:sp>
        <p:nvSpPr>
          <p:cNvPr id="11" name="Text 9"/>
          <p:cNvSpPr txBox="1"/>
          <p:nvPr/>
        </p:nvSpPr>
        <p:spPr>
          <a:xfrm>
            <a:off x="7909560" y="1719072"/>
            <a:ext cx="3733495" cy="320040"/>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 Целые коллекции документов</a:t>
            </a:r>
            <a:endParaRPr lang="en-US" sz="1050" dirty="0"/>
          </a:p>
        </p:txBody>
      </p:sp>
      <p:sp>
        <p:nvSpPr>
          <p:cNvPr id="12" name="Text 10"/>
          <p:cNvSpPr txBox="1"/>
          <p:nvPr/>
        </p:nvSpPr>
        <p:spPr>
          <a:xfrm>
            <a:off x="7909560" y="2011680"/>
            <a:ext cx="3733495" cy="320040"/>
          </a:xfrm>
          <a:prstGeom prst="rect">
            <a:avLst/>
          </a:prstGeom>
          <a:noFill/>
          <a:ln/>
        </p:spPr>
        <p:txBody>
          <a:bodyPr wrap="square" lIns="0" tIns="0" rIns="0" bIns="0" rtlCol="0" anchor="ctr"/>
          <a:lstStyle/>
          <a:p>
            <a:pPr indent="0" marL="0">
              <a:buNone/>
            </a:pPr>
            <a:r>
              <a:rPr lang="en-US" sz="1050" dirty="0">
                <a:solidFill>
                  <a:srgbClr val="1C7293"/>
                </a:solidFill>
                <a:latin typeface="Calibri" pitchFamily="34" charset="0"/>
                <a:ea typeface="Calibri" pitchFamily="34" charset="-122"/>
                <a:cs typeface="Calibri" pitchFamily="34" charset="-120"/>
              </a:rPr>
              <a:t>• Строки и колонки внутри таблиц</a:t>
            </a:r>
            <a:endParaRPr lang="en-US" sz="1050" dirty="0"/>
          </a:p>
        </p:txBody>
      </p:sp>
      <p:sp>
        <p:nvSpPr>
          <p:cNvPr id="13" name="Text 11"/>
          <p:cNvSpPr txBox="1"/>
          <p:nvPr/>
        </p:nvSpPr>
        <p:spPr>
          <a:xfrm>
            <a:off x="7909560" y="2487168"/>
            <a:ext cx="3733495" cy="256032"/>
          </a:xfrm>
          <a:prstGeom prst="rect">
            <a:avLst/>
          </a:prstGeom>
          <a:noFill/>
          <a:ln/>
        </p:spPr>
        <p:txBody>
          <a:bodyPr wrap="square" lIns="0" tIns="0" rIns="0" bIns="0" rtlCol="0" anchor="ctr"/>
          <a:lstStyle/>
          <a:p>
            <a:pPr indent="0" marL="0">
              <a:buNone/>
            </a:pPr>
            <a:r>
              <a:rPr lang="en-US" sz="1050" b="1" dirty="0">
                <a:solidFill>
                  <a:srgbClr val="7C8B98"/>
                </a:solidFill>
                <a:latin typeface="Calibri" pitchFamily="34" charset="0"/>
                <a:ea typeface="Calibri" pitchFamily="34" charset="-122"/>
                <a:cs typeface="Calibri" pitchFamily="34" charset="-120"/>
              </a:rPr>
              <a:t>Тип данных</a:t>
            </a:r>
            <a:endParaRPr lang="en-US" sz="1050" dirty="0"/>
          </a:p>
        </p:txBody>
      </p:sp>
      <p:sp>
        <p:nvSpPr>
          <p:cNvPr id="14" name="Text 12"/>
          <p:cNvSpPr txBox="1"/>
          <p:nvPr/>
        </p:nvSpPr>
        <p:spPr>
          <a:xfrm>
            <a:off x="7909560" y="2743200"/>
            <a:ext cx="3733495" cy="320040"/>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 Неструктурированные документы</a:t>
            </a:r>
            <a:endParaRPr lang="en-US" sz="1050" dirty="0"/>
          </a:p>
        </p:txBody>
      </p:sp>
      <p:sp>
        <p:nvSpPr>
          <p:cNvPr id="15" name="Text 13"/>
          <p:cNvSpPr txBox="1"/>
          <p:nvPr/>
        </p:nvSpPr>
        <p:spPr>
          <a:xfrm>
            <a:off x="7909560" y="3035808"/>
            <a:ext cx="3733495" cy="320040"/>
          </a:xfrm>
          <a:prstGeom prst="rect">
            <a:avLst/>
          </a:prstGeom>
          <a:noFill/>
          <a:ln/>
        </p:spPr>
        <p:txBody>
          <a:bodyPr wrap="square" lIns="0" tIns="0" rIns="0" bIns="0" rtlCol="0" anchor="ctr"/>
          <a:lstStyle/>
          <a:p>
            <a:pPr indent="0" marL="0">
              <a:buNone/>
            </a:pPr>
            <a:r>
              <a:rPr lang="en-US" sz="1050" dirty="0">
                <a:solidFill>
                  <a:srgbClr val="1C7293"/>
                </a:solidFill>
                <a:latin typeface="Calibri" pitchFamily="34" charset="0"/>
                <a:ea typeface="Calibri" pitchFamily="34" charset="-122"/>
                <a:cs typeface="Calibri" pitchFamily="34" charset="-120"/>
              </a:rPr>
              <a:t>• Структурированные табличные данные</a:t>
            </a:r>
            <a:endParaRPr lang="en-US" sz="1050" dirty="0"/>
          </a:p>
        </p:txBody>
      </p:sp>
      <p:sp>
        <p:nvSpPr>
          <p:cNvPr id="16" name="Text 14"/>
          <p:cNvSpPr txBox="1"/>
          <p:nvPr/>
        </p:nvSpPr>
        <p:spPr>
          <a:xfrm>
            <a:off x="7909560" y="3511296"/>
            <a:ext cx="3733495" cy="256032"/>
          </a:xfrm>
          <a:prstGeom prst="rect">
            <a:avLst/>
          </a:prstGeom>
          <a:noFill/>
          <a:ln/>
        </p:spPr>
        <p:txBody>
          <a:bodyPr wrap="square" lIns="0" tIns="0" rIns="0" bIns="0" rtlCol="0" anchor="ctr"/>
          <a:lstStyle/>
          <a:p>
            <a:pPr indent="0" marL="0">
              <a:buNone/>
            </a:pPr>
            <a:r>
              <a:rPr lang="en-US" sz="1050" b="1" dirty="0">
                <a:solidFill>
                  <a:srgbClr val="7C8B98"/>
                </a:solidFill>
                <a:latin typeface="Calibri" pitchFamily="34" charset="0"/>
                <a:ea typeface="Calibri" pitchFamily="34" charset="-122"/>
                <a:cs typeface="Calibri" pitchFamily="34" charset="-120"/>
              </a:rPr>
              <a:t>Механизм</a:t>
            </a:r>
            <a:endParaRPr lang="en-US" sz="1050" dirty="0"/>
          </a:p>
        </p:txBody>
      </p:sp>
      <p:sp>
        <p:nvSpPr>
          <p:cNvPr id="17" name="Text 15"/>
          <p:cNvSpPr txBox="1"/>
          <p:nvPr/>
        </p:nvSpPr>
        <p:spPr>
          <a:xfrm>
            <a:off x="7909560" y="3767328"/>
            <a:ext cx="3733495" cy="320040"/>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 Domain Only Access Role</a:t>
            </a:r>
            <a:endParaRPr lang="en-US" sz="1050" dirty="0"/>
          </a:p>
        </p:txBody>
      </p:sp>
      <p:sp>
        <p:nvSpPr>
          <p:cNvPr id="18" name="Text 16"/>
          <p:cNvSpPr txBox="1"/>
          <p:nvPr/>
        </p:nvSpPr>
        <p:spPr>
          <a:xfrm>
            <a:off x="7909560" y="4059936"/>
            <a:ext cx="3733495" cy="320040"/>
          </a:xfrm>
          <a:prstGeom prst="rect">
            <a:avLst/>
          </a:prstGeom>
          <a:noFill/>
          <a:ln/>
        </p:spPr>
        <p:txBody>
          <a:bodyPr wrap="square" lIns="0" tIns="0" rIns="0" bIns="0" rtlCol="0" anchor="ctr"/>
          <a:lstStyle/>
          <a:p>
            <a:pPr indent="0" marL="0">
              <a:buNone/>
            </a:pPr>
            <a:r>
              <a:rPr lang="en-US" sz="1050" dirty="0">
                <a:solidFill>
                  <a:srgbClr val="1C7293"/>
                </a:solidFill>
                <a:latin typeface="Calibri" pitchFamily="34" charset="0"/>
                <a:ea typeface="Calibri" pitchFamily="34" charset="-122"/>
                <a:cs typeface="Calibri" pitchFamily="34" charset="-120"/>
              </a:rPr>
              <a:t>• OPA-политики (row-фильтр / маска)</a:t>
            </a:r>
            <a:endParaRPr lang="en-US" sz="1050" dirty="0"/>
          </a:p>
        </p:txBody>
      </p:sp>
      <p:sp>
        <p:nvSpPr>
          <p:cNvPr id="19" name="Text 17"/>
          <p:cNvSpPr txBox="1"/>
          <p:nvPr/>
        </p:nvSpPr>
        <p:spPr>
          <a:xfrm>
            <a:off x="7909560" y="4535424"/>
            <a:ext cx="3733495" cy="256032"/>
          </a:xfrm>
          <a:prstGeom prst="rect">
            <a:avLst/>
          </a:prstGeom>
          <a:noFill/>
          <a:ln/>
        </p:spPr>
        <p:txBody>
          <a:bodyPr wrap="square" lIns="0" tIns="0" rIns="0" bIns="0" rtlCol="0" anchor="ctr"/>
          <a:lstStyle/>
          <a:p>
            <a:pPr indent="0" marL="0">
              <a:buNone/>
            </a:pPr>
            <a:r>
              <a:rPr lang="en-US" sz="1050" b="1" dirty="0">
                <a:solidFill>
                  <a:srgbClr val="7C8B98"/>
                </a:solidFill>
                <a:latin typeface="Calibri" pitchFamily="34" charset="0"/>
                <a:ea typeface="Calibri" pitchFamily="34" charset="-122"/>
                <a:cs typeface="Calibri" pitchFamily="34" charset="-120"/>
              </a:rPr>
              <a:t>Где настраивается</a:t>
            </a:r>
            <a:endParaRPr lang="en-US" sz="1050" dirty="0"/>
          </a:p>
        </p:txBody>
      </p:sp>
      <p:sp>
        <p:nvSpPr>
          <p:cNvPr id="20" name="Text 18"/>
          <p:cNvSpPr txBox="1"/>
          <p:nvPr/>
        </p:nvSpPr>
        <p:spPr>
          <a:xfrm>
            <a:off x="7909560" y="4791456"/>
            <a:ext cx="3733495" cy="320040"/>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 Профиль / команда / персона</a:t>
            </a:r>
            <a:endParaRPr lang="en-US" sz="1050" dirty="0"/>
          </a:p>
        </p:txBody>
      </p:sp>
      <p:sp>
        <p:nvSpPr>
          <p:cNvPr id="21" name="Text 19"/>
          <p:cNvSpPr txBox="1"/>
          <p:nvPr/>
        </p:nvSpPr>
        <p:spPr>
          <a:xfrm>
            <a:off x="7909560" y="5084064"/>
            <a:ext cx="3733495" cy="320040"/>
          </a:xfrm>
          <a:prstGeom prst="rect">
            <a:avLst/>
          </a:prstGeom>
          <a:noFill/>
          <a:ln/>
        </p:spPr>
        <p:txBody>
          <a:bodyPr wrap="square" lIns="0" tIns="0" rIns="0" bIns="0" rtlCol="0" anchor="ctr"/>
          <a:lstStyle/>
          <a:p>
            <a:pPr indent="0" marL="0">
              <a:buNone/>
            </a:pPr>
            <a:r>
              <a:rPr lang="en-US" sz="1050" dirty="0">
                <a:solidFill>
                  <a:srgbClr val="1C7293"/>
                </a:solidFill>
                <a:latin typeface="Calibri" pitchFamily="34" charset="0"/>
                <a:ea typeface="Calibri" pitchFamily="34" charset="-122"/>
                <a:cs typeface="Calibri" pitchFamily="34" charset="-120"/>
              </a:rPr>
              <a:t>• Граф доступа → Политики доступа</a:t>
            </a:r>
            <a:endParaRPr lang="en-US" sz="1050" dirty="0"/>
          </a:p>
        </p:txBody>
      </p:sp>
      <p:sp>
        <p:nvSpPr>
          <p:cNvPr id="22" name="Shape 20"/>
          <p:cNvSpPr/>
          <p:nvPr/>
        </p:nvSpPr>
        <p:spPr>
          <a:xfrm>
            <a:off x="548640" y="5687568"/>
            <a:ext cx="11094415" cy="566928"/>
          </a:xfrm>
          <a:prstGeom prst="roundRect">
            <a:avLst>
              <a:gd name="adj" fmla="val 16129"/>
            </a:avLst>
          </a:prstGeom>
          <a:solidFill>
            <a:srgbClr val="21295C"/>
          </a:solidFill>
          <a:ln/>
        </p:spPr>
      </p:sp>
      <p:sp>
        <p:nvSpPr>
          <p:cNvPr id="23" name="Text 21"/>
          <p:cNvSpPr txBox="1"/>
          <p:nvPr/>
        </p:nvSpPr>
        <p:spPr>
          <a:xfrm>
            <a:off x="822960" y="5687568"/>
            <a:ext cx="10545775" cy="566928"/>
          </a:xfrm>
          <a:prstGeom prst="rect">
            <a:avLst/>
          </a:prstGeom>
          <a:noFill/>
          <a:ln/>
        </p:spPr>
        <p:txBody>
          <a:bodyPr wrap="square" lIns="0" tIns="0" rIns="0" bIns="0"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Оба уровня независимы, но применяются последовательно — сначала домен решает, дошли ли вы вообще до данных, потом Граф доступа решает, что именно из них видно.</a:t>
            </a:r>
            <a:endParaRPr lang="en-US" sz="1200" dirty="0"/>
          </a:p>
        </p:txBody>
      </p:sp>
      <p:sp>
        <p:nvSpPr>
          <p:cNvPr id="24" name="Text 22"/>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25" name="Text 23"/>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ПРИЛОЖЕНИЕ</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Тест-кейс для заказчика: проверка на практике</a:t>
            </a:r>
            <a:endParaRPr lang="en-US" sz="2800" dirty="0"/>
          </a:p>
        </p:txBody>
      </p:sp>
      <p:sp>
        <p:nvSpPr>
          <p:cNvPr id="4" name="Text 2"/>
          <p:cNvSpPr txBox="1"/>
          <p:nvPr/>
        </p:nvSpPr>
        <p:spPr>
          <a:xfrm>
            <a:off x="548640" y="1371600"/>
            <a:ext cx="11094415" cy="411480"/>
          </a:xfrm>
          <a:prstGeom prst="rect">
            <a:avLst/>
          </a:prstGeom>
          <a:noFill/>
          <a:ln/>
        </p:spPr>
        <p:txBody>
          <a:bodyPr wrap="square" lIns="0" tIns="0" rIns="0" bIns="0" rtlCol="0" anchor="ctr"/>
          <a:lstStyle/>
          <a:p>
            <a:pPr indent="0" marL="0">
              <a:lnSpc>
                <a:spcPct val="120000"/>
              </a:lnSpc>
              <a:buNone/>
            </a:pPr>
            <a:r>
              <a:rPr lang="en-US" sz="1300" i="1" dirty="0">
                <a:solidFill>
                  <a:srgbClr val="51606E"/>
                </a:solidFill>
                <a:latin typeface="Calibri" pitchFamily="34" charset="0"/>
                <a:ea typeface="Calibri" pitchFamily="34" charset="-122"/>
                <a:cs typeface="Calibri" pitchFamily="34" charset="-120"/>
              </a:rPr>
              <a:t>Готовый сценарий — пройти на пилотном контуре, чтобы убедиться, как связка «домен + роль» влияет на то, что реально видно в чате.</a:t>
            </a:r>
            <a:endParaRPr lang="en-US" sz="1300" dirty="0"/>
          </a:p>
        </p:txBody>
      </p:sp>
      <p:sp>
        <p:nvSpPr>
          <p:cNvPr id="5" name="Shape 3"/>
          <p:cNvSpPr/>
          <p:nvPr/>
        </p:nvSpPr>
        <p:spPr>
          <a:xfrm>
            <a:off x="548640" y="1920240"/>
            <a:ext cx="11094415" cy="822960"/>
          </a:xfrm>
          <a:prstGeom prst="roundRect">
            <a:avLst>
              <a:gd name="adj" fmla="val 10000"/>
            </a:avLst>
          </a:prstGeom>
          <a:solidFill>
            <a:srgbClr val="EAF2F6"/>
          </a:solidFill>
          <a:ln w="12700">
            <a:solidFill>
              <a:srgbClr val="CBDEE6"/>
            </a:solidFill>
            <a:prstDash val="solid"/>
          </a:ln>
        </p:spPr>
      </p:sp>
      <p:sp>
        <p:nvSpPr>
          <p:cNvPr id="6" name="Text 4"/>
          <p:cNvSpPr txBox="1"/>
          <p:nvPr/>
        </p:nvSpPr>
        <p:spPr>
          <a:xfrm>
            <a:off x="777240" y="1993392"/>
            <a:ext cx="274320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A · Подготовка</a:t>
            </a:r>
            <a:endParaRPr lang="en-US" sz="1300" dirty="0"/>
          </a:p>
        </p:txBody>
      </p:sp>
      <p:sp>
        <p:nvSpPr>
          <p:cNvPr id="7" name="Text 5"/>
          <p:cNvSpPr txBox="1"/>
          <p:nvPr/>
        </p:nvSpPr>
        <p:spPr>
          <a:xfrm>
            <a:off x="777240" y="2304288"/>
            <a:ext cx="6126480" cy="457200"/>
          </a:xfrm>
          <a:prstGeom prst="rect">
            <a:avLst/>
          </a:prstGeom>
          <a:noFill/>
          <a:ln/>
        </p:spPr>
        <p:txBody>
          <a:bodyPr wrap="square" lIns="0" tIns="0" rIns="0" bIns="0" rtlCol="0" anchor="ctr"/>
          <a:lstStyle/>
          <a:p>
            <a:pPr indent="0" marL="0">
              <a:lnSpc>
                <a:spcPct val="115000"/>
              </a:lnSpc>
              <a:buNone/>
            </a:pPr>
            <a:r>
              <a:rPr lang="en-US" sz="1100" dirty="0">
                <a:solidFill>
                  <a:srgbClr val="1B2733"/>
                </a:solidFill>
                <a:latin typeface="Calibri" pitchFamily="34" charset="0"/>
                <a:ea typeface="Calibri" pitchFamily="34" charset="-122"/>
                <a:cs typeface="Calibri" pitchFamily="34" charset="-120"/>
              </a:rPr>
              <a:t>Домен «Брокерская отчётность (тест)» + коллекция + тестовый пользователь test_domain_check с доменом и ролью Domain Only Access Role.</a:t>
            </a:r>
            <a:endParaRPr lang="en-US" sz="1100" dirty="0"/>
          </a:p>
        </p:txBody>
      </p:sp>
      <p:sp>
        <p:nvSpPr>
          <p:cNvPr id="8" name="Shape 6"/>
          <p:cNvSpPr/>
          <p:nvPr/>
        </p:nvSpPr>
        <p:spPr>
          <a:xfrm>
            <a:off x="548640" y="2852928"/>
            <a:ext cx="11094415" cy="822960"/>
          </a:xfrm>
          <a:prstGeom prst="roundRect">
            <a:avLst>
              <a:gd name="adj" fmla="val 10000"/>
            </a:avLst>
          </a:prstGeom>
          <a:solidFill>
            <a:srgbClr val="EAF2F6"/>
          </a:solidFill>
          <a:ln w="12700">
            <a:solidFill>
              <a:srgbClr val="CBDEE6"/>
            </a:solidFill>
            <a:prstDash val="solid"/>
          </a:ln>
        </p:spPr>
      </p:sp>
      <p:sp>
        <p:nvSpPr>
          <p:cNvPr id="9" name="Text 7"/>
          <p:cNvSpPr txBox="1"/>
          <p:nvPr/>
        </p:nvSpPr>
        <p:spPr>
          <a:xfrm>
            <a:off x="777240" y="2926080"/>
            <a:ext cx="274320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B · Проверка «до»</a:t>
            </a:r>
            <a:endParaRPr lang="en-US" sz="1300" dirty="0"/>
          </a:p>
        </p:txBody>
      </p:sp>
      <p:sp>
        <p:nvSpPr>
          <p:cNvPr id="10" name="Text 8"/>
          <p:cNvSpPr txBox="1"/>
          <p:nvPr/>
        </p:nvSpPr>
        <p:spPr>
          <a:xfrm>
            <a:off x="777240" y="3236976"/>
            <a:ext cx="6126480" cy="457200"/>
          </a:xfrm>
          <a:prstGeom prst="rect">
            <a:avLst/>
          </a:prstGeom>
          <a:noFill/>
          <a:ln/>
        </p:spPr>
        <p:txBody>
          <a:bodyPr wrap="square" lIns="0" tIns="0" rIns="0" bIns="0" rtlCol="0" anchor="ctr"/>
          <a:lstStyle/>
          <a:p>
            <a:pPr indent="0" marL="0">
              <a:lnSpc>
                <a:spcPct val="115000"/>
              </a:lnSpc>
              <a:buNone/>
            </a:pPr>
            <a:r>
              <a:rPr lang="en-US" sz="1100" dirty="0">
                <a:solidFill>
                  <a:srgbClr val="1B2733"/>
                </a:solidFill>
                <a:latin typeface="Calibri" pitchFamily="34" charset="0"/>
                <a:ea typeface="Calibri" pitchFamily="34" charset="-122"/>
                <a:cs typeface="Calibri" pitchFamily="34" charset="-120"/>
              </a:rPr>
              <a:t>Вопрос в чате по содержимому отчёта.</a:t>
            </a:r>
            <a:endParaRPr lang="en-US" sz="1100" dirty="0"/>
          </a:p>
        </p:txBody>
      </p:sp>
      <p:sp>
        <p:nvSpPr>
          <p:cNvPr id="11" name="Text 9"/>
          <p:cNvSpPr txBox="1"/>
          <p:nvPr/>
        </p:nvSpPr>
        <p:spPr>
          <a:xfrm>
            <a:off x="7086600" y="2926080"/>
            <a:ext cx="4327855" cy="685800"/>
          </a:xfrm>
          <a:prstGeom prst="rect">
            <a:avLst/>
          </a:prstGeom>
          <a:noFill/>
          <a:ln/>
        </p:spPr>
        <p:txBody>
          <a:bodyPr wrap="square" lIns="0" tIns="0" rIns="0" bIns="0" rtlCol="0" anchor="ctr"/>
          <a:lstStyle/>
          <a:p>
            <a:pPr indent="0" marL="0">
              <a:lnSpc>
                <a:spcPct val="115000"/>
              </a:lnSpc>
              <a:buNone/>
            </a:pPr>
            <a:r>
              <a:rPr lang="en-US" sz="1150" b="1" dirty="0">
                <a:solidFill>
                  <a:srgbClr val="1F7A5C"/>
                </a:solidFill>
                <a:latin typeface="Calibri" pitchFamily="34" charset="0"/>
                <a:ea typeface="Calibri" pitchFamily="34" charset="-122"/>
                <a:cs typeface="Calibri" pitchFamily="34" charset="-120"/>
              </a:rPr>
              <a:t>✓ ассистент отвечает — коллекция доступна</a:t>
            </a:r>
            <a:endParaRPr lang="en-US" sz="1150" dirty="0"/>
          </a:p>
        </p:txBody>
      </p:sp>
      <p:sp>
        <p:nvSpPr>
          <p:cNvPr id="12" name="Shape 10"/>
          <p:cNvSpPr/>
          <p:nvPr/>
        </p:nvSpPr>
        <p:spPr>
          <a:xfrm>
            <a:off x="548640" y="3785616"/>
            <a:ext cx="11094415" cy="822960"/>
          </a:xfrm>
          <a:prstGeom prst="roundRect">
            <a:avLst>
              <a:gd name="adj" fmla="val 10000"/>
            </a:avLst>
          </a:prstGeom>
          <a:solidFill>
            <a:srgbClr val="EAF2F6"/>
          </a:solidFill>
          <a:ln w="12700">
            <a:solidFill>
              <a:srgbClr val="CBDEE6"/>
            </a:solidFill>
            <a:prstDash val="solid"/>
          </a:ln>
        </p:spPr>
      </p:sp>
      <p:sp>
        <p:nvSpPr>
          <p:cNvPr id="13" name="Text 11"/>
          <p:cNvSpPr txBox="1"/>
          <p:nvPr/>
        </p:nvSpPr>
        <p:spPr>
          <a:xfrm>
            <a:off x="777240" y="3858768"/>
            <a:ext cx="274320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C · Второй домен, другой документ</a:t>
            </a:r>
            <a:endParaRPr lang="en-US" sz="1300" dirty="0"/>
          </a:p>
        </p:txBody>
      </p:sp>
      <p:sp>
        <p:nvSpPr>
          <p:cNvPr id="14" name="Text 12"/>
          <p:cNvSpPr txBox="1"/>
          <p:nvPr/>
        </p:nvSpPr>
        <p:spPr>
          <a:xfrm>
            <a:off x="777240" y="4169664"/>
            <a:ext cx="6126480" cy="457200"/>
          </a:xfrm>
          <a:prstGeom prst="rect">
            <a:avLst/>
          </a:prstGeom>
          <a:noFill/>
          <a:ln/>
        </p:spPr>
        <p:txBody>
          <a:bodyPr wrap="square" lIns="0" tIns="0" rIns="0" bIns="0" rtlCol="0" anchor="ctr"/>
          <a:lstStyle/>
          <a:p>
            <a:pPr indent="0" marL="0">
              <a:lnSpc>
                <a:spcPct val="115000"/>
              </a:lnSpc>
              <a:buNone/>
            </a:pPr>
            <a:r>
              <a:rPr lang="en-US" sz="1100" dirty="0">
                <a:solidFill>
                  <a:srgbClr val="1B2733"/>
                </a:solidFill>
                <a:latin typeface="Calibri" pitchFamily="34" charset="0"/>
                <a:ea typeface="Calibri" pitchFamily="34" charset="-122"/>
                <a:cs typeface="Calibri" pitchFamily="34" charset="-120"/>
              </a:rPr>
              <a:t>Создать ещё один домен/коллекцию (например «Кадры (тест)»), спросить по новому документу.</a:t>
            </a:r>
            <a:endParaRPr lang="en-US" sz="1100" dirty="0"/>
          </a:p>
        </p:txBody>
      </p:sp>
      <p:sp>
        <p:nvSpPr>
          <p:cNvPr id="15" name="Text 13"/>
          <p:cNvSpPr txBox="1"/>
          <p:nvPr/>
        </p:nvSpPr>
        <p:spPr>
          <a:xfrm>
            <a:off x="7086600" y="3858768"/>
            <a:ext cx="4327855" cy="685800"/>
          </a:xfrm>
          <a:prstGeom prst="rect">
            <a:avLst/>
          </a:prstGeom>
          <a:noFill/>
          <a:ln/>
        </p:spPr>
        <p:txBody>
          <a:bodyPr wrap="square" lIns="0" tIns="0" rIns="0" bIns="0" rtlCol="0" anchor="ctr"/>
          <a:lstStyle/>
          <a:p>
            <a:pPr indent="0" marL="0">
              <a:lnSpc>
                <a:spcPct val="115000"/>
              </a:lnSpc>
              <a:buNone/>
            </a:pPr>
            <a:r>
              <a:rPr lang="en-US" sz="1150" b="1" dirty="0">
                <a:solidFill>
                  <a:srgbClr val="AE3B46"/>
                </a:solidFill>
                <a:latin typeface="Calibri" pitchFamily="34" charset="0"/>
                <a:ea typeface="Calibri" pitchFamily="34" charset="-122"/>
                <a:cs typeface="Calibri" pitchFamily="34" charset="-120"/>
              </a:rPr>
              <a:t>✗ «информация не найдена» — второй домен не назначен</a:t>
            </a:r>
            <a:endParaRPr lang="en-US" sz="1150" dirty="0"/>
          </a:p>
        </p:txBody>
      </p:sp>
      <p:sp>
        <p:nvSpPr>
          <p:cNvPr id="16" name="Shape 14"/>
          <p:cNvSpPr/>
          <p:nvPr/>
        </p:nvSpPr>
        <p:spPr>
          <a:xfrm>
            <a:off x="548640" y="4718304"/>
            <a:ext cx="11094415" cy="822960"/>
          </a:xfrm>
          <a:prstGeom prst="roundRect">
            <a:avLst>
              <a:gd name="adj" fmla="val 10000"/>
            </a:avLst>
          </a:prstGeom>
          <a:solidFill>
            <a:srgbClr val="EAF2F6"/>
          </a:solidFill>
          <a:ln w="12700">
            <a:solidFill>
              <a:srgbClr val="CBDEE6"/>
            </a:solidFill>
            <a:prstDash val="solid"/>
          </a:ln>
        </p:spPr>
      </p:sp>
      <p:sp>
        <p:nvSpPr>
          <p:cNvPr id="17" name="Text 15"/>
          <p:cNvSpPr txBox="1"/>
          <p:nvPr/>
        </p:nvSpPr>
        <p:spPr>
          <a:xfrm>
            <a:off x="777240" y="4791456"/>
            <a:ext cx="274320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D · Добавить доступ ко второму домену</a:t>
            </a:r>
            <a:endParaRPr lang="en-US" sz="1300" dirty="0"/>
          </a:p>
        </p:txBody>
      </p:sp>
      <p:sp>
        <p:nvSpPr>
          <p:cNvPr id="18" name="Text 16"/>
          <p:cNvSpPr txBox="1"/>
          <p:nvPr/>
        </p:nvSpPr>
        <p:spPr>
          <a:xfrm>
            <a:off x="777240" y="5102352"/>
            <a:ext cx="6126480" cy="457200"/>
          </a:xfrm>
          <a:prstGeom prst="rect">
            <a:avLst/>
          </a:prstGeom>
          <a:noFill/>
          <a:ln/>
        </p:spPr>
        <p:txBody>
          <a:bodyPr wrap="square" lIns="0" tIns="0" rIns="0" bIns="0" rtlCol="0" anchor="ctr"/>
          <a:lstStyle/>
          <a:p>
            <a:pPr indent="0" marL="0">
              <a:lnSpc>
                <a:spcPct val="115000"/>
              </a:lnSpc>
              <a:buNone/>
            </a:pPr>
            <a:r>
              <a:rPr lang="en-US" sz="1100" dirty="0">
                <a:solidFill>
                  <a:srgbClr val="1B2733"/>
                </a:solidFill>
                <a:latin typeface="Calibri" pitchFamily="34" charset="0"/>
                <a:ea typeface="Calibri" pitchFamily="34" charset="-122"/>
                <a:cs typeface="Calibri" pitchFamily="34" charset="-120"/>
              </a:rPr>
              <a:t>Назначить test_domain_check доступ к второму домену, повторить вопрос.</a:t>
            </a:r>
            <a:endParaRPr lang="en-US" sz="1100" dirty="0"/>
          </a:p>
        </p:txBody>
      </p:sp>
      <p:sp>
        <p:nvSpPr>
          <p:cNvPr id="19" name="Text 17"/>
          <p:cNvSpPr txBox="1"/>
          <p:nvPr/>
        </p:nvSpPr>
        <p:spPr>
          <a:xfrm>
            <a:off x="7086600" y="4791456"/>
            <a:ext cx="4327855" cy="685800"/>
          </a:xfrm>
          <a:prstGeom prst="rect">
            <a:avLst/>
          </a:prstGeom>
          <a:noFill/>
          <a:ln/>
        </p:spPr>
        <p:txBody>
          <a:bodyPr wrap="square" lIns="0" tIns="0" rIns="0" bIns="0" rtlCol="0" anchor="ctr"/>
          <a:lstStyle/>
          <a:p>
            <a:pPr indent="0" marL="0">
              <a:lnSpc>
                <a:spcPct val="115000"/>
              </a:lnSpc>
              <a:buNone/>
            </a:pPr>
            <a:r>
              <a:rPr lang="en-US" sz="1150" b="1" dirty="0">
                <a:solidFill>
                  <a:srgbClr val="1F7A5C"/>
                </a:solidFill>
                <a:latin typeface="Calibri" pitchFamily="34" charset="0"/>
                <a:ea typeface="Calibri" pitchFamily="34" charset="-122"/>
                <a:cs typeface="Calibri" pitchFamily="34" charset="-120"/>
              </a:rPr>
              <a:t>✓ ассистент отвечает — коллекция стала доступна</a:t>
            </a:r>
            <a:endParaRPr lang="en-US" sz="1150" dirty="0"/>
          </a:p>
        </p:txBody>
      </p:sp>
      <p:sp>
        <p:nvSpPr>
          <p:cNvPr id="20" name="Shape 18"/>
          <p:cNvSpPr/>
          <p:nvPr/>
        </p:nvSpPr>
        <p:spPr>
          <a:xfrm>
            <a:off x="548640" y="5696712"/>
            <a:ext cx="11094415" cy="594360"/>
          </a:xfrm>
          <a:prstGeom prst="roundRect">
            <a:avLst>
              <a:gd name="adj" fmla="val 13846"/>
            </a:avLst>
          </a:prstGeom>
          <a:solidFill>
            <a:srgbClr val="FBF0DC"/>
          </a:solidFill>
          <a:ln w="12700">
            <a:solidFill>
              <a:srgbClr val="8A5A10"/>
            </a:solidFill>
            <a:prstDash val="solid"/>
          </a:ln>
        </p:spPr>
      </p:sp>
      <p:sp>
        <p:nvSpPr>
          <p:cNvPr id="21" name="Text 19"/>
          <p:cNvSpPr txBox="1"/>
          <p:nvPr/>
        </p:nvSpPr>
        <p:spPr>
          <a:xfrm>
            <a:off x="822960" y="5696712"/>
            <a:ext cx="10545775" cy="594360"/>
          </a:xfrm>
          <a:prstGeom prst="rect">
            <a:avLst/>
          </a:prstGeom>
          <a:noFill/>
          <a:ln/>
        </p:spPr>
        <p:txBody>
          <a:bodyPr wrap="square" lIns="0" tIns="0" rIns="0" bIns="0" rtlCol="0" anchor="ctr"/>
          <a:lstStyle/>
          <a:p>
            <a:pPr indent="0" marL="0">
              <a:lnSpc>
                <a:spcPct val="115000"/>
              </a:lnSpc>
              <a:buNone/>
            </a:pPr>
            <a:r>
              <a:rPr lang="en-US" sz="1150" dirty="0">
                <a:solidFill>
                  <a:srgbClr val="1B2733"/>
                </a:solidFill>
                <a:latin typeface="Calibri" pitchFamily="34" charset="0"/>
                <a:ea typeface="Calibri" pitchFamily="34" charset="-122"/>
                <a:cs typeface="Calibri" pitchFamily="34" charset="-120"/>
              </a:rPr>
              <a:t>Уборка после теста: деактивировать тестовую коллекцию, заблокировать (не удалять — аудиторский след) тестового пользователя, при необходимости удалить тестовый домен.</a:t>
            </a:r>
            <a:endParaRPr lang="en-US" sz="1150" dirty="0"/>
          </a:p>
        </p:txBody>
      </p:sp>
      <p:sp>
        <p:nvSpPr>
          <p:cNvPr id="22" name="Text 20"/>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23" name="Text 21"/>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СПРАВОЧНО</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Глоссарий раздела</a:t>
            </a:r>
            <a:endParaRPr lang="en-US" sz="2800" dirty="0"/>
          </a:p>
        </p:txBody>
      </p:sp>
      <p:sp>
        <p:nvSpPr>
          <p:cNvPr id="4" name="Text 2"/>
          <p:cNvSpPr txBox="1"/>
          <p:nvPr/>
        </p:nvSpPr>
        <p:spPr>
          <a:xfrm>
            <a:off x="548640" y="1508760"/>
            <a:ext cx="536432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Домен</a:t>
            </a:r>
            <a:endParaRPr lang="en-US" sz="1300" dirty="0"/>
          </a:p>
        </p:txBody>
      </p:sp>
      <p:sp>
        <p:nvSpPr>
          <p:cNvPr id="5" name="Text 3"/>
          <p:cNvSpPr txBox="1"/>
          <p:nvPr/>
        </p:nvSpPr>
        <p:spPr>
          <a:xfrm>
            <a:off x="548640" y="1801368"/>
            <a:ext cx="5364328" cy="658368"/>
          </a:xfrm>
          <a:prstGeom prst="rect">
            <a:avLst/>
          </a:prstGeom>
          <a:noFill/>
          <a:ln/>
        </p:spPr>
        <p:txBody>
          <a:bodyPr wrap="square" lIns="0" tIns="0" rIns="0" bIns="0" rtlCol="0" anchor="ctr"/>
          <a:lstStyle/>
          <a:p>
            <a:pPr indent="0" marL="0">
              <a:lnSpc>
                <a:spcPct val="120000"/>
              </a:lnSpc>
              <a:buNone/>
            </a:pPr>
            <a:r>
              <a:rPr lang="en-US" sz="1150" dirty="0">
                <a:solidFill>
                  <a:srgbClr val="51606E"/>
                </a:solidFill>
                <a:latin typeface="Calibri" pitchFamily="34" charset="0"/>
                <a:ea typeface="Calibri" pitchFamily="34" charset="-122"/>
                <a:cs typeface="Calibri" pitchFamily="34" charset="-120"/>
              </a:rPr>
              <a:t>Тематическая область данных; одновременно граница доступа.</a:t>
            </a:r>
            <a:endParaRPr lang="en-US" sz="1150" dirty="0"/>
          </a:p>
        </p:txBody>
      </p:sp>
      <p:sp>
        <p:nvSpPr>
          <p:cNvPr id="6" name="Shape 4"/>
          <p:cNvSpPr/>
          <p:nvPr/>
        </p:nvSpPr>
        <p:spPr>
          <a:xfrm>
            <a:off x="548640" y="2532888"/>
            <a:ext cx="5364328" cy="0"/>
          </a:xfrm>
          <a:prstGeom prst="line">
            <a:avLst/>
          </a:prstGeom>
          <a:noFill/>
          <a:ln w="9525">
            <a:solidFill>
              <a:srgbClr val="CBDEE6"/>
            </a:solidFill>
            <a:prstDash val="solid"/>
          </a:ln>
        </p:spPr>
      </p:sp>
      <p:sp>
        <p:nvSpPr>
          <p:cNvPr id="7" name="Text 5"/>
          <p:cNvSpPr txBox="1"/>
          <p:nvPr/>
        </p:nvSpPr>
        <p:spPr>
          <a:xfrm>
            <a:off x="548640" y="2679192"/>
            <a:ext cx="536432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Бизнес-домен ОМ</a:t>
            </a:r>
            <a:endParaRPr lang="en-US" sz="1300" dirty="0"/>
          </a:p>
        </p:txBody>
      </p:sp>
      <p:sp>
        <p:nvSpPr>
          <p:cNvPr id="8" name="Text 6"/>
          <p:cNvSpPr txBox="1"/>
          <p:nvPr/>
        </p:nvSpPr>
        <p:spPr>
          <a:xfrm>
            <a:off x="548640" y="2971800"/>
            <a:ext cx="5364328" cy="658368"/>
          </a:xfrm>
          <a:prstGeom prst="rect">
            <a:avLst/>
          </a:prstGeom>
          <a:noFill/>
          <a:ln/>
        </p:spPr>
        <p:txBody>
          <a:bodyPr wrap="square" lIns="0" tIns="0" rIns="0" bIns="0" rtlCol="0" anchor="ctr"/>
          <a:lstStyle/>
          <a:p>
            <a:pPr indent="0" marL="0">
              <a:lnSpc>
                <a:spcPct val="120000"/>
              </a:lnSpc>
              <a:buNone/>
            </a:pPr>
            <a:r>
              <a:rPr lang="en-US" sz="1150" dirty="0">
                <a:solidFill>
                  <a:srgbClr val="51606E"/>
                </a:solidFill>
                <a:latin typeface="Calibri" pitchFamily="34" charset="0"/>
                <a:ea typeface="Calibri" pitchFamily="34" charset="-122"/>
                <a:cs typeface="Calibri" pitchFamily="34" charset="-120"/>
              </a:rPr>
              <a:t>Привязка коллекции документов к домену каталога (поле на форме коллекции).</a:t>
            </a:r>
            <a:endParaRPr lang="en-US" sz="1150" dirty="0"/>
          </a:p>
        </p:txBody>
      </p:sp>
      <p:sp>
        <p:nvSpPr>
          <p:cNvPr id="9" name="Shape 7"/>
          <p:cNvSpPr/>
          <p:nvPr/>
        </p:nvSpPr>
        <p:spPr>
          <a:xfrm>
            <a:off x="548640" y="3703320"/>
            <a:ext cx="5364328" cy="0"/>
          </a:xfrm>
          <a:prstGeom prst="line">
            <a:avLst/>
          </a:prstGeom>
          <a:noFill/>
          <a:ln w="9525">
            <a:solidFill>
              <a:srgbClr val="CBDEE6"/>
            </a:solidFill>
            <a:prstDash val="solid"/>
          </a:ln>
        </p:spPr>
      </p:sp>
      <p:sp>
        <p:nvSpPr>
          <p:cNvPr id="10" name="Text 8"/>
          <p:cNvSpPr txBox="1"/>
          <p:nvPr/>
        </p:nvSpPr>
        <p:spPr>
          <a:xfrm>
            <a:off x="548640" y="3849624"/>
            <a:ext cx="536432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Data Marketplace</a:t>
            </a:r>
            <a:endParaRPr lang="en-US" sz="1300" dirty="0"/>
          </a:p>
        </p:txBody>
      </p:sp>
      <p:sp>
        <p:nvSpPr>
          <p:cNvPr id="11" name="Text 9"/>
          <p:cNvSpPr txBox="1"/>
          <p:nvPr/>
        </p:nvSpPr>
        <p:spPr>
          <a:xfrm>
            <a:off x="548640" y="4142232"/>
            <a:ext cx="5364328" cy="658368"/>
          </a:xfrm>
          <a:prstGeom prst="rect">
            <a:avLst/>
          </a:prstGeom>
          <a:noFill/>
          <a:ln/>
        </p:spPr>
        <p:txBody>
          <a:bodyPr wrap="square" lIns="0" tIns="0" rIns="0" bIns="0" rtlCol="0" anchor="ctr"/>
          <a:lstStyle/>
          <a:p>
            <a:pPr indent="0" marL="0">
              <a:lnSpc>
                <a:spcPct val="120000"/>
              </a:lnSpc>
              <a:buNone/>
            </a:pPr>
            <a:r>
              <a:rPr lang="en-US" sz="1150" dirty="0">
                <a:solidFill>
                  <a:srgbClr val="51606E"/>
                </a:solidFill>
                <a:latin typeface="Calibri" pitchFamily="34" charset="0"/>
                <a:ea typeface="Calibri" pitchFamily="34" charset="-122"/>
                <a:cs typeface="Calibri" pitchFamily="34" charset="-120"/>
              </a:rPr>
              <a:t>Раздел меню Каталога, где находятся Домены и Дата-продукты.</a:t>
            </a:r>
            <a:endParaRPr lang="en-US" sz="1150" dirty="0"/>
          </a:p>
        </p:txBody>
      </p:sp>
      <p:sp>
        <p:nvSpPr>
          <p:cNvPr id="12" name="Shape 10"/>
          <p:cNvSpPr/>
          <p:nvPr/>
        </p:nvSpPr>
        <p:spPr>
          <a:xfrm>
            <a:off x="548640" y="4873752"/>
            <a:ext cx="5364328" cy="0"/>
          </a:xfrm>
          <a:prstGeom prst="line">
            <a:avLst/>
          </a:prstGeom>
          <a:noFill/>
          <a:ln w="9525">
            <a:solidFill>
              <a:srgbClr val="CBDEE6"/>
            </a:solidFill>
            <a:prstDash val="solid"/>
          </a:ln>
        </p:spPr>
      </p:sp>
      <p:sp>
        <p:nvSpPr>
          <p:cNvPr id="13" name="Text 11"/>
          <p:cNvSpPr txBox="1"/>
          <p:nvPr/>
        </p:nvSpPr>
        <p:spPr>
          <a:xfrm>
            <a:off x="548640" y="5020056"/>
            <a:ext cx="536432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Domain Only Access Role</a:t>
            </a:r>
            <a:endParaRPr lang="en-US" sz="1300" dirty="0"/>
          </a:p>
        </p:txBody>
      </p:sp>
      <p:sp>
        <p:nvSpPr>
          <p:cNvPr id="14" name="Text 12"/>
          <p:cNvSpPr txBox="1"/>
          <p:nvPr/>
        </p:nvSpPr>
        <p:spPr>
          <a:xfrm>
            <a:off x="548640" y="5312664"/>
            <a:ext cx="5364328" cy="658368"/>
          </a:xfrm>
          <a:prstGeom prst="rect">
            <a:avLst/>
          </a:prstGeom>
          <a:noFill/>
          <a:ln/>
        </p:spPr>
        <p:txBody>
          <a:bodyPr wrap="square" lIns="0" tIns="0" rIns="0" bIns="0" rtlCol="0" anchor="ctr"/>
          <a:lstStyle/>
          <a:p>
            <a:pPr indent="0" marL="0">
              <a:lnSpc>
                <a:spcPct val="120000"/>
              </a:lnSpc>
              <a:buNone/>
            </a:pPr>
            <a:r>
              <a:rPr lang="en-US" sz="1150" dirty="0">
                <a:solidFill>
                  <a:srgbClr val="51606E"/>
                </a:solidFill>
                <a:latin typeface="Calibri" pitchFamily="34" charset="0"/>
                <a:ea typeface="Calibri" pitchFamily="34" charset="-122"/>
                <a:cs typeface="Calibri" pitchFamily="34" charset="-120"/>
              </a:rPr>
              <a:t>Роль (DomainOnlyAccessRole), которая вместе с назначенным доменом ограничивает видимые данные только этим доменом; без домена — только объектами без домена.</a:t>
            </a:r>
            <a:endParaRPr lang="en-US" sz="1150" dirty="0"/>
          </a:p>
        </p:txBody>
      </p:sp>
      <p:sp>
        <p:nvSpPr>
          <p:cNvPr id="15" name="Shape 13"/>
          <p:cNvSpPr/>
          <p:nvPr/>
        </p:nvSpPr>
        <p:spPr>
          <a:xfrm>
            <a:off x="548640" y="6044184"/>
            <a:ext cx="5364328" cy="0"/>
          </a:xfrm>
          <a:prstGeom prst="line">
            <a:avLst/>
          </a:prstGeom>
          <a:noFill/>
          <a:ln w="9525">
            <a:solidFill>
              <a:srgbClr val="CBDEE6"/>
            </a:solidFill>
            <a:prstDash val="solid"/>
          </a:ln>
        </p:spPr>
      </p:sp>
      <p:sp>
        <p:nvSpPr>
          <p:cNvPr id="16" name="Text 14"/>
          <p:cNvSpPr txBox="1"/>
          <p:nvPr/>
        </p:nvSpPr>
        <p:spPr>
          <a:xfrm>
            <a:off x="6278728" y="1508760"/>
            <a:ext cx="536432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Владелец / Эксперт домена</a:t>
            </a:r>
            <a:endParaRPr lang="en-US" sz="1300" dirty="0"/>
          </a:p>
        </p:txBody>
      </p:sp>
      <p:sp>
        <p:nvSpPr>
          <p:cNvPr id="17" name="Text 15"/>
          <p:cNvSpPr txBox="1"/>
          <p:nvPr/>
        </p:nvSpPr>
        <p:spPr>
          <a:xfrm>
            <a:off x="6278728" y="1801368"/>
            <a:ext cx="5364328" cy="658368"/>
          </a:xfrm>
          <a:prstGeom prst="rect">
            <a:avLst/>
          </a:prstGeom>
          <a:noFill/>
          <a:ln/>
        </p:spPr>
        <p:txBody>
          <a:bodyPr wrap="square" lIns="0" tIns="0" rIns="0" bIns="0" rtlCol="0" anchor="ctr"/>
          <a:lstStyle/>
          <a:p>
            <a:pPr indent="0" marL="0">
              <a:lnSpc>
                <a:spcPct val="120000"/>
              </a:lnSpc>
              <a:buNone/>
            </a:pPr>
            <a:r>
              <a:rPr lang="en-US" sz="1150" dirty="0">
                <a:solidFill>
                  <a:srgbClr val="51606E"/>
                </a:solidFill>
                <a:latin typeface="Calibri" pitchFamily="34" charset="0"/>
                <a:ea typeface="Calibri" pitchFamily="34" charset="-122"/>
                <a:cs typeface="Calibri" pitchFamily="34" charset="-120"/>
              </a:rPr>
              <a:t>Организационная роль (кто отвечает / к кому обращаться); не связана с техническим доступом.</a:t>
            </a:r>
            <a:endParaRPr lang="en-US" sz="1150" dirty="0"/>
          </a:p>
        </p:txBody>
      </p:sp>
      <p:sp>
        <p:nvSpPr>
          <p:cNvPr id="18" name="Shape 16"/>
          <p:cNvSpPr/>
          <p:nvPr/>
        </p:nvSpPr>
        <p:spPr>
          <a:xfrm>
            <a:off x="6278728" y="2532888"/>
            <a:ext cx="5364328" cy="0"/>
          </a:xfrm>
          <a:prstGeom prst="line">
            <a:avLst/>
          </a:prstGeom>
          <a:noFill/>
          <a:ln w="9525">
            <a:solidFill>
              <a:srgbClr val="CBDEE6"/>
            </a:solidFill>
            <a:prstDash val="solid"/>
          </a:ln>
        </p:spPr>
      </p:sp>
      <p:sp>
        <p:nvSpPr>
          <p:cNvPr id="19" name="Text 17"/>
          <p:cNvSpPr txBox="1"/>
          <p:nvPr/>
        </p:nvSpPr>
        <p:spPr>
          <a:xfrm>
            <a:off x="6278728" y="2679192"/>
            <a:ext cx="536432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Граф доступа</a:t>
            </a:r>
            <a:endParaRPr lang="en-US" sz="1300" dirty="0"/>
          </a:p>
        </p:txBody>
      </p:sp>
      <p:sp>
        <p:nvSpPr>
          <p:cNvPr id="20" name="Text 18"/>
          <p:cNvSpPr txBox="1"/>
          <p:nvPr/>
        </p:nvSpPr>
        <p:spPr>
          <a:xfrm>
            <a:off x="6278728" y="2971800"/>
            <a:ext cx="5364328" cy="658368"/>
          </a:xfrm>
          <a:prstGeom prst="rect">
            <a:avLst/>
          </a:prstGeom>
          <a:noFill/>
          <a:ln/>
        </p:spPr>
        <p:txBody>
          <a:bodyPr wrap="square" lIns="0" tIns="0" rIns="0" bIns="0" rtlCol="0" anchor="ctr"/>
          <a:lstStyle/>
          <a:p>
            <a:pPr indent="0" marL="0">
              <a:lnSpc>
                <a:spcPct val="120000"/>
              </a:lnSpc>
              <a:buNone/>
            </a:pPr>
            <a:r>
              <a:rPr lang="en-US" sz="1150" dirty="0">
                <a:solidFill>
                  <a:srgbClr val="51606E"/>
                </a:solidFill>
                <a:latin typeface="Calibri" pitchFamily="34" charset="0"/>
                <a:ea typeface="Calibri" pitchFamily="34" charset="-122"/>
                <a:cs typeface="Calibri" pitchFamily="34" charset="-120"/>
              </a:rPr>
              <a:t>Раздел «Управление данными», где настраиваются row-фильтры, маски колонок и «Разрешённые домены» для Персон.</a:t>
            </a:r>
            <a:endParaRPr lang="en-US" sz="1150" dirty="0"/>
          </a:p>
        </p:txBody>
      </p:sp>
      <p:sp>
        <p:nvSpPr>
          <p:cNvPr id="21" name="Shape 19"/>
          <p:cNvSpPr/>
          <p:nvPr/>
        </p:nvSpPr>
        <p:spPr>
          <a:xfrm>
            <a:off x="6278728" y="3703320"/>
            <a:ext cx="5364328" cy="0"/>
          </a:xfrm>
          <a:prstGeom prst="line">
            <a:avLst/>
          </a:prstGeom>
          <a:noFill/>
          <a:ln w="9525">
            <a:solidFill>
              <a:srgbClr val="CBDEE6"/>
            </a:solidFill>
            <a:prstDash val="solid"/>
          </a:ln>
        </p:spPr>
      </p:sp>
      <p:sp>
        <p:nvSpPr>
          <p:cNvPr id="22" name="Text 20"/>
          <p:cNvSpPr txBox="1"/>
          <p:nvPr/>
        </p:nvSpPr>
        <p:spPr>
          <a:xfrm>
            <a:off x="6278728" y="3849624"/>
            <a:ext cx="536432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Разрешённые домены (Персоны)</a:t>
            </a:r>
            <a:endParaRPr lang="en-US" sz="1300" dirty="0"/>
          </a:p>
        </p:txBody>
      </p:sp>
      <p:sp>
        <p:nvSpPr>
          <p:cNvPr id="23" name="Text 21"/>
          <p:cNvSpPr txBox="1"/>
          <p:nvPr/>
        </p:nvSpPr>
        <p:spPr>
          <a:xfrm>
            <a:off x="6278728" y="4142232"/>
            <a:ext cx="5364328" cy="658368"/>
          </a:xfrm>
          <a:prstGeom prst="rect">
            <a:avLst/>
          </a:prstGeom>
          <a:noFill/>
          <a:ln/>
        </p:spPr>
        <p:txBody>
          <a:bodyPr wrap="square" lIns="0" tIns="0" rIns="0" bIns="0" rtlCol="0" anchor="ctr"/>
          <a:lstStyle/>
          <a:p>
            <a:pPr indent="0" marL="0">
              <a:lnSpc>
                <a:spcPct val="120000"/>
              </a:lnSpc>
              <a:buNone/>
            </a:pPr>
            <a:r>
              <a:rPr lang="en-US" sz="1150" dirty="0">
                <a:solidFill>
                  <a:srgbClr val="51606E"/>
                </a:solidFill>
                <a:latin typeface="Calibri" pitchFamily="34" charset="0"/>
                <a:ea typeface="Calibri" pitchFamily="34" charset="-122"/>
                <a:cs typeface="Calibri" pitchFamily="34" charset="-120"/>
              </a:rPr>
              <a:t>Поле на экране Граф доступа → Политики доступа; пишется в allowedDomains персоны, объединяется с доменами команд в JWT.</a:t>
            </a:r>
            <a:endParaRPr lang="en-US" sz="1150" dirty="0"/>
          </a:p>
        </p:txBody>
      </p:sp>
      <p:sp>
        <p:nvSpPr>
          <p:cNvPr id="24" name="Shape 22"/>
          <p:cNvSpPr/>
          <p:nvPr/>
        </p:nvSpPr>
        <p:spPr>
          <a:xfrm>
            <a:off x="6278728" y="4873752"/>
            <a:ext cx="5364328" cy="0"/>
          </a:xfrm>
          <a:prstGeom prst="line">
            <a:avLst/>
          </a:prstGeom>
          <a:noFill/>
          <a:ln w="9525">
            <a:solidFill>
              <a:srgbClr val="CBDEE6"/>
            </a:solidFill>
            <a:prstDash val="solid"/>
          </a:ln>
        </p:spPr>
      </p:sp>
      <p:sp>
        <p:nvSpPr>
          <p:cNvPr id="25" name="Text 23"/>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26" name="Text 24"/>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ИТОГОВАЯ ШПАРГАЛКА</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Как дать доступ правильно, шаг за шагом</a:t>
            </a:r>
            <a:endParaRPr lang="en-US" sz="2800" dirty="0"/>
          </a:p>
        </p:txBody>
      </p:sp>
      <p:sp>
        <p:nvSpPr>
          <p:cNvPr id="4" name="Shape 2"/>
          <p:cNvSpPr/>
          <p:nvPr/>
        </p:nvSpPr>
        <p:spPr>
          <a:xfrm>
            <a:off x="548640" y="1508760"/>
            <a:ext cx="11094415" cy="713232"/>
          </a:xfrm>
          <a:prstGeom prst="roundRect">
            <a:avLst>
              <a:gd name="adj" fmla="val 11538"/>
            </a:avLst>
          </a:prstGeom>
          <a:solidFill>
            <a:srgbClr val="EAF2F6"/>
          </a:solidFill>
          <a:ln w="12700">
            <a:solidFill>
              <a:srgbClr val="CBDEE6"/>
            </a:solidFill>
            <a:prstDash val="solid"/>
          </a:ln>
        </p:spPr>
      </p:sp>
      <p:sp>
        <p:nvSpPr>
          <p:cNvPr id="5" name="Shape 3"/>
          <p:cNvSpPr/>
          <p:nvPr/>
        </p:nvSpPr>
        <p:spPr>
          <a:xfrm>
            <a:off x="731520" y="1645920"/>
            <a:ext cx="438912" cy="438912"/>
          </a:xfrm>
          <a:prstGeom prst="ellipse">
            <a:avLst/>
          </a:prstGeom>
          <a:solidFill>
            <a:srgbClr val="065A82"/>
          </a:solidFill>
          <a:ln/>
        </p:spPr>
      </p:sp>
      <p:sp>
        <p:nvSpPr>
          <p:cNvPr id="6" name="Text 4"/>
          <p:cNvSpPr txBox="1"/>
          <p:nvPr/>
        </p:nvSpPr>
        <p:spPr>
          <a:xfrm>
            <a:off x="731520" y="164592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371600" y="1508760"/>
            <a:ext cx="10042855" cy="713232"/>
          </a:xfrm>
          <a:prstGeom prst="rect">
            <a:avLst/>
          </a:prstGeom>
          <a:noFill/>
          <a:ln/>
        </p:spPr>
        <p:txBody>
          <a:bodyPr wrap="square" lIns="0" tIns="0" rIns="0" bIns="0" rtlCol="0" anchor="ctr"/>
          <a:lstStyle/>
          <a:p>
            <a:pPr indent="0" marL="0">
              <a:lnSpc>
                <a:spcPct val="115000"/>
              </a:lnSpc>
              <a:buNone/>
            </a:pPr>
            <a:r>
              <a:rPr lang="en-US" sz="1350" dirty="0">
                <a:solidFill>
                  <a:srgbClr val="1B2733"/>
                </a:solidFill>
                <a:latin typeface="Calibri" pitchFamily="34" charset="0"/>
                <a:ea typeface="Calibri" pitchFamily="34" charset="-122"/>
                <a:cs typeface="Calibri" pitchFamily="34" charset="-120"/>
              </a:rPr>
              <a:t>Создать домен в Каталоге (Data Marketplace → Домены) — заполнить обязательные поля, выбрать тип домена.</a:t>
            </a:r>
            <a:endParaRPr lang="en-US" sz="1350" dirty="0"/>
          </a:p>
        </p:txBody>
      </p:sp>
      <p:sp>
        <p:nvSpPr>
          <p:cNvPr id="8" name="Shape 6"/>
          <p:cNvSpPr/>
          <p:nvPr/>
        </p:nvSpPr>
        <p:spPr>
          <a:xfrm>
            <a:off x="548640" y="2313432"/>
            <a:ext cx="11094415" cy="713232"/>
          </a:xfrm>
          <a:prstGeom prst="roundRect">
            <a:avLst>
              <a:gd name="adj" fmla="val 11538"/>
            </a:avLst>
          </a:prstGeom>
          <a:solidFill>
            <a:srgbClr val="FFFFFF"/>
          </a:solidFill>
          <a:ln w="12700">
            <a:solidFill>
              <a:srgbClr val="CBDEE6"/>
            </a:solidFill>
            <a:prstDash val="solid"/>
          </a:ln>
        </p:spPr>
      </p:sp>
      <p:sp>
        <p:nvSpPr>
          <p:cNvPr id="9" name="Shape 7"/>
          <p:cNvSpPr/>
          <p:nvPr/>
        </p:nvSpPr>
        <p:spPr>
          <a:xfrm>
            <a:off x="731520" y="2450592"/>
            <a:ext cx="438912" cy="438912"/>
          </a:xfrm>
          <a:prstGeom prst="ellipse">
            <a:avLst/>
          </a:prstGeom>
          <a:solidFill>
            <a:srgbClr val="065A82"/>
          </a:solidFill>
          <a:ln/>
        </p:spPr>
      </p:sp>
      <p:sp>
        <p:nvSpPr>
          <p:cNvPr id="10" name="Text 8"/>
          <p:cNvSpPr txBox="1"/>
          <p:nvPr/>
        </p:nvSpPr>
        <p:spPr>
          <a:xfrm>
            <a:off x="731520" y="245059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371600" y="2313432"/>
            <a:ext cx="10042855" cy="713232"/>
          </a:xfrm>
          <a:prstGeom prst="rect">
            <a:avLst/>
          </a:prstGeom>
          <a:noFill/>
          <a:ln/>
        </p:spPr>
        <p:txBody>
          <a:bodyPr wrap="square" lIns="0" tIns="0" rIns="0" bIns="0" rtlCol="0" anchor="ctr"/>
          <a:lstStyle/>
          <a:p>
            <a:pPr indent="0" marL="0">
              <a:lnSpc>
                <a:spcPct val="115000"/>
              </a:lnSpc>
              <a:buNone/>
            </a:pPr>
            <a:r>
              <a:rPr lang="en-US" sz="1350" dirty="0">
                <a:solidFill>
                  <a:srgbClr val="1B2733"/>
                </a:solidFill>
                <a:latin typeface="Calibri" pitchFamily="34" charset="0"/>
                <a:ea typeface="Calibri" pitchFamily="34" charset="-122"/>
                <a:cs typeface="Calibri" pitchFamily="34" charset="-120"/>
              </a:rPr>
              <a:t>Создать коллекцию и привязать к домену — заполнить ОБА поля отдельно: «Домен» (текст) и «Бизнес-домен(ы) ОМ» (связь).</a:t>
            </a:r>
            <a:endParaRPr lang="en-US" sz="1350" dirty="0"/>
          </a:p>
        </p:txBody>
      </p:sp>
      <p:sp>
        <p:nvSpPr>
          <p:cNvPr id="12" name="Shape 10"/>
          <p:cNvSpPr/>
          <p:nvPr/>
        </p:nvSpPr>
        <p:spPr>
          <a:xfrm>
            <a:off x="548640" y="3118104"/>
            <a:ext cx="11094415" cy="713232"/>
          </a:xfrm>
          <a:prstGeom prst="roundRect">
            <a:avLst>
              <a:gd name="adj" fmla="val 11538"/>
            </a:avLst>
          </a:prstGeom>
          <a:solidFill>
            <a:srgbClr val="EAF2F6"/>
          </a:solidFill>
          <a:ln w="12700">
            <a:solidFill>
              <a:srgbClr val="CBDEE6"/>
            </a:solidFill>
            <a:prstDash val="solid"/>
          </a:ln>
        </p:spPr>
      </p:sp>
      <p:sp>
        <p:nvSpPr>
          <p:cNvPr id="13" name="Shape 11"/>
          <p:cNvSpPr/>
          <p:nvPr/>
        </p:nvSpPr>
        <p:spPr>
          <a:xfrm>
            <a:off x="731520" y="3255264"/>
            <a:ext cx="438912" cy="438912"/>
          </a:xfrm>
          <a:prstGeom prst="ellipse">
            <a:avLst/>
          </a:prstGeom>
          <a:solidFill>
            <a:srgbClr val="065A82"/>
          </a:solidFill>
          <a:ln/>
        </p:spPr>
      </p:sp>
      <p:sp>
        <p:nvSpPr>
          <p:cNvPr id="14" name="Text 12"/>
          <p:cNvSpPr txBox="1"/>
          <p:nvPr/>
        </p:nvSpPr>
        <p:spPr>
          <a:xfrm>
            <a:off x="731520" y="325526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371600" y="3118104"/>
            <a:ext cx="10042855" cy="713232"/>
          </a:xfrm>
          <a:prstGeom prst="rect">
            <a:avLst/>
          </a:prstGeom>
          <a:noFill/>
          <a:ln/>
        </p:spPr>
        <p:txBody>
          <a:bodyPr wrap="square" lIns="0" tIns="0" rIns="0" bIns="0" rtlCol="0" anchor="ctr"/>
          <a:lstStyle/>
          <a:p>
            <a:pPr indent="0" marL="0">
              <a:lnSpc>
                <a:spcPct val="115000"/>
              </a:lnSpc>
              <a:buNone/>
            </a:pPr>
            <a:r>
              <a:rPr lang="en-US" sz="1350" dirty="0">
                <a:solidFill>
                  <a:srgbClr val="1B2733"/>
                </a:solidFill>
                <a:latin typeface="Calibri" pitchFamily="34" charset="0"/>
                <a:ea typeface="Calibri" pitchFamily="34" charset="-122"/>
                <a:cs typeface="Calibri" pitchFamily="34" charset="-120"/>
              </a:rPr>
              <a:t>Назначить домен пользователю или команде — блок «Домены» на соответствующей карточке.</a:t>
            </a:r>
            <a:endParaRPr lang="en-US" sz="1350" dirty="0"/>
          </a:p>
        </p:txBody>
      </p:sp>
      <p:sp>
        <p:nvSpPr>
          <p:cNvPr id="16" name="Shape 14"/>
          <p:cNvSpPr/>
          <p:nvPr/>
        </p:nvSpPr>
        <p:spPr>
          <a:xfrm>
            <a:off x="548640" y="3922776"/>
            <a:ext cx="11094415" cy="713232"/>
          </a:xfrm>
          <a:prstGeom prst="roundRect">
            <a:avLst>
              <a:gd name="adj" fmla="val 11538"/>
            </a:avLst>
          </a:prstGeom>
          <a:solidFill>
            <a:srgbClr val="FFFFFF"/>
          </a:solidFill>
          <a:ln w="12700">
            <a:solidFill>
              <a:srgbClr val="CBDEE6"/>
            </a:solidFill>
            <a:prstDash val="solid"/>
          </a:ln>
        </p:spPr>
      </p:sp>
      <p:sp>
        <p:nvSpPr>
          <p:cNvPr id="17" name="Shape 15"/>
          <p:cNvSpPr/>
          <p:nvPr/>
        </p:nvSpPr>
        <p:spPr>
          <a:xfrm>
            <a:off x="731520" y="4059936"/>
            <a:ext cx="438912" cy="438912"/>
          </a:xfrm>
          <a:prstGeom prst="ellipse">
            <a:avLst/>
          </a:prstGeom>
          <a:solidFill>
            <a:srgbClr val="065A82"/>
          </a:solidFill>
          <a:ln/>
        </p:spPr>
      </p:sp>
      <p:sp>
        <p:nvSpPr>
          <p:cNvPr id="18" name="Text 16"/>
          <p:cNvSpPr txBox="1"/>
          <p:nvPr/>
        </p:nvSpPr>
        <p:spPr>
          <a:xfrm>
            <a:off x="731520" y="405993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txBox="1"/>
          <p:nvPr/>
        </p:nvSpPr>
        <p:spPr>
          <a:xfrm>
            <a:off x="1371600" y="3922776"/>
            <a:ext cx="10042855" cy="713232"/>
          </a:xfrm>
          <a:prstGeom prst="rect">
            <a:avLst/>
          </a:prstGeom>
          <a:noFill/>
          <a:ln/>
        </p:spPr>
        <p:txBody>
          <a:bodyPr wrap="square" lIns="0" tIns="0" rIns="0" bIns="0" rtlCol="0" anchor="ctr"/>
          <a:lstStyle/>
          <a:p>
            <a:pPr indent="0" marL="0">
              <a:lnSpc>
                <a:spcPct val="115000"/>
              </a:lnSpc>
              <a:buNone/>
            </a:pPr>
            <a:r>
              <a:rPr lang="en-US" sz="1350" dirty="0">
                <a:solidFill>
                  <a:srgbClr val="1B2733"/>
                </a:solidFill>
                <a:latin typeface="Calibri" pitchFamily="34" charset="0"/>
                <a:ea typeface="Calibri" pitchFamily="34" charset="-122"/>
                <a:cs typeface="Calibri" pitchFamily="34" charset="-120"/>
              </a:rPr>
              <a:t>Добавить роль «Domain Only Access Role» — тот же блок «Роли», без неё домен не действует.</a:t>
            </a:r>
            <a:endParaRPr lang="en-US" sz="1350" dirty="0"/>
          </a:p>
        </p:txBody>
      </p:sp>
      <p:sp>
        <p:nvSpPr>
          <p:cNvPr id="20" name="Shape 18"/>
          <p:cNvSpPr/>
          <p:nvPr/>
        </p:nvSpPr>
        <p:spPr>
          <a:xfrm>
            <a:off x="548640" y="4727448"/>
            <a:ext cx="11094415" cy="713232"/>
          </a:xfrm>
          <a:prstGeom prst="roundRect">
            <a:avLst>
              <a:gd name="adj" fmla="val 11538"/>
            </a:avLst>
          </a:prstGeom>
          <a:solidFill>
            <a:srgbClr val="EAF2F6"/>
          </a:solidFill>
          <a:ln w="12700">
            <a:solidFill>
              <a:srgbClr val="CBDEE6"/>
            </a:solidFill>
            <a:prstDash val="solid"/>
          </a:ln>
        </p:spPr>
      </p:sp>
      <p:sp>
        <p:nvSpPr>
          <p:cNvPr id="21" name="Shape 19"/>
          <p:cNvSpPr/>
          <p:nvPr/>
        </p:nvSpPr>
        <p:spPr>
          <a:xfrm>
            <a:off x="731520" y="4864608"/>
            <a:ext cx="438912" cy="438912"/>
          </a:xfrm>
          <a:prstGeom prst="ellipse">
            <a:avLst/>
          </a:prstGeom>
          <a:solidFill>
            <a:srgbClr val="065A82"/>
          </a:solidFill>
          <a:ln/>
        </p:spPr>
      </p:sp>
      <p:sp>
        <p:nvSpPr>
          <p:cNvPr id="22" name="Text 20"/>
          <p:cNvSpPr txBox="1"/>
          <p:nvPr/>
        </p:nvSpPr>
        <p:spPr>
          <a:xfrm>
            <a:off x="731520" y="486460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1"/>
          <p:cNvSpPr txBox="1"/>
          <p:nvPr/>
        </p:nvSpPr>
        <p:spPr>
          <a:xfrm>
            <a:off x="1371600" y="4727448"/>
            <a:ext cx="10042855" cy="713232"/>
          </a:xfrm>
          <a:prstGeom prst="rect">
            <a:avLst/>
          </a:prstGeom>
          <a:noFill/>
          <a:ln/>
        </p:spPr>
        <p:txBody>
          <a:bodyPr wrap="square" lIns="0" tIns="0" rIns="0" bIns="0" rtlCol="0" anchor="ctr"/>
          <a:lstStyle/>
          <a:p>
            <a:pPr indent="0" marL="0">
              <a:lnSpc>
                <a:spcPct val="115000"/>
              </a:lnSpc>
              <a:buNone/>
            </a:pPr>
            <a:r>
              <a:rPr lang="en-US" sz="1350" dirty="0">
                <a:solidFill>
                  <a:srgbClr val="1B2733"/>
                </a:solidFill>
                <a:latin typeface="Calibri" pitchFamily="34" charset="0"/>
                <a:ea typeface="Calibri" pitchFamily="34" charset="-122"/>
                <a:cs typeface="Calibri" pitchFamily="34" charset="-120"/>
              </a:rPr>
              <a:t>Проверить от лица самого пользователя — войти под ним и убедиться, что видно ровно ожидаемое.</a:t>
            </a:r>
            <a:endParaRPr lang="en-US" sz="1350" dirty="0"/>
          </a:p>
        </p:txBody>
      </p:sp>
      <p:sp>
        <p:nvSpPr>
          <p:cNvPr id="24" name="Shape 22"/>
          <p:cNvSpPr/>
          <p:nvPr/>
        </p:nvSpPr>
        <p:spPr>
          <a:xfrm>
            <a:off x="548640" y="5577840"/>
            <a:ext cx="11094415" cy="685800"/>
          </a:xfrm>
          <a:prstGeom prst="roundRect">
            <a:avLst>
              <a:gd name="adj" fmla="val 12000"/>
            </a:avLst>
          </a:prstGeom>
          <a:solidFill>
            <a:srgbClr val="DCEAF0"/>
          </a:solidFill>
          <a:ln w="12700">
            <a:solidFill>
              <a:srgbClr val="CBDEE6"/>
            </a:solidFill>
            <a:prstDash val="solid"/>
          </a:ln>
        </p:spPr>
      </p:sp>
      <p:sp>
        <p:nvSpPr>
          <p:cNvPr id="25" name="Text 23"/>
          <p:cNvSpPr txBox="1"/>
          <p:nvPr/>
        </p:nvSpPr>
        <p:spPr>
          <a:xfrm>
            <a:off x="822960" y="5577840"/>
            <a:ext cx="10545775" cy="685800"/>
          </a:xfrm>
          <a:prstGeom prst="rect">
            <a:avLst/>
          </a:prstGeom>
          <a:noFill/>
          <a:ln/>
        </p:spPr>
        <p:txBody>
          <a:bodyPr wrap="square" lIns="0" tIns="0" rIns="0" bIns="0" rtlCol="0" anchor="ctr"/>
          <a:lstStyle/>
          <a:p>
            <a:pPr indent="0" marL="0">
              <a:lnSpc>
                <a:spcPct val="120000"/>
              </a:lnSpc>
              <a:buNone/>
            </a:pPr>
            <a:r>
              <a:rPr lang="en-US" sz="1250" b="1" dirty="0">
                <a:solidFill>
                  <a:srgbClr val="21295C"/>
                </a:solidFill>
                <a:latin typeface="Calibri" pitchFamily="34" charset="0"/>
                <a:ea typeface="Calibri" pitchFamily="34" charset="-122"/>
                <a:cs typeface="Calibri" pitchFamily="34" charset="-120"/>
              </a:rPr>
              <a:t>Много одинаковых пользователей по типовой роли? </a:t>
            </a:r>
            <a:pPr indent="0" marL="0">
              <a:lnSpc>
                <a:spcPct val="120000"/>
              </a:lnSpc>
              <a:buNone/>
            </a:pPr>
            <a:r>
              <a:rPr lang="en-US" sz="1250" dirty="0">
                <a:solidFill>
                  <a:srgbClr val="1B2733"/>
                </a:solidFill>
                <a:latin typeface="Calibri" pitchFamily="34" charset="0"/>
                <a:ea typeface="Calibri" pitchFamily="34" charset="-122"/>
                <a:cs typeface="Calibri" pitchFamily="34" charset="-120"/>
              </a:rPr>
              <a:t>Замените шаги 3-4 на путь через Персону (Способ 2): один раз настройте домены персоне, дальше — просто назначайте персону.</a:t>
            </a:r>
            <a:endParaRPr lang="en-US" sz="1250" dirty="0"/>
          </a:p>
        </p:txBody>
      </p:sp>
      <p:sp>
        <p:nvSpPr>
          <p:cNvPr id="26" name="Text 24"/>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27" name="Text 25"/>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ИТОГИ ЧАСТИ 4</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Ключевые тезисы</a:t>
            </a:r>
            <a:endParaRPr lang="en-US" sz="2800" dirty="0"/>
          </a:p>
        </p:txBody>
      </p:sp>
      <p:sp>
        <p:nvSpPr>
          <p:cNvPr id="4" name="Shape 2"/>
          <p:cNvSpPr/>
          <p:nvPr/>
        </p:nvSpPr>
        <p:spPr>
          <a:xfrm>
            <a:off x="548640" y="1463040"/>
            <a:ext cx="5272888" cy="1371600"/>
          </a:xfrm>
          <a:prstGeom prst="roundRect">
            <a:avLst>
              <a:gd name="adj" fmla="val 6000"/>
            </a:avLst>
          </a:prstGeom>
          <a:solidFill>
            <a:srgbClr val="EAF2F6"/>
          </a:solidFill>
          <a:ln w="12700">
            <a:solidFill>
              <a:srgbClr val="CBDEE6"/>
            </a:solidFill>
            <a:prstDash val="solid"/>
          </a:ln>
        </p:spPr>
      </p:sp>
      <p:sp>
        <p:nvSpPr>
          <p:cNvPr id="5" name="Shape 3"/>
          <p:cNvSpPr/>
          <p:nvPr/>
        </p:nvSpPr>
        <p:spPr>
          <a:xfrm>
            <a:off x="749808" y="1645920"/>
            <a:ext cx="365760" cy="365760"/>
          </a:xfrm>
          <a:prstGeom prst="roundRect">
            <a:avLst>
              <a:gd name="adj" fmla="val 20000"/>
            </a:avLst>
          </a:prstGeom>
          <a:solidFill>
            <a:srgbClr val="065A82"/>
          </a:solidFill>
          <a:ln/>
        </p:spPr>
      </p:sp>
      <p:sp>
        <p:nvSpPr>
          <p:cNvPr id="6" name="Text 4"/>
          <p:cNvSpPr txBox="1"/>
          <p:nvPr/>
        </p:nvSpPr>
        <p:spPr>
          <a:xfrm>
            <a:off x="749808" y="1645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61872" y="1609344"/>
            <a:ext cx="4358488" cy="384048"/>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Двойная природа домена</a:t>
            </a:r>
            <a:endParaRPr lang="en-US" sz="1350" dirty="0"/>
          </a:p>
        </p:txBody>
      </p:sp>
      <p:sp>
        <p:nvSpPr>
          <p:cNvPr id="8" name="Text 6"/>
          <p:cNvSpPr txBox="1"/>
          <p:nvPr/>
        </p:nvSpPr>
        <p:spPr>
          <a:xfrm>
            <a:off x="749808" y="2084832"/>
            <a:ext cx="4870552" cy="658368"/>
          </a:xfrm>
          <a:prstGeom prst="rect">
            <a:avLst/>
          </a:prstGeom>
          <a:noFill/>
          <a:ln/>
        </p:spPr>
        <p:txBody>
          <a:bodyPr wrap="square" lIns="0" tIns="0" rIns="0" bIns="0" rtlCol="0" anchor="ctr"/>
          <a:lstStyle/>
          <a:p>
            <a:pPr indent="0" marL="0">
              <a:lnSpc>
                <a:spcPct val="118000"/>
              </a:lnSpc>
              <a:buNone/>
            </a:pPr>
            <a:r>
              <a:rPr lang="en-US" sz="1100" dirty="0">
                <a:solidFill>
                  <a:srgbClr val="1B2733"/>
                </a:solidFill>
                <a:latin typeface="Calibri" pitchFamily="34" charset="0"/>
                <a:ea typeface="Calibri" pitchFamily="34" charset="-122"/>
                <a:cs typeface="Calibri" pitchFamily="34" charset="-120"/>
              </a:rPr>
              <a:t>Домен одновременно группирует данные по смыслу и служит границей доступа — это одна и та же сущность, а не два разных инструмента.</a:t>
            </a:r>
            <a:endParaRPr lang="en-US" sz="1100" dirty="0"/>
          </a:p>
        </p:txBody>
      </p:sp>
      <p:sp>
        <p:nvSpPr>
          <p:cNvPr id="9" name="Shape 7"/>
          <p:cNvSpPr/>
          <p:nvPr/>
        </p:nvSpPr>
        <p:spPr>
          <a:xfrm>
            <a:off x="6370168" y="1463040"/>
            <a:ext cx="5272888" cy="1371600"/>
          </a:xfrm>
          <a:prstGeom prst="roundRect">
            <a:avLst>
              <a:gd name="adj" fmla="val 6000"/>
            </a:avLst>
          </a:prstGeom>
          <a:solidFill>
            <a:srgbClr val="EAF2F6"/>
          </a:solidFill>
          <a:ln w="12700">
            <a:solidFill>
              <a:srgbClr val="CBDEE6"/>
            </a:solidFill>
            <a:prstDash val="solid"/>
          </a:ln>
        </p:spPr>
      </p:sp>
      <p:sp>
        <p:nvSpPr>
          <p:cNvPr id="10" name="Shape 8"/>
          <p:cNvSpPr/>
          <p:nvPr/>
        </p:nvSpPr>
        <p:spPr>
          <a:xfrm>
            <a:off x="6571336" y="1645920"/>
            <a:ext cx="365760" cy="365760"/>
          </a:xfrm>
          <a:prstGeom prst="roundRect">
            <a:avLst>
              <a:gd name="adj" fmla="val 20000"/>
            </a:avLst>
          </a:prstGeom>
          <a:solidFill>
            <a:srgbClr val="065A82"/>
          </a:solidFill>
          <a:ln/>
        </p:spPr>
      </p:sp>
      <p:sp>
        <p:nvSpPr>
          <p:cNvPr id="11" name="Text 9"/>
          <p:cNvSpPr txBox="1"/>
          <p:nvPr/>
        </p:nvSpPr>
        <p:spPr>
          <a:xfrm>
            <a:off x="6571336" y="1645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7083400" y="1609344"/>
            <a:ext cx="4358488" cy="384048"/>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Только одна рабочая связка</a:t>
            </a:r>
            <a:endParaRPr lang="en-US" sz="1350" dirty="0"/>
          </a:p>
        </p:txBody>
      </p:sp>
      <p:sp>
        <p:nvSpPr>
          <p:cNvPr id="13" name="Text 11"/>
          <p:cNvSpPr txBox="1"/>
          <p:nvPr/>
        </p:nvSpPr>
        <p:spPr>
          <a:xfrm>
            <a:off x="6571336" y="2084832"/>
            <a:ext cx="4870552" cy="658368"/>
          </a:xfrm>
          <a:prstGeom prst="rect">
            <a:avLst/>
          </a:prstGeom>
          <a:noFill/>
          <a:ln/>
        </p:spPr>
        <p:txBody>
          <a:bodyPr wrap="square" lIns="0" tIns="0" rIns="0" bIns="0" rtlCol="0" anchor="ctr"/>
          <a:lstStyle/>
          <a:p>
            <a:pPr indent="0" marL="0">
              <a:lnSpc>
                <a:spcPct val="118000"/>
              </a:lnSpc>
              <a:buNone/>
            </a:pPr>
            <a:r>
              <a:rPr lang="en-US" sz="1100" dirty="0">
                <a:solidFill>
                  <a:srgbClr val="1B2733"/>
                </a:solidFill>
                <a:latin typeface="Calibri" pitchFamily="34" charset="0"/>
                <a:ea typeface="Calibri" pitchFamily="34" charset="-122"/>
                <a:cs typeface="Calibri" pitchFamily="34" charset="-120"/>
              </a:rPr>
              <a:t>Реальный доступ в чате и поиске = домен на профиле/команде + роль Domain Only Access Role. Без роли домен ничего не ограничивает.</a:t>
            </a:r>
            <a:endParaRPr lang="en-US" sz="1100" dirty="0"/>
          </a:p>
        </p:txBody>
      </p:sp>
      <p:sp>
        <p:nvSpPr>
          <p:cNvPr id="14" name="Shape 12"/>
          <p:cNvSpPr/>
          <p:nvPr/>
        </p:nvSpPr>
        <p:spPr>
          <a:xfrm>
            <a:off x="548640" y="3063240"/>
            <a:ext cx="5272888" cy="1371600"/>
          </a:xfrm>
          <a:prstGeom prst="roundRect">
            <a:avLst>
              <a:gd name="adj" fmla="val 6000"/>
            </a:avLst>
          </a:prstGeom>
          <a:solidFill>
            <a:srgbClr val="EAF2F6"/>
          </a:solidFill>
          <a:ln w="12700">
            <a:solidFill>
              <a:srgbClr val="CBDEE6"/>
            </a:solidFill>
            <a:prstDash val="solid"/>
          </a:ln>
        </p:spPr>
      </p:sp>
      <p:sp>
        <p:nvSpPr>
          <p:cNvPr id="15" name="Shape 13"/>
          <p:cNvSpPr/>
          <p:nvPr/>
        </p:nvSpPr>
        <p:spPr>
          <a:xfrm>
            <a:off x="749808" y="3246120"/>
            <a:ext cx="365760" cy="365760"/>
          </a:xfrm>
          <a:prstGeom prst="roundRect">
            <a:avLst>
              <a:gd name="adj" fmla="val 20000"/>
            </a:avLst>
          </a:prstGeom>
          <a:solidFill>
            <a:srgbClr val="065A82"/>
          </a:solidFill>
          <a:ln/>
        </p:spPr>
      </p:sp>
      <p:sp>
        <p:nvSpPr>
          <p:cNvPr id="16" name="Text 14"/>
          <p:cNvSpPr txBox="1"/>
          <p:nvPr/>
        </p:nvSpPr>
        <p:spPr>
          <a:xfrm>
            <a:off x="749808" y="3246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261872" y="3209544"/>
            <a:ext cx="4358488" cy="384048"/>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Нет режима «видно всё»</a:t>
            </a:r>
            <a:endParaRPr lang="en-US" sz="1350" dirty="0"/>
          </a:p>
        </p:txBody>
      </p:sp>
      <p:sp>
        <p:nvSpPr>
          <p:cNvPr id="18" name="Text 16"/>
          <p:cNvSpPr txBox="1"/>
          <p:nvPr/>
        </p:nvSpPr>
        <p:spPr>
          <a:xfrm>
            <a:off x="749808" y="3685032"/>
            <a:ext cx="4870552" cy="658368"/>
          </a:xfrm>
          <a:prstGeom prst="rect">
            <a:avLst/>
          </a:prstGeom>
          <a:noFill/>
          <a:ln/>
        </p:spPr>
        <p:txBody>
          <a:bodyPr wrap="square" lIns="0" tIns="0" rIns="0" bIns="0" rtlCol="0" anchor="ctr"/>
          <a:lstStyle/>
          <a:p>
            <a:pPr indent="0" marL="0">
              <a:lnSpc>
                <a:spcPct val="118000"/>
              </a:lnSpc>
              <a:buNone/>
            </a:pPr>
            <a:r>
              <a:rPr lang="en-US" sz="1100" dirty="0">
                <a:solidFill>
                  <a:srgbClr val="1B2733"/>
                </a:solidFill>
                <a:latin typeface="Calibri" pitchFamily="34" charset="0"/>
                <a:ea typeface="Calibri" pitchFamily="34" charset="-122"/>
                <a:cs typeface="Calibri" pitchFamily="34" charset="-120"/>
              </a:rPr>
              <a:t>Без назначенного домена пользователь видит только объекты без домена — не общий доступ ко всей платформе.</a:t>
            </a:r>
            <a:endParaRPr lang="en-US" sz="1100" dirty="0"/>
          </a:p>
        </p:txBody>
      </p:sp>
      <p:sp>
        <p:nvSpPr>
          <p:cNvPr id="19" name="Shape 17"/>
          <p:cNvSpPr/>
          <p:nvPr/>
        </p:nvSpPr>
        <p:spPr>
          <a:xfrm>
            <a:off x="6370168" y="3063240"/>
            <a:ext cx="5272888" cy="1371600"/>
          </a:xfrm>
          <a:prstGeom prst="roundRect">
            <a:avLst>
              <a:gd name="adj" fmla="val 6000"/>
            </a:avLst>
          </a:prstGeom>
          <a:solidFill>
            <a:srgbClr val="EAF2F6"/>
          </a:solidFill>
          <a:ln w="12700">
            <a:solidFill>
              <a:srgbClr val="CBDEE6"/>
            </a:solidFill>
            <a:prstDash val="solid"/>
          </a:ln>
        </p:spPr>
      </p:sp>
      <p:sp>
        <p:nvSpPr>
          <p:cNvPr id="20" name="Shape 18"/>
          <p:cNvSpPr/>
          <p:nvPr/>
        </p:nvSpPr>
        <p:spPr>
          <a:xfrm>
            <a:off x="6571336" y="3246120"/>
            <a:ext cx="365760" cy="365760"/>
          </a:xfrm>
          <a:prstGeom prst="roundRect">
            <a:avLst>
              <a:gd name="adj" fmla="val 20000"/>
            </a:avLst>
          </a:prstGeom>
          <a:solidFill>
            <a:srgbClr val="065A82"/>
          </a:solidFill>
          <a:ln/>
        </p:spPr>
      </p:sp>
      <p:sp>
        <p:nvSpPr>
          <p:cNvPr id="21" name="Text 19"/>
          <p:cNvSpPr txBox="1"/>
          <p:nvPr/>
        </p:nvSpPr>
        <p:spPr>
          <a:xfrm>
            <a:off x="6571336" y="3246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7083400" y="3209544"/>
            <a:ext cx="4358488" cy="384048"/>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Governance ≠ доступ</a:t>
            </a:r>
            <a:endParaRPr lang="en-US" sz="1350" dirty="0"/>
          </a:p>
        </p:txBody>
      </p:sp>
      <p:sp>
        <p:nvSpPr>
          <p:cNvPr id="23" name="Text 21"/>
          <p:cNvSpPr txBox="1"/>
          <p:nvPr/>
        </p:nvSpPr>
        <p:spPr>
          <a:xfrm>
            <a:off x="6571336" y="3685032"/>
            <a:ext cx="4870552" cy="658368"/>
          </a:xfrm>
          <a:prstGeom prst="rect">
            <a:avLst/>
          </a:prstGeom>
          <a:noFill/>
          <a:ln/>
        </p:spPr>
        <p:txBody>
          <a:bodyPr wrap="square" lIns="0" tIns="0" rIns="0" bIns="0" rtlCol="0" anchor="ctr"/>
          <a:lstStyle/>
          <a:p>
            <a:pPr indent="0" marL="0">
              <a:lnSpc>
                <a:spcPct val="118000"/>
              </a:lnSpc>
              <a:buNone/>
            </a:pPr>
            <a:r>
              <a:rPr lang="en-US" sz="1100" dirty="0">
                <a:solidFill>
                  <a:srgbClr val="1B2733"/>
                </a:solidFill>
                <a:latin typeface="Calibri" pitchFamily="34" charset="0"/>
                <a:ea typeface="Calibri" pitchFamily="34" charset="-122"/>
                <a:cs typeface="Calibri" pitchFamily="34" charset="-120"/>
              </a:rPr>
              <a:t>Владельцы/эксперты домена, персона «сама по себе» и роли «Контроль доступа» доступа к данным не дают — это организационные и каталожные механизмы.</a:t>
            </a:r>
            <a:endParaRPr lang="en-US" sz="1100" dirty="0"/>
          </a:p>
        </p:txBody>
      </p:sp>
      <p:sp>
        <p:nvSpPr>
          <p:cNvPr id="24" name="Shape 22"/>
          <p:cNvSpPr/>
          <p:nvPr/>
        </p:nvSpPr>
        <p:spPr>
          <a:xfrm>
            <a:off x="548640" y="4663440"/>
            <a:ext cx="5272888" cy="1371600"/>
          </a:xfrm>
          <a:prstGeom prst="roundRect">
            <a:avLst>
              <a:gd name="adj" fmla="val 6000"/>
            </a:avLst>
          </a:prstGeom>
          <a:solidFill>
            <a:srgbClr val="EAF2F6"/>
          </a:solidFill>
          <a:ln w="12700">
            <a:solidFill>
              <a:srgbClr val="CBDEE6"/>
            </a:solidFill>
            <a:prstDash val="solid"/>
          </a:ln>
        </p:spPr>
      </p:sp>
      <p:sp>
        <p:nvSpPr>
          <p:cNvPr id="25" name="Shape 23"/>
          <p:cNvSpPr/>
          <p:nvPr/>
        </p:nvSpPr>
        <p:spPr>
          <a:xfrm>
            <a:off x="749808" y="4846320"/>
            <a:ext cx="365760" cy="365760"/>
          </a:xfrm>
          <a:prstGeom prst="roundRect">
            <a:avLst>
              <a:gd name="adj" fmla="val 20000"/>
            </a:avLst>
          </a:prstGeom>
          <a:solidFill>
            <a:srgbClr val="065A82"/>
          </a:solidFill>
          <a:ln/>
        </p:spPr>
      </p:sp>
      <p:sp>
        <p:nvSpPr>
          <p:cNvPr id="26" name="Text 24"/>
          <p:cNvSpPr txBox="1"/>
          <p:nvPr/>
        </p:nvSpPr>
        <p:spPr>
          <a:xfrm>
            <a:off x="749808" y="4846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261872" y="4809744"/>
            <a:ext cx="4358488" cy="384048"/>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Два пути к одной цели</a:t>
            </a:r>
            <a:endParaRPr lang="en-US" sz="1350" dirty="0"/>
          </a:p>
        </p:txBody>
      </p:sp>
      <p:sp>
        <p:nvSpPr>
          <p:cNvPr id="28" name="Text 26"/>
          <p:cNvSpPr txBox="1"/>
          <p:nvPr/>
        </p:nvSpPr>
        <p:spPr>
          <a:xfrm>
            <a:off x="749808" y="5285232"/>
            <a:ext cx="4870552" cy="658368"/>
          </a:xfrm>
          <a:prstGeom prst="rect">
            <a:avLst/>
          </a:prstGeom>
          <a:noFill/>
          <a:ln/>
        </p:spPr>
        <p:txBody>
          <a:bodyPr wrap="square" lIns="0" tIns="0" rIns="0" bIns="0" rtlCol="0" anchor="ctr"/>
          <a:lstStyle/>
          <a:p>
            <a:pPr indent="0" marL="0">
              <a:lnSpc>
                <a:spcPct val="118000"/>
              </a:lnSpc>
              <a:buNone/>
            </a:pPr>
            <a:r>
              <a:rPr lang="en-US" sz="1100" dirty="0">
                <a:solidFill>
                  <a:srgbClr val="1B2733"/>
                </a:solidFill>
                <a:latin typeface="Calibri" pitchFamily="34" charset="0"/>
                <a:ea typeface="Calibri" pitchFamily="34" charset="-122"/>
                <a:cs typeface="Calibri" pitchFamily="34" charset="-120"/>
              </a:rPr>
              <a:t>Домен можно передать пользователю напрямую (Способ 1, используется в пилоте) или через Персону (Способ 2) — итоговая проверка одинаковая для обоих.</a:t>
            </a:r>
            <a:endParaRPr lang="en-US" sz="1100" dirty="0"/>
          </a:p>
        </p:txBody>
      </p:sp>
      <p:sp>
        <p:nvSpPr>
          <p:cNvPr id="29" name="Shape 27"/>
          <p:cNvSpPr/>
          <p:nvPr/>
        </p:nvSpPr>
        <p:spPr>
          <a:xfrm>
            <a:off x="6370168" y="4663440"/>
            <a:ext cx="5272888" cy="1371600"/>
          </a:xfrm>
          <a:prstGeom prst="roundRect">
            <a:avLst>
              <a:gd name="adj" fmla="val 6000"/>
            </a:avLst>
          </a:prstGeom>
          <a:solidFill>
            <a:srgbClr val="EAF2F6"/>
          </a:solidFill>
          <a:ln w="12700">
            <a:solidFill>
              <a:srgbClr val="CBDEE6"/>
            </a:solidFill>
            <a:prstDash val="solid"/>
          </a:ln>
        </p:spPr>
      </p:sp>
      <p:sp>
        <p:nvSpPr>
          <p:cNvPr id="30" name="Shape 28"/>
          <p:cNvSpPr/>
          <p:nvPr/>
        </p:nvSpPr>
        <p:spPr>
          <a:xfrm>
            <a:off x="6571336" y="4846320"/>
            <a:ext cx="365760" cy="365760"/>
          </a:xfrm>
          <a:prstGeom prst="roundRect">
            <a:avLst>
              <a:gd name="adj" fmla="val 20000"/>
            </a:avLst>
          </a:prstGeom>
          <a:solidFill>
            <a:srgbClr val="065A82"/>
          </a:solidFill>
          <a:ln/>
        </p:spPr>
      </p:sp>
      <p:sp>
        <p:nvSpPr>
          <p:cNvPr id="31" name="Text 29"/>
          <p:cNvSpPr txBox="1"/>
          <p:nvPr/>
        </p:nvSpPr>
        <p:spPr>
          <a:xfrm>
            <a:off x="6571336" y="4846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txBox="1"/>
          <p:nvPr/>
        </p:nvSpPr>
        <p:spPr>
          <a:xfrm>
            <a:off x="7083400" y="4809744"/>
            <a:ext cx="4358488" cy="384048"/>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Есть более глубокий уровень</a:t>
            </a:r>
            <a:endParaRPr lang="en-US" sz="1350" dirty="0"/>
          </a:p>
        </p:txBody>
      </p:sp>
      <p:sp>
        <p:nvSpPr>
          <p:cNvPr id="33" name="Text 31"/>
          <p:cNvSpPr txBox="1"/>
          <p:nvPr/>
        </p:nvSpPr>
        <p:spPr>
          <a:xfrm>
            <a:off x="6571336" y="5285232"/>
            <a:ext cx="4870552" cy="658368"/>
          </a:xfrm>
          <a:prstGeom prst="rect">
            <a:avLst/>
          </a:prstGeom>
          <a:noFill/>
          <a:ln/>
        </p:spPr>
        <p:txBody>
          <a:bodyPr wrap="square" lIns="0" tIns="0" rIns="0" bIns="0" rtlCol="0" anchor="ctr"/>
          <a:lstStyle/>
          <a:p>
            <a:pPr indent="0" marL="0">
              <a:lnSpc>
                <a:spcPct val="118000"/>
              </a:lnSpc>
              <a:buNone/>
            </a:pPr>
            <a:r>
              <a:rPr lang="en-US" sz="1100" dirty="0">
                <a:solidFill>
                  <a:srgbClr val="1B2733"/>
                </a:solidFill>
                <a:latin typeface="Calibri" pitchFamily="34" charset="0"/>
                <a:ea typeface="Calibri" pitchFamily="34" charset="-122"/>
                <a:cs typeface="Calibri" pitchFamily="34" charset="-120"/>
              </a:rPr>
              <a:t>Граф доступа дополнительно фильтрует строки и маскирует колонки табличных данных (SQL/Trino) — отдельная тема от доступа к коллекциям документов.</a:t>
            </a:r>
            <a:endParaRPr lang="en-US" sz="1100" dirty="0"/>
          </a:p>
        </p:txBody>
      </p:sp>
      <p:sp>
        <p:nvSpPr>
          <p:cNvPr id="34" name="Text 32"/>
          <p:cNvSpPr txBox="1"/>
          <p:nvPr/>
        </p:nvSpPr>
        <p:spPr>
          <a:xfrm>
            <a:off x="548640" y="6510528"/>
            <a:ext cx="7315200" cy="256032"/>
          </a:xfrm>
          <a:prstGeom prst="rect">
            <a:avLst/>
          </a:prstGeom>
          <a:noFill/>
          <a:ln/>
        </p:spPr>
        <p:txBody>
          <a:bodyPr wrap="square" lIns="0" tIns="0" rIns="0" bIns="0" rtlCol="0" anchor="ctr"/>
          <a:lstStyle/>
          <a:p>
            <a:pPr indent="0" marL="0">
              <a:buNone/>
            </a:pPr>
            <a:r>
              <a:rPr lang="en-US" sz="950" dirty="0">
                <a:solidFill>
                  <a:srgbClr val="7C8B98"/>
                </a:solidFill>
                <a:latin typeface="Calibri" pitchFamily="34" charset="0"/>
                <a:ea typeface="Calibri" pitchFamily="34" charset="-122"/>
                <a:cs typeface="Calibri" pitchFamily="34" charset="-120"/>
              </a:rPr>
              <a:t>Домены и доступ · Часть 4/5</a:t>
            </a:r>
            <a:endParaRPr lang="en-US" sz="950" dirty="0"/>
          </a:p>
        </p:txBody>
      </p:sp>
      <p:sp>
        <p:nvSpPr>
          <p:cNvPr id="35" name="Text 33"/>
          <p:cNvSpPr txBox="1"/>
          <p:nvPr/>
        </p:nvSpPr>
        <p:spPr>
          <a:xfrm>
            <a:off x="10728655" y="6510528"/>
            <a:ext cx="914400" cy="256032"/>
          </a:xfrm>
          <a:prstGeom prst="rect">
            <a:avLst/>
          </a:prstGeom>
          <a:noFill/>
          <a:ln/>
        </p:spPr>
        <p:txBody>
          <a:bodyPr wrap="square" lIns="0" tIns="0" rIns="0" bIns="0" rtlCol="0" anchor="ctr"/>
          <a:lstStyle/>
          <a:p>
            <a:pPr algn="r" indent="0" marL="0">
              <a:buNone/>
            </a:pPr>
            <a:r>
              <a:rPr lang="en-US" sz="950" dirty="0">
                <a:solidFill>
                  <a:srgbClr val="7C8B98"/>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228600"/>
            <a:ext cx="2377440" cy="2377440"/>
          </a:xfrm>
          <a:prstGeom prst="ellipse">
            <a:avLst/>
          </a:prstGeom>
          <a:ln w="25400">
            <a:solidFill>
              <a:srgbClr val="1C7293">
                <a:alpha val="45000"/>
              </a:srgbClr>
            </a:solidFill>
            <a:prstDash val="solid"/>
          </a:ln>
        </p:spPr>
      </p:sp>
      <p:sp>
        <p:nvSpPr>
          <p:cNvPr id="3" name="Shape 1"/>
          <p:cNvSpPr/>
          <p:nvPr/>
        </p:nvSpPr>
        <p:spPr>
          <a:xfrm>
            <a:off x="10104120" y="182880"/>
            <a:ext cx="1554480" cy="1554480"/>
          </a:xfrm>
          <a:prstGeom prst="ellipse">
            <a:avLst/>
          </a:prstGeom>
          <a:solidFill>
            <a:srgbClr val="065A82">
              <a:alpha val="75000"/>
            </a:srgbClr>
          </a:solidFill>
          <a:ln w="15875">
            <a:solidFill>
              <a:srgbClr val="FFFFFF">
                <a:alpha val="60000"/>
              </a:srgbClr>
            </a:solidFill>
            <a:prstDash val="solid"/>
          </a:ln>
        </p:spPr>
      </p:sp>
      <p:sp>
        <p:nvSpPr>
          <p:cNvPr id="4" name="Text 2"/>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300" b="1" spc="200" kern="0" dirty="0">
                <a:solidFill>
                  <a:srgbClr val="8FC1D9"/>
                </a:solidFill>
                <a:latin typeface="Calibri" pitchFamily="34" charset="0"/>
                <a:ea typeface="Calibri" pitchFamily="34" charset="-122"/>
                <a:cs typeface="Calibri" pitchFamily="34" charset="-120"/>
              </a:rPr>
              <a:t>ЧАСТЬ 4 ИЗ 5 ЗАВЕРШЕНА</a:t>
            </a:r>
            <a:endParaRPr lang="en-US" sz="1300" dirty="0"/>
          </a:p>
        </p:txBody>
      </p:sp>
      <p:sp>
        <p:nvSpPr>
          <p:cNvPr id="5" name="Text 3"/>
          <p:cNvSpPr txBox="1"/>
          <p:nvPr/>
        </p:nvSpPr>
        <p:spPr>
          <a:xfrm>
            <a:off x="548640" y="1051560"/>
            <a:ext cx="82296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Что дальше</a:t>
            </a:r>
            <a:endParaRPr lang="en-US" sz="4000" dirty="0"/>
          </a:p>
        </p:txBody>
      </p:sp>
      <p:sp>
        <p:nvSpPr>
          <p:cNvPr id="6" name="Shape 4"/>
          <p:cNvSpPr/>
          <p:nvPr/>
        </p:nvSpPr>
        <p:spPr>
          <a:xfrm>
            <a:off x="548640" y="2148840"/>
            <a:ext cx="11094415" cy="1417320"/>
          </a:xfrm>
          <a:prstGeom prst="roundRect">
            <a:avLst>
              <a:gd name="adj" fmla="val 7742"/>
            </a:avLst>
          </a:prstGeom>
          <a:solidFill>
            <a:srgbClr val="1B3F63"/>
          </a:solidFill>
          <a:ln w="12700">
            <a:solidFill>
              <a:srgbClr val="35577A"/>
            </a:solidFill>
            <a:prstDash val="solid"/>
          </a:ln>
        </p:spPr>
      </p:sp>
      <p:sp>
        <p:nvSpPr>
          <p:cNvPr id="7" name="Text 5"/>
          <p:cNvSpPr txBox="1"/>
          <p:nvPr/>
        </p:nvSpPr>
        <p:spPr>
          <a:xfrm>
            <a:off x="868680" y="2331720"/>
            <a:ext cx="3657600" cy="274320"/>
          </a:xfrm>
          <a:prstGeom prst="rect">
            <a:avLst/>
          </a:prstGeom>
          <a:noFill/>
          <a:ln/>
        </p:spPr>
        <p:txBody>
          <a:bodyPr wrap="square" lIns="0" tIns="0" rIns="0" bIns="0" rtlCol="0" anchor="ctr"/>
          <a:lstStyle/>
          <a:p>
            <a:pPr indent="0" marL="0">
              <a:buNone/>
            </a:pPr>
            <a:r>
              <a:rPr lang="en-US" sz="1100" b="1" spc="100" kern="0" dirty="0">
                <a:solidFill>
                  <a:srgbClr val="8FC1D9"/>
                </a:solidFill>
                <a:latin typeface="Calibri" pitchFamily="34" charset="0"/>
                <a:ea typeface="Calibri" pitchFamily="34" charset="-122"/>
                <a:cs typeface="Calibri" pitchFamily="34" charset="-120"/>
              </a:rPr>
              <a:t>ЧАСТЬ 5 ИЗ 5</a:t>
            </a:r>
            <a:endParaRPr lang="en-US" sz="1100" dirty="0"/>
          </a:p>
        </p:txBody>
      </p:sp>
      <p:sp>
        <p:nvSpPr>
          <p:cNvPr id="8" name="Text 6"/>
          <p:cNvSpPr txBox="1"/>
          <p:nvPr/>
        </p:nvSpPr>
        <p:spPr>
          <a:xfrm>
            <a:off x="868680" y="2615184"/>
            <a:ext cx="10454335"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Итог: сильные и слабые стороны платформы</a:t>
            </a:r>
            <a:endParaRPr lang="en-US" sz="2100" dirty="0"/>
          </a:p>
        </p:txBody>
      </p:sp>
      <p:sp>
        <p:nvSpPr>
          <p:cNvPr id="9" name="Text 7"/>
          <p:cNvSpPr txBox="1"/>
          <p:nvPr/>
        </p:nvSpPr>
        <p:spPr>
          <a:xfrm>
            <a:off x="868680" y="3063240"/>
            <a:ext cx="10454335" cy="457200"/>
          </a:xfrm>
          <a:prstGeom prst="rect">
            <a:avLst/>
          </a:prstGeom>
          <a:noFill/>
          <a:ln/>
        </p:spPr>
        <p:txBody>
          <a:bodyPr wrap="square" lIns="0" tIns="0" rIns="0" bIns="0" rtlCol="0" anchor="ctr"/>
          <a:lstStyle/>
          <a:p>
            <a:pPr indent="0" marL="0">
              <a:lnSpc>
                <a:spcPct val="120000"/>
              </a:lnSpc>
              <a:buNone/>
            </a:pPr>
            <a:r>
              <a:rPr lang="en-US" sz="1300" dirty="0">
                <a:solidFill>
                  <a:srgbClr val="C8DCE7"/>
                </a:solidFill>
                <a:latin typeface="Calibri" pitchFamily="34" charset="0"/>
                <a:ea typeface="Calibri" pitchFamily="34" charset="-122"/>
                <a:cs typeface="Calibri" pitchFamily="34" charset="-120"/>
              </a:rPr>
              <a:t>Завершающая часть цикла — сводный взгляд на платформу: что работает уверенно, а что остаётся зоной риска или требует доработки.</a:t>
            </a:r>
            <a:endParaRPr lang="en-US" sz="1300" dirty="0"/>
          </a:p>
        </p:txBody>
      </p:sp>
      <p:sp>
        <p:nvSpPr>
          <p:cNvPr id="10" name="Shape 8"/>
          <p:cNvSpPr/>
          <p:nvPr/>
        </p:nvSpPr>
        <p:spPr>
          <a:xfrm>
            <a:off x="548640" y="3794760"/>
            <a:ext cx="11094415" cy="1417320"/>
          </a:xfrm>
          <a:prstGeom prst="roundRect">
            <a:avLst>
              <a:gd name="adj" fmla="val 7742"/>
            </a:avLst>
          </a:prstGeom>
          <a:solidFill>
            <a:srgbClr val="163454"/>
          </a:solidFill>
          <a:ln w="12700">
            <a:solidFill>
              <a:srgbClr val="35577A"/>
            </a:solidFill>
            <a:prstDash val="solid"/>
          </a:ln>
        </p:spPr>
      </p:sp>
      <p:sp>
        <p:nvSpPr>
          <p:cNvPr id="11" name="Text 9"/>
          <p:cNvSpPr txBox="1"/>
          <p:nvPr/>
        </p:nvSpPr>
        <p:spPr>
          <a:xfrm>
            <a:off x="868680" y="3977640"/>
            <a:ext cx="3657600" cy="274320"/>
          </a:xfrm>
          <a:prstGeom prst="rect">
            <a:avLst/>
          </a:prstGeom>
          <a:noFill/>
          <a:ln/>
        </p:spPr>
        <p:txBody>
          <a:bodyPr wrap="square" lIns="0" tIns="0" rIns="0" bIns="0" rtlCol="0" anchor="ctr"/>
          <a:lstStyle/>
          <a:p>
            <a:pPr indent="0" marL="0">
              <a:buNone/>
            </a:pPr>
            <a:r>
              <a:rPr lang="en-US" sz="1100" b="1" spc="100" kern="0" dirty="0">
                <a:solidFill>
                  <a:srgbClr val="8FC1D9"/>
                </a:solidFill>
                <a:latin typeface="Calibri" pitchFamily="34" charset="0"/>
                <a:ea typeface="Calibri" pitchFamily="34" charset="-122"/>
                <a:cs typeface="Calibri" pitchFamily="34" charset="-120"/>
              </a:rPr>
              <a:t>Связь с этой частью</a:t>
            </a:r>
            <a:endParaRPr lang="en-US" sz="1100" dirty="0"/>
          </a:p>
        </p:txBody>
      </p:sp>
      <p:sp>
        <p:nvSpPr>
          <p:cNvPr id="12" name="Text 10"/>
          <p:cNvSpPr txBox="1"/>
          <p:nvPr/>
        </p:nvSpPr>
        <p:spPr>
          <a:xfrm>
            <a:off x="868680" y="4261104"/>
            <a:ext cx="10454335" cy="868680"/>
          </a:xfrm>
          <a:prstGeom prst="rect">
            <a:avLst/>
          </a:prstGeom>
          <a:noFill/>
          <a:ln/>
        </p:spPr>
        <p:txBody>
          <a:bodyPr wrap="square" lIns="0" tIns="0" rIns="0" bIns="0" rtlCol="0" anchor="ctr"/>
          <a:lstStyle/>
          <a:p>
            <a:pPr indent="0" marL="0">
              <a:lnSpc>
                <a:spcPct val="130000"/>
              </a:lnSpc>
              <a:buNone/>
            </a:pPr>
            <a:r>
              <a:rPr lang="en-US" sz="1350" dirty="0">
                <a:solidFill>
                  <a:srgbClr val="DCEAF0"/>
                </a:solidFill>
                <a:latin typeface="Calibri" pitchFamily="34" charset="0"/>
                <a:ea typeface="Calibri" pitchFamily="34" charset="-122"/>
                <a:cs typeface="Calibri" pitchFamily="34" charset="-120"/>
              </a:rPr>
              <a:t>Механизм разграничения доступа по доменам, разобранный в этой части, — один из практических критериев, по которым в части 5 будет оцениваться зрелость платформы: насколько предсказуемо и проверяемо работает связка «домен + роль» на практике.</a:t>
            </a:r>
            <a:endParaRPr lang="en-US" sz="1350" dirty="0"/>
          </a:p>
        </p:txBody>
      </p:sp>
      <p:sp>
        <p:nvSpPr>
          <p:cNvPr id="13" name="Text 11"/>
          <p:cNvSpPr txBox="1"/>
          <p:nvPr/>
        </p:nvSpPr>
        <p:spPr>
          <a:xfrm>
            <a:off x="548640" y="5623560"/>
            <a:ext cx="8229600" cy="365760"/>
          </a:xfrm>
          <a:prstGeom prst="rect">
            <a:avLst/>
          </a:prstGeom>
          <a:noFill/>
          <a:ln/>
        </p:spPr>
        <p:txBody>
          <a:bodyPr wrap="square" lIns="0" tIns="0" rIns="0" bIns="0" rtlCol="0" anchor="ctr"/>
          <a:lstStyle/>
          <a:p>
            <a:pPr indent="0" marL="0">
              <a:buNone/>
            </a:pPr>
            <a:r>
              <a:rPr lang="en-US" sz="1400" i="1" dirty="0">
                <a:solidFill>
                  <a:srgbClr val="6E97AE"/>
                </a:solidFill>
                <a:latin typeface="Calibri" pitchFamily="34" charset="0"/>
                <a:ea typeface="Calibri" pitchFamily="34" charset="-122"/>
                <a:cs typeface="Calibri" pitchFamily="34" charset="-120"/>
              </a:rPr>
              <a:t>Спасибо за внимание — до встречи в части 5</a:t>
            </a:r>
            <a:endParaRPr lang="en-US" sz="1400" dirty="0"/>
          </a:p>
        </p:txBody>
      </p:sp>
      <p:sp>
        <p:nvSpPr>
          <p:cNvPr id="14" name="Text 12"/>
          <p:cNvSpPr txBox="1"/>
          <p:nvPr/>
        </p:nvSpPr>
        <p:spPr>
          <a:xfrm>
            <a:off x="548640" y="6263640"/>
            <a:ext cx="7315200" cy="320040"/>
          </a:xfrm>
          <a:prstGeom prst="rect">
            <a:avLst/>
          </a:prstGeom>
          <a:noFill/>
          <a:ln/>
        </p:spPr>
        <p:txBody>
          <a:bodyPr wrap="square" lIns="0" tIns="0" rIns="0" bIns="0" rtlCol="0" anchor="ctr"/>
          <a:lstStyle/>
          <a:p>
            <a:pPr indent="0" marL="0">
              <a:buNone/>
            </a:pPr>
            <a:r>
              <a:rPr lang="en-US" sz="1100" dirty="0">
                <a:solidFill>
                  <a:srgbClr val="5A7E93"/>
                </a:solidFill>
                <a:latin typeface="Calibri" pitchFamily="34" charset="0"/>
                <a:ea typeface="Calibri" pitchFamily="34" charset="-122"/>
                <a:cs typeface="Calibri" pitchFamily="34" charset="-120"/>
              </a:rPr>
              <a:t>Платформа «Камерата»  ·  обучающий цикл, часть 4 из 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2026-08-28T19:54:12Z</dcterms:created>
  <dcterms:modified xsi:type="dcterms:W3CDTF">2026-08-28T19:54:12Z</dcterms:modified>
</cp:coreProperties>
</file>