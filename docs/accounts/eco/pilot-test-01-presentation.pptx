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Вопросы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577"/>
              </a:solidFill>
              <a:ln w="25400" cap="flat">
                <a:solidFill>
                  <a:srgbClr val="F6FAF9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98A3E"/>
              </a:solidFill>
              <a:ln w="25400" cap="flat">
                <a:solidFill>
                  <a:srgbClr val="F6FAF9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1592B"/>
              </a:solidFill>
              <a:ln w="25400" cap="flat">
                <a:solidFill>
                  <a:srgbClr val="F6FAF9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Чёткий ответ</c:v>
                </c:pt>
                <c:pt idx="1">
                  <c:v>Частичный ответ</c:v>
                </c:pt>
                <c:pt idx="2">
                  <c:v>Нет ответа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</c:v>
                </c:pt>
                <c:pt idx="1">
                  <c:v>6</c:v>
                </c:pt>
                <c:pt idx="2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3242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7498080" cy="7498080"/>
          </a:xfrm>
          <a:prstGeom prst="ellipse">
            <a:avLst/>
          </a:prstGeom>
          <a:ln w="15875">
            <a:solidFill>
              <a:srgbClr val="2E6259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731520"/>
            <a:ext cx="3840480" cy="3840480"/>
          </a:xfrm>
          <a:prstGeom prst="ellipse">
            <a:avLst/>
          </a:prstGeom>
          <a:ln w="12700">
            <a:solidFill>
              <a:srgbClr val="8FB3AA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640080"/>
            <a:ext cx="1051560" cy="1051560"/>
          </a:xfrm>
          <a:prstGeom prst="ellipse">
            <a:avLst/>
          </a:prstGeom>
          <a:solidFill>
            <a:srgbClr val="2E625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2214" y="892454"/>
            <a:ext cx="546811" cy="54681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РАЗБОР ПИЛОТА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8745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Пилотный тест СМК-ассистента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1E8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 результатов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685800" y="3977640"/>
            <a:ext cx="324612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8FB3AA">
                <a:alpha val="6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39776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АО «ЭКО РЕСУРС»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754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результатов пилотного тестирования ответов ассистента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регламентам СМК (ISO 22000 / ISO 9001)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11.09.2026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6309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вопросов  ·  7 подтверждённых ошибок  ·  2 корневые причины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123B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79" y="630479"/>
            <a:ext cx="311810" cy="3118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71016" y="438912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по 18 вопросам пилотного теста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271016" y="896112"/>
            <a:ext cx="10417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каждого ответа Камераты против первоисточников заказчика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600200"/>
          <a:ext cx="5212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989320" y="1508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C15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6600" dirty="0"/>
          </a:p>
        </p:txBody>
      </p:sp>
      <p:sp>
        <p:nvSpPr>
          <p:cNvPr id="8" name="Text 4"/>
          <p:cNvSpPr txBox="1"/>
          <p:nvPr/>
        </p:nvSpPr>
        <p:spPr>
          <a:xfrm>
            <a:off x="5989320" y="248716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ответов (11 из 18) — с пробелом: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частичный ответ или ответа нет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989320" y="3483864"/>
            <a:ext cx="146304" cy="146304"/>
          </a:xfrm>
          <a:prstGeom prst="ellipse">
            <a:avLst/>
          </a:prstGeom>
          <a:solidFill>
            <a:srgbClr val="1E8577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263640" y="33558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Чёткий ответ  </a:t>
            </a:r>
            <a:pPr indent="0" marL="0">
              <a:buNone/>
            </a:pPr>
            <a:r>
              <a:rPr lang="en-US" sz="1350" b="1" dirty="0">
                <a:solidFill>
                  <a:srgbClr val="1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(39%)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36301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Вопросы: 1.1, 2.1, 3.1, 3.3, 5.3, 6.1, 6.3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989320" y="4142232"/>
            <a:ext cx="146304" cy="146304"/>
          </a:xfrm>
          <a:prstGeom prst="ellipse">
            <a:avLst/>
          </a:prstGeom>
          <a:solidFill>
            <a:srgbClr val="C98A3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263640" y="40142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Частичный ответ  </a:t>
            </a:r>
            <a:pPr indent="0" marL="0">
              <a:buNone/>
            </a:pPr>
            <a:r>
              <a:rPr lang="en-US" sz="1350" b="1" dirty="0">
                <a:solidFill>
                  <a:srgbClr val="C9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(33%)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6263640" y="42885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Вопросы: 1.3, 2.2, 3.2, 5.1, 5.2, 6.2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89320" y="4800600"/>
            <a:ext cx="146304" cy="146304"/>
          </a:xfrm>
          <a:prstGeom prst="ellipse">
            <a:avLst/>
          </a:prstGeom>
          <a:solidFill>
            <a:srgbClr val="C1592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263640" y="46725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чёткого ответа  </a:t>
            </a:r>
            <a:pPr indent="0" marL="0">
              <a:buNone/>
            </a:pPr>
            <a:r>
              <a:rPr lang="en-US" sz="1350" b="1" dirty="0">
                <a:solidFill>
                  <a:srgbClr val="C15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(28%)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6263640" y="49469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Вопросы: 1.2, 2.3, 4.1, 4.2, 4.3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989320" y="5623560"/>
            <a:ext cx="5623560" cy="777240"/>
          </a:xfrm>
          <a:prstGeom prst="roundRect">
            <a:avLst>
              <a:gd name="adj" fmla="val 9412"/>
            </a:avLst>
          </a:prstGeom>
          <a:solidFill>
            <a:srgbClr val="E8F0EE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172200" y="56235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11 пробелов: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— подтверждённые ошибки поиска (слайд 3),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проверены отдельно и закрыты (слайд 6).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C15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79" y="630479"/>
            <a:ext cx="311810" cy="3118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71016" y="438912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подтверждённых ошибок теста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271016" y="896112"/>
            <a:ext cx="10417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/ что не нашла Камерата, точная цитата-подтверждение, источник и его формат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308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331720"/>
                <a:gridCol w="5074920"/>
                <a:gridCol w="1691640"/>
                <a:gridCol w="1234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 (свёрнуто)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Дословная цитата-подтверждение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Кто управляет процессом экспериментальной партии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«Технолог лаборатории: — руководит производственным процессом на экспериментальной выработке»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И-16-01-11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F401D"/>
                          </a:solidFill>
                        </a:rPr>
                        <a:t>.doc</a:t>
                      </a:r>
                      <a:endParaRPr lang="en-US" sz="1050" dirty="0"/>
                    </a:p>
                  </a:txBody>
                  <a:tcPr marL="50800" marR="508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C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Действия мастера при пометке «Экспериментальная»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Блок «Мастер ПО»: порядок уведомления Руководителя лаборатории / Ведущего технолога / Технолога лаборатории и подготовки комплекта документации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И-16-01-11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F401D"/>
                          </a:solidFill>
                        </a:rPr>
                        <a:t>.doc</a:t>
                      </a:r>
                      <a:endParaRPr lang="en-US" sz="1050" dirty="0"/>
                    </a:p>
                  </a:txBody>
                  <a:tcPr marL="50800" marR="508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C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Корректировка заказа на производство при меньшем весе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«3.5.1. Делает корректировку к заказу на производство. Для этого нажимает на кнопку „Ввести на основании" и выбирает пункт „Корректировка заказа на производство"»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Д-08-04-01, п. 3.5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F401D"/>
                          </a:solidFill>
                        </a:rPr>
                        <a:t>.doc</a:t>
                      </a:r>
                      <a:endParaRPr lang="en-US" sz="1050" dirty="0"/>
                    </a:p>
                  </a:txBody>
                  <a:tcPr marL="50800" marR="508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C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Высота сброса тары 1,5–5,0 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Таблица 2: диапазон «1,5 — 5,0» (л) → высота сброса «0,8» (м)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Методика №38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F401D"/>
                          </a:solidFill>
                        </a:rPr>
                        <a:t>.doc</a:t>
                      </a:r>
                      <a:endParaRPr lang="en-US" sz="1050" dirty="0"/>
                    </a:p>
                  </a:txBody>
                  <a:tcPr marL="50800" marR="508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C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Смена характеристики товара при распечатанной заявке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E72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 не загружен — И-12-10-03 отсутствует в корпусе на момент разбора (попытка прислать через чат пока не проходит технически)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И-12-10-03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45450"/>
                          </a:solidFill>
                        </a:rPr>
                        <a:t>не загружен</a:t>
                      </a:r>
                      <a:endParaRPr lang="en-US" sz="1050" dirty="0"/>
                    </a:p>
                  </a:txBody>
                  <a:tcPr marL="50800" marR="508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Приоритет между несколькими заявками на ремонт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«приоритет отдается тем, которые способны оказать влияние на безопасность выпускаемой продукции»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ПР-10(02)-00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B37"/>
                          </a:solidFill>
                        </a:rPr>
                        <a:t>.docx</a:t>
                      </a:r>
                      <a:endParaRPr lang="en-US" sz="1050" dirty="0"/>
                    </a:p>
                  </a:txBody>
                  <a:tcPr marL="50800" marR="508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Добавление новой спецификации в 1С-8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«1С → „Справочники" → „Номенклатура" → „Номенклатура" → карточка номенклатуры → вкладка „Спецификации"»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3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И-08-05-08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F401D"/>
                          </a:solidFill>
                        </a:rPr>
                        <a:t>.doc</a:t>
                      </a:r>
                      <a:endParaRPr lang="en-US" sz="1050" dirty="0"/>
                    </a:p>
                  </a:txBody>
                  <a:tcPr marL="50800" marR="50800" marT="101600" marB="101600" anchor="ctr">
                    <a:lnL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C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C15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79" y="630479"/>
            <a:ext cx="311810" cy="3118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71016" y="438912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Корневая причина №1 — формат «.doc»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271016" y="896112"/>
            <a:ext cx="10417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из 6 идентифицированных источников — старый бинарный .doc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123B3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из 6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80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источников за 6 подтверждёнными ошибками — формат .doc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657600"/>
            <a:ext cx="2971800" cy="0"/>
          </a:xfrm>
          <a:prstGeom prst="line">
            <a:avLst/>
          </a:prstGeom>
          <a:noFill/>
          <a:ln w="12700">
            <a:solidFill>
              <a:srgbClr val="2E62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840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из 16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389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.doc-файлов корпуса не открылись ни в LibreOffice, ни в pandoc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257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Открыл все 16 — только catdoc -s cp1251 -d utf-8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89120" y="1554480"/>
            <a:ext cx="7299655" cy="1417320"/>
          </a:xfrm>
          <a:prstGeom prst="roundRect">
            <a:avLst>
              <a:gd name="adj" fmla="val 5161"/>
            </a:avLst>
          </a:prstGeom>
          <a:solidFill>
            <a:srgbClr val="E8F0E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63440" y="1700784"/>
            <a:ext cx="6751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Проверенный факт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2011680"/>
            <a:ext cx="67510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LibreOffice и pandoc не открыли ни один из 16 файлов .doc этого корпуса: «Error: source file could not be loaded» / «Unknown input format doc». Только catdoc с явным указанием кодировки справился со всеми 16.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89120" y="3127248"/>
            <a:ext cx="7299655" cy="1417320"/>
          </a:xfrm>
          <a:prstGeom prst="roundRect">
            <a:avLst>
              <a:gd name="adj" fmla="val 5161"/>
            </a:avLst>
          </a:prstGeom>
          <a:solidFill>
            <a:srgbClr val="F4DDC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663440" y="3273552"/>
            <a:ext cx="6751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3584448"/>
            <a:ext cx="67510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загрузчик документов платформы использует для .doc похожую LibreOffice-конвертацию (стандартная практика для RAG-платформ) — результат ожидаемо тот же: документ не проиндексировался вовсе или проиндексировался пустым / битым текстом.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389120" y="4700016"/>
            <a:ext cx="7299655" cy="1463040"/>
          </a:xfrm>
          <a:prstGeom prst="roundRect">
            <a:avLst>
              <a:gd name="adj" fmla="val 5000"/>
            </a:avLst>
          </a:prstGeom>
          <a:solidFill>
            <a:srgbClr val="E8F0E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663440" y="4846320"/>
            <a:ext cx="6751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проверить дальше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663440" y="5157216"/>
            <a:ext cx="67510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карточки коллекций eco / Fedoseeva на платформе и посмотреть число чанков у этих 5 .doc-источников. Ноль или подозрительно мало относительно объёма файла (например, у И-16-01-11 — 828 строк текста) — прямое подтверждение причины.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C98A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79" y="630479"/>
            <a:ext cx="311810" cy="3118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71016" y="438912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Корневая причина №2 — retrieval, не формат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271016" y="896112"/>
            <a:ext cx="10417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 5.2: документ читаемый, ответ на месте текстом — платформа всё равно не нашла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D9EEE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6276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.docx  ✓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214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файла ПР-10(02)-00 — прочитан без искажений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51960" y="155448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F4DDC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80560" y="16276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4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найдено  ✗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21214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поиска Камераты по вопросу 5.2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01000" y="1554480"/>
            <a:ext cx="3687775" cy="1051560"/>
          </a:xfrm>
          <a:prstGeom prst="roundRect">
            <a:avLst>
              <a:gd name="adj" fmla="val 7826"/>
            </a:avLst>
          </a:prstGeom>
          <a:solidFill>
            <a:srgbClr val="123B3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чистый провал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семантического поиска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2880360"/>
            <a:ext cx="11185855" cy="1325880"/>
          </a:xfrm>
          <a:prstGeom prst="roundRect">
            <a:avLst>
              <a:gd name="adj" fmla="val 6207"/>
            </a:avLst>
          </a:prstGeom>
          <a:solidFill>
            <a:srgbClr val="E8F0E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2960" y="3035808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13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«приоритет отдается тем, которые способны оказать влияние на безопасность выпускаемой продукции»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379476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ПР-10(02)-00 «Ремонтно-механическая служба» — приоритет заявок на срочный ремонт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4434840"/>
            <a:ext cx="5410048" cy="1691640"/>
          </a:xfrm>
          <a:prstGeom prst="roundRect">
            <a:avLst>
              <a:gd name="adj" fmla="val 4865"/>
            </a:avLst>
          </a:prstGeom>
          <a:solidFill>
            <a:srgbClr val="F4DDC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457200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Вероятная причина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892040"/>
            <a:ext cx="48614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сформулирован бытовым языком («какую делать первой», «несколько заявок на срочный ремонт»), а в документе — канцелярским («приоритет отдается тем, которые способны оказать влияние на безопасность»). Семантический поиск не сопоставил формулировки.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78728" y="4434840"/>
            <a:ext cx="5410048" cy="1691640"/>
          </a:xfrm>
          <a:prstGeom prst="roundRect">
            <a:avLst>
              <a:gd name="adj" fmla="val 4865"/>
            </a:avLst>
          </a:prstGeom>
          <a:solidFill>
            <a:srgbClr val="E8F0E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553048" y="457200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проверить дальше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6553048" y="4892040"/>
            <a:ext cx="48614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Отдельным тестом в чате под обычным пользователем задать тот же вопрос и посмотреть, какой именно фрагмент документа модель реально получает на входе — это retrieval-настройка, не переконвертация файлов.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1E857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79" y="630479"/>
            <a:ext cx="311810" cy="3118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71016" y="438912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ранее непроверенных пробела — закрыты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271016" y="896112"/>
            <a:ext cx="10417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Проверены по первоисточникам отдельно от файла «Ошибки Камераты»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5410048" cy="2240280"/>
          </a:xfrm>
          <a:prstGeom prst="roundRect">
            <a:avLst>
              <a:gd name="adj" fmla="val 3673"/>
            </a:avLst>
          </a:prstGeom>
          <a:solidFill>
            <a:srgbClr val="E8F0EE"/>
          </a:solidFill>
          <a:ln/>
        </p:spPr>
      </p:sp>
      <p:sp>
        <p:nvSpPr>
          <p:cNvPr id="7" name="Shape 4"/>
          <p:cNvSpPr/>
          <p:nvPr/>
        </p:nvSpPr>
        <p:spPr>
          <a:xfrm>
            <a:off x="758952" y="1792224"/>
            <a:ext cx="420624" cy="420624"/>
          </a:xfrm>
          <a:prstGeom prst="ellipse">
            <a:avLst/>
          </a:prstGeom>
          <a:solidFill>
            <a:srgbClr val="1E857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92" y="1886864"/>
            <a:ext cx="231343" cy="231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907128" y="175564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23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58952" y="2322576"/>
            <a:ext cx="489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Марка стретч-плёнки для паллет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58952" y="2706624"/>
            <a:ext cx="4897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И-08-02-10 даёт регламент обмотки (число оборотов по типам тары), но марка/бренд плёнки в тексте не упоминается — детали физически нет в корпусе.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58952" y="3429000"/>
            <a:ext cx="489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Камераты верный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78728" y="1554480"/>
            <a:ext cx="5410048" cy="2240280"/>
          </a:xfrm>
          <a:prstGeom prst="roundRect">
            <a:avLst>
              <a:gd name="adj" fmla="val 3673"/>
            </a:avLst>
          </a:prstGeom>
          <a:solidFill>
            <a:srgbClr val="E8F0EE"/>
          </a:solidFill>
          <a:ln/>
        </p:spPr>
      </p:sp>
      <p:sp>
        <p:nvSpPr>
          <p:cNvPr id="14" name="Shape 10"/>
          <p:cNvSpPr/>
          <p:nvPr/>
        </p:nvSpPr>
        <p:spPr>
          <a:xfrm>
            <a:off x="6534760" y="1792224"/>
            <a:ext cx="420624" cy="420624"/>
          </a:xfrm>
          <a:prstGeom prst="ellipse">
            <a:avLst/>
          </a:prstGeom>
          <a:solidFill>
            <a:srgbClr val="1E857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886864"/>
            <a:ext cx="231343" cy="23134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682935" y="175564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23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534760" y="2322576"/>
            <a:ext cx="489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 Формы 17-08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534760" y="2706624"/>
            <a:ext cx="4897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Д-08-04-13 верно называет документ («Форма 17-08 — Чек-лист проверки ППУ»), но сама форма как бланк с полями в корпус не загружена — есть только ссылка.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534760" y="3429000"/>
            <a:ext cx="489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Камераты верный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2920" y="4050792"/>
            <a:ext cx="5410048" cy="2240280"/>
          </a:xfrm>
          <a:prstGeom prst="roundRect">
            <a:avLst>
              <a:gd name="adj" fmla="val 3673"/>
            </a:avLst>
          </a:prstGeom>
          <a:solidFill>
            <a:srgbClr val="F4DDCF"/>
          </a:solidFill>
          <a:ln/>
        </p:spPr>
      </p:sp>
      <p:sp>
        <p:nvSpPr>
          <p:cNvPr id="21" name="Shape 16"/>
          <p:cNvSpPr/>
          <p:nvPr/>
        </p:nvSpPr>
        <p:spPr>
          <a:xfrm>
            <a:off x="758952" y="4288536"/>
            <a:ext cx="420624" cy="420624"/>
          </a:xfrm>
          <a:prstGeom prst="ellipse">
            <a:avLst/>
          </a:prstGeom>
          <a:solidFill>
            <a:srgbClr val="C1592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592" y="4383176"/>
            <a:ext cx="231343" cy="23134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907128" y="42519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F4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758952" y="4818888"/>
            <a:ext cx="489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Периодичность оценки подрядчиков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758952" y="5202936"/>
            <a:ext cx="4897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Слово «подрядчиками» встречается в И-08-01-11, но только про доступ в чистую зону — не про оценку квалификации. Нужный документ, похоже, не загружен.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758952" y="5925312"/>
            <a:ext cx="489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Остаётся открытым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278728" y="4050792"/>
            <a:ext cx="5410048" cy="2240280"/>
          </a:xfrm>
          <a:prstGeom prst="roundRect">
            <a:avLst>
              <a:gd name="adj" fmla="val 3673"/>
            </a:avLst>
          </a:prstGeom>
          <a:solidFill>
            <a:srgbClr val="F4DDCF"/>
          </a:solidFill>
          <a:ln/>
        </p:spPr>
      </p:sp>
      <p:sp>
        <p:nvSpPr>
          <p:cNvPr id="28" name="Shape 22"/>
          <p:cNvSpPr/>
          <p:nvPr/>
        </p:nvSpPr>
        <p:spPr>
          <a:xfrm>
            <a:off x="6534760" y="4288536"/>
            <a:ext cx="420624" cy="420624"/>
          </a:xfrm>
          <a:prstGeom prst="ellipse">
            <a:avLst/>
          </a:prstGeom>
          <a:solidFill>
            <a:srgbClr val="C1592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383176"/>
            <a:ext cx="231343" cy="23134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682935" y="42519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F4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</a:t>
            </a:r>
            <a:endParaRPr lang="en-US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6534760" y="4818888"/>
            <a:ext cx="489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 «Проверка ОКК»</a:t>
            </a:r>
            <a:endParaRPr lang="en-US" sz="1450" dirty="0"/>
          </a:p>
        </p:txBody>
      </p:sp>
      <p:sp>
        <p:nvSpPr>
          <p:cNvPr id="32" name="Text 25"/>
          <p:cNvSpPr txBox="1"/>
          <p:nvPr/>
        </p:nvSpPr>
        <p:spPr>
          <a:xfrm>
            <a:off x="6534760" y="5202936"/>
            <a:ext cx="4897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Фраза «Проверка ОКК» не встретилась ни в одном файле корпуса — документ либо не загружен, либо использует другую терминологию.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6534760" y="5925312"/>
            <a:ext cx="489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Остаётся открытым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123B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79" y="630479"/>
            <a:ext cx="311810" cy="3118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71016" y="438912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Статус корпуса документов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271016" y="896112"/>
            <a:ext cx="10417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Исходная папка заказчика — что прочитано, чего не хватает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123B3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965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27</a:t>
            </a:r>
            <a:endParaRPr lang="en-US" sz="5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файлов исходной папки заказчика загружены и прочитаны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" y="3840480"/>
            <a:ext cx="3200400" cy="0"/>
          </a:xfrm>
          <a:prstGeom prst="line">
            <a:avLst/>
          </a:prstGeom>
          <a:noFill/>
          <a:ln w="12700">
            <a:solidFill>
              <a:srgbClr val="2E62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4023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5902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распознаны: 6 .docx напрямую + 18 .doc через catdoc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17720" y="1600200"/>
            <a:ext cx="7071055" cy="4572000"/>
          </a:xfrm>
          <a:prstGeom prst="roundRect">
            <a:avLst>
              <a:gd name="adj" fmla="val 2000"/>
            </a:avLst>
          </a:prstGeom>
          <a:solidFill>
            <a:srgbClr val="F4DDC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874520"/>
            <a:ext cx="502920" cy="502920"/>
          </a:xfrm>
          <a:prstGeom prst="ellipse">
            <a:avLst/>
          </a:prstGeom>
          <a:solidFill>
            <a:srgbClr val="C1592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197" y="1987677"/>
            <a:ext cx="276606" cy="27660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77840" y="1938528"/>
            <a:ext cx="5882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F40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хватает 3 документа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4892040" y="2697480"/>
            <a:ext cx="6522415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74920" y="2788920"/>
            <a:ext cx="6156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И-12-10-03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074920" y="3118104"/>
            <a:ext cx="6156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для вопроса 3.2 (смена характеристики товара)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4892040" y="3630168"/>
            <a:ext cx="6522415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074920" y="3721608"/>
            <a:ext cx="6156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И-12-12-06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074920" y="4050792"/>
            <a:ext cx="6156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идентифицирован по вопросам теста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4892040" y="4562856"/>
            <a:ext cx="6522415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5074920" y="4654296"/>
            <a:ext cx="6156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ПР-08-00-14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5074920" y="4983480"/>
            <a:ext cx="6156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идентифицирован по вопросам теста</a:t>
            </a:r>
            <a:endParaRPr lang="en-US" sz="1080" dirty="0"/>
          </a:p>
        </p:txBody>
      </p:sp>
      <p:sp>
        <p:nvSpPr>
          <p:cNvPr id="25" name="Text 21"/>
          <p:cNvSpPr txBox="1"/>
          <p:nvPr/>
        </p:nvSpPr>
        <p:spPr>
          <a:xfrm>
            <a:off x="4892040" y="5541264"/>
            <a:ext cx="6522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F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техническая проблема с прикреплением файлов в чате — уточняется.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123B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79" y="630479"/>
            <a:ext cx="311810" cy="3118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71016" y="438912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Рекомендации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271016" y="896112"/>
            <a:ext cx="10417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конкретных действий, по приоритету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11185855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704088" y="1760220"/>
            <a:ext cx="438912" cy="438912"/>
          </a:xfrm>
          <a:prstGeom prst="ellipse">
            <a:avLst/>
          </a:prstGeom>
          <a:solidFill>
            <a:srgbClr val="123B3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04088" y="17602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673352"/>
            <a:ext cx="4206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число чанков у 5 .doc-источников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715000" y="1673352"/>
            <a:ext cx="569945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карточках коллекций eco / Fedoseeva — самый быстрый способ подтвердить причину №1 без догадок.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2487168"/>
            <a:ext cx="11185855" cy="758952"/>
          </a:xfrm>
          <a:prstGeom prst="roundRect">
            <a:avLst>
              <a:gd name="adj" fmla="val 9639"/>
            </a:avLst>
          </a:prstGeom>
          <a:solidFill>
            <a:srgbClr val="E8F0EE"/>
          </a:solidFill>
          <a:ln/>
        </p:spPr>
      </p:sp>
      <p:sp>
        <p:nvSpPr>
          <p:cNvPr id="12" name="Shape 9"/>
          <p:cNvSpPr/>
          <p:nvPr/>
        </p:nvSpPr>
        <p:spPr>
          <a:xfrm>
            <a:off x="704088" y="2647188"/>
            <a:ext cx="438912" cy="438912"/>
          </a:xfrm>
          <a:prstGeom prst="ellipse">
            <a:avLst/>
          </a:prstGeom>
          <a:solidFill>
            <a:srgbClr val="123B3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04088" y="26471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2560320"/>
            <a:ext cx="4206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Пересохранить .doc-корпус СМК в .docx и перезалить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715000" y="2560320"/>
            <a:ext cx="569945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текущей выгрузке в source/ таких документов большинство — это системная мера, не точечная правка.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3374136"/>
            <a:ext cx="11185855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704088" y="3534156"/>
            <a:ext cx="438912" cy="438912"/>
          </a:xfrm>
          <a:prstGeom prst="ellipse">
            <a:avLst/>
          </a:prstGeom>
          <a:solidFill>
            <a:srgbClr val="123B3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04088" y="35341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447288"/>
            <a:ext cx="4206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 проверить retrieval на кейсе 5.2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447288"/>
            <a:ext cx="569945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откладывая на переконвертацию: тот же вопрос в чате под обычным пользователем, посмотреть, какой фрагмент модель реально получает.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02920" y="4261104"/>
            <a:ext cx="11185855" cy="758952"/>
          </a:xfrm>
          <a:prstGeom prst="roundRect">
            <a:avLst>
              <a:gd name="adj" fmla="val 9639"/>
            </a:avLst>
          </a:prstGeom>
          <a:solidFill>
            <a:srgbClr val="E8F0EE"/>
          </a:solidFill>
          <a:ln/>
        </p:spPr>
      </p:sp>
      <p:sp>
        <p:nvSpPr>
          <p:cNvPr id="22" name="Shape 19"/>
          <p:cNvSpPr/>
          <p:nvPr/>
        </p:nvSpPr>
        <p:spPr>
          <a:xfrm>
            <a:off x="704088" y="4421124"/>
            <a:ext cx="438912" cy="438912"/>
          </a:xfrm>
          <a:prstGeom prst="ellipse">
            <a:avLst/>
          </a:prstGeom>
          <a:solidFill>
            <a:srgbClr val="123B3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04088" y="44211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371600" y="4334256"/>
            <a:ext cx="4206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Донести 3 недостающих документа + материалы по 4.2 / 5.1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715000" y="4334256"/>
            <a:ext cx="569945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И-12-10-03, И-12-12-06, ПР-08-00-14, документ про оценку подрядчиков и про склад «Проверка ОКК».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02920" y="5148072"/>
            <a:ext cx="11185855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704088" y="5308092"/>
            <a:ext cx="438912" cy="438912"/>
          </a:xfrm>
          <a:prstGeom prst="ellipse">
            <a:avLst/>
          </a:prstGeom>
          <a:solidFill>
            <a:srgbClr val="123B3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04088" y="53080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371600" y="5221224"/>
            <a:ext cx="4206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4.1 и часть 4.3 не переделывать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715000" y="5221224"/>
            <a:ext cx="569945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ответила настолько точно, насколько позволяет загруженный корпус — это не брак поиска.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B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474720"/>
            <a:ext cx="6400800" cy="6400800"/>
          </a:xfrm>
          <a:prstGeom prst="ellipse">
            <a:avLst/>
          </a:prstGeom>
          <a:ln w="15875">
            <a:solidFill>
              <a:srgbClr val="2E6259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85800"/>
            <a:ext cx="640080" cy="640080"/>
          </a:xfrm>
          <a:prstGeom prst="ellipse">
            <a:avLst/>
          </a:prstGeom>
          <a:solidFill>
            <a:srgbClr val="2E62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938" y="829818"/>
            <a:ext cx="352044" cy="3520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7132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508760"/>
            <a:ext cx="111556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Большинство пробелов теста — 6 из 7 подтверждённых ошибок — объясняются двумя конкретными, решаемыми причинами: форматом файлов и настройкой retrieval, а не общей слабостью модели.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3434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Там, где данные физически доступны, платформа отвечает точно: 7 из 18 вопросов — без единого замечания.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349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15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из 7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989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ошибок — сведены к двум устранимым причинам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160520" y="5349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8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из 18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5989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вопросов — чёткий ответ без замечаний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АО «ЭКО РЕСУРС»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Пилотный тест СМК-ассистента — разбор результатов</dc:title>
  <dc:subject>PptxGenJS Presentation</dc:subject>
  <dc:creator>СМК-ассистент — внутренний разбор</dc:creator>
  <cp:lastModifiedBy>СМК-ассистент — внутренний разбор</cp:lastModifiedBy>
  <cp:revision>1</cp:revision>
  <dcterms:created xsi:type="dcterms:W3CDTF">2026-09-11T15:09:23Z</dcterms:created>
  <dcterms:modified xsi:type="dcterms:W3CDTF">2026-09-11T15:09:23Z</dcterms:modified>
</cp:coreProperties>
</file>