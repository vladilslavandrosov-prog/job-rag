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8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57255" y="502920"/>
            <a:ext cx="658368" cy="658368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3" name="Image 0" descr="/tmp/claude-0/-home-user-job-RAG/ef3eafce-311b-5f93-abd3-f923a7360240/scratchpad/pptx_build/icons/ac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49427" y="595092"/>
            <a:ext cx="474025" cy="47402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160020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B9DE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ВНУТРЕННЕЕ ПРОДУКТОВОЕ ПРЕДЛОЖЕНИЕ · ПЛАТФОРМА «КАМЕРАТА»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9659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Автоматическая проверка здоровья ингестии документов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977640"/>
            <a:ext cx="8778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C7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Продуктовое предложение, выросшее из разбора пилота АО «Эко Ресурс»: 5 из 7 подтверждённых ошибок ассистента — один и тот же силентный сбой парсинга документов, обнаруженный только ручной проверкой консультанта. Рамка для обсуждения с командой платформы — не спецификация для разработки.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5349240"/>
            <a:ext cx="332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из 7</a:t>
            </a:r>
            <a:endParaRPr lang="en-US" sz="27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5833872"/>
            <a:ext cx="332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CA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подтверждённых ошибок пилота — один паттерн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145280" y="5349240"/>
            <a:ext cx="332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700" dirty="0"/>
          </a:p>
        </p:txBody>
      </p:sp>
      <p:sp>
        <p:nvSpPr>
          <p:cNvPr id="10" name="Text 7"/>
          <p:cNvSpPr txBox="1"/>
          <p:nvPr/>
        </p:nvSpPr>
        <p:spPr>
          <a:xfrm>
            <a:off x="4145280" y="5833872"/>
            <a:ext cx="332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CA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документа-источника, независимо проверенных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787640" y="5349240"/>
            <a:ext cx="332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700" dirty="0"/>
          </a:p>
        </p:txBody>
      </p:sp>
      <p:sp>
        <p:nvSpPr>
          <p:cNvPr id="12" name="Text 9"/>
          <p:cNvSpPr txBox="1"/>
          <p:nvPr/>
        </p:nvSpPr>
        <p:spPr>
          <a:xfrm>
            <a:off x="7787640" y="5833872"/>
            <a:ext cx="332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CA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слоя алгоритма проверки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A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11.09.2026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ИДЕЯ В ОДНОМ АБЗАЦЕ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111858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Один силентный сбой парсинга объяснил почти всё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520440" cy="4343400"/>
          </a:xfrm>
          <a:prstGeom prst="roundRect">
            <a:avLst>
              <a:gd name="adj" fmla="val 2338"/>
            </a:avLst>
          </a:prstGeom>
          <a:solidFill>
            <a:srgbClr val="0E7C86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783080"/>
            <a:ext cx="548640" cy="548640"/>
          </a:xfrm>
          <a:prstGeom prst="ellipse">
            <a:avLst/>
          </a:prstGeom>
          <a:solidFill>
            <a:srgbClr val="0B5E66"/>
          </a:solidFill>
          <a:ln/>
        </p:spPr>
      </p:sp>
      <p:pic>
        <p:nvPicPr>
          <p:cNvPr id="6" name="Image 0" descr="/tmp/claude-0/-home-user-job-RAG/ef3eafce-311b-5f93-abd3-f923a7360240/scratchpad/pptx_build/icons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9770" y="185989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56032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из 7</a:t>
            </a:r>
            <a:endParaRPr lang="en-US" sz="5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56616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8F1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подтверждённых ошибок пилота свелись к одному и тому же паттерну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77240" y="4617720"/>
            <a:ext cx="2971800" cy="0"/>
          </a:xfrm>
          <a:prstGeom prst="line">
            <a:avLst/>
          </a:prstGeom>
          <a:noFill/>
          <a:ln w="12700">
            <a:solidFill>
              <a:srgbClr val="0B5E6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47548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CFE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Найдено вручную: 25 файлов, 3 инструмента конвертации, сверка с ответами платформы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4480560" y="1417320"/>
            <a:ext cx="72082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Старый </a:t>
            </a:r>
            <a:pPr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.doc</a:t>
            </a:r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не распарсился — и это нигде не было видно: ни в интерфейсе, ни в логах, которые видел бы обычный пользователь. Единственный способ, которым это вообще обнаружилось, — ручной пилотный тест силами консультанта: открыть 25 файлов тремя разными инструментами и сравнить результат с ответами платформы.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480560" y="3749040"/>
            <a:ext cx="7208215" cy="2011680"/>
          </a:xfrm>
          <a:prstGeom prst="roundRect">
            <a:avLst>
              <a:gd name="adj" fmla="val 3636"/>
            </a:avLst>
          </a:prstGeom>
          <a:solidFill>
            <a:srgbClr val="FBEFDC"/>
          </a:solidFill>
          <a:ln w="12700">
            <a:solidFill>
              <a:srgbClr val="EAD3A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00600" y="3977640"/>
            <a:ext cx="6568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8F5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ПРЕДЛОЖЕНИЕ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800600" y="4297680"/>
            <a:ext cx="65681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Автоматизировать ровно этот ручной шаг: после загрузки документа алгоритмически сверять, что число полученных фрагментов и объём извлечённого текста правдоподобны относительно размера и типа файла, — и явно показывать администратору, если нет.</a:t>
            </a:r>
            <a:endParaRPr lang="en-US" sz="1550" dirty="0"/>
          </a:p>
        </p:txBody>
      </p:sp>
      <p:sp>
        <p:nvSpPr>
          <p:cNvPr id="15" name="Text 12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§1 — ЧТО ИМЕННО ЭТО ПОЙМАЛО БЫ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111858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документа, один и тот же паттерн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52144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Файл содержит извлекаемый текст — платформа получила почти нулевое число фрагментов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85855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051560"/>
                <a:gridCol w="1097280"/>
                <a:gridCol w="2651760"/>
                <a:gridCol w="46634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Документ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Размер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Текст, извлечённый catdoc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увидела бы проверка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И-16-01-11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1.2, 1.3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156 КБ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828 строк / ~31,7 тыс. знаков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5E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Файл заведомо не пустой — почти нулевой результат чанкинга статистически аномален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Д-08-04-01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F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F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 МБ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F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 строк / ~13,5 тыс. знаков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F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5E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Тот же паттерн, даже с поправкой на встроенные объекты в файле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FF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Методика №38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 КБ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 строк / ~11,6 тыс. знаков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5E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Самый маленький из четырёх, но всё равно явно не пустой текст+таблица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И-08-05-08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F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F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 КБ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F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697 строк / ~20,2 тыс. знаков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F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5E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Существенный объём текста — нулевой/почти нулевой результат необъясним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FF0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4892040"/>
            <a:ext cx="11185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Реальных цифр чанкинга от самой платформы у нас нет — это впервые увидим на шаге 0 плана внедрения. Таблица — независимое подтверждение, что у файлов физически есть что индексировать; предмет проверки — расхождение между «файл содержит текст» и «платформа получила почти ничего», не догадка о «правильном» числе чанков.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02920" y="5669280"/>
            <a:ext cx="11185855" cy="685800"/>
          </a:xfrm>
          <a:prstGeom prst="roundRect">
            <a:avLst>
              <a:gd name="adj" fmla="val 9333"/>
            </a:avLst>
          </a:prstGeom>
          <a:solidFill>
            <a:srgbClr val="0E7C8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7240" y="566928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Итог: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из 7 подтверждённых ошибок (вопросы 1.2, 1.3, 2.2, 2.3, 6.2) были бы автоматически флагнуты — до того, как об этом узнал клиент на демонстрации, без единого часа ручного разбора.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§1 — КОНТРОЛЬНЫЙ СЛУЧАЙ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111858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всё, что не находится, — проблема загрузки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52144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5.2 показывает границу применимости проверки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3246120" cy="2286000"/>
          </a:xfrm>
          <a:prstGeom prst="roundRect">
            <a:avLst>
              <a:gd name="adj" fmla="val 3200"/>
            </a:avLst>
          </a:prstGeom>
          <a:solidFill>
            <a:srgbClr val="DFEFF0"/>
          </a:solidFill>
          <a:ln w="12700">
            <a:solidFill>
              <a:srgbClr val="B9DEE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9280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B5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 ФАЙЛА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9456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.docx  ✓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880360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Читаемый .docx — почти наверняка распарсился и зачанковался нормально. Аномалии в объёме тут ожидать неоткуда.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069080" y="1691640"/>
            <a:ext cx="3246120" cy="2286000"/>
          </a:xfrm>
          <a:prstGeom prst="roundRect">
            <a:avLst>
              <a:gd name="adj" fmla="val 3200"/>
            </a:avLst>
          </a:prstGeom>
          <a:solidFill>
            <a:srgbClr val="FBEFDC"/>
          </a:solidFill>
          <a:ln w="12700">
            <a:solidFill>
              <a:srgbClr val="EAD3A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297680" y="189280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F5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ПОИСКА КАМЕРАТЫ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297680" y="219456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8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найдено  ✗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2862072"/>
            <a:ext cx="27889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«приоритет отдается тем, которые способны оказать влияние на безопасность выпускаемой продукции» — в тексте прямым текстом, ассистент не нашёл.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635240" y="1691640"/>
            <a:ext cx="4053535" cy="2286000"/>
          </a:xfrm>
          <a:prstGeom prst="roundRect">
            <a:avLst>
              <a:gd name="adj" fmla="val 3200"/>
            </a:avLst>
          </a:prstGeom>
          <a:solidFill>
            <a:srgbClr val="12283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0" y="1892808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9DE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863840" y="2194560"/>
            <a:ext cx="35963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Провал семантического поиска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863840" y="2926080"/>
            <a:ext cx="3596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7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Бытовая формулировка вопроса против канцелярской формулировки документа — не ингестия.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4297680"/>
            <a:ext cx="11185855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8952" y="4553712"/>
            <a:ext cx="502920" cy="502920"/>
          </a:xfrm>
          <a:prstGeom prst="ellipse">
            <a:avLst/>
          </a:prstGeom>
          <a:solidFill>
            <a:srgbClr val="C98A2E"/>
          </a:solidFill>
          <a:ln/>
        </p:spPr>
      </p:sp>
      <p:pic>
        <p:nvPicPr>
          <p:cNvPr id="19" name="Image 0" descr="/tmp/claude-0/-home-user-job-RAG/ef3eafce-311b-5f93-abd3-f923a7360240/scratchpad/pptx_build/icons/al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9361" y="4624121"/>
            <a:ext cx="362102" cy="362102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417320" y="4389120"/>
            <a:ext cx="99971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пометит этот документ как полностью здоровый — и будет права по своим критериям.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загрузкой всё в порядке; проблема — на другом слое пайплайна (калибровка политики поиска), не в ингестии. Это осознанная граница применимости, а не пробел в алгоритме.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§2 — АЛГОРИТМ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111858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Три независимых слоя проверки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52144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Вердикт — от первого сработавшего правила: «жёстче — раньше»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11185855" cy="731520"/>
          </a:xfrm>
          <a:prstGeom prst="roundRect">
            <a:avLst>
              <a:gd name="adj" fmla="val 8750"/>
            </a:avLst>
          </a:prstGeom>
          <a:solidFill>
            <a:srgbClr val="F6F8F9"/>
          </a:solidFill>
          <a:ln w="12700">
            <a:solidFill>
              <a:srgbClr val="E1E6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58952" y="1856232"/>
            <a:ext cx="438912" cy="43891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58952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819656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Абсолютный пол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1801368"/>
            <a:ext cx="67510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chunk_count &lt; 2 или extracted_chars &lt; 200 → FAIL независимо от статистики коллекции. Защитная сетка для маленьких/неровных коллекций (как у «Эко Ресурс» — 3–5 документов на тип), где percentile-статистика нестабильна.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542032"/>
            <a:ext cx="11185855" cy="1600200"/>
          </a:xfrm>
          <a:prstGeom prst="roundRect">
            <a:avLst>
              <a:gd name="adj" fmla="val 4000"/>
            </a:avLst>
          </a:prstGeom>
          <a:solidFill>
            <a:srgbClr val="F6F8F9"/>
          </a:solidFill>
          <a:ln w="12700">
            <a:solidFill>
              <a:srgbClr val="E1E6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58952" y="2706624"/>
            <a:ext cx="438912" cy="43891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58952" y="2697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670048"/>
            <a:ext cx="320040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Статистический выброс относительно своей группы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2651760"/>
            <a:ext cx="6751015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= извлечённые_символы / размер_файла (распарсился ли бинарник — стабильно внутри original_format) и R2 = число_чанков / извлечённые_символы (гранулярность — сравнивается внутри бакета «коллекция + тип документа»). Бакет &lt; 8 документов → укрупняется до домена, затем платформы. Выброс — робастно (медиана + MAD, порог Iglewicz–Hoaglin): сильный → FAIL, слабый → WARN, малый бакет → low_confidence.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2920" y="4261104"/>
            <a:ext cx="11185855" cy="868680"/>
          </a:xfrm>
          <a:prstGeom prst="roundRect">
            <a:avLst>
              <a:gd name="adj" fmla="val 7368"/>
            </a:avLst>
          </a:prstGeom>
          <a:solidFill>
            <a:srgbClr val="F6F8F9"/>
          </a:solidFill>
          <a:ln w="12700">
            <a:solidFill>
              <a:srgbClr val="E1E6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58952" y="4425696"/>
            <a:ext cx="438912" cy="43891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8952" y="44165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389120"/>
            <a:ext cx="32004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Эвристика «битого» текста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4370832"/>
            <a:ext cx="6751015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replacement/контрольных символов, узость алфавита, доля токенов, похожих на настоящие слова. Не гипотетический риск: в этом же проекте catdoc без -s cp1251 -d utf-8 молча транслитерировал кириллицу в правдоподобную латиницу — без единой ошибки.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5276088"/>
            <a:ext cx="11185855" cy="896112"/>
          </a:xfrm>
          <a:prstGeom prst="roundRect">
            <a:avLst>
              <a:gd name="adj" fmla="val 7143"/>
            </a:avLst>
          </a:prstGeom>
          <a:solidFill>
            <a:srgbClr val="FBEFDC"/>
          </a:solidFill>
          <a:ln w="12700">
            <a:solidFill>
              <a:srgbClr val="EAD3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04088" y="5495544"/>
            <a:ext cx="457200" cy="457200"/>
          </a:xfrm>
          <a:prstGeom prst="ellipse">
            <a:avLst/>
          </a:prstGeom>
          <a:solidFill>
            <a:srgbClr val="C98A2E"/>
          </a:solidFill>
          <a:ln/>
        </p:spPr>
      </p:sp>
      <p:pic>
        <p:nvPicPr>
          <p:cNvPr id="22" name="Image 0" descr="/tmp/claude-0/-home-user-job-RAG/ef3eafce-311b-5f93-abd3-f923a7360240/scratchpad/pptx_build/icons/al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559552"/>
            <a:ext cx="329184" cy="329184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325880" y="5367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F5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ЧЕГО ЭТО НЕ ЛОВИТ — ЧЕСТНО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325880" y="5641848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Смысловую неверность при формально здоровом результате (случай 5.2 пройдёт как OK) · отсутствующий документ — это не FAIL, а отсутствие данных · точечная порча кодировки/диакритики может проскочить порог словарной эвристики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 — ШИРЕ, ЧЕМ ОДИН КЛИЕНТ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111858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Карта режимов отказа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52144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.doc — один подтверждённый на практике случай, а не вся проблема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85855" cy="914400"/>
        </p:xfrm>
        <a:graphic>
          <a:graphicData uri="http://schemas.openxmlformats.org/drawingml/2006/table">
            <a:tbl>
              <a:tblPr/>
              <a:tblGrid>
                <a:gridCol w="6035040"/>
                <a:gridCol w="2606040"/>
                <a:gridCol w="25420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Режим отказа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Ловит эвристика §2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Нужен другой сигнал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.doc / .xls / .ppt — явный провал парсера (18/24 = 75% корпуса «Эко Ресурс», причина 5/7 ошибок пилота)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F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Да, целевой случай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F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F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Скан-PDF без текстового слоя — пробел, задокументированный вендором (RFI §3.3); в корпусе «Эко» — 0 из 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постфактум (0 чанков)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Флаг «нет текстового слоя» на этапе парсинга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Пароль/DRM-файлы — не задокументированы платформой ни в одну сторону, открытый вопрос к вендору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F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Да, в пределе (0 чанков)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F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Явное исключение парсера на этапе чтения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F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Кодировка в .txt/.csv — риск легаси-экспортов 1С/Excel в cp1251; мы сами попали в это в этом проекте (catdoc без флагов)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— текст валиден по форме, объём в норме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Проверка распределения символов/языка — самый опасный: уверенный неверный ответ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Тихое усечение при превышении лимита (вендор: лимит 50 МБ, поведение при превышении не документировано)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F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Ненадёжно — чанков может быть «достаточно» для урезанного файла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F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Сравнение размера с лимитом до парсинга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F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Повреждённый/оборванный файл (обрыв при пакетной загрузке папки)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Частично, зависит от степени повреждения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Валидация контейнера при загрузке — уже опробована в converted-for-upload/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Дубли документов между коллекциями (access-audit.md §4.3)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F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применимо — риск доступа, не качества индексации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F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Отдельный механизм, вне периметра проверки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FF0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 — ПРИОРИТЕТ РАЗРАБОТКИ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111858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Приоритет при ограниченном времени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52144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Частота × тихость отказа — не абстрактная серьёзность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3545738" cy="2880360"/>
          </a:xfrm>
          <a:prstGeom prst="roundRect">
            <a:avLst>
              <a:gd name="adj" fmla="val 2540"/>
            </a:avLst>
          </a:prstGeom>
          <a:solidFill>
            <a:srgbClr val="F6F8F9"/>
          </a:solidFill>
          <a:ln w="12700">
            <a:solidFill>
              <a:srgbClr val="E1E6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58952" y="1993392"/>
            <a:ext cx="502920" cy="50292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58952" y="1984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2697480"/>
            <a:ext cx="30336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.doc / .xls / .ppt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758952" y="3429000"/>
            <a:ext cx="303367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Единственный режим с измеренной частотой на реальном корпусе — 75%, 5 из 7 ошибок пилота — и дешевле всего ловится тем же алгоритмом (§2).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2978" y="1737360"/>
            <a:ext cx="3545738" cy="2880360"/>
          </a:xfrm>
          <a:prstGeom prst="roundRect">
            <a:avLst>
              <a:gd name="adj" fmla="val 2540"/>
            </a:avLst>
          </a:prstGeom>
          <a:solidFill>
            <a:srgbClr val="F6F8F9"/>
          </a:solidFill>
          <a:ln w="12700">
            <a:solidFill>
              <a:srgbClr val="E1E6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9010" y="1993392"/>
            <a:ext cx="502920" cy="50292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9010" y="1984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79010" y="2697480"/>
            <a:ext cx="30336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Повреждённый файл при пакетной загрузке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4579010" y="3429000"/>
            <a:ext cx="303367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подтверждён числом на этом корпусе, но структурно вероятен и растёт линейно с объёмом ингестии; способ уже опробован вручную в этом же проекте.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43037" y="1737360"/>
            <a:ext cx="3545738" cy="2880360"/>
          </a:xfrm>
          <a:prstGeom prst="roundRect">
            <a:avLst>
              <a:gd name="adj" fmla="val 2540"/>
            </a:avLst>
          </a:prstGeom>
          <a:solidFill>
            <a:srgbClr val="F6F8F9"/>
          </a:solidFill>
          <a:ln w="12700">
            <a:solidFill>
              <a:srgbClr val="E1E6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99069" y="1993392"/>
            <a:ext cx="502920" cy="502920"/>
          </a:xfrm>
          <a:prstGeom prst="ellipse">
            <a:avLst/>
          </a:prstGeom>
          <a:solidFill>
            <a:srgbClr val="C98A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99069" y="1984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399069" y="2697480"/>
            <a:ext cx="30336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Кодировка / транслитерация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8399069" y="3429000"/>
            <a:ext cx="303367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Реже по частоте (в «Эко» не встретилась ни разу), но единственный режим, дающий не пустой, а уверенно неверный ответ, — качественно опаснее остальных.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892040"/>
            <a:ext cx="11185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Скан-PDF и пароль/DRM сознательно не в топ-3: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первое — задокументированный вендором риск без наблюдённой частоты, второе — вообще не задокументировано ни в одну сторону. В бэклоге — не переусложняем первую итерацию под гипотетические случаи.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 — ИНТЕРФЕЙС ПЛАТФОРМЫ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111858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Где это живёт в реальном интерфейсе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52144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места поверх уже существующей навигации — без нового пункта меню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5455768" cy="2263140"/>
          </a:xfrm>
          <a:prstGeom prst="roundRect">
            <a:avLst>
              <a:gd name="adj" fmla="val 3232"/>
            </a:avLst>
          </a:prstGeom>
          <a:solidFill>
            <a:srgbClr val="F6F8F9"/>
          </a:solidFill>
          <a:ln w="12700">
            <a:solidFill>
              <a:srgbClr val="E1E6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892808"/>
            <a:ext cx="438912" cy="438912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7" name="Image 0" descr="/tmp/claude-0/-home-user-job-RAG/ef3eafce-311b-5f93-abd3-f923a7360240/scratchpad/pptx_build/icons/ac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968" y="1954256"/>
            <a:ext cx="316017" cy="31601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25880" y="1874520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Когда считается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441448"/>
            <a:ext cx="4998568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Синхронно (2.1–2.2) — сразу по завершении обработки документа, до статуса «готово». Асинхронно (2.3, эмбеддинг-детекция) — фоновым проходом по хэшу содержимого, по аналогии с «Граф код→таблица» (инкрементально, no-op без изменений).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33008" y="1691640"/>
            <a:ext cx="5455768" cy="2263140"/>
          </a:xfrm>
          <a:prstGeom prst="roundRect">
            <a:avLst>
              <a:gd name="adj" fmla="val 3232"/>
            </a:avLst>
          </a:prstGeom>
          <a:solidFill>
            <a:srgbClr val="F6F8F9"/>
          </a:solidFill>
          <a:ln w="12700">
            <a:solidFill>
              <a:srgbClr val="E1E6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61608" y="1892808"/>
            <a:ext cx="438912" cy="438912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12" name="Image 1" descr="/tmp/claude-0/-home-user-job-RAG/ef3eafce-311b-5f93-abd3-f923a7360240/scratchpad/pptx_build/icons/monit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3055" y="1954256"/>
            <a:ext cx="316017" cy="31601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055968" y="1874520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Где видно администратору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461608" y="2441448"/>
            <a:ext cx="4998568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Колонка «Здоровье» в «Источники → Документы» — та же цветовая семантика зелёный/жёлтый/красный, что «Граф доступа». Вкладка «Здоровье загрузки» на карточке коллекции — по аналогии с разведением «Граф доступа» на «Политики»/«Карта покрытия».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02920" y="4229100"/>
            <a:ext cx="5455768" cy="2263140"/>
          </a:xfrm>
          <a:prstGeom prst="roundRect">
            <a:avLst>
              <a:gd name="adj" fmla="val 3232"/>
            </a:avLst>
          </a:prstGeom>
          <a:solidFill>
            <a:srgbClr val="F6F8F9"/>
          </a:solidFill>
          <a:ln w="12700">
            <a:solidFill>
              <a:srgbClr val="E1E6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1520" y="4430268"/>
            <a:ext cx="438912" cy="438912"/>
          </a:xfrm>
          <a:prstGeom prst="ellipse">
            <a:avLst/>
          </a:prstGeom>
          <a:solidFill>
            <a:srgbClr val="C98A2E"/>
          </a:solidFill>
          <a:ln/>
        </p:spPr>
      </p:sp>
      <p:pic>
        <p:nvPicPr>
          <p:cNvPr id="17" name="Image 2" descr="/tmp/claude-0/-home-user-job-RAG/ef3eafce-311b-5f93-abd3-f923a7360240/scratchpad/pptx_build/icons/ale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968" y="4491716"/>
            <a:ext cx="316017" cy="31601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325880" y="4411980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Поведение при FAIL</a:t>
            </a:r>
            <a:endParaRPr lang="en-US" sz="1450" dirty="0"/>
          </a:p>
        </p:txBody>
      </p:sp>
      <p:sp>
        <p:nvSpPr>
          <p:cNvPr id="19" name="Text 14"/>
          <p:cNvSpPr txBox="1"/>
          <p:nvPr/>
        </p:nvSpPr>
        <p:spPr>
          <a:xfrm>
            <a:off x="731520" y="4978908"/>
            <a:ext cx="4998568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умолчанию не блокирует, а помечает: статус «готово» + видимый бейдж, уведомление владельцу документа и роли Data Steward, авто-исключение из активного индекса до разрешения. Порог настраивается на уровне коллекции — по логике порогов DLP (0.75/0.88).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233008" y="4229100"/>
            <a:ext cx="5455768" cy="2263140"/>
          </a:xfrm>
          <a:prstGeom prst="roundRect">
            <a:avLst>
              <a:gd name="adj" fmla="val 3232"/>
            </a:avLst>
          </a:prstGeom>
          <a:solidFill>
            <a:srgbClr val="F6F8F9"/>
          </a:solidFill>
          <a:ln w="12700">
            <a:solidFill>
              <a:srgbClr val="E1E6EA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461608" y="4430268"/>
            <a:ext cx="438912" cy="438912"/>
          </a:xfrm>
          <a:prstGeom prst="ellipse">
            <a:avLst/>
          </a:prstGeom>
          <a:solidFill>
            <a:srgbClr val="12283A"/>
          </a:solidFill>
          <a:ln/>
        </p:spPr>
      </p:sp>
      <p:pic>
        <p:nvPicPr>
          <p:cNvPr id="22" name="Image 3" descr="/tmp/claude-0/-home-user-job-RAG/ef3eafce-311b-5f93-abd3-f923a7360240/scratchpad/pptx_build/icons/databas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3055" y="4491716"/>
            <a:ext cx="316017" cy="316017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055968" y="4411980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Бэкфилл уже загруженного</a:t>
            </a:r>
            <a:endParaRPr lang="en-US" sz="1450" dirty="0"/>
          </a:p>
        </p:txBody>
      </p:sp>
      <p:sp>
        <p:nvSpPr>
          <p:cNvPr id="24" name="Text 18"/>
          <p:cNvSpPr txBox="1"/>
          <p:nvPr/>
        </p:nvSpPr>
        <p:spPr>
          <a:xfrm>
            <a:off x="6461608" y="4978908"/>
            <a:ext cx="4998568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Кнопка «Проверить здоровье загрузки» на карточке коллекции — прогоняет эвристику по уже существующим чанкам без повторной загрузки файлов (паттерн «Граф процедур»). Прогресс — на уже существующем экране «Очередь обработки».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§5 — ПЛАН ВНЕДРЕНИЯ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111858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Три фазы — от ретроактивной проверки до GA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545738" cy="4434840"/>
          </a:xfrm>
          <a:prstGeom prst="roundRect">
            <a:avLst>
              <a:gd name="adj" fmla="val 2063"/>
            </a:avLst>
          </a:prstGeom>
          <a:solidFill>
            <a:srgbClr val="12283A"/>
          </a:solidFill>
          <a:ln/>
        </p:spPr>
      </p:sp>
      <p:sp>
        <p:nvSpPr>
          <p:cNvPr id="5" name="Shape 3"/>
          <p:cNvSpPr/>
          <p:nvPr/>
        </p:nvSpPr>
        <p:spPr>
          <a:xfrm>
            <a:off x="758952" y="1627632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16184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664208"/>
            <a:ext cx="24484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CA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ФАЗА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2331720"/>
            <a:ext cx="30336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«Эко Ресурс» — уже готово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58952" y="3291840"/>
            <a:ext cx="303367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7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pilot-test-01-analysis.md §3 уже предписывает снять число чанков; converted-for-upload/ — 24 файла в .docx готовы к перезаливке. Шаг: снять числа → залить → перепроверить 1.2/1.3/2.2/2.3/6.2.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22978" y="1371600"/>
            <a:ext cx="3545738" cy="4434840"/>
          </a:xfrm>
          <a:prstGeom prst="roundRect">
            <a:avLst>
              <a:gd name="adj" fmla="val 2063"/>
            </a:avLst>
          </a:prstGeom>
          <a:solidFill>
            <a:srgbClr val="12283A"/>
          </a:solidFill>
          <a:ln/>
        </p:spPr>
      </p:sp>
      <p:sp>
        <p:nvSpPr>
          <p:cNvPr id="11" name="Shape 9"/>
          <p:cNvSpPr/>
          <p:nvPr/>
        </p:nvSpPr>
        <p:spPr>
          <a:xfrm>
            <a:off x="4579010" y="1627632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9010" y="16184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237378" y="1664208"/>
            <a:ext cx="24484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CA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ФАЗА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579010" y="2331720"/>
            <a:ext cx="30336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Пилот на 1–2 аккаунтах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9010" y="3291840"/>
            <a:ext cx="303367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7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всех аккаунтов в docs/accounts/ и docs/analysis/ живой, меняющийся корпус есть только у двух: «Эко Ресурс» (фаза 0) и АО «Инвестиционная компания Д8» (активное тестирование). mz-arsenal и dairy-holding — pre-technical лиды без загруженного корпуса, технически не готовы.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43037" y="1371600"/>
            <a:ext cx="3545738" cy="4434840"/>
          </a:xfrm>
          <a:prstGeom prst="roundRect">
            <a:avLst>
              <a:gd name="adj" fmla="val 2063"/>
            </a:avLst>
          </a:prstGeom>
          <a:solidFill>
            <a:srgbClr val="12283A"/>
          </a:solidFill>
          <a:ln/>
        </p:spPr>
      </p:sp>
      <p:sp>
        <p:nvSpPr>
          <p:cNvPr id="17" name="Shape 15"/>
          <p:cNvSpPr/>
          <p:nvPr/>
        </p:nvSpPr>
        <p:spPr>
          <a:xfrm>
            <a:off x="8399069" y="1627632"/>
            <a:ext cx="548640" cy="548640"/>
          </a:xfrm>
          <a:prstGeom prst="ellipse">
            <a:avLst/>
          </a:prstGeom>
          <a:solidFill>
            <a:srgbClr val="C98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99069" y="16184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9057437" y="1664208"/>
            <a:ext cx="24484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CA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ФАЗА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399069" y="2331720"/>
            <a:ext cx="30336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Общая доступность (GA)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399069" y="3291840"/>
            <a:ext cx="303367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7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умолчанию только предупреждение, не блокировка — точная реализация зависит от решений §4. Warn-by-default особенно важен из-за риска калибровки (см. риски): жёсткая блокировка на неоткалиброванной эвристике рискует заблокировать легитимные загрузки.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§6 — КОММЕРЧЕСКАЯ РАМКА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111858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Дифференциатор — вместе с честной оговоркой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11185855" cy="1965960"/>
          </a:xfrm>
          <a:prstGeom prst="roundRect">
            <a:avLst>
              <a:gd name="adj" fmla="val 3721"/>
            </a:avLst>
          </a:prstGeom>
          <a:solidFill>
            <a:srgbClr val="0E7C86"/>
          </a:solidFill>
          <a:ln/>
        </p:spPr>
      </p:sp>
      <p:sp>
        <p:nvSpPr>
          <p:cNvPr id="5" name="Shape 3"/>
          <p:cNvSpPr/>
          <p:nvPr/>
        </p:nvSpPr>
        <p:spPr>
          <a:xfrm>
            <a:off x="795528" y="1965960"/>
            <a:ext cx="502920" cy="502920"/>
          </a:xfrm>
          <a:prstGeom prst="ellipse">
            <a:avLst/>
          </a:prstGeom>
          <a:solidFill>
            <a:srgbClr val="0B5E66"/>
          </a:solidFill>
          <a:ln/>
        </p:spPr>
      </p:sp>
      <p:pic>
        <p:nvPicPr>
          <p:cNvPr id="6" name="Image 0" descr="/tmp/claude-0/-home-user-job-RAG/ef3eafce-311b-5f93-abd3-f923a7360240/scratchpad/pptx_build/icons/brief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937" y="2036369"/>
            <a:ext cx="362102" cy="3621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892808"/>
            <a:ext cx="9951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«Камерата ловит собственные ошибки загрузки раньше, чем это сделает ваш пилот»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606040"/>
            <a:ext cx="9951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F1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Защитимое заявление: есть реальный, задокументированный пример обратного сценария — клиентский пилот, который нашёл силентный провал парсинга на своей шкуре, уже увидев пробелы. Не специфика «Эко» — любая RAG-платформа, принимающая легаси-.doc-корпус без проверки результата парсинга, подвержена тому же риску.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3886200"/>
            <a:ext cx="11185855" cy="2331720"/>
          </a:xfrm>
          <a:prstGeom prst="roundRect">
            <a:avLst>
              <a:gd name="adj" fmla="val 3137"/>
            </a:avLst>
          </a:prstGeom>
          <a:solidFill>
            <a:srgbClr val="FBEFDC"/>
          </a:solidFill>
          <a:ln w="12700">
            <a:solidFill>
              <a:srgbClr val="EAD3A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95528" y="4142232"/>
            <a:ext cx="502920" cy="502920"/>
          </a:xfrm>
          <a:prstGeom prst="ellipse">
            <a:avLst/>
          </a:prstGeom>
          <a:solidFill>
            <a:srgbClr val="C98A2E"/>
          </a:solidFill>
          <a:ln/>
        </p:spPr>
      </p:sp>
      <p:pic>
        <p:nvPicPr>
          <p:cNvPr id="11" name="Image 1" descr="/tmp/claude-0/-home-user-job-RAG/ef3eafce-311b-5f93-abd3-f923a7360240/scratchpad/pptx_build/icons/ale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937" y="4212641"/>
            <a:ext cx="362102" cy="36210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63040" y="4087368"/>
            <a:ext cx="9951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8F5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ОГОВОРКА, КОТОРАЯ ОБЯЗАНА ОСТАТЬСЯ ПРИКРЕПЛЁННОЙ К ЭТОМУ ПИТЧУ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1463040" y="4416552"/>
            <a:ext cx="995141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Причина у «Эко» найдена ручным расследованием консультанта</a:t>
            </a:r>
            <a:pPr indent="0" marL="0">
              <a:lnSpc>
                <a:spcPct val="132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открытием 25 файлов тремя разными инструментами и сравнением результатов, а не платформой автоматически. Ценность фичи — превратить этот разовый ручной криминалистический процесс в автоматический и постоянный, чтобы следующий клиент с .doc-тяжёлым корпусом получил предупреждение при загрузке, а не при разборе пилота. </a:t>
            </a:r>
            <a:pPr indent="0" marL="0">
              <a:lnSpc>
                <a:spcPct val="132000"/>
              </a:lnSpc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стоит подавать как «Камерата уже это умеет» — пока нет; это предложение как раз о том, что сделало бы это правдой.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§7 — УСИЛИЯ, РИСКИ, ОТКРЫТЫЕ ВОПРОСЫ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111858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Самая честная неизвестность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5455768" cy="1554480"/>
          </a:xfrm>
          <a:prstGeom prst="roundRect">
            <a:avLst>
              <a:gd name="adj" fmla="val 4118"/>
            </a:avLst>
          </a:prstGeom>
          <a:solidFill>
            <a:srgbClr val="DFEFF0"/>
          </a:solidFill>
          <a:ln w="12700">
            <a:solidFill>
              <a:srgbClr val="B9DEE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764792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B5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ДЁШЕВО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039112"/>
            <a:ext cx="49985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Сама эвристика детекции (сравнение chunk_count/объёма текста с размером и типом файла) — небольшая, хорошо ограниченная логика, если пайплайн уже отдаёт оба числа на документ; фоновый воркер поверх уже существующего паттерна.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33008" y="1600200"/>
            <a:ext cx="5455768" cy="1554480"/>
          </a:xfrm>
          <a:prstGeom prst="roundRect">
            <a:avLst>
              <a:gd name="adj" fmla="val 4118"/>
            </a:avLst>
          </a:prstGeom>
          <a:solidFill>
            <a:srgbClr val="F6F8F9"/>
          </a:solidFill>
          <a:ln w="12700">
            <a:solidFill>
              <a:srgbClr val="E1E6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764792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СЛОЖНЕЕ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61608" y="2039112"/>
            <a:ext cx="49985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Любая поверхность интерфейса (бейдж, уведомление) — предмет отдельной проработки с командой платформы. Бэкфилл в масштабе — фаза 0 на 24 документах тривиальна, тот же проход по всем клиентам без сбоев и без консультанта — задача другого порядка.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337560"/>
            <a:ext cx="11185855" cy="2606040"/>
          </a:xfrm>
          <a:prstGeom prst="roundRect">
            <a:avLst>
              <a:gd name="adj" fmla="val 3158"/>
            </a:avLst>
          </a:prstGeom>
          <a:solidFill>
            <a:srgbClr val="C98A2E"/>
          </a:solidFill>
          <a:ln/>
        </p:spPr>
      </p:sp>
      <p:sp>
        <p:nvSpPr>
          <p:cNvPr id="11" name="Shape 9"/>
          <p:cNvSpPr/>
          <p:nvPr/>
        </p:nvSpPr>
        <p:spPr>
          <a:xfrm>
            <a:off x="822960" y="3630168"/>
            <a:ext cx="548640" cy="548640"/>
          </a:xfrm>
          <a:prstGeom prst="ellipse">
            <a:avLst/>
          </a:prstGeom>
          <a:solidFill>
            <a:srgbClr val="8F5C15"/>
          </a:solidFill>
          <a:ln/>
        </p:spPr>
      </p:sp>
      <p:pic>
        <p:nvPicPr>
          <p:cNvPr id="12" name="Image 0" descr="/tmp/claude-0/-home-user-job-RAG/ef3eafce-311b-5f93-abd3-f923a7360240/scratchpad/pptx_build/icons/hel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9770" y="3706978"/>
            <a:ext cx="395021" cy="395021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508760" y="3557016"/>
            <a:ext cx="9905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A34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САМАЯ ЧЕСТНАЯ НЕИЗВЕСТНОСТЬ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508760" y="3840480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Ни один источник этого предложения не видел реальный вывод чанкинга платформы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1508760" y="4526280"/>
            <a:ext cx="99056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3D2C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 для здорового документа, ни для сломанного. Каждое число в §1 — из независимого извлечения (catdoc, подсчёт строк/символов), рассуждение о том, что должно быть, а не наблюдение того, что есть. Мы вывели, что аномалия обязана быть видна, — но не наблюдали её напрямую. Реальный порог требует реального распределения чанков по многим здоровым документам разного размера и формата — этого пока ни у кого нет. Первый подшаг фазы 0 — первая возможность получить хотя бы одну реальную точку данных; до накопления данных с нескольких аккаунтов в фазе 1 порог стоит считать открытым, не финальным.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28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566928" cy="566928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3" name="Image 0" descr="/tmp/claude-0/-home-user-job-RAG/ef3eafce-311b-5f93-abd3-f923a7360240/scratchpad/pptx_build/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2290" y="582290"/>
            <a:ext cx="408188" cy="40818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5669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9DE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234440"/>
            <a:ext cx="111858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Находка пилота — баг в одном .doc-корпусе; предложение — превратить эту ручную проверку в автоматическую часть платформы до следующей демонстрации у клиента.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2606040"/>
            <a:ext cx="11185855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283464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8CA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СВЯЗАННЫЕ, НО ОТДЕЛЬНЫЕ МАТЕРИАЛЫ ПО ЭТОМУ АККАУНТУ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02920" y="3246120"/>
            <a:ext cx="5410048" cy="2651760"/>
          </a:xfrm>
          <a:prstGeom prst="roundRect">
            <a:avLst>
              <a:gd name="adj" fmla="val 2759"/>
            </a:avLst>
          </a:prstGeom>
          <a:solidFill>
            <a:srgbClr val="1C3550"/>
          </a:solidFill>
          <a:ln w="12700">
            <a:solidFill>
              <a:srgbClr val="2C4A6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3502152"/>
            <a:ext cx="438912" cy="43891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77240" y="3493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417320" y="3465576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Пилотный тест ответов СМК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160520"/>
            <a:ext cx="48614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C7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вопросов в 6 группах · 61% с пробелом · 7 подтверждённых ошибок поиска, из них 5 — с одной вероятной причиной: формат .doc не открывается инструментами конвертации.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77240" y="5458968"/>
            <a:ext cx="4861408" cy="0"/>
          </a:xfrm>
          <a:prstGeom prst="line">
            <a:avLst/>
          </a:prstGeom>
          <a:noFill/>
          <a:ln w="9525">
            <a:solidFill>
              <a:srgbClr val="2C4A6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5550408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CA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pilot-test-01-analysis.md · pilot-test-01-presentation.pptx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78728" y="3246120"/>
            <a:ext cx="5410048" cy="2651760"/>
          </a:xfrm>
          <a:prstGeom prst="roundRect">
            <a:avLst>
              <a:gd name="adj" fmla="val 2759"/>
            </a:avLst>
          </a:prstGeom>
          <a:solidFill>
            <a:srgbClr val="1C3550"/>
          </a:solidFill>
          <a:ln w="12700">
            <a:solidFill>
              <a:srgbClr val="2C4A6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53048" y="3502152"/>
            <a:ext cx="438912" cy="43891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53048" y="3493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193128" y="3465576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Настройка доступа — АО «Эко Ресурс»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553048" y="4160520"/>
            <a:ext cx="48614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C7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RAG-доступ через домен «Эко» настроен и работает. Персона и RLS для структурных данных не заведены вовсе — и неизвестно, нужны ли они этому пилоту в принципе.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553048" y="5458968"/>
            <a:ext cx="4861408" cy="0"/>
          </a:xfrm>
          <a:prstGeom prst="line">
            <a:avLst/>
          </a:prstGeom>
          <a:noFill/>
          <a:ln w="9525">
            <a:solidFill>
              <a:srgbClr val="2C4A6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53048" y="5550408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CA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access-setup-map.pptx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612648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A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Оба материала — самостоятельные разборы; содержание здесь не дублируется.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2026-09-11T16:28:05Z</dcterms:created>
  <dcterms:modified xsi:type="dcterms:W3CDTF">2026-09-11T16:28:05Z</dcterms:modified>
</cp:coreProperties>
</file>