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A4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2A4A"/>
                </a:solidFill>
                <a:latin typeface="Calibri"/>
              </a:rPr>
              <a:t>Стоимость сценария (иллюстративно, 1-й = 100)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 сценария</c:v>
                </c:pt>
              </c:strCache>
            </c:strRef>
          </c:tx>
          <c:spPr>
            <a:solidFill>
              <a:srgbClr val="E87A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1-й</c:v>
                  </c:pt>
                  <c:pt idx="1">
                    <c:v>2-й</c:v>
                  </c:pt>
                  <c:pt idx="2">
                    <c:v>3-й</c:v>
                  </c:pt>
                  <c:pt idx="3">
                    <c:v>4-й</c:v>
                  </c:pt>
                  <c:pt idx="4">
                    <c:v>5-й</c:v>
                  </c:pt>
                  <c:pt idx="5">
                    <c:v>6-й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72</c:v>
                </c:pt>
                <c:pt idx="2">
                  <c:v>55</c:v>
                </c:pt>
                <c:pt idx="3">
                  <c:v>43</c:v>
                </c:pt>
                <c:pt idx="4">
                  <c:v>36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F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5B6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5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B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960120" y="2331720"/>
            <a:ext cx="15545" cy="1828800"/>
          </a:xfrm>
          <a:prstGeom prst="rect">
            <a:avLst/>
          </a:prstGeom>
          <a:solidFill>
            <a:srgbClr val="354D6B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21945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КОРПОРАТИВНАЯ ИИ-ПЛАТФОРМА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43000" y="26060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корпоративный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ИИ-слой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143000" y="41605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i="1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ИИ стал частью операционной деятельности компании — управляемо, от идеи до продакшена.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4617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E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инфраструктура, на которой бизнес запускает ИИ-сценарии — быстро, безопасно и под контролем.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143000" y="5212080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МАТЕРИАЛ — ДЛЯ ВСТРЕЧ С КЛИЕНТОМ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ЗНАКОМО?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45775" y="530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приходит в компанию с разных сторон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17904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Обычно всё начинается не с большого проекта, а с разрозненных историй — и их становится всё больше.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Идей всё больше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557016"/>
            <a:ext cx="411480" cy="29261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703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«Сделайте нам ИИ»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2062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бизнеса копятся инициативы, которые «хочется сделать через ИИ». Список растёт, приоритетов нет.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297680" y="2423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4297680" y="3108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пробуют сами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297680" y="3557016"/>
            <a:ext cx="411480" cy="29261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0" y="3703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общих правил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0" y="42062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Отдельные команды начали использовать ИИ у себя в отделе — без общих правил, контроля и безопасности.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14800" y="2423160"/>
            <a:ext cx="12802" cy="283464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0" y="2423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A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400" dirty="0"/>
          </a:p>
        </p:txBody>
      </p:sp>
      <p:sp>
        <p:nvSpPr>
          <p:cNvPr id="19" name="Text 17"/>
          <p:cNvSpPr/>
          <p:nvPr/>
        </p:nvSpPr>
        <p:spPr>
          <a:xfrm>
            <a:off x="7955280" y="3108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 идёт в ИТ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955280" y="3557016"/>
            <a:ext cx="411480" cy="29261"/>
          </a:xfrm>
          <a:prstGeom prst="rect">
            <a:avLst/>
          </a:prstGeom>
          <a:solidFill>
            <a:srgbClr val="1A7A68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0" y="3703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1A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Запросов всё больше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55280" y="42062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 приходит к ИТ: «я слышал про ИИ — давайте внедрим и у нас». Запросов всё больше.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0" y="2423160"/>
            <a:ext cx="12802" cy="283464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623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это отдельные истории, ИИ не даёт эффекта в масштабе компании. Чтобы разрозненные инициативы превратились в управляемый поток с предсказуемым результатом — нужна единая платформа.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 ПРОИСХОДИТ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45775" y="530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общей основы идея не доходит до прода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17904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отсутствие платформы путь каждой ИИ-идеи — это серия никем не управляемых очередей. На каждой остановке возможны задержка, отказ или возврат на доработку.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320040" cy="23774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044952"/>
            <a:ext cx="335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«Продать» идею ИТ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67200" y="2423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4267200" y="2926080"/>
            <a:ext cx="320040" cy="23774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12" name="Text 10"/>
          <p:cNvSpPr/>
          <p:nvPr/>
        </p:nvSpPr>
        <p:spPr>
          <a:xfrm>
            <a:off x="4267200" y="3044952"/>
            <a:ext cx="335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 бюджет и ресурсы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30040" y="2423160"/>
            <a:ext cx="12802" cy="105156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4" name="Text 12"/>
          <p:cNvSpPr/>
          <p:nvPr/>
        </p:nvSpPr>
        <p:spPr>
          <a:xfrm>
            <a:off x="7894320" y="2423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7894320" y="2926080"/>
            <a:ext cx="320040" cy="23774"/>
          </a:xfrm>
          <a:prstGeom prst="rect">
            <a:avLst/>
          </a:prstGeom>
          <a:solidFill>
            <a:srgbClr val="1A7A68"/>
          </a:solidFill>
          <a:ln/>
        </p:spPr>
      </p:sp>
      <p:sp>
        <p:nvSpPr>
          <p:cNvPr id="16" name="Text 14"/>
          <p:cNvSpPr/>
          <p:nvPr/>
        </p:nvSpPr>
        <p:spPr>
          <a:xfrm>
            <a:off x="7894320" y="3044952"/>
            <a:ext cx="335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Согласовать с ИБ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57160" y="2423160"/>
            <a:ext cx="12802" cy="105156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947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20040" cy="23774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416552"/>
            <a:ext cx="335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Получить инфраструктуру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67200" y="37947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4267200" y="4297680"/>
            <a:ext cx="320040" cy="23774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23" name="Text 21"/>
          <p:cNvSpPr/>
          <p:nvPr/>
        </p:nvSpPr>
        <p:spPr>
          <a:xfrm>
            <a:off x="4267200" y="4416552"/>
            <a:ext cx="335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Найти, кто внедрит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130040" y="3794760"/>
            <a:ext cx="12802" cy="105156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25" name="Text 23"/>
          <p:cNvSpPr/>
          <p:nvPr/>
        </p:nvSpPr>
        <p:spPr>
          <a:xfrm>
            <a:off x="7894320" y="37947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7894320" y="4297680"/>
            <a:ext cx="320040" cy="23774"/>
          </a:xfrm>
          <a:prstGeom prst="rect">
            <a:avLst/>
          </a:prstGeom>
          <a:solidFill>
            <a:srgbClr val="1A7A68"/>
          </a:solidFill>
          <a:ln/>
        </p:spPr>
      </p:sp>
      <p:sp>
        <p:nvSpPr>
          <p:cNvPr id="27" name="Text 25"/>
          <p:cNvSpPr/>
          <p:nvPr/>
        </p:nvSpPr>
        <p:spPr>
          <a:xfrm>
            <a:off x="7894320" y="4416552"/>
            <a:ext cx="335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Найти, кто поддержит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757160" y="3794760"/>
            <a:ext cx="12802" cy="105156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29" name="Shape 27"/>
          <p:cNvSpPr/>
          <p:nvPr/>
        </p:nvSpPr>
        <p:spPr>
          <a:xfrm>
            <a:off x="640080" y="3630168"/>
            <a:ext cx="10607040" cy="10973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8521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непредсказуемы, точек принятия решений нет. Каждая инициатива проходит этот путь заново. Поэтому идеи тонут или ждут месяцами, а внедрённое не масштабируется.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АРХИТЕКТУРА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45775" y="530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ИИ-слой между данными и бизнес-сценариями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17904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ИИ-запросы компании проходят через один инженерный слой. Слева — корпоративные данные, в центре — слой, справа — реальные бизнес-сценарии.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Корпоративные данные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365760" cy="27432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620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· CRM · BPM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31272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Хранилища (DWH)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92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Документы, переписка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Структур. и неструктур.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29768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Корпоративный ИИ-слой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97680" y="2715768"/>
            <a:ext cx="365760" cy="27432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0" y="28620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Маршрутизация запросов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297680" y="31272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и оркестрация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297680" y="3392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контроль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114800" y="2331720"/>
            <a:ext cx="12802" cy="182880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9" name="Text 17"/>
          <p:cNvSpPr/>
          <p:nvPr/>
        </p:nvSpPr>
        <p:spPr>
          <a:xfrm>
            <a:off x="795528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Бизнес-сценарии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955280" y="2715768"/>
            <a:ext cx="365760" cy="27432"/>
          </a:xfrm>
          <a:prstGeom prst="rect">
            <a:avLst/>
          </a:prstGeom>
          <a:solidFill>
            <a:srgbClr val="1A7A68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0" y="28620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Ассистент руководителя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955280" y="31272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ИИ-агент бухгалтерии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55280" y="3392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HR-рекрутер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55280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Тендерный специалист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55280" y="3922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Поддержка клиентов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55280" y="41879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«на ест. языке»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0" y="2331720"/>
            <a:ext cx="12802" cy="182880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443484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и интерфейсы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840480" y="4434840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диалоги, ассистенты, агенты, отчёты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745736"/>
            <a:ext cx="10607040" cy="10973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480060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Платформенные сервисы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840480" y="4800600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маршрутизация моделей, поиск, оркестрация агентов, мониторинг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0080" y="5111496"/>
            <a:ext cx="10607040" cy="10973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51663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управление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840480" y="5166360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маскирование ПД, контроль доступа, аудит, governance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5477256"/>
            <a:ext cx="10607040" cy="10973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55321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 и эксплуатация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3840480" y="5532120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контура, сайзинг, масштабирование, SLA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ВХОДИТ В ПЛАТФОРМУ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45775" y="530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— это набор готовых компонентов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17904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обвязка уже построена и работает. Для нового сценария вы описываете его специфику — остальное платформа даёт сразу.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оркестратор (AI Gateway)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365760" cy="27432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88920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точка входа для всех ИИ-запросов компании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3072384"/>
            <a:ext cx="5074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модели под задачу: быстрая / мощная / локальная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529584"/>
            <a:ext cx="5074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Квоты и контроль расходов; смена модели без переписывания кода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72200" y="2286000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поиск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2651760"/>
            <a:ext cx="365760" cy="27432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2788920"/>
            <a:ext cx="5074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Семантический слой — единый язык понятий (выручка, клиент)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72200" y="3246120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Корпоративный поиск по документам (RAG)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72200" y="3529584"/>
            <a:ext cx="5074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источников и lineage до исходной записи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0" y="2286000"/>
            <a:ext cx="12802" cy="315468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023360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ролевая модель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4389120"/>
            <a:ext cx="365760" cy="27432"/>
          </a:xfrm>
          <a:prstGeom prst="rect">
            <a:avLst/>
          </a:prstGeom>
          <a:solidFill>
            <a:srgbClr val="1A7A68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526280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Маскирование персональных данных (AI Guard)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4809744"/>
            <a:ext cx="5074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Ролевая модель (RBAC) наследуется из систем-источников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5266944"/>
            <a:ext cx="5074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Фильтрация по правам — до модели; сквозной аудит, governance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172200" y="4023360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 и эксплуатация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4389120"/>
            <a:ext cx="365760" cy="27432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6172200" y="4526280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On-premise, облако или гибрид; Kubernetes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172200" y="4809744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 без переписывания сценариев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172200" y="5093208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 и встроенные бизнес-метрики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943600" y="2286000"/>
            <a:ext cx="12802" cy="315468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29" name="Shape 27"/>
          <p:cNvSpPr/>
          <p:nvPr/>
        </p:nvSpPr>
        <p:spPr>
          <a:xfrm>
            <a:off x="640080" y="3863340"/>
            <a:ext cx="10607040" cy="10973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6263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сценарий = ваша специфика + готовая обвязка. Поэтому запуск занимает недели, а не месяцы.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РЕШАЕТ ПЛАТФОРМА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45775" y="530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типа задач — и ваши конкретные примеры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17904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закрывает сразу три типа задач. Вот реальные примеры по каждому — бизнес сразу узнаёт свои.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Структурированные данные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511296"/>
            <a:ext cx="411480" cy="29261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57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 к ERP, CRM, хранилищам на естественном языке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«Выручка по регионам за квартал против плана»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47640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«Какие клиенты снизили закупки за 3 месяца?»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5367528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 и витрины по расписанию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9768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400" dirty="0"/>
          </a:p>
        </p:txBody>
      </p:sp>
      <p:sp>
        <p:nvSpPr>
          <p:cNvPr id="15" name="Text 13"/>
          <p:cNvSpPr/>
          <p:nvPr/>
        </p:nvSpPr>
        <p:spPr>
          <a:xfrm>
            <a:off x="4297680" y="3063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и тексты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297680" y="3511296"/>
            <a:ext cx="411480" cy="29261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0" y="3657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и ответы по регламентам, договорам, переписке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97680" y="4160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в регламенте сказано про командировки?»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297680" y="47640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«Найди пункт о расторжении в договоре с X»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297680" y="53675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Поддержка сотрудников по базе знаний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114800" y="2377440"/>
            <a:ext cx="12802" cy="365760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A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400" dirty="0"/>
          </a:p>
        </p:txBody>
      </p:sp>
      <p:sp>
        <p:nvSpPr>
          <p:cNvPr id="23" name="Text 21"/>
          <p:cNvSpPr/>
          <p:nvPr/>
        </p:nvSpPr>
        <p:spPr>
          <a:xfrm>
            <a:off x="7955280" y="3063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Агенты процессов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955280" y="3511296"/>
            <a:ext cx="411480" cy="29261"/>
          </a:xfrm>
          <a:prstGeom prst="rect">
            <a:avLst/>
          </a:prstGeom>
          <a:solidFill>
            <a:srgbClr val="1A7A68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3657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1A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выполняют действия в системах, а не просто отвечают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955280" y="4160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линия поддержки: ответ и эскалация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55280" y="47640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бухгалтерии: проверка первички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55280" y="5367528"/>
            <a:ext cx="32918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HR: обработка типовых заявлений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772400" y="2377440"/>
            <a:ext cx="12802" cy="3657600"/>
          </a:xfrm>
          <a:prstGeom prst="rect">
            <a:avLst/>
          </a:prstGeom>
          <a:solidFill>
            <a:srgbClr val="E2E5E9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ДАЁТ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45775" y="530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Бизнесу — конвейер, ИТ — управляемость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17904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контур одновременно закрывает две повестки, которые обычно конфликтуют: скорость бизнеса и контроль ИТ и ИБ.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Бизнесу — конвейер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2779776"/>
            <a:ext cx="411480" cy="29261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063240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Понятный путь идеи: от формулировки до прода за известный срок.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02736"/>
            <a:ext cx="5074920" cy="10973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75888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из набора экспериментов превращается в управляемую деятельность.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15384"/>
            <a:ext cx="5074920" cy="10973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288536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 процессов приходят с идеями, а не ждут «ИТ что-нибудь сделает».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72200" y="23774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 и ИБ — управляемость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72200" y="2779776"/>
            <a:ext cx="411480" cy="29261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3063240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периметр безопасности: одна политика на все сценарии.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3602736"/>
            <a:ext cx="5074920" cy="10973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3675888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governance: доступы, аудит, жизненный цикл моделей — в одной системе.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4215384"/>
            <a:ext cx="5074920" cy="10973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4288536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Выделенная эксплуатация: SLA, обновления, разбор инцидентов.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2377440"/>
            <a:ext cx="12802" cy="3291840"/>
          </a:xfrm>
          <a:prstGeom prst="rect">
            <a:avLst/>
          </a:prstGeom>
          <a:solidFill>
            <a:srgbClr val="E2E5E9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ЭФФЕКТИВНО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45775" y="530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и срок сценария падают, а не растут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17904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 построена один раз. Поэтому каждый следующий сценарий запускается быстрее и дешевле: безопасность, поиск и интеграции уже готовы — сценарий собирается, а не строится с нуля.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233172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949440" y="2331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ЗНАЧИТ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949440" y="27432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Окупается не один сценарий, а вся программа ИИ.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49440" y="343814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сценарий — инвестиция в слой; дальше — переиспользование.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49440" y="4133088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Поддержка дешевле: один контур вместо десяти.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58521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Иллюстративно: стоимость каждого следующего сценария на готовом слое.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ОПЫТ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45775" y="530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ИИ уже работает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17904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только внедряем ИИ клиентам — команда ITQ использует ИИ и в своей ежедневной инженерной работе. Несколько примеров из крупных проектов: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332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Московская Биржа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365760" cy="27432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71800"/>
            <a:ext cx="332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08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AI-агенты для код-ревью с содержательной обратной связью разработчикам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640080" y="3611880"/>
            <a:ext cx="332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08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зависимостей и безопасности цепочки поставок кода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4282440" y="2331720"/>
            <a:ext cx="332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«Солид»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282440" y="2834640"/>
            <a:ext cx="365760" cy="27432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13" name="Text 11"/>
          <p:cNvSpPr/>
          <p:nvPr/>
        </p:nvSpPr>
        <p:spPr>
          <a:xfrm>
            <a:off x="4282440" y="2971800"/>
            <a:ext cx="3322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08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Поисковый AI-ассистент по внутренней документации — регламенты и спецификации находятся за секунды, а не часы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4122420" y="2331720"/>
            <a:ext cx="12802" cy="169164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5" name="Text 13"/>
          <p:cNvSpPr/>
          <p:nvPr/>
        </p:nvSpPr>
        <p:spPr>
          <a:xfrm>
            <a:off x="7924800" y="2331720"/>
            <a:ext cx="332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 JDK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924800" y="2834640"/>
            <a:ext cx="365760" cy="27432"/>
          </a:xfrm>
          <a:prstGeom prst="rect">
            <a:avLst/>
          </a:prstGeom>
          <a:solidFill>
            <a:srgbClr val="1A7A68"/>
          </a:solidFill>
          <a:ln/>
        </p:spPr>
      </p:sp>
      <p:sp>
        <p:nvSpPr>
          <p:cNvPr id="17" name="Text 15"/>
          <p:cNvSpPr/>
          <p:nvPr/>
        </p:nvSpPr>
        <p:spPr>
          <a:xfrm>
            <a:off x="7924800" y="2971800"/>
            <a:ext cx="332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08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и генерация тестов AI-агентами — меньше ручного труда, выше покрытие критического кода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764780" y="2331720"/>
            <a:ext cx="12802" cy="169164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" y="4160520"/>
            <a:ext cx="10607040" cy="10973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43400"/>
            <a:ext cx="5143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МКБ (Московский Кредитный Банк)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40080" y="4690872"/>
            <a:ext cx="365760" cy="27432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800600"/>
            <a:ext cx="5143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08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AI-система performance review инженеров — совместно с партнёром Veai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640080" y="5239512"/>
            <a:ext cx="5143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08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анализа падений автотестов: классифицирует причины сбоев и предлагает исправления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640080" y="5678424"/>
            <a:ext cx="5143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08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Мультиагентный разбор крупных XML-файлов в структурированную документацию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6103620" y="4343400"/>
            <a:ext cx="5143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Сбер НПФ (совместно с Veai)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103620" y="4690872"/>
            <a:ext cx="365760" cy="27432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27" name="Text 25"/>
          <p:cNvSpPr/>
          <p:nvPr/>
        </p:nvSpPr>
        <p:spPr>
          <a:xfrm>
            <a:off x="6103620" y="4800600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08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AI-агента-плагина для IDE семейства JetBrains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6103620" y="5065776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08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на юнит-тесты — в 2 раза быстрее за счёт автогенерации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6103620" y="5330952"/>
            <a:ext cx="5143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08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предлагает несколько вариантов реализации, снижая долю рутины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5943600" y="4343400"/>
            <a:ext cx="12802" cy="960120"/>
          </a:xfrm>
          <a:prstGeom prst="rect">
            <a:avLst/>
          </a:prstGeom>
          <a:solidFill>
            <a:srgbClr val="E2E5E9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ПИЛОТА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45775" y="530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для JetBrains: Сбер НПФ + Veai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17904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AI-агента-плагина для IDE семейства JetBrains показал измеримый эффект уже на первом проекте: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</a:t>
            </a:r>
            <a:endParaRPr lang="en-US" sz="9000" dirty="0"/>
          </a:p>
        </p:txBody>
      </p:sp>
      <p:sp>
        <p:nvSpPr>
          <p:cNvPr id="8" name="Text 6"/>
          <p:cNvSpPr/>
          <p:nvPr/>
        </p:nvSpPr>
        <p:spPr>
          <a:xfrm>
            <a:off x="640080" y="3840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ЮНИТ-ТЕСТЫ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08960" y="2468880"/>
            <a:ext cx="12802" cy="301752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2468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юнит-тесты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29000" y="2816352"/>
            <a:ext cx="365760" cy="25603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2926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на написание сократилось вдвое за счёт автогенерации и подсказок агента.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429000" y="3474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Вариативность решений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429000" y="3822192"/>
            <a:ext cx="365760" cy="25603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15" name="Text 13"/>
          <p:cNvSpPr/>
          <p:nvPr/>
        </p:nvSpPr>
        <p:spPr>
          <a:xfrm>
            <a:off x="3429000" y="3931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предлагает несколько подходов к реализации и рефакторингу на выбор.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29000" y="4480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рутины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429000" y="4828032"/>
            <a:ext cx="365760" cy="25603"/>
          </a:xfrm>
          <a:prstGeom prst="rect">
            <a:avLst/>
          </a:prstGeom>
          <a:solidFill>
            <a:srgbClr val="1A7A68"/>
          </a:solidFill>
          <a:ln/>
        </p:spPr>
      </p:sp>
      <p:sp>
        <p:nvSpPr>
          <p:cNvPr id="18" name="Text 16"/>
          <p:cNvSpPr/>
          <p:nvPr/>
        </p:nvSpPr>
        <p:spPr>
          <a:xfrm>
            <a:off x="3429000" y="4937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Ниже доля монотонного ручного труда — быстрее поставка качественного кода.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 измерим: сокращение времени на тестирование, снижение нагрузки на разработчиков, рост прозрачности и управляемости процессов.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ПОДХОДИТ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545775" y="530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платформа оправдана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17904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640080" y="2834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— часть операционной деятельности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282696"/>
            <a:ext cx="411480" cy="29261"/>
          </a:xfrm>
          <a:prstGeom prst="rect">
            <a:avLst/>
          </a:prstGeom>
          <a:solidFill>
            <a:srgbClr val="0F2A4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хотите, чтобы ИИ работал в ежедневных процессах постоянно, а не разово.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2976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4297680" y="2834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Нужна предсказуемость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297680" y="3282696"/>
            <a:ext cx="411480" cy="29261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352044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понимать, как и за какой срок идея дойдёт от бизнеса до продакшена.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114800" y="2148840"/>
            <a:ext cx="12802" cy="283464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A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7955280" y="2834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единый контроль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955280" y="3282696"/>
            <a:ext cx="411480" cy="29261"/>
          </a:xfrm>
          <a:prstGeom prst="rect">
            <a:avLst/>
          </a:prstGeom>
          <a:solidFill>
            <a:srgbClr val="1A7A68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0" y="352044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Безопасность, расходы, доступы и governance должны быть едиными, а не у каждого свои.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0" y="2148840"/>
            <a:ext cx="12802" cy="2834640"/>
          </a:xfrm>
          <a:prstGeom prst="rect">
            <a:avLst/>
          </a:prstGeom>
          <a:solidFill>
            <a:srgbClr val="E2E5E9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555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Честно: платформа раскрывается там, где ИИ становится постоянной частью работы компании. Для одной разовой задачи она избыточна — и мы скажем об этом прямо.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71455" y="530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Спроектируем ваш ИИ-слой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40080" cy="38405"/>
          </a:xfrm>
          <a:prstGeom prst="rect">
            <a:avLst/>
          </a:prstGeom>
          <a:solidFill>
            <a:srgbClr val="E87A1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Начнём с целевой архитектуры под ваши сценарии и описания пути идея → прод: как ИИ встроится в операционную деятельность вашей компании.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30175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E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целевой слой под вас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3383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E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приоритеты и примеры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749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Бизнес-кейс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3749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E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и эффект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543800" y="2194560"/>
            <a:ext cx="12802" cy="3291840"/>
          </a:xfrm>
          <a:prstGeom prst="rect">
            <a:avLst/>
          </a:prstGeom>
          <a:solidFill>
            <a:srgbClr val="354D6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63840" y="2514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Федосеева Ирина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863840" y="2926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E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персональный менеджер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63840" y="3429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Тел.: +7 913 671 57 06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3749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email: i.fedoseeva@itq-group.com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B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Корпоративная ИИ-платформа · обезличенная версия · брендовая обложка подставляется отдельно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2026-07-28T13:12:57Z</dcterms:created>
  <dcterms:modified xsi:type="dcterms:W3CDTF">2026-07-28T13:12:57Z</dcterms:modified>
</cp:coreProperties>
</file>