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3E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5.xml"/><Relationship Id="rId3" Type="http://schemas.openxmlformats.org/officeDocument/2006/relationships/slide" Target="slide14.xml"/><Relationship Id="rId7" Type="http://schemas.openxmlformats.org/officeDocument/2006/relationships/slide" Target="slide32.xml"/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9.xml"/><Relationship Id="rId5" Type="http://schemas.openxmlformats.org/officeDocument/2006/relationships/slide" Target="slide25.xml"/><Relationship Id="rId10" Type="http://schemas.openxmlformats.org/officeDocument/2006/relationships/image" Target="../media/image2.png"/><Relationship Id="rId4" Type="http://schemas.openxmlformats.org/officeDocument/2006/relationships/slide" Target="slide21.xml"/><Relationship Id="rId9" Type="http://schemas.openxmlformats.org/officeDocument/2006/relationships/slide" Target="slide3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6.png"/><Relationship Id="rId7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5.png"/><Relationship Id="rId7" Type="http://schemas.openxmlformats.org/officeDocument/2006/relationships/image" Target="../media/image1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2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Rounded Rectangle 2-shape"/>
          <p:cNvSpPr/>
          <p:nvPr/>
        </p:nvSpPr>
        <p:spPr>
          <a:xfrm>
            <a:off x="609600" y="457200"/>
            <a:ext cx="720090" cy="3429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4" name="Rounded Rectangle 2-text"/>
          <p:cNvSpPr txBox="1"/>
          <p:nvPr/>
        </p:nvSpPr>
        <p:spPr>
          <a:xfrm>
            <a:off x="609600" y="457200"/>
            <a:ext cx="72009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4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404" noProof="1"/>
          </a:p>
        </p:txBody>
      </p:sp>
      <p:sp>
        <p:nvSpPr>
          <p:cNvPr id="5" name="Rounded Rectangle 3-shape"/>
          <p:cNvSpPr/>
          <p:nvPr/>
        </p:nvSpPr>
        <p:spPr>
          <a:xfrm>
            <a:off x="609600" y="457200"/>
            <a:ext cx="873760" cy="3429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" name="Rounded Rectangle 3-text"/>
          <p:cNvSpPr txBox="1"/>
          <p:nvPr/>
        </p:nvSpPr>
        <p:spPr>
          <a:xfrm>
            <a:off x="609600" y="457200"/>
            <a:ext cx="87376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2" noProof="1">
                <a:solidFill>
                  <a:srgbClr val="0C323D"/>
                </a:solidFill>
                <a:latin typeface="Inter"/>
                <a:ea typeface="Inter"/>
              </a:rPr>
              <a:t>group</a:t>
            </a:r>
            <a:endParaRPr lang="en-US" sz="1242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2489200"/>
            <a:ext cx="812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i="0" kern="0" spc="300" noProof="1">
                <a:solidFill>
                  <a:srgbClr val="4EC6C6"/>
                </a:solidFill>
                <a:latin typeface="Inter"/>
                <a:ea typeface="Inter"/>
              </a:rPr>
              <a:t>РЕШЕНИЯ ДЛЯ КОРПОРАТИВНОГО ИИ</a:t>
            </a:r>
            <a:endParaRPr lang="en-US" sz="115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2819400"/>
            <a:ext cx="8382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lang="en-US" sz="3800" b="1" i="0" noProof="1">
                <a:solidFill>
                  <a:srgbClr val="FFFFFF"/>
                </a:solidFill>
                <a:latin typeface="Inter"/>
                <a:ea typeface="Inter"/>
              </a:rPr>
              <a:t>Корпоративный ИИ —</a:t>
            </a:r>
            <a:endParaRPr lang="en-US" sz="3800" noProof="1"/>
          </a:p>
          <a:p>
            <a:pPr algn="l">
              <a:lnSpc>
                <a:spcPct val="118000"/>
              </a:lnSpc>
            </a:pPr>
            <a:r>
              <a:rPr lang="en-US" sz="3800" b="1" i="0" noProof="1">
                <a:solidFill>
                  <a:srgbClr val="FFFFFF"/>
                </a:solidFill>
                <a:latin typeface="Inter"/>
                <a:ea typeface="Inter"/>
              </a:rPr>
              <a:t>управляемо, безопасно,</a:t>
            </a:r>
            <a:endParaRPr lang="en-US" sz="3800" noProof="1"/>
          </a:p>
          <a:p>
            <a:pPr algn="l">
              <a:lnSpc>
                <a:spcPct val="118000"/>
              </a:lnSpc>
            </a:pPr>
            <a:r>
              <a:rPr lang="en-US" sz="3800" b="1" i="0" noProof="1">
                <a:solidFill>
                  <a:srgbClr val="FFFFFF"/>
                </a:solidFill>
                <a:latin typeface="Inter"/>
                <a:ea typeface="Inter"/>
              </a:rPr>
              <a:t>под ключ</a:t>
            </a:r>
            <a:endParaRPr lang="en-US" sz="3800" noProof="1"/>
          </a:p>
        </p:txBody>
      </p:sp>
      <p:sp>
        <p:nvSpPr>
          <p:cNvPr id="9" name="TextBox 6"/>
          <p:cNvSpPr txBox="1"/>
          <p:nvPr/>
        </p:nvSpPr>
        <p:spPr>
          <a:xfrm>
            <a:off x="609600" y="5003800"/>
            <a:ext cx="838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i="0" noProof="1">
                <a:solidFill>
                  <a:srgbClr val="D8E9EC"/>
                </a:solidFill>
                <a:latin typeface="Inter"/>
                <a:ea typeface="Inter"/>
              </a:rPr>
              <a:t>Платформа «Синапс» · AI Guard · Внешний офис ИИ · Обучение · </a:t>
            </a:r>
            <a:endParaRPr lang="en-US" sz="1300" noProof="1"/>
          </a:p>
        </p:txBody>
      </p:sp>
      <p:sp>
        <p:nvSpPr>
          <p:cNvPr id="10" name="TextBox 7"/>
          <p:cNvSpPr txBox="1"/>
          <p:nvPr/>
        </p:nvSpPr>
        <p:spPr>
          <a:xfrm>
            <a:off x="609600" y="5486400"/>
            <a:ext cx="7874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i="0" noProof="1">
                <a:solidFill>
                  <a:srgbClr val="B9D4D9"/>
                </a:solidFill>
                <a:latin typeface="Inter"/>
                <a:ea typeface="Inter"/>
              </a:rPr>
              <a:t>Единая инфраструктура, безопасный периметр, инженерная команда</a:t>
            </a:r>
            <a:endParaRPr lang="en-US" sz="1200" noProof="1"/>
          </a:p>
          <a:p>
            <a:pPr algn="l">
              <a:lnSpc>
                <a:spcPct val="150000"/>
              </a:lnSpc>
            </a:pPr>
            <a:r>
              <a:rPr lang="en-US" sz="1200" i="0" noProof="1">
                <a:solidFill>
                  <a:srgbClr val="B9D4D9"/>
                </a:solidFill>
                <a:latin typeface="Inter"/>
                <a:ea typeface="Inter"/>
              </a:rPr>
              <a:t>и обучение — всё, чтобы ИИ стал частью операционной деятельности.</a:t>
            </a:r>
            <a:endParaRPr lang="en-US" sz="1200" noProof="1"/>
          </a:p>
        </p:txBody>
      </p:sp>
      <p:sp>
        <p:nvSpPr>
          <p:cNvPr id="11" name="TextBox 8"/>
          <p:cNvSpPr txBox="1"/>
          <p:nvPr/>
        </p:nvSpPr>
        <p:spPr>
          <a:xfrm>
            <a:off x="609600" y="62992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i="0" noProof="1">
                <a:solidFill>
                  <a:srgbClr val="9FBEC4"/>
                </a:solidFill>
                <a:latin typeface="Inter"/>
                <a:ea typeface="Inter"/>
              </a:rPr>
              <a:t>ITQ Group · презентация · 2026</a:t>
            </a:r>
            <a:endParaRPr lang="en-US" sz="1000" noProof="1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C1B3906-9CC7-8457-07E2-B42A4C129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40" y="381000"/>
            <a:ext cx="1164632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ill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Logo Pill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Logo Pill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Logo Pill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Kicker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СОДЕРЖАНИЕ</a:t>
            </a:r>
            <a:endParaRPr lang="en-US" sz="1100" noProof="1"/>
          </a:p>
        </p:txBody>
      </p:sp>
      <p:sp>
        <p:nvSpPr>
          <p:cNvPr id="7" name="Title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Что внутри презентации</a:t>
            </a:r>
            <a:endParaRPr lang="en-US" sz="2500" noProof="1"/>
          </a:p>
        </p:txBody>
      </p:sp>
      <p:sp>
        <p:nvSpPr>
          <p:cNvPr id="8" name="Subtitle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Восемь разделов — от платформы и безопасности до команды, обучения и условий старта. Можно идти подряд или сразу к нужному.</a:t>
            </a:r>
            <a:endParaRPr lang="en-US" sz="1250" noProof="1"/>
          </a:p>
        </p:txBody>
      </p:sp>
      <p:sp>
        <p:nvSpPr>
          <p:cNvPr id="9" name="TOC Row1 Num"/>
          <p:cNvSpPr/>
          <p:nvPr/>
        </p:nvSpPr>
        <p:spPr>
          <a:xfrm>
            <a:off x="609600" y="1473200"/>
            <a:ext cx="406400" cy="406400"/>
          </a:xfrm>
          <a:prstGeom prst="ellipse">
            <a:avLst/>
          </a:prstGeom>
          <a:solidFill>
            <a:srgbClr val="073E44"/>
          </a:solidFill>
          <a:ln>
            <a:noFill/>
          </a:ln>
        </p:spPr>
      </p:sp>
      <p:sp>
        <p:nvSpPr>
          <p:cNvPr id="10" name="TOC Row1 NumText"/>
          <p:cNvSpPr txBox="1"/>
          <p:nvPr/>
        </p:nvSpPr>
        <p:spPr>
          <a:xfrm>
            <a:off x="609600" y="14732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i="0" noProof="1">
                <a:solidFill>
                  <a:srgbClr val="FFFFFF"/>
                </a:solidFill>
                <a:latin typeface="Inter"/>
                <a:ea typeface="Inter"/>
              </a:rPr>
              <a:t>01</a:t>
            </a:r>
            <a:endParaRPr lang="en-US" sz="1100" noProof="1"/>
          </a:p>
        </p:txBody>
      </p:sp>
      <p:sp>
        <p:nvSpPr>
          <p:cNvPr id="11" name="TOC Row1 Title"/>
          <p:cNvSpPr txBox="1"/>
          <p:nvPr/>
        </p:nvSpPr>
        <p:spPr>
          <a:xfrm>
            <a:off x="1219200" y="1498600"/>
            <a:ext cx="584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  <a:hlinkClick r:id="rId2" action="ppaction://hlinksldjump"/>
              </a:rPr>
              <a:t>Корпоративная ИИ-платформа «Синапс»</a:t>
            </a:r>
            <a:endParaRPr lang="en-US" sz="1250" noProof="1"/>
          </a:p>
        </p:txBody>
      </p:sp>
      <p:sp>
        <p:nvSpPr>
          <p:cNvPr id="12" name="TOC Row1 Sub"/>
          <p:cNvSpPr txBox="1"/>
          <p:nvPr/>
        </p:nvSpPr>
        <p:spPr>
          <a:xfrm>
            <a:off x="1219200" y="1714500"/>
            <a:ext cx="787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Единый ИИ-слой: компоненты, сценарии, RAG в действии, эффект для бизнеса и ИТ</a:t>
            </a:r>
            <a:endParaRPr lang="en-US" sz="950" noProof="1"/>
          </a:p>
        </p:txBody>
      </p:sp>
      <p:sp>
        <p:nvSpPr>
          <p:cNvPr id="13" name="TOC Row1 Page"/>
          <p:cNvSpPr txBox="1"/>
          <p:nvPr/>
        </p:nvSpPr>
        <p:spPr>
          <a:xfrm>
            <a:off x="10160000" y="1574800"/>
            <a:ext cx="14351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50" b="1" i="0" noProof="1">
                <a:solidFill>
                  <a:srgbClr val="1F9BA3"/>
                </a:solidFill>
                <a:latin typeface="Inter"/>
                <a:ea typeface="Inter"/>
              </a:rPr>
              <a:t>стр. 6</a:t>
            </a:r>
            <a:endParaRPr lang="en-US" sz="1150" noProof="1"/>
          </a:p>
        </p:txBody>
      </p:sp>
      <p:sp>
        <p:nvSpPr>
          <p:cNvPr id="14" name="TOC Div1"/>
          <p:cNvSpPr/>
          <p:nvPr/>
        </p:nvSpPr>
        <p:spPr>
          <a:xfrm>
            <a:off x="1219200" y="2032000"/>
            <a:ext cx="10375900" cy="12700"/>
          </a:xfrm>
          <a:prstGeom prst="rect">
            <a:avLst/>
          </a:prstGeom>
          <a:solidFill>
            <a:srgbClr val="E3EAEF"/>
          </a:solidFill>
          <a:ln>
            <a:noFill/>
          </a:ln>
        </p:spPr>
      </p:sp>
      <p:sp>
        <p:nvSpPr>
          <p:cNvPr id="15" name="TOC Row2 Num"/>
          <p:cNvSpPr/>
          <p:nvPr/>
        </p:nvSpPr>
        <p:spPr>
          <a:xfrm>
            <a:off x="609600" y="2044700"/>
            <a:ext cx="406400" cy="406400"/>
          </a:xfrm>
          <a:prstGeom prst="ellipse">
            <a:avLst/>
          </a:prstGeom>
          <a:solidFill>
            <a:srgbClr val="073E44"/>
          </a:solidFill>
          <a:ln>
            <a:noFill/>
          </a:ln>
        </p:spPr>
      </p:sp>
      <p:sp>
        <p:nvSpPr>
          <p:cNvPr id="16" name="TOC Row2 NumText"/>
          <p:cNvSpPr txBox="1"/>
          <p:nvPr/>
        </p:nvSpPr>
        <p:spPr>
          <a:xfrm>
            <a:off x="609600" y="20447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i="0" noProof="1">
                <a:solidFill>
                  <a:srgbClr val="FFFFFF"/>
                </a:solidFill>
                <a:latin typeface="Inter"/>
                <a:ea typeface="Inter"/>
              </a:rPr>
              <a:t>02</a:t>
            </a:r>
            <a:endParaRPr lang="en-US" sz="1100" noProof="1"/>
          </a:p>
        </p:txBody>
      </p:sp>
      <p:sp>
        <p:nvSpPr>
          <p:cNvPr id="17" name="TOC Row2 Title"/>
          <p:cNvSpPr txBox="1"/>
          <p:nvPr/>
        </p:nvSpPr>
        <p:spPr>
          <a:xfrm>
            <a:off x="1219200" y="2070100"/>
            <a:ext cx="584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  <a:hlinkClick r:id="rId3" action="ppaction://hlinksldjump"/>
              </a:rPr>
              <a:t>AI Guard — безопасный периметр корпоративного ИИ</a:t>
            </a:r>
            <a:endParaRPr lang="en-US" sz="1250" noProof="1"/>
          </a:p>
        </p:txBody>
      </p:sp>
      <p:sp>
        <p:nvSpPr>
          <p:cNvPr id="18" name="TOC Row2 Sub"/>
          <p:cNvSpPr txBox="1"/>
          <p:nvPr/>
        </p:nvSpPr>
        <p:spPr>
          <a:xfrm>
            <a:off x="1219200" y="2286000"/>
            <a:ext cx="787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Маскирование данных, три уровня защиты, закрытый контур, внедрение без боли для ИТ</a:t>
            </a:r>
            <a:endParaRPr lang="en-US" sz="950" noProof="1"/>
          </a:p>
        </p:txBody>
      </p:sp>
      <p:sp>
        <p:nvSpPr>
          <p:cNvPr id="19" name="TOC Row2 Page"/>
          <p:cNvSpPr txBox="1"/>
          <p:nvPr/>
        </p:nvSpPr>
        <p:spPr>
          <a:xfrm>
            <a:off x="10160000" y="2146300"/>
            <a:ext cx="14351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50" b="1" i="0" noProof="1">
                <a:solidFill>
                  <a:srgbClr val="1F9BA3"/>
                </a:solidFill>
                <a:latin typeface="Inter"/>
                <a:ea typeface="Inter"/>
              </a:rPr>
              <a:t>стр. 14</a:t>
            </a:r>
            <a:endParaRPr lang="en-US" sz="1150" noProof="1"/>
          </a:p>
        </p:txBody>
      </p:sp>
      <p:sp>
        <p:nvSpPr>
          <p:cNvPr id="20" name="TOC Div2"/>
          <p:cNvSpPr/>
          <p:nvPr/>
        </p:nvSpPr>
        <p:spPr>
          <a:xfrm>
            <a:off x="1219200" y="2603500"/>
            <a:ext cx="10375900" cy="12700"/>
          </a:xfrm>
          <a:prstGeom prst="rect">
            <a:avLst/>
          </a:prstGeom>
          <a:solidFill>
            <a:srgbClr val="E3EAEF"/>
          </a:solidFill>
          <a:ln>
            <a:noFill/>
          </a:ln>
        </p:spPr>
      </p:sp>
      <p:sp>
        <p:nvSpPr>
          <p:cNvPr id="21" name="TOC Row3 Num"/>
          <p:cNvSpPr/>
          <p:nvPr/>
        </p:nvSpPr>
        <p:spPr>
          <a:xfrm>
            <a:off x="609600" y="2616200"/>
            <a:ext cx="406400" cy="406400"/>
          </a:xfrm>
          <a:prstGeom prst="ellipse">
            <a:avLst/>
          </a:prstGeom>
          <a:solidFill>
            <a:srgbClr val="073E44"/>
          </a:solidFill>
          <a:ln>
            <a:noFill/>
          </a:ln>
        </p:spPr>
      </p:sp>
      <p:sp>
        <p:nvSpPr>
          <p:cNvPr id="22" name="TOC Row3 NumText"/>
          <p:cNvSpPr txBox="1"/>
          <p:nvPr/>
        </p:nvSpPr>
        <p:spPr>
          <a:xfrm>
            <a:off x="609600" y="26162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i="0" noProof="1">
                <a:solidFill>
                  <a:srgbClr val="FFFFFF"/>
                </a:solidFill>
                <a:latin typeface="Inter"/>
                <a:ea typeface="Inter"/>
              </a:rPr>
              <a:t>03</a:t>
            </a:r>
            <a:endParaRPr lang="en-US" sz="1100" noProof="1"/>
          </a:p>
        </p:txBody>
      </p:sp>
      <p:sp>
        <p:nvSpPr>
          <p:cNvPr id="23" name="TOC Row3 Title"/>
          <p:cNvSpPr txBox="1"/>
          <p:nvPr/>
        </p:nvSpPr>
        <p:spPr>
          <a:xfrm>
            <a:off x="1219200" y="2641600"/>
            <a:ext cx="584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  <a:hlinkClick r:id="rId4" action="ppaction://hlinksldjump"/>
              </a:rPr>
              <a:t>Veai Platform — доступ к топовым моделям</a:t>
            </a:r>
            <a:endParaRPr lang="en-US" sz="1250" noProof="1"/>
          </a:p>
        </p:txBody>
      </p:sp>
      <p:sp>
        <p:nvSpPr>
          <p:cNvPr id="24" name="TOC Row3 Sub"/>
          <p:cNvSpPr txBox="1"/>
          <p:nvPr/>
        </p:nvSpPr>
        <p:spPr>
          <a:xfrm>
            <a:off x="1219200" y="2857500"/>
            <a:ext cx="787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Легально и в рублях: локальные vs облачные модели, тарифы и каталог моделей</a:t>
            </a:r>
            <a:endParaRPr lang="en-US" sz="950" noProof="1"/>
          </a:p>
        </p:txBody>
      </p:sp>
      <p:sp>
        <p:nvSpPr>
          <p:cNvPr id="25" name="TOC Row3 Page"/>
          <p:cNvSpPr txBox="1"/>
          <p:nvPr/>
        </p:nvSpPr>
        <p:spPr>
          <a:xfrm>
            <a:off x="10160000" y="2717800"/>
            <a:ext cx="14351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50" b="1" i="0" noProof="1">
                <a:solidFill>
                  <a:srgbClr val="1F9BA3"/>
                </a:solidFill>
                <a:latin typeface="Inter"/>
                <a:ea typeface="Inter"/>
              </a:rPr>
              <a:t>стр. 21</a:t>
            </a:r>
            <a:endParaRPr lang="en-US" sz="1150" noProof="1"/>
          </a:p>
        </p:txBody>
      </p:sp>
      <p:sp>
        <p:nvSpPr>
          <p:cNvPr id="26" name="TOC Div3"/>
          <p:cNvSpPr/>
          <p:nvPr/>
        </p:nvSpPr>
        <p:spPr>
          <a:xfrm>
            <a:off x="1219200" y="3175000"/>
            <a:ext cx="10375900" cy="12700"/>
          </a:xfrm>
          <a:prstGeom prst="rect">
            <a:avLst/>
          </a:prstGeom>
          <a:solidFill>
            <a:srgbClr val="E3EAEF"/>
          </a:solidFill>
          <a:ln>
            <a:noFill/>
          </a:ln>
        </p:spPr>
      </p:sp>
      <p:sp>
        <p:nvSpPr>
          <p:cNvPr id="27" name="TOC Row4 Num"/>
          <p:cNvSpPr/>
          <p:nvPr/>
        </p:nvSpPr>
        <p:spPr>
          <a:xfrm>
            <a:off x="609600" y="3187700"/>
            <a:ext cx="406400" cy="406400"/>
          </a:xfrm>
          <a:prstGeom prst="ellipse">
            <a:avLst/>
          </a:prstGeom>
          <a:solidFill>
            <a:srgbClr val="073E44"/>
          </a:solidFill>
          <a:ln>
            <a:noFill/>
          </a:ln>
        </p:spPr>
      </p:sp>
      <p:sp>
        <p:nvSpPr>
          <p:cNvPr id="28" name="TOC Row4 NumText"/>
          <p:cNvSpPr txBox="1"/>
          <p:nvPr/>
        </p:nvSpPr>
        <p:spPr>
          <a:xfrm>
            <a:off x="609600" y="31877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i="0" noProof="1">
                <a:solidFill>
                  <a:srgbClr val="FFFFFF"/>
                </a:solidFill>
                <a:latin typeface="Inter"/>
                <a:ea typeface="Inter"/>
              </a:rPr>
              <a:t>04</a:t>
            </a:r>
            <a:endParaRPr lang="en-US" sz="1100" noProof="1"/>
          </a:p>
        </p:txBody>
      </p:sp>
      <p:sp>
        <p:nvSpPr>
          <p:cNvPr id="29" name="TOC Row4 Title"/>
          <p:cNvSpPr txBox="1"/>
          <p:nvPr/>
        </p:nvSpPr>
        <p:spPr>
          <a:xfrm>
            <a:off x="1219200" y="3213100"/>
            <a:ext cx="584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  <a:hlinkClick r:id="rId5" action="ppaction://hlinksldjump"/>
              </a:rPr>
              <a:t>Внешний офис ИИ — инженерная команда</a:t>
            </a:r>
            <a:endParaRPr lang="en-US" sz="1250" noProof="1"/>
          </a:p>
        </p:txBody>
      </p:sp>
      <p:sp>
        <p:nvSpPr>
          <p:cNvPr id="30" name="TOC Row4 Sub"/>
          <p:cNvSpPr txBox="1"/>
          <p:nvPr/>
        </p:nvSpPr>
        <p:spPr>
          <a:xfrm>
            <a:off x="1219200" y="3429000"/>
            <a:ext cx="787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11 ролей под весь путь, типовые грабли и третий путь, передача экспертизы вам</a:t>
            </a:r>
            <a:endParaRPr lang="en-US" sz="950" noProof="1"/>
          </a:p>
        </p:txBody>
      </p:sp>
      <p:sp>
        <p:nvSpPr>
          <p:cNvPr id="31" name="TOC Row4 Page"/>
          <p:cNvSpPr txBox="1"/>
          <p:nvPr/>
        </p:nvSpPr>
        <p:spPr>
          <a:xfrm>
            <a:off x="10160000" y="3289300"/>
            <a:ext cx="14351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50" b="1" i="0" noProof="1">
                <a:solidFill>
                  <a:srgbClr val="1F9BA3"/>
                </a:solidFill>
                <a:latin typeface="Inter"/>
                <a:ea typeface="Inter"/>
              </a:rPr>
              <a:t>стр. 25</a:t>
            </a:r>
            <a:endParaRPr lang="en-US" sz="1150" noProof="1"/>
          </a:p>
        </p:txBody>
      </p:sp>
      <p:sp>
        <p:nvSpPr>
          <p:cNvPr id="32" name="TOC Div4"/>
          <p:cNvSpPr/>
          <p:nvPr/>
        </p:nvSpPr>
        <p:spPr>
          <a:xfrm>
            <a:off x="1219200" y="3746500"/>
            <a:ext cx="10375900" cy="12700"/>
          </a:xfrm>
          <a:prstGeom prst="rect">
            <a:avLst/>
          </a:prstGeom>
          <a:solidFill>
            <a:srgbClr val="E3EAEF"/>
          </a:solidFill>
          <a:ln>
            <a:noFill/>
          </a:ln>
        </p:spPr>
      </p:sp>
      <p:sp>
        <p:nvSpPr>
          <p:cNvPr id="33" name="TOC Row5 Num"/>
          <p:cNvSpPr/>
          <p:nvPr/>
        </p:nvSpPr>
        <p:spPr>
          <a:xfrm>
            <a:off x="609600" y="3759200"/>
            <a:ext cx="406400" cy="406400"/>
          </a:xfrm>
          <a:prstGeom prst="ellipse">
            <a:avLst/>
          </a:prstGeom>
          <a:solidFill>
            <a:srgbClr val="073E44"/>
          </a:solidFill>
          <a:ln>
            <a:noFill/>
          </a:ln>
        </p:spPr>
      </p:sp>
      <p:sp>
        <p:nvSpPr>
          <p:cNvPr id="34" name="TOC Row5 NumText"/>
          <p:cNvSpPr txBox="1"/>
          <p:nvPr/>
        </p:nvSpPr>
        <p:spPr>
          <a:xfrm>
            <a:off x="609600" y="37592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i="0" noProof="1">
                <a:solidFill>
                  <a:srgbClr val="FFFFFF"/>
                </a:solidFill>
                <a:latin typeface="Inter"/>
                <a:ea typeface="Inter"/>
              </a:rPr>
              <a:t>05</a:t>
            </a:r>
            <a:endParaRPr lang="en-US" sz="1100" noProof="1"/>
          </a:p>
        </p:txBody>
      </p:sp>
      <p:sp>
        <p:nvSpPr>
          <p:cNvPr id="35" name="TOC Row5 Title"/>
          <p:cNvSpPr txBox="1"/>
          <p:nvPr/>
        </p:nvSpPr>
        <p:spPr>
          <a:xfrm>
            <a:off x="1219200" y="3784600"/>
            <a:ext cx="584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  <a:hlinkClick r:id="rId6" action="ppaction://hlinksldjump"/>
              </a:rPr>
              <a:t>Обучение и стратсессии</a:t>
            </a:r>
            <a:endParaRPr lang="en-US" sz="1250" noProof="1"/>
          </a:p>
        </p:txBody>
      </p:sp>
      <p:sp>
        <p:nvSpPr>
          <p:cNvPr id="36" name="TOC Row5 Sub"/>
          <p:cNvSpPr txBox="1"/>
          <p:nvPr/>
        </p:nvSpPr>
        <p:spPr>
          <a:xfrm>
            <a:off x="1219200" y="4000500"/>
            <a:ext cx="787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Три уровня зрелости команд, семь форматов, содержание программ</a:t>
            </a:r>
            <a:endParaRPr lang="en-US" sz="950" noProof="1"/>
          </a:p>
        </p:txBody>
      </p:sp>
      <p:sp>
        <p:nvSpPr>
          <p:cNvPr id="37" name="TOC Row5 Page"/>
          <p:cNvSpPr txBox="1"/>
          <p:nvPr/>
        </p:nvSpPr>
        <p:spPr>
          <a:xfrm>
            <a:off x="10160000" y="3860800"/>
            <a:ext cx="14351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50" b="1" i="0" noProof="1">
                <a:solidFill>
                  <a:srgbClr val="1F9BA3"/>
                </a:solidFill>
                <a:latin typeface="Inter"/>
                <a:ea typeface="Inter"/>
              </a:rPr>
              <a:t>стр. 29</a:t>
            </a:r>
            <a:endParaRPr lang="en-US" sz="1150" noProof="1"/>
          </a:p>
        </p:txBody>
      </p:sp>
      <p:sp>
        <p:nvSpPr>
          <p:cNvPr id="38" name="TOC Div5"/>
          <p:cNvSpPr/>
          <p:nvPr/>
        </p:nvSpPr>
        <p:spPr>
          <a:xfrm>
            <a:off x="1219200" y="4318000"/>
            <a:ext cx="10375900" cy="12700"/>
          </a:xfrm>
          <a:prstGeom prst="rect">
            <a:avLst/>
          </a:prstGeom>
          <a:solidFill>
            <a:srgbClr val="E3EAEF"/>
          </a:solidFill>
          <a:ln>
            <a:noFill/>
          </a:ln>
        </p:spPr>
      </p:sp>
      <p:sp>
        <p:nvSpPr>
          <p:cNvPr id="39" name="TOC Row6 Num"/>
          <p:cNvSpPr/>
          <p:nvPr/>
        </p:nvSpPr>
        <p:spPr>
          <a:xfrm>
            <a:off x="609600" y="4330700"/>
            <a:ext cx="406400" cy="406400"/>
          </a:xfrm>
          <a:prstGeom prst="ellipse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40" name="TOC Row6 NumText"/>
          <p:cNvSpPr txBox="1"/>
          <p:nvPr/>
        </p:nvSpPr>
        <p:spPr>
          <a:xfrm>
            <a:off x="609600" y="43307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i="0" noProof="1">
                <a:solidFill>
                  <a:srgbClr val="FFFFFF"/>
                </a:solidFill>
                <a:latin typeface="Inter"/>
                <a:ea typeface="Inter"/>
              </a:rPr>
              <a:t>06</a:t>
            </a:r>
            <a:endParaRPr lang="en-US" sz="1100" noProof="1"/>
          </a:p>
        </p:txBody>
      </p:sp>
      <p:sp>
        <p:nvSpPr>
          <p:cNvPr id="41" name="TOC Row6 Title"/>
          <p:cNvSpPr txBox="1"/>
          <p:nvPr/>
        </p:nvSpPr>
        <p:spPr>
          <a:xfrm>
            <a:off x="1219200" y="4356100"/>
            <a:ext cx="584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  <a:hlinkClick r:id="rId7" action="ppaction://hlinksldjump"/>
              </a:rPr>
              <a:t>Кейсы корпоративного ИИ</a:t>
            </a:r>
            <a:endParaRPr lang="en-US" sz="1250" noProof="1"/>
          </a:p>
        </p:txBody>
      </p:sp>
      <p:sp>
        <p:nvSpPr>
          <p:cNvPr id="42" name="TOC Row6 Sub"/>
          <p:cNvSpPr txBox="1"/>
          <p:nvPr/>
        </p:nvSpPr>
        <p:spPr>
          <a:xfrm>
            <a:off x="1219200" y="4572000"/>
            <a:ext cx="787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Знания, агенты и ассистенты в работающих контурах, ИИ в инженерных процессах</a:t>
            </a:r>
            <a:endParaRPr lang="en-US" sz="950" noProof="1"/>
          </a:p>
        </p:txBody>
      </p:sp>
      <p:sp>
        <p:nvSpPr>
          <p:cNvPr id="43" name="TOC Row6 Page"/>
          <p:cNvSpPr txBox="1"/>
          <p:nvPr/>
        </p:nvSpPr>
        <p:spPr>
          <a:xfrm>
            <a:off x="10160000" y="4432300"/>
            <a:ext cx="14351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50" b="1" i="0" noProof="1">
                <a:solidFill>
                  <a:srgbClr val="1F9BA3"/>
                </a:solidFill>
                <a:latin typeface="Inter"/>
                <a:ea typeface="Inter"/>
              </a:rPr>
              <a:t>стр. 32</a:t>
            </a:r>
            <a:endParaRPr lang="en-US" sz="1150" noProof="1"/>
          </a:p>
        </p:txBody>
      </p:sp>
      <p:sp>
        <p:nvSpPr>
          <p:cNvPr id="44" name="TOC Div6"/>
          <p:cNvSpPr/>
          <p:nvPr/>
        </p:nvSpPr>
        <p:spPr>
          <a:xfrm>
            <a:off x="1219200" y="4889500"/>
            <a:ext cx="10375900" cy="12700"/>
          </a:xfrm>
          <a:prstGeom prst="rect">
            <a:avLst/>
          </a:prstGeom>
          <a:solidFill>
            <a:srgbClr val="E3EAEF"/>
          </a:solidFill>
          <a:ln>
            <a:noFill/>
          </a:ln>
        </p:spPr>
      </p:sp>
      <p:sp>
        <p:nvSpPr>
          <p:cNvPr id="45" name="TOC Row7 Num"/>
          <p:cNvSpPr/>
          <p:nvPr/>
        </p:nvSpPr>
        <p:spPr>
          <a:xfrm>
            <a:off x="609600" y="4902200"/>
            <a:ext cx="406400" cy="406400"/>
          </a:xfrm>
          <a:prstGeom prst="ellipse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46" name="TOC Row7 NumText"/>
          <p:cNvSpPr txBox="1"/>
          <p:nvPr/>
        </p:nvSpPr>
        <p:spPr>
          <a:xfrm>
            <a:off x="609600" y="49022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i="0" noProof="1">
                <a:solidFill>
                  <a:srgbClr val="FFFFFF"/>
                </a:solidFill>
                <a:latin typeface="Inter"/>
                <a:ea typeface="Inter"/>
              </a:rPr>
              <a:t>07</a:t>
            </a:r>
            <a:endParaRPr lang="en-US" sz="1100" noProof="1"/>
          </a:p>
        </p:txBody>
      </p:sp>
      <p:sp>
        <p:nvSpPr>
          <p:cNvPr id="47" name="TOC Row7 Title"/>
          <p:cNvSpPr txBox="1"/>
          <p:nvPr/>
        </p:nvSpPr>
        <p:spPr>
          <a:xfrm>
            <a:off x="1219200" y="4927600"/>
            <a:ext cx="584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  <a:hlinkClick r:id="rId8" action="ppaction://hlinksldjump"/>
              </a:rPr>
              <a:t>Как начать: пилот, тарифы, инфраструктура</a:t>
            </a:r>
            <a:endParaRPr lang="en-US" sz="1250" noProof="1"/>
          </a:p>
        </p:txBody>
      </p:sp>
      <p:sp>
        <p:nvSpPr>
          <p:cNvPr id="48" name="TOC Row7 Sub"/>
          <p:cNvSpPr txBox="1"/>
          <p:nvPr/>
        </p:nvSpPr>
        <p:spPr>
          <a:xfrm>
            <a:off x="1219200" y="5143500"/>
            <a:ext cx="787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Пилот на ваших данных с оплатой по результату, условия лицензирования, требования</a:t>
            </a:r>
            <a:endParaRPr lang="en-US" sz="950" noProof="1"/>
          </a:p>
        </p:txBody>
      </p:sp>
      <p:sp>
        <p:nvSpPr>
          <p:cNvPr id="49" name="TOC Row7 Page"/>
          <p:cNvSpPr txBox="1"/>
          <p:nvPr/>
        </p:nvSpPr>
        <p:spPr>
          <a:xfrm>
            <a:off x="10160000" y="5003800"/>
            <a:ext cx="14351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50" b="1" i="0" noProof="1">
                <a:solidFill>
                  <a:srgbClr val="1F9BA3"/>
                </a:solidFill>
                <a:latin typeface="Inter"/>
                <a:ea typeface="Inter"/>
              </a:rPr>
              <a:t>стр. 35</a:t>
            </a:r>
            <a:endParaRPr lang="en-US" sz="1150" noProof="1"/>
          </a:p>
        </p:txBody>
      </p:sp>
      <p:sp>
        <p:nvSpPr>
          <p:cNvPr id="50" name="TOC Div7"/>
          <p:cNvSpPr/>
          <p:nvPr/>
        </p:nvSpPr>
        <p:spPr>
          <a:xfrm>
            <a:off x="1219200" y="5461000"/>
            <a:ext cx="10375900" cy="12700"/>
          </a:xfrm>
          <a:prstGeom prst="rect">
            <a:avLst/>
          </a:prstGeom>
          <a:solidFill>
            <a:srgbClr val="E3EAEF"/>
          </a:solidFill>
          <a:ln>
            <a:noFill/>
          </a:ln>
        </p:spPr>
      </p:sp>
      <p:sp>
        <p:nvSpPr>
          <p:cNvPr id="51" name="TOC Row8 Num"/>
          <p:cNvSpPr/>
          <p:nvPr/>
        </p:nvSpPr>
        <p:spPr>
          <a:xfrm>
            <a:off x="609600" y="5473700"/>
            <a:ext cx="406400" cy="406400"/>
          </a:xfrm>
          <a:prstGeom prst="ellipse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52" name="TOC Row8 NumText"/>
          <p:cNvSpPr txBox="1"/>
          <p:nvPr/>
        </p:nvSpPr>
        <p:spPr>
          <a:xfrm>
            <a:off x="609600" y="54737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i="0" noProof="1">
                <a:solidFill>
                  <a:srgbClr val="FFFFFF"/>
                </a:solidFill>
                <a:latin typeface="Inter"/>
                <a:ea typeface="Inter"/>
              </a:rPr>
              <a:t>08</a:t>
            </a:r>
            <a:endParaRPr lang="en-US" sz="1100" noProof="1"/>
          </a:p>
        </p:txBody>
      </p:sp>
      <p:sp>
        <p:nvSpPr>
          <p:cNvPr id="53" name="TOC Row8 Title"/>
          <p:cNvSpPr txBox="1"/>
          <p:nvPr/>
        </p:nvSpPr>
        <p:spPr>
          <a:xfrm>
            <a:off x="1219200" y="5499100"/>
            <a:ext cx="584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  <a:hlinkClick r:id="rId9" action="ppaction://hlinksldjump"/>
              </a:rPr>
              <a:t>Следующий шаг и контакты</a:t>
            </a:r>
            <a:endParaRPr lang="en-US" sz="1250" noProof="1"/>
          </a:p>
        </p:txBody>
      </p:sp>
      <p:sp>
        <p:nvSpPr>
          <p:cNvPr id="54" name="TOC Row8 Sub"/>
          <p:cNvSpPr txBox="1"/>
          <p:nvPr/>
        </p:nvSpPr>
        <p:spPr>
          <a:xfrm>
            <a:off x="1219200" y="5715000"/>
            <a:ext cx="787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Экспертная встреча под ваши задачи, персональный менеджер, общие контакты</a:t>
            </a:r>
            <a:endParaRPr lang="en-US" sz="950" noProof="1"/>
          </a:p>
        </p:txBody>
      </p:sp>
      <p:sp>
        <p:nvSpPr>
          <p:cNvPr id="55" name="TOC Row8 Page"/>
          <p:cNvSpPr txBox="1"/>
          <p:nvPr/>
        </p:nvSpPr>
        <p:spPr>
          <a:xfrm>
            <a:off x="10160000" y="5575300"/>
            <a:ext cx="14351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50" b="1" i="0" noProof="1">
                <a:solidFill>
                  <a:srgbClr val="1F9BA3"/>
                </a:solidFill>
                <a:latin typeface="Inter"/>
                <a:ea typeface="Inter"/>
              </a:rPr>
              <a:t>стр. 39</a:t>
            </a:r>
            <a:endParaRPr lang="en-US" sz="1150" noProof="1"/>
          </a:p>
        </p:txBody>
      </p:sp>
      <p:sp>
        <p:nvSpPr>
          <p:cNvPr id="56" name="Footer Left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57" name="Footer Right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02</a:t>
            </a:r>
            <a:endParaRPr lang="en-US" sz="850" noProof="1"/>
          </a:p>
        </p:txBody>
      </p:sp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57527057-9934-C904-E0E4-3B0CE068872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О КОМПАНИИ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ITQ Group в цифрах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922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Профессиональный участник рынка разработки программного обеспечения для автоматизации банковских процессов, финансовых и ретейловых компаний.</a:t>
            </a:r>
            <a:endParaRPr lang="en-US" sz="125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1727200"/>
            <a:ext cx="2095500" cy="15240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TextBox 7"/>
          <p:cNvSpPr txBox="1"/>
          <p:nvPr/>
        </p:nvSpPr>
        <p:spPr>
          <a:xfrm>
            <a:off x="812800" y="1930400"/>
            <a:ext cx="16891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i="0" noProof="1">
                <a:solidFill>
                  <a:srgbClr val="1F9BA3"/>
                </a:solidFill>
                <a:latin typeface="Inter"/>
                <a:ea typeface="Inter"/>
              </a:rPr>
              <a:t>200+</a:t>
            </a:r>
            <a:endParaRPr lang="en-US" sz="3000" noProof="1"/>
          </a:p>
        </p:txBody>
      </p:sp>
      <p:sp>
        <p:nvSpPr>
          <p:cNvPr id="11" name="TextBox 8"/>
          <p:cNvSpPr txBox="1"/>
          <p:nvPr/>
        </p:nvSpPr>
        <p:spPr>
          <a:xfrm>
            <a:off x="812800" y="2438400"/>
            <a:ext cx="16891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проектов реализовано</a:t>
            </a:r>
            <a:endParaRPr lang="en-US" sz="1100" noProof="1"/>
          </a:p>
        </p:txBody>
      </p:sp>
      <p:sp>
        <p:nvSpPr>
          <p:cNvPr id="12" name="Rounded Rectangle 9"/>
          <p:cNvSpPr/>
          <p:nvPr/>
        </p:nvSpPr>
        <p:spPr>
          <a:xfrm>
            <a:off x="2832100" y="1727200"/>
            <a:ext cx="2095500" cy="15240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3" name="TextBox 10"/>
          <p:cNvSpPr txBox="1"/>
          <p:nvPr/>
        </p:nvSpPr>
        <p:spPr>
          <a:xfrm>
            <a:off x="3035300" y="1930400"/>
            <a:ext cx="16891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i="0" noProof="1">
                <a:solidFill>
                  <a:srgbClr val="1F9BA3"/>
                </a:solidFill>
                <a:latin typeface="Inter"/>
                <a:ea typeface="Inter"/>
              </a:rPr>
              <a:t>45</a:t>
            </a:r>
            <a:endParaRPr lang="en-US" sz="3000" noProof="1"/>
          </a:p>
        </p:txBody>
      </p:sp>
      <p:sp>
        <p:nvSpPr>
          <p:cNvPr id="14" name="TextBox 11"/>
          <p:cNvSpPr txBox="1"/>
          <p:nvPr/>
        </p:nvSpPr>
        <p:spPr>
          <a:xfrm>
            <a:off x="3035300" y="2438400"/>
            <a:ext cx="16891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компаний из топ-100 крупнейших в РФ — наши клиенты</a:t>
            </a:r>
            <a:endParaRPr lang="en-US" sz="1100" noProof="1"/>
          </a:p>
        </p:txBody>
      </p:sp>
      <p:sp>
        <p:nvSpPr>
          <p:cNvPr id="15" name="Rounded Rectangle 12"/>
          <p:cNvSpPr/>
          <p:nvPr/>
        </p:nvSpPr>
        <p:spPr>
          <a:xfrm>
            <a:off x="5054600" y="1727200"/>
            <a:ext cx="2095500" cy="15240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6" name="TextBox 13"/>
          <p:cNvSpPr txBox="1"/>
          <p:nvPr/>
        </p:nvSpPr>
        <p:spPr>
          <a:xfrm>
            <a:off x="5257800" y="1930400"/>
            <a:ext cx="16891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i="0" noProof="1">
                <a:solidFill>
                  <a:srgbClr val="1F9BA3"/>
                </a:solidFill>
                <a:latin typeface="Inter"/>
                <a:ea typeface="Inter"/>
              </a:rPr>
              <a:t>10 лет</a:t>
            </a:r>
            <a:endParaRPr lang="en-US" sz="3000" noProof="1"/>
          </a:p>
        </p:txBody>
      </p:sp>
      <p:sp>
        <p:nvSpPr>
          <p:cNvPr id="17" name="TextBox 14"/>
          <p:cNvSpPr txBox="1"/>
          <p:nvPr/>
        </p:nvSpPr>
        <p:spPr>
          <a:xfrm>
            <a:off x="5257800" y="2438400"/>
            <a:ext cx="16891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на ИТ-рынке</a:t>
            </a:r>
            <a:endParaRPr lang="en-US" sz="1100" noProof="1"/>
          </a:p>
        </p:txBody>
      </p:sp>
      <p:sp>
        <p:nvSpPr>
          <p:cNvPr id="18" name="Rounded Rectangle 15"/>
          <p:cNvSpPr/>
          <p:nvPr/>
        </p:nvSpPr>
        <p:spPr>
          <a:xfrm>
            <a:off x="7277100" y="1727200"/>
            <a:ext cx="2095500" cy="15240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9" name="TextBox 16"/>
          <p:cNvSpPr txBox="1"/>
          <p:nvPr/>
        </p:nvSpPr>
        <p:spPr>
          <a:xfrm>
            <a:off x="7480300" y="1930400"/>
            <a:ext cx="16891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i="0" noProof="1">
                <a:solidFill>
                  <a:srgbClr val="1F9BA3"/>
                </a:solidFill>
                <a:latin typeface="Inter"/>
                <a:ea typeface="Inter"/>
              </a:rPr>
              <a:t>500+</a:t>
            </a:r>
            <a:endParaRPr lang="en-US" sz="3000" noProof="1"/>
          </a:p>
        </p:txBody>
      </p:sp>
      <p:sp>
        <p:nvSpPr>
          <p:cNvPr id="20" name="TextBox 17"/>
          <p:cNvSpPr txBox="1"/>
          <p:nvPr/>
        </p:nvSpPr>
        <p:spPr>
          <a:xfrm>
            <a:off x="7480300" y="2438400"/>
            <a:ext cx="16891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специалистов в команде</a:t>
            </a:r>
            <a:endParaRPr lang="en-US" sz="1100" noProof="1"/>
          </a:p>
        </p:txBody>
      </p:sp>
      <p:sp>
        <p:nvSpPr>
          <p:cNvPr id="21" name="Rounded Rectangle 18"/>
          <p:cNvSpPr/>
          <p:nvPr/>
        </p:nvSpPr>
        <p:spPr>
          <a:xfrm>
            <a:off x="9499600" y="1727200"/>
            <a:ext cx="2095500" cy="15240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2" name="TextBox 19"/>
          <p:cNvSpPr txBox="1"/>
          <p:nvPr/>
        </p:nvSpPr>
        <p:spPr>
          <a:xfrm>
            <a:off x="9702800" y="1930400"/>
            <a:ext cx="16891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i="0" noProof="1">
                <a:solidFill>
                  <a:srgbClr val="1F9BA3"/>
                </a:solidFill>
                <a:latin typeface="Inter"/>
                <a:ea typeface="Inter"/>
              </a:rPr>
              <a:t>7</a:t>
            </a:r>
            <a:endParaRPr lang="en-US" sz="3000" noProof="1"/>
          </a:p>
        </p:txBody>
      </p:sp>
      <p:sp>
        <p:nvSpPr>
          <p:cNvPr id="23" name="TextBox 20"/>
          <p:cNvSpPr txBox="1"/>
          <p:nvPr/>
        </p:nvSpPr>
        <p:spPr>
          <a:xfrm>
            <a:off x="9702800" y="2438400"/>
            <a:ext cx="16891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центров разработки по всей России</a:t>
            </a:r>
            <a:endParaRPr lang="en-US" sz="1100" noProof="1"/>
          </a:p>
        </p:txBody>
      </p:sp>
      <p:sp>
        <p:nvSpPr>
          <p:cNvPr id="24" name="TextBox 21"/>
          <p:cNvSpPr txBox="1"/>
          <p:nvPr/>
        </p:nvSpPr>
        <p:spPr>
          <a:xfrm>
            <a:off x="609600" y="36068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50" b="1" i="0" noProof="1">
                <a:solidFill>
                  <a:srgbClr val="073E44"/>
                </a:solidFill>
                <a:latin typeface="Inter"/>
                <a:ea typeface="Inter"/>
              </a:rPr>
              <a:t>Команда — 500+ специалистов по направлениям</a:t>
            </a:r>
            <a:endParaRPr lang="en-US" sz="1350" noProof="1"/>
          </a:p>
        </p:txBody>
      </p:sp>
      <p:sp>
        <p:nvSpPr>
          <p:cNvPr id="25" name="Rounded Rectangle 22"/>
          <p:cNvSpPr/>
          <p:nvPr/>
        </p:nvSpPr>
        <p:spPr>
          <a:xfrm>
            <a:off x="609600" y="3987800"/>
            <a:ext cx="172720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26" name="TextBox 23"/>
          <p:cNvSpPr txBox="1"/>
          <p:nvPr/>
        </p:nvSpPr>
        <p:spPr>
          <a:xfrm>
            <a:off x="762000" y="4114800"/>
            <a:ext cx="1422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213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разработка</a:t>
            </a:r>
            <a:endParaRPr lang="en-US" sz="1600" noProof="1"/>
          </a:p>
        </p:txBody>
      </p:sp>
      <p:sp>
        <p:nvSpPr>
          <p:cNvPr id="27" name="Rounded Rectangle 24"/>
          <p:cNvSpPr/>
          <p:nvPr/>
        </p:nvSpPr>
        <p:spPr>
          <a:xfrm>
            <a:off x="2463800" y="3987800"/>
            <a:ext cx="172720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28" name="TextBox 25"/>
          <p:cNvSpPr txBox="1"/>
          <p:nvPr/>
        </p:nvSpPr>
        <p:spPr>
          <a:xfrm>
            <a:off x="2616200" y="4114800"/>
            <a:ext cx="1422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124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тестирование</a:t>
            </a:r>
            <a:endParaRPr lang="en-US" sz="1600" noProof="1"/>
          </a:p>
        </p:txBody>
      </p:sp>
      <p:sp>
        <p:nvSpPr>
          <p:cNvPr id="29" name="Rounded Rectangle 26"/>
          <p:cNvSpPr/>
          <p:nvPr/>
        </p:nvSpPr>
        <p:spPr>
          <a:xfrm>
            <a:off x="4318000" y="3987800"/>
            <a:ext cx="172720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0" name="TextBox 27"/>
          <p:cNvSpPr txBox="1"/>
          <p:nvPr/>
        </p:nvSpPr>
        <p:spPr>
          <a:xfrm>
            <a:off x="4470400" y="4114800"/>
            <a:ext cx="1422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108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аналитика</a:t>
            </a:r>
            <a:endParaRPr lang="en-US" sz="1600" noProof="1"/>
          </a:p>
        </p:txBody>
      </p:sp>
      <p:sp>
        <p:nvSpPr>
          <p:cNvPr id="31" name="Rounded Rectangle 28"/>
          <p:cNvSpPr/>
          <p:nvPr/>
        </p:nvSpPr>
        <p:spPr>
          <a:xfrm>
            <a:off x="6172200" y="3987800"/>
            <a:ext cx="172720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2" name="TextBox 29"/>
          <p:cNvSpPr txBox="1"/>
          <p:nvPr/>
        </p:nvSpPr>
        <p:spPr>
          <a:xfrm>
            <a:off x="6324600" y="4114800"/>
            <a:ext cx="1422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52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мобильная разработка</a:t>
            </a:r>
            <a:endParaRPr lang="en-US" sz="1600" noProof="1"/>
          </a:p>
        </p:txBody>
      </p:sp>
      <p:sp>
        <p:nvSpPr>
          <p:cNvPr id="33" name="Rounded Rectangle 30"/>
          <p:cNvSpPr/>
          <p:nvPr/>
        </p:nvSpPr>
        <p:spPr>
          <a:xfrm>
            <a:off x="8026400" y="3987800"/>
            <a:ext cx="172720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4" name="TextBox 31"/>
          <p:cNvSpPr txBox="1"/>
          <p:nvPr/>
        </p:nvSpPr>
        <p:spPr>
          <a:xfrm>
            <a:off x="8178800" y="4114800"/>
            <a:ext cx="1422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30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DevOps</a:t>
            </a:r>
            <a:endParaRPr lang="en-US" sz="1600" noProof="1"/>
          </a:p>
        </p:txBody>
      </p:sp>
      <p:sp>
        <p:nvSpPr>
          <p:cNvPr id="35" name="Rounded Rectangle 32"/>
          <p:cNvSpPr/>
          <p:nvPr/>
        </p:nvSpPr>
        <p:spPr>
          <a:xfrm>
            <a:off x="9880600" y="3987800"/>
            <a:ext cx="171450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6" name="TextBox 33"/>
          <p:cNvSpPr txBox="1"/>
          <p:nvPr/>
        </p:nvSpPr>
        <p:spPr>
          <a:xfrm>
            <a:off x="10033000" y="4114800"/>
            <a:ext cx="14097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19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архитектура</a:t>
            </a:r>
            <a:endParaRPr lang="en-US" sz="1600" noProof="1"/>
          </a:p>
        </p:txBody>
      </p:sp>
      <p:sp>
        <p:nvSpPr>
          <p:cNvPr id="37" name="Rounded Rectangle 34"/>
          <p:cNvSpPr/>
          <p:nvPr/>
        </p:nvSpPr>
        <p:spPr>
          <a:xfrm>
            <a:off x="609600" y="5130800"/>
            <a:ext cx="10985500" cy="965200"/>
          </a:xfrm>
          <a:prstGeom prst="roundRect">
            <a:avLst>
              <a:gd name="adj" fmla="val 10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38" name="TextBox 35"/>
          <p:cNvSpPr txBox="1"/>
          <p:nvPr/>
        </p:nvSpPr>
        <p:spPr>
          <a:xfrm>
            <a:off x="914400" y="5308600"/>
            <a:ext cx="10414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Направление корпоративного ИИ</a:t>
            </a:r>
            <a:r>
              <a:rPr lang="en-US" sz="1250" i="0" noProof="1">
                <a:solidFill>
                  <a:srgbClr val="FFFFFF"/>
                </a:solidFill>
                <a:latin typeface="Inter"/>
                <a:ea typeface="Inter"/>
              </a:rPr>
              <a:t> — разработка платформы «Синапс» и AI Guard, внедрение ИИ в операционную деятельность крупных компаний: банки, страховые, ретейл, промышленность.</a:t>
            </a:r>
            <a:endParaRPr lang="en-US" sz="1250" noProof="1"/>
          </a:p>
        </p:txBody>
      </p:sp>
      <p:sp>
        <p:nvSpPr>
          <p:cNvPr id="39" name="TextBox 36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40" name="TextBox 37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3</a:t>
            </a:r>
            <a:endParaRPr lang="en-US" sz="850" noProof="1"/>
          </a:p>
        </p:txBody>
      </p:sp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2A2A3B5C-73B9-D8BB-FDD6-8718A9C69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КЛИЕНТЫ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Нам уже доверяют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922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Банки, страховые, ретейл, телеком и промышленные компании — более 45 компаний из топ-100.</a:t>
            </a:r>
            <a:endParaRPr lang="en-US" sz="125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1549400"/>
            <a:ext cx="10985500" cy="4648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pic>
        <p:nvPicPr>
          <p:cNvPr id="10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701800"/>
            <a:ext cx="10528300" cy="4343400"/>
          </a:xfrm>
          <a:prstGeom prst="rect">
            <a:avLst/>
          </a:prstGeom>
          <a:ln>
            <a:noFill/>
          </a:ln>
        </p:spPr>
      </p:pic>
      <p:sp>
        <p:nvSpPr>
          <p:cNvPr id="11" name="TextBox 8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12" name="TextBox 9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4</a:t>
            </a:r>
            <a:endParaRPr lang="en-US" sz="850" noProof="1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3BEBB85-1822-0F89-0E6C-DFB850DFF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НАШ ПОДХОД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9652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Пять практик корпоративного ИИ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922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Закрываем весь цикл внедрения ИИ. Начать можно с любой практики — дальше они усиливают друг друга.</a:t>
            </a:r>
            <a:endParaRPr lang="en-US" sz="125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1549400"/>
            <a:ext cx="2095500" cy="3175000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10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8034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11" name="TextBox 8"/>
          <p:cNvSpPr txBox="1"/>
          <p:nvPr/>
        </p:nvSpPr>
        <p:spPr>
          <a:xfrm>
            <a:off x="1905000" y="17018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b="1" i="0" noProof="1">
                <a:solidFill>
                  <a:srgbClr val="4EC6C6"/>
                </a:solidFill>
                <a:latin typeface="Inter"/>
                <a:ea typeface="Inter"/>
              </a:rPr>
              <a:t>01</a:t>
            </a:r>
            <a:endParaRPr lang="en-US" sz="1200" noProof="1"/>
          </a:p>
        </p:txBody>
      </p:sp>
      <p:sp>
        <p:nvSpPr>
          <p:cNvPr id="12" name="TextBox 9"/>
          <p:cNvSpPr txBox="1"/>
          <p:nvPr/>
        </p:nvSpPr>
        <p:spPr>
          <a:xfrm>
            <a:off x="838200" y="2286000"/>
            <a:ext cx="16637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50" b="1" i="0" noProof="1">
                <a:solidFill>
                  <a:srgbClr val="073E44"/>
                </a:solidFill>
                <a:latin typeface="Inter"/>
                <a:ea typeface="Inter"/>
              </a:rPr>
              <a:t>Платформа «Синапс»</a:t>
            </a:r>
            <a:endParaRPr lang="en-US" sz="1350" noProof="1"/>
          </a:p>
        </p:txBody>
      </p:sp>
      <p:sp>
        <p:nvSpPr>
          <p:cNvPr id="13" name="TextBox 10"/>
          <p:cNvSpPr txBox="1"/>
          <p:nvPr/>
        </p:nvSpPr>
        <p:spPr>
          <a:xfrm>
            <a:off x="838200" y="2844800"/>
            <a:ext cx="16637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Единый ИИ-слой между данными и бизнес-сценариями — от идеи до прода за недели.</a:t>
            </a:r>
            <a:endParaRPr lang="en-US" sz="1050" noProof="1"/>
          </a:p>
        </p:txBody>
      </p:sp>
      <p:sp>
        <p:nvSpPr>
          <p:cNvPr id="14" name="Rounded Rectangle 11"/>
          <p:cNvSpPr/>
          <p:nvPr/>
        </p:nvSpPr>
        <p:spPr>
          <a:xfrm>
            <a:off x="2832100" y="1549400"/>
            <a:ext cx="2095500" cy="3175000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15" name="Picture 12"/>
          <p:cNvPicPr/>
          <p:nvPr/>
        </p:nvPicPr>
        <p:blipFill>
          <a:blip r:embed="rId3"/>
          <a:stretch>
            <a:fillRect/>
          </a:stretch>
        </p:blipFill>
        <p:spPr>
          <a:xfrm>
            <a:off x="3060700" y="18034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16" name="TextBox 13"/>
          <p:cNvSpPr txBox="1"/>
          <p:nvPr/>
        </p:nvSpPr>
        <p:spPr>
          <a:xfrm>
            <a:off x="4127500" y="17018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b="1" i="0" noProof="1">
                <a:solidFill>
                  <a:srgbClr val="4EC6C6"/>
                </a:solidFill>
                <a:latin typeface="Inter"/>
                <a:ea typeface="Inter"/>
              </a:rPr>
              <a:t>02</a:t>
            </a:r>
            <a:endParaRPr lang="en-US" sz="1200" noProof="1"/>
          </a:p>
        </p:txBody>
      </p:sp>
      <p:sp>
        <p:nvSpPr>
          <p:cNvPr id="17" name="TextBox 14"/>
          <p:cNvSpPr txBox="1"/>
          <p:nvPr/>
        </p:nvSpPr>
        <p:spPr>
          <a:xfrm>
            <a:off x="3060700" y="2286000"/>
            <a:ext cx="16637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50" b="1" i="0" noProof="1">
                <a:solidFill>
                  <a:srgbClr val="073E44"/>
                </a:solidFill>
                <a:latin typeface="Inter"/>
                <a:ea typeface="Inter"/>
              </a:rPr>
              <a:t>AI Guard</a:t>
            </a:r>
            <a:endParaRPr lang="en-US" sz="1350" noProof="1"/>
          </a:p>
        </p:txBody>
      </p:sp>
      <p:sp>
        <p:nvSpPr>
          <p:cNvPr id="18" name="TextBox 15"/>
          <p:cNvSpPr txBox="1"/>
          <p:nvPr/>
        </p:nvSpPr>
        <p:spPr>
          <a:xfrm>
            <a:off x="3060700" y="2844800"/>
            <a:ext cx="16637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Безопасный периметр работы с ИИ: данные не покидают контур — служба ИБ за.</a:t>
            </a:r>
            <a:endParaRPr lang="en-US" sz="1050" noProof="1"/>
          </a:p>
        </p:txBody>
      </p:sp>
      <p:sp>
        <p:nvSpPr>
          <p:cNvPr id="19" name="Rounded Rectangle 16"/>
          <p:cNvSpPr/>
          <p:nvPr/>
        </p:nvSpPr>
        <p:spPr>
          <a:xfrm>
            <a:off x="5054600" y="1549400"/>
            <a:ext cx="2095500" cy="3175000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20" name="Picture 17"/>
          <p:cNvPicPr/>
          <p:nvPr/>
        </p:nvPicPr>
        <p:blipFill>
          <a:blip r:embed="rId4"/>
          <a:stretch>
            <a:fillRect/>
          </a:stretch>
        </p:blipFill>
        <p:spPr>
          <a:xfrm>
            <a:off x="5283200" y="18034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21" name="TextBox 18"/>
          <p:cNvSpPr txBox="1"/>
          <p:nvPr/>
        </p:nvSpPr>
        <p:spPr>
          <a:xfrm>
            <a:off x="6350000" y="17018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b="1" i="0" noProof="1">
                <a:solidFill>
                  <a:srgbClr val="4EC6C6"/>
                </a:solidFill>
                <a:latin typeface="Inter"/>
                <a:ea typeface="Inter"/>
              </a:rPr>
              <a:t>03</a:t>
            </a:r>
            <a:endParaRPr lang="en-US" sz="1200" noProof="1"/>
          </a:p>
        </p:txBody>
      </p:sp>
      <p:sp>
        <p:nvSpPr>
          <p:cNvPr id="22" name="TextBox 19"/>
          <p:cNvSpPr txBox="1"/>
          <p:nvPr/>
        </p:nvSpPr>
        <p:spPr>
          <a:xfrm>
            <a:off x="5283200" y="2286000"/>
            <a:ext cx="16637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50" b="1" i="0" noProof="1">
                <a:solidFill>
                  <a:srgbClr val="073E44"/>
                </a:solidFill>
                <a:latin typeface="Inter"/>
                <a:ea typeface="Inter"/>
              </a:rPr>
              <a:t>Veai Platform</a:t>
            </a:r>
            <a:endParaRPr lang="en-US" sz="1350" noProof="1"/>
          </a:p>
        </p:txBody>
      </p:sp>
      <p:sp>
        <p:nvSpPr>
          <p:cNvPr id="23" name="TextBox 20"/>
          <p:cNvSpPr txBox="1"/>
          <p:nvPr/>
        </p:nvSpPr>
        <p:spPr>
          <a:xfrm>
            <a:off x="5283200" y="2844800"/>
            <a:ext cx="16637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Доступ к топовым моделям Claude, GPT, Gemini — в рублях, с экономией до 40%.</a:t>
            </a:r>
            <a:endParaRPr lang="en-US" sz="1050" noProof="1"/>
          </a:p>
        </p:txBody>
      </p:sp>
      <p:sp>
        <p:nvSpPr>
          <p:cNvPr id="24" name="Rounded Rectangle 21"/>
          <p:cNvSpPr/>
          <p:nvPr/>
        </p:nvSpPr>
        <p:spPr>
          <a:xfrm>
            <a:off x="7277100" y="1549400"/>
            <a:ext cx="2095500" cy="3175000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25" name="Picture 22"/>
          <p:cNvPicPr/>
          <p:nvPr/>
        </p:nvPicPr>
        <p:blipFill>
          <a:blip r:embed="rId5"/>
          <a:stretch>
            <a:fillRect/>
          </a:stretch>
        </p:blipFill>
        <p:spPr>
          <a:xfrm>
            <a:off x="7505700" y="18034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26" name="TextBox 23"/>
          <p:cNvSpPr txBox="1"/>
          <p:nvPr/>
        </p:nvSpPr>
        <p:spPr>
          <a:xfrm>
            <a:off x="8572500" y="17018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b="1" i="0" noProof="1">
                <a:solidFill>
                  <a:srgbClr val="4EC6C6"/>
                </a:solidFill>
                <a:latin typeface="Inter"/>
                <a:ea typeface="Inter"/>
              </a:rPr>
              <a:t>04</a:t>
            </a:r>
            <a:endParaRPr lang="en-US" sz="1200" noProof="1"/>
          </a:p>
        </p:txBody>
      </p:sp>
      <p:sp>
        <p:nvSpPr>
          <p:cNvPr id="27" name="TextBox 24"/>
          <p:cNvSpPr txBox="1"/>
          <p:nvPr/>
        </p:nvSpPr>
        <p:spPr>
          <a:xfrm>
            <a:off x="7505700" y="2286000"/>
            <a:ext cx="16637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50" b="1" i="0" noProof="1">
                <a:solidFill>
                  <a:srgbClr val="073E44"/>
                </a:solidFill>
                <a:latin typeface="Inter"/>
                <a:ea typeface="Inter"/>
              </a:rPr>
              <a:t>Внешний офис ИИ</a:t>
            </a:r>
            <a:endParaRPr lang="en-US" sz="1350" noProof="1"/>
          </a:p>
        </p:txBody>
      </p:sp>
      <p:sp>
        <p:nvSpPr>
          <p:cNvPr id="28" name="TextBox 25"/>
          <p:cNvSpPr txBox="1"/>
          <p:nvPr/>
        </p:nvSpPr>
        <p:spPr>
          <a:xfrm>
            <a:off x="7505700" y="2844800"/>
            <a:ext cx="16637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Инженерная команда, которая делает руками и передаёт экспертизу вам.</a:t>
            </a:r>
            <a:endParaRPr lang="en-US" sz="1050" noProof="1"/>
          </a:p>
        </p:txBody>
      </p:sp>
      <p:sp>
        <p:nvSpPr>
          <p:cNvPr id="29" name="Rounded Rectangle 26"/>
          <p:cNvSpPr/>
          <p:nvPr/>
        </p:nvSpPr>
        <p:spPr>
          <a:xfrm>
            <a:off x="9499600" y="1549400"/>
            <a:ext cx="2095500" cy="3175000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30" name="Picture 27"/>
          <p:cNvPicPr/>
          <p:nvPr/>
        </p:nvPicPr>
        <p:blipFill>
          <a:blip r:embed="rId6"/>
          <a:stretch>
            <a:fillRect/>
          </a:stretch>
        </p:blipFill>
        <p:spPr>
          <a:xfrm>
            <a:off x="9728200" y="18034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31" name="TextBox 28"/>
          <p:cNvSpPr txBox="1"/>
          <p:nvPr/>
        </p:nvSpPr>
        <p:spPr>
          <a:xfrm>
            <a:off x="10795000" y="17018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b="1" i="0" noProof="1">
                <a:solidFill>
                  <a:srgbClr val="4EC6C6"/>
                </a:solidFill>
                <a:latin typeface="Inter"/>
                <a:ea typeface="Inter"/>
              </a:rPr>
              <a:t>05</a:t>
            </a:r>
            <a:endParaRPr lang="en-US" sz="1200" noProof="1"/>
          </a:p>
        </p:txBody>
      </p:sp>
      <p:sp>
        <p:nvSpPr>
          <p:cNvPr id="32" name="TextBox 29"/>
          <p:cNvSpPr txBox="1"/>
          <p:nvPr/>
        </p:nvSpPr>
        <p:spPr>
          <a:xfrm>
            <a:off x="9728200" y="2286000"/>
            <a:ext cx="16637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50" b="1" i="0" noProof="1">
                <a:solidFill>
                  <a:srgbClr val="073E44"/>
                </a:solidFill>
                <a:latin typeface="Inter"/>
                <a:ea typeface="Inter"/>
              </a:rPr>
              <a:t>Обучение и стратсессии</a:t>
            </a:r>
            <a:endParaRPr lang="en-US" sz="1350" noProof="1"/>
          </a:p>
        </p:txBody>
      </p:sp>
      <p:sp>
        <p:nvSpPr>
          <p:cNvPr id="33" name="TextBox 30"/>
          <p:cNvSpPr txBox="1"/>
          <p:nvPr/>
        </p:nvSpPr>
        <p:spPr>
          <a:xfrm>
            <a:off x="9728200" y="2844800"/>
            <a:ext cx="16637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Чтобы ИИ реально использовали на всех уровнях — от правления до команд.</a:t>
            </a:r>
            <a:endParaRPr lang="en-US" sz="1050" noProof="1"/>
          </a:p>
        </p:txBody>
      </p:sp>
      <p:sp>
        <p:nvSpPr>
          <p:cNvPr id="34" name="Rounded Rectangle 31"/>
          <p:cNvSpPr/>
          <p:nvPr/>
        </p:nvSpPr>
        <p:spPr>
          <a:xfrm>
            <a:off x="609600" y="5029200"/>
            <a:ext cx="10985500" cy="1066800"/>
          </a:xfrm>
          <a:prstGeom prst="roundRect">
            <a:avLst>
              <a:gd name="adj" fmla="val 9000"/>
            </a:avLst>
          </a:prstGeom>
          <a:solidFill>
            <a:srgbClr val="073E44"/>
          </a:solidFill>
          <a:ln>
            <a:noFill/>
          </a:ln>
        </p:spPr>
      </p:sp>
      <p:pic>
        <p:nvPicPr>
          <p:cNvPr id="35" name="Picture 32"/>
          <p:cNvPicPr/>
          <p:nvPr/>
        </p:nvPicPr>
        <p:blipFill>
          <a:blip r:embed="rId7"/>
          <a:stretch>
            <a:fillRect/>
          </a:stretch>
        </p:blipFill>
        <p:spPr>
          <a:xfrm>
            <a:off x="965200" y="5384800"/>
            <a:ext cx="355600" cy="355600"/>
          </a:xfrm>
          <a:prstGeom prst="rect">
            <a:avLst/>
          </a:prstGeom>
          <a:ln>
            <a:noFill/>
          </a:ln>
        </p:spPr>
      </p:pic>
      <p:sp>
        <p:nvSpPr>
          <p:cNvPr id="36" name="TextBox 33"/>
          <p:cNvSpPr txBox="1"/>
          <p:nvPr/>
        </p:nvSpPr>
        <p:spPr>
          <a:xfrm>
            <a:off x="1549400" y="5207000"/>
            <a:ext cx="9779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200" b="1" i="0" noProof="1">
                <a:solidFill>
                  <a:srgbClr val="FFFFFF"/>
                </a:solidFill>
                <a:latin typeface="Inter"/>
                <a:ea typeface="Inter"/>
              </a:rPr>
              <a:t>Практики работают как система:</a:t>
            </a:r>
            <a:r>
              <a:rPr lang="en-US" sz="1200" i="0" noProof="1">
                <a:solidFill>
                  <a:srgbClr val="FFFFFF"/>
                </a:solidFill>
                <a:latin typeface="Inter"/>
                <a:ea typeface="Inter"/>
              </a:rPr>
              <a:t> платформа даёт инфраструктуру, AI Guard — безопасный периметр, Veai — доступ к моделям, внешний офис — инженерные руки, обучение — людей, которые всем этим пользуются.</a:t>
            </a:r>
            <a:endParaRPr lang="en-US" sz="1200" noProof="1"/>
          </a:p>
        </p:txBody>
      </p:sp>
      <p:sp>
        <p:nvSpPr>
          <p:cNvPr id="37" name="TextBox 34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38" name="TextBox 35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5</a:t>
            </a:r>
            <a:endParaRPr lang="en-US" sz="850" noProof="1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A47B4472-D3A8-7DBB-A171-FAC64E9E48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Rounded Rectangle 2-shape"/>
          <p:cNvSpPr/>
          <p:nvPr/>
        </p:nvSpPr>
        <p:spPr>
          <a:xfrm>
            <a:off x="609600" y="457200"/>
            <a:ext cx="666750" cy="3175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4" name="Rounded Rectangle 2-text"/>
          <p:cNvSpPr txBox="1"/>
          <p:nvPr/>
        </p:nvSpPr>
        <p:spPr>
          <a:xfrm>
            <a:off x="609600" y="457200"/>
            <a:ext cx="66675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300" noProof="1"/>
          </a:p>
        </p:txBody>
      </p:sp>
      <p:sp>
        <p:nvSpPr>
          <p:cNvPr id="5" name="Rounded Rectangle 3-shape"/>
          <p:cNvSpPr/>
          <p:nvPr/>
        </p:nvSpPr>
        <p:spPr>
          <a:xfrm>
            <a:off x="564515" y="450251"/>
            <a:ext cx="808990" cy="3175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" name="Rounded Rectangle 3-text"/>
          <p:cNvSpPr txBox="1"/>
          <p:nvPr/>
        </p:nvSpPr>
        <p:spPr>
          <a:xfrm>
            <a:off x="508000" y="457200"/>
            <a:ext cx="80899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>
                <a:solidFill>
                  <a:srgbClr val="0C323D"/>
                </a:solidFill>
                <a:latin typeface="Inter"/>
                <a:ea typeface="Inter"/>
              </a:rPr>
              <a:t>group</a:t>
            </a:r>
            <a:endParaRPr lang="en-US" sz="1150" noProof="1"/>
          </a:p>
        </p:txBody>
      </p:sp>
      <p:sp>
        <p:nvSpPr>
          <p:cNvPr id="7" name="TextBox 4"/>
          <p:cNvSpPr txBox="1"/>
          <p:nvPr/>
        </p:nvSpPr>
        <p:spPr>
          <a:xfrm>
            <a:off x="508000" y="762000"/>
            <a:ext cx="5080000" cy="165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0" b="1" i="0" noProof="1">
                <a:solidFill>
                  <a:srgbClr val="FFFFFF"/>
                </a:solidFill>
                <a:latin typeface="Inter"/>
                <a:ea typeface="Inter"/>
              </a:rPr>
              <a:t>01</a:t>
            </a:r>
            <a:endParaRPr lang="en-US" sz="11000" noProof="1"/>
          </a:p>
        </p:txBody>
      </p:sp>
      <p:sp>
        <p:nvSpPr>
          <p:cNvPr id="8" name="TextBox 5"/>
          <p:cNvSpPr txBox="1"/>
          <p:nvPr/>
        </p:nvSpPr>
        <p:spPr>
          <a:xfrm>
            <a:off x="812800" y="2743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i="0" kern="0" spc="300" noProof="1">
                <a:solidFill>
                  <a:srgbClr val="4EC6C6"/>
                </a:solidFill>
                <a:latin typeface="Inter"/>
                <a:ea typeface="Inter"/>
              </a:rPr>
              <a:t>РАЗДЕЛ 01</a:t>
            </a:r>
            <a:endParaRPr lang="en-US" sz="1150" noProof="1"/>
          </a:p>
        </p:txBody>
      </p:sp>
      <p:sp>
        <p:nvSpPr>
          <p:cNvPr id="9" name="TextBox 6"/>
          <p:cNvSpPr txBox="1"/>
          <p:nvPr/>
        </p:nvSpPr>
        <p:spPr>
          <a:xfrm>
            <a:off x="812800" y="3048000"/>
            <a:ext cx="7874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i="0" noProof="1">
                <a:solidFill>
                  <a:srgbClr val="FFFFFF"/>
                </a:solidFill>
                <a:latin typeface="Inter"/>
                <a:ea typeface="Inter"/>
              </a:rPr>
              <a:t>Корпоративная</a:t>
            </a:r>
            <a:endParaRPr lang="en-US" sz="3400" noProof="1"/>
          </a:p>
          <a:p>
            <a:pPr algn="l">
              <a:lnSpc>
                <a:spcPct val="120000"/>
              </a:lnSpc>
            </a:pPr>
            <a:r>
              <a:rPr lang="en-US" sz="3400" b="1" i="0" noProof="1">
                <a:solidFill>
                  <a:srgbClr val="FFFFFF"/>
                </a:solidFill>
                <a:latin typeface="Inter"/>
                <a:ea typeface="Inter"/>
              </a:rPr>
              <a:t>ИИ-платформа «Синапс»</a:t>
            </a:r>
            <a:endParaRPr lang="en-US" sz="3400" noProof="1"/>
          </a:p>
        </p:txBody>
      </p:sp>
      <p:sp>
        <p:nvSpPr>
          <p:cNvPr id="10" name="TextBox 7"/>
          <p:cNvSpPr txBox="1"/>
          <p:nvPr/>
        </p:nvSpPr>
        <p:spPr>
          <a:xfrm>
            <a:off x="812800" y="4368800"/>
            <a:ext cx="711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i="0" noProof="1">
                <a:solidFill>
                  <a:srgbClr val="B9D4D9"/>
                </a:solidFill>
                <a:latin typeface="Inter"/>
                <a:ea typeface="Inter"/>
              </a:rPr>
              <a:t>Чтобы ИИ стал частью операционной деятельности компании — управляемо, от идеи до продакшена. Единая инфраструктура, на которой бизнес запускает ИИ-сценарии быстро, безопасно и под контролем.</a:t>
            </a:r>
            <a:endParaRPr lang="en-US" sz="1300" noProof="1"/>
          </a:p>
        </p:txBody>
      </p:sp>
      <p:sp>
        <p:nvSpPr>
          <p:cNvPr id="11" name="TextBox 8"/>
          <p:cNvSpPr txBox="1"/>
          <p:nvPr/>
        </p:nvSpPr>
        <p:spPr>
          <a:xfrm>
            <a:off x="8382000" y="27432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i="0" kern="0" spc="200" noProof="1">
                <a:solidFill>
                  <a:srgbClr val="7FAAB1"/>
                </a:solidFill>
                <a:latin typeface="Inter"/>
                <a:ea typeface="Inter"/>
              </a:rPr>
              <a:t>В РАЗДЕЛЕ</a:t>
            </a:r>
            <a:endParaRPr lang="en-US" sz="1000" noProof="1"/>
          </a:p>
        </p:txBody>
      </p:sp>
      <p:sp>
        <p:nvSpPr>
          <p:cNvPr id="12" name="TextBox 9"/>
          <p:cNvSpPr txBox="1"/>
          <p:nvPr/>
        </p:nvSpPr>
        <p:spPr>
          <a:xfrm>
            <a:off x="8382000" y="3048000"/>
            <a:ext cx="3175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Почему идеи не доходят до прода</a:t>
            </a:r>
            <a:endParaRPr lang="en-US" sz="1200" noProof="1"/>
          </a:p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Целевая архитектура ИИ-слоя</a:t>
            </a:r>
            <a:endParaRPr lang="en-US" sz="1200" noProof="1"/>
          </a:p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Компоненты платформы</a:t>
            </a:r>
            <a:endParaRPr lang="en-US" sz="1200" noProof="1"/>
          </a:p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Три типа задач и примеры</a:t>
            </a:r>
            <a:endParaRPr lang="en-US" sz="1200" noProof="1"/>
          </a:p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Эффект для бизнеса и ИТ</a:t>
            </a:r>
            <a:endParaRPr lang="en-US" sz="1200" noProof="1"/>
          </a:p>
        </p:txBody>
      </p:sp>
      <p:sp>
        <p:nvSpPr>
          <p:cNvPr id="13" name="Rounded Rectangle 10"/>
          <p:cNvSpPr/>
          <p:nvPr/>
        </p:nvSpPr>
        <p:spPr>
          <a:xfrm>
            <a:off x="812800" y="5588000"/>
            <a:ext cx="914400" cy="508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BA2A65A-4453-F3D6-9358-CD46402BF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10" y="36195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ЗНАКОМАЯ СИТУАЦИЯ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ИИ приходит в компанию с разных сторон</a:t>
            </a:r>
            <a:endParaRPr lang="en-US" sz="2500" noProof="1"/>
          </a:p>
        </p:txBody>
      </p:sp>
      <p:sp>
        <p:nvSpPr>
          <p:cNvPr id="8" name="Rounded Rectangle 5"/>
          <p:cNvSpPr/>
          <p:nvPr/>
        </p:nvSpPr>
        <p:spPr>
          <a:xfrm>
            <a:off x="609600" y="1270000"/>
            <a:ext cx="3543300" cy="1498600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9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498600"/>
            <a:ext cx="279400" cy="279400"/>
          </a:xfrm>
          <a:prstGeom prst="rect">
            <a:avLst/>
          </a:prstGeom>
          <a:ln>
            <a:noFill/>
          </a:ln>
        </p:spPr>
      </p:pic>
      <p:sp>
        <p:nvSpPr>
          <p:cNvPr id="10" name="TextBox 7"/>
          <p:cNvSpPr txBox="1"/>
          <p:nvPr/>
        </p:nvSpPr>
        <p:spPr>
          <a:xfrm>
            <a:off x="1244600" y="14986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Идей всё больше</a:t>
            </a:r>
            <a:endParaRPr lang="en-US" sz="1250" noProof="1"/>
          </a:p>
        </p:txBody>
      </p:sp>
      <p:sp>
        <p:nvSpPr>
          <p:cNvPr id="11" name="TextBox 8"/>
          <p:cNvSpPr txBox="1"/>
          <p:nvPr/>
        </p:nvSpPr>
        <p:spPr>
          <a:xfrm>
            <a:off x="838200" y="1879600"/>
            <a:ext cx="30861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У бизнеса копятся инициативы, которые «хочется сделать через ИИ». Список растёт, приоритетов нет.</a:t>
            </a:r>
            <a:endParaRPr lang="en-US" sz="1050" noProof="1"/>
          </a:p>
        </p:txBody>
      </p:sp>
      <p:sp>
        <p:nvSpPr>
          <p:cNvPr id="12" name="Rounded Rectangle 9"/>
          <p:cNvSpPr/>
          <p:nvPr/>
        </p:nvSpPr>
        <p:spPr>
          <a:xfrm>
            <a:off x="4330700" y="1270000"/>
            <a:ext cx="3543300" cy="1498600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13" name="Picture 10"/>
          <p:cNvPicPr/>
          <p:nvPr/>
        </p:nvPicPr>
        <p:blipFill>
          <a:blip r:embed="rId3"/>
          <a:stretch>
            <a:fillRect/>
          </a:stretch>
        </p:blipFill>
        <p:spPr>
          <a:xfrm>
            <a:off x="4559300" y="1498600"/>
            <a:ext cx="279400" cy="279400"/>
          </a:xfrm>
          <a:prstGeom prst="rect">
            <a:avLst/>
          </a:prstGeom>
          <a:ln>
            <a:noFill/>
          </a:ln>
        </p:spPr>
      </p:pic>
      <p:sp>
        <p:nvSpPr>
          <p:cNvPr id="14" name="TextBox 11"/>
          <p:cNvSpPr txBox="1"/>
          <p:nvPr/>
        </p:nvSpPr>
        <p:spPr>
          <a:xfrm>
            <a:off x="4965700" y="14986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«Сделайте нам ИИ»</a:t>
            </a:r>
            <a:endParaRPr lang="en-US" sz="1250" noProof="1"/>
          </a:p>
        </p:txBody>
      </p:sp>
      <p:sp>
        <p:nvSpPr>
          <p:cNvPr id="15" name="TextBox 12"/>
          <p:cNvSpPr txBox="1"/>
          <p:nvPr/>
        </p:nvSpPr>
        <p:spPr>
          <a:xfrm>
            <a:off x="4559300" y="1879600"/>
            <a:ext cx="30861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Бизнес приходит к ИТ: «я слышал про ИИ — давайте внедрим и у нас». Запросов всё больше.</a:t>
            </a:r>
            <a:endParaRPr lang="en-US" sz="1050" noProof="1"/>
          </a:p>
        </p:txBody>
      </p:sp>
      <p:sp>
        <p:nvSpPr>
          <p:cNvPr id="16" name="Rounded Rectangle 13"/>
          <p:cNvSpPr/>
          <p:nvPr/>
        </p:nvSpPr>
        <p:spPr>
          <a:xfrm>
            <a:off x="8051800" y="1270000"/>
            <a:ext cx="3543300" cy="1498600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17" name="Picture 14"/>
          <p:cNvPicPr/>
          <p:nvPr/>
        </p:nvPicPr>
        <p:blipFill>
          <a:blip r:embed="rId4"/>
          <a:stretch>
            <a:fillRect/>
          </a:stretch>
        </p:blipFill>
        <p:spPr>
          <a:xfrm>
            <a:off x="8280400" y="1498600"/>
            <a:ext cx="279400" cy="279400"/>
          </a:xfrm>
          <a:prstGeom prst="rect">
            <a:avLst/>
          </a:prstGeom>
          <a:ln>
            <a:noFill/>
          </a:ln>
        </p:spPr>
      </p:pic>
      <p:sp>
        <p:nvSpPr>
          <p:cNvPr id="18" name="TextBox 15"/>
          <p:cNvSpPr txBox="1"/>
          <p:nvPr/>
        </p:nvSpPr>
        <p:spPr>
          <a:xfrm>
            <a:off x="8686800" y="14986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Уже пробуют сами</a:t>
            </a:r>
            <a:endParaRPr lang="en-US" sz="1250" noProof="1"/>
          </a:p>
        </p:txBody>
      </p:sp>
      <p:sp>
        <p:nvSpPr>
          <p:cNvPr id="19" name="TextBox 16"/>
          <p:cNvSpPr txBox="1"/>
          <p:nvPr/>
        </p:nvSpPr>
        <p:spPr>
          <a:xfrm>
            <a:off x="8280400" y="1879600"/>
            <a:ext cx="30861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Отдельные команды используют ИИ у себя — без общих правил, контроля и безопасности.</a:t>
            </a:r>
            <a:endParaRPr lang="en-US" sz="1050" noProof="1"/>
          </a:p>
        </p:txBody>
      </p:sp>
      <p:sp>
        <p:nvSpPr>
          <p:cNvPr id="20" name="TextBox 17"/>
          <p:cNvSpPr txBox="1"/>
          <p:nvPr/>
        </p:nvSpPr>
        <p:spPr>
          <a:xfrm>
            <a:off x="609600" y="30480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50" b="1" i="0" noProof="1">
                <a:solidFill>
                  <a:srgbClr val="073E44"/>
                </a:solidFill>
                <a:latin typeface="Inter"/>
                <a:ea typeface="Inter"/>
              </a:rPr>
              <a:t>Без общей основы путь каждой идеи — серия неуправляемых очередей</a:t>
            </a:r>
            <a:endParaRPr lang="en-US" sz="1350" noProof="1"/>
          </a:p>
        </p:txBody>
      </p:sp>
      <p:sp>
        <p:nvSpPr>
          <p:cNvPr id="21" name="Rounded Rectangle 18"/>
          <p:cNvSpPr/>
          <p:nvPr/>
        </p:nvSpPr>
        <p:spPr>
          <a:xfrm>
            <a:off x="609600" y="3429000"/>
            <a:ext cx="1625600" cy="939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22" name="TextBox 19"/>
          <p:cNvSpPr txBox="1"/>
          <p:nvPr/>
        </p:nvSpPr>
        <p:spPr>
          <a:xfrm>
            <a:off x="736600" y="3530600"/>
            <a:ext cx="13716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i="0" noProof="1">
                <a:solidFill>
                  <a:srgbClr val="1F9BA3"/>
                </a:solidFill>
                <a:latin typeface="Inter"/>
                <a:ea typeface="Inter"/>
              </a:rPr>
              <a:t>1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2E4149"/>
                </a:solidFill>
                <a:latin typeface="Inter"/>
                <a:ea typeface="Inter"/>
              </a:rPr>
              <a:t>«Продать» идею ИТ</a:t>
            </a:r>
            <a:endParaRPr lang="en-US" sz="1600" noProof="1"/>
          </a:p>
        </p:txBody>
      </p:sp>
      <p:pic>
        <p:nvPicPr>
          <p:cNvPr id="23" name="Picture 20"/>
          <p:cNvPicPr/>
          <p:nvPr/>
        </p:nvPicPr>
        <p:blipFill>
          <a:blip r:embed="rId5"/>
          <a:stretch>
            <a:fillRect/>
          </a:stretch>
        </p:blipFill>
        <p:spPr>
          <a:xfrm>
            <a:off x="2286000" y="3784600"/>
            <a:ext cx="177800" cy="177800"/>
          </a:xfrm>
          <a:prstGeom prst="rect">
            <a:avLst/>
          </a:prstGeom>
          <a:ln>
            <a:noFill/>
          </a:ln>
        </p:spPr>
      </p:pic>
      <p:sp>
        <p:nvSpPr>
          <p:cNvPr id="24" name="Rounded Rectangle 21"/>
          <p:cNvSpPr/>
          <p:nvPr/>
        </p:nvSpPr>
        <p:spPr>
          <a:xfrm>
            <a:off x="2514600" y="3429000"/>
            <a:ext cx="1625600" cy="939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25" name="TextBox 22"/>
          <p:cNvSpPr txBox="1"/>
          <p:nvPr/>
        </p:nvSpPr>
        <p:spPr>
          <a:xfrm>
            <a:off x="2641600" y="3530600"/>
            <a:ext cx="13716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i="0" noProof="1">
                <a:solidFill>
                  <a:srgbClr val="1F9BA3"/>
                </a:solidFill>
                <a:latin typeface="Inter"/>
                <a:ea typeface="Inter"/>
              </a:rPr>
              <a:t>2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2E4149"/>
                </a:solidFill>
                <a:latin typeface="Inter"/>
                <a:ea typeface="Inter"/>
              </a:rPr>
              <a:t>Найти бюджет и ресурсы</a:t>
            </a:r>
            <a:endParaRPr lang="en-US" sz="1600" noProof="1"/>
          </a:p>
        </p:txBody>
      </p:sp>
      <p:pic>
        <p:nvPicPr>
          <p:cNvPr id="26" name="Picture 23"/>
          <p:cNvPicPr/>
          <p:nvPr/>
        </p:nvPicPr>
        <p:blipFill>
          <a:blip r:embed="rId5"/>
          <a:stretch>
            <a:fillRect/>
          </a:stretch>
        </p:blipFill>
        <p:spPr>
          <a:xfrm>
            <a:off x="4191000" y="3784600"/>
            <a:ext cx="177800" cy="177800"/>
          </a:xfrm>
          <a:prstGeom prst="rect">
            <a:avLst/>
          </a:prstGeom>
          <a:ln>
            <a:noFill/>
          </a:ln>
        </p:spPr>
      </p:pic>
      <p:sp>
        <p:nvSpPr>
          <p:cNvPr id="27" name="Rounded Rectangle 24"/>
          <p:cNvSpPr/>
          <p:nvPr/>
        </p:nvSpPr>
        <p:spPr>
          <a:xfrm>
            <a:off x="4419600" y="3429000"/>
            <a:ext cx="1625600" cy="939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28" name="TextBox 25"/>
          <p:cNvSpPr txBox="1"/>
          <p:nvPr/>
        </p:nvSpPr>
        <p:spPr>
          <a:xfrm>
            <a:off x="4546600" y="3530600"/>
            <a:ext cx="13716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i="0" noProof="1">
                <a:solidFill>
                  <a:srgbClr val="1F9BA3"/>
                </a:solidFill>
                <a:latin typeface="Inter"/>
                <a:ea typeface="Inter"/>
              </a:rPr>
              <a:t>3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2E4149"/>
                </a:solidFill>
                <a:latin typeface="Inter"/>
                <a:ea typeface="Inter"/>
              </a:rPr>
              <a:t>Согласовать с ИБ</a:t>
            </a:r>
            <a:endParaRPr lang="en-US" sz="1600" noProof="1"/>
          </a:p>
        </p:txBody>
      </p:sp>
      <p:pic>
        <p:nvPicPr>
          <p:cNvPr id="29" name="Picture 26"/>
          <p:cNvPicPr/>
          <p:nvPr/>
        </p:nvPicPr>
        <p:blipFill>
          <a:blip r:embed="rId5"/>
          <a:stretch>
            <a:fillRect/>
          </a:stretch>
        </p:blipFill>
        <p:spPr>
          <a:xfrm>
            <a:off x="6096000" y="3784600"/>
            <a:ext cx="177800" cy="177800"/>
          </a:xfrm>
          <a:prstGeom prst="rect">
            <a:avLst/>
          </a:prstGeom>
          <a:ln>
            <a:noFill/>
          </a:ln>
        </p:spPr>
      </p:pic>
      <p:sp>
        <p:nvSpPr>
          <p:cNvPr id="30" name="Rounded Rectangle 27"/>
          <p:cNvSpPr/>
          <p:nvPr/>
        </p:nvSpPr>
        <p:spPr>
          <a:xfrm>
            <a:off x="6324600" y="3429000"/>
            <a:ext cx="1625600" cy="939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1" name="TextBox 28"/>
          <p:cNvSpPr txBox="1"/>
          <p:nvPr/>
        </p:nvSpPr>
        <p:spPr>
          <a:xfrm>
            <a:off x="6451600" y="3530600"/>
            <a:ext cx="13716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i="0" noProof="1">
                <a:solidFill>
                  <a:srgbClr val="1F9BA3"/>
                </a:solidFill>
                <a:latin typeface="Inter"/>
                <a:ea typeface="Inter"/>
              </a:rPr>
              <a:t>4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2E4149"/>
                </a:solidFill>
                <a:latin typeface="Inter"/>
                <a:ea typeface="Inter"/>
              </a:rPr>
              <a:t>Получить инфраструктуру</a:t>
            </a:r>
            <a:endParaRPr lang="en-US" sz="1600" noProof="1"/>
          </a:p>
        </p:txBody>
      </p:sp>
      <p:pic>
        <p:nvPicPr>
          <p:cNvPr id="32" name="Picture 29"/>
          <p:cNvPicPr/>
          <p:nvPr/>
        </p:nvPicPr>
        <p:blipFill>
          <a:blip r:embed="rId5"/>
          <a:stretch>
            <a:fillRect/>
          </a:stretch>
        </p:blipFill>
        <p:spPr>
          <a:xfrm>
            <a:off x="8001000" y="3784600"/>
            <a:ext cx="177800" cy="177800"/>
          </a:xfrm>
          <a:prstGeom prst="rect">
            <a:avLst/>
          </a:prstGeom>
          <a:ln>
            <a:noFill/>
          </a:ln>
        </p:spPr>
      </p:pic>
      <p:sp>
        <p:nvSpPr>
          <p:cNvPr id="33" name="Rounded Rectangle 30"/>
          <p:cNvSpPr/>
          <p:nvPr/>
        </p:nvSpPr>
        <p:spPr>
          <a:xfrm>
            <a:off x="8229600" y="3429000"/>
            <a:ext cx="1625600" cy="939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4" name="TextBox 31"/>
          <p:cNvSpPr txBox="1"/>
          <p:nvPr/>
        </p:nvSpPr>
        <p:spPr>
          <a:xfrm>
            <a:off x="8356600" y="3530600"/>
            <a:ext cx="13716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i="0" noProof="1">
                <a:solidFill>
                  <a:srgbClr val="1F9BA3"/>
                </a:solidFill>
                <a:latin typeface="Inter"/>
                <a:ea typeface="Inter"/>
              </a:rPr>
              <a:t>5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2E4149"/>
                </a:solidFill>
                <a:latin typeface="Inter"/>
                <a:ea typeface="Inter"/>
              </a:rPr>
              <a:t>Найти, кто внедрит</a:t>
            </a:r>
            <a:endParaRPr lang="en-US" sz="1600" noProof="1"/>
          </a:p>
        </p:txBody>
      </p:sp>
      <p:pic>
        <p:nvPicPr>
          <p:cNvPr id="35" name="Picture 32"/>
          <p:cNvPicPr/>
          <p:nvPr/>
        </p:nvPicPr>
        <p:blipFill>
          <a:blip r:embed="rId5"/>
          <a:stretch>
            <a:fillRect/>
          </a:stretch>
        </p:blipFill>
        <p:spPr>
          <a:xfrm>
            <a:off x="9906000" y="3784600"/>
            <a:ext cx="177800" cy="177800"/>
          </a:xfrm>
          <a:prstGeom prst="rect">
            <a:avLst/>
          </a:prstGeom>
          <a:ln>
            <a:noFill/>
          </a:ln>
        </p:spPr>
      </p:pic>
      <p:sp>
        <p:nvSpPr>
          <p:cNvPr id="36" name="Rounded Rectangle 33"/>
          <p:cNvSpPr/>
          <p:nvPr/>
        </p:nvSpPr>
        <p:spPr>
          <a:xfrm>
            <a:off x="10134600" y="3429000"/>
            <a:ext cx="1460500" cy="939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7" name="TextBox 34"/>
          <p:cNvSpPr txBox="1"/>
          <p:nvPr/>
        </p:nvSpPr>
        <p:spPr>
          <a:xfrm>
            <a:off x="10261600" y="3530600"/>
            <a:ext cx="12065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i="0" noProof="1">
                <a:solidFill>
                  <a:srgbClr val="1F9BA3"/>
                </a:solidFill>
                <a:latin typeface="Inter"/>
                <a:ea typeface="Inter"/>
              </a:rPr>
              <a:t>6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2E4149"/>
                </a:solidFill>
                <a:latin typeface="Inter"/>
                <a:ea typeface="Inter"/>
              </a:rPr>
              <a:t>Найти, кто поддержит</a:t>
            </a:r>
            <a:endParaRPr lang="en-US" sz="1600" noProof="1"/>
          </a:p>
        </p:txBody>
      </p:sp>
      <p:sp>
        <p:nvSpPr>
          <p:cNvPr id="38" name="Rounded Rectangle 35"/>
          <p:cNvSpPr/>
          <p:nvPr/>
        </p:nvSpPr>
        <p:spPr>
          <a:xfrm>
            <a:off x="609600" y="4724400"/>
            <a:ext cx="10985500" cy="1270000"/>
          </a:xfrm>
          <a:prstGeom prst="roundRect">
            <a:avLst>
              <a:gd name="adj" fmla="val 8000"/>
            </a:avLst>
          </a:prstGeom>
          <a:solidFill>
            <a:srgbClr val="073E44"/>
          </a:solidFill>
          <a:ln>
            <a:noFill/>
          </a:ln>
        </p:spPr>
      </p:sp>
      <p:pic>
        <p:nvPicPr>
          <p:cNvPr id="39" name="Picture 36"/>
          <p:cNvPicPr/>
          <p:nvPr/>
        </p:nvPicPr>
        <p:blipFill>
          <a:blip r:embed="rId6"/>
          <a:stretch>
            <a:fillRect/>
          </a:stretch>
        </p:blipFill>
        <p:spPr>
          <a:xfrm>
            <a:off x="965200" y="5130800"/>
            <a:ext cx="381000" cy="381000"/>
          </a:xfrm>
          <a:prstGeom prst="rect">
            <a:avLst/>
          </a:prstGeom>
          <a:ln>
            <a:noFill/>
          </a:ln>
        </p:spPr>
      </p:pic>
      <p:sp>
        <p:nvSpPr>
          <p:cNvPr id="40" name="TextBox 37"/>
          <p:cNvSpPr txBox="1"/>
          <p:nvPr/>
        </p:nvSpPr>
        <p:spPr>
          <a:xfrm>
            <a:off x="1574800" y="4927600"/>
            <a:ext cx="9652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5000"/>
              </a:lnSpc>
            </a:pPr>
            <a:r>
              <a:rPr lang="en-US" sz="1250" i="0" noProof="1">
                <a:solidFill>
                  <a:srgbClr val="FFFFFF"/>
                </a:solidFill>
                <a:latin typeface="Inter"/>
                <a:ea typeface="Inter"/>
              </a:rPr>
              <a:t>Сроки непредсказуемы, точек принятия решений нет. Каждая инициатива проходит этот путь заново: идеи тонут или ждут месяцами, а внедрённое не масштабируется.</a:t>
            </a:r>
            <a:endParaRPr lang="en-US" sz="1250" noProof="1"/>
          </a:p>
          <a:p>
            <a:pPr algn="l">
              <a:lnSpc>
                <a:spcPct val="155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Чтобы разрозненные инициативы стали управляемым потоком — нужна единая платформа.</a:t>
            </a:r>
            <a:endParaRPr lang="en-US" sz="1250" noProof="1"/>
          </a:p>
        </p:txBody>
      </p:sp>
      <p:sp>
        <p:nvSpPr>
          <p:cNvPr id="41" name="TextBox 38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42" name="TextBox 39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7</a:t>
            </a:r>
            <a:endParaRPr lang="en-US" sz="850" noProof="1"/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772E063E-F96B-2E2F-0955-DCFF971BD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ЦЕЛЕВАЯ АРХИТЕКТУРА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Единый ИИ-слой между данными и бизнес-сценариями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2700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Корпоративные данные</a:t>
            </a:r>
            <a:endParaRPr lang="en-US" sz="125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1600200"/>
            <a:ext cx="3048000" cy="419100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TextBox 7"/>
          <p:cNvSpPr txBox="1"/>
          <p:nvPr/>
        </p:nvSpPr>
        <p:spPr>
          <a:xfrm>
            <a:off x="838200" y="1854200"/>
            <a:ext cx="2590800" cy="368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ERP · CRM · BPM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1400"/>
              </a:spcBef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Хранилища (DWH)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1400"/>
              </a:spcBef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Документы, переписка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1400"/>
              </a:spcBef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Внутренние API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1400"/>
              </a:spcBef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Структурированные и неструктурированные данные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1800"/>
              </a:spcBef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Форматы: PDF, DOCX, XLSX, CSV, PPTX, PNG, JPG — сканы и машиночитаемые. Базово — от 3 источников.</a:t>
            </a:r>
            <a:endParaRPr lang="en-US" sz="1600" noProof="1"/>
          </a:p>
        </p:txBody>
      </p:sp>
      <p:pic>
        <p:nvPicPr>
          <p:cNvPr id="11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3759200" y="3556000"/>
            <a:ext cx="254000" cy="254000"/>
          </a:xfrm>
          <a:prstGeom prst="rect">
            <a:avLst/>
          </a:prstGeom>
          <a:ln>
            <a:noFill/>
          </a:ln>
        </p:spPr>
      </p:pic>
      <p:sp>
        <p:nvSpPr>
          <p:cNvPr id="12" name="Rounded Rectangle 9"/>
          <p:cNvSpPr/>
          <p:nvPr/>
        </p:nvSpPr>
        <p:spPr>
          <a:xfrm>
            <a:off x="4114800" y="1270000"/>
            <a:ext cx="3962400" cy="4826000"/>
          </a:xfrm>
          <a:prstGeom prst="roundRect">
            <a:avLst>
              <a:gd name="adj" fmla="val 4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3" name="TextBox 10"/>
          <p:cNvSpPr txBox="1"/>
          <p:nvPr/>
        </p:nvSpPr>
        <p:spPr>
          <a:xfrm>
            <a:off x="4368800" y="1498600"/>
            <a:ext cx="345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i="0" noProof="1">
                <a:solidFill>
                  <a:srgbClr val="FFFFFF"/>
                </a:solidFill>
                <a:latin typeface="Inter"/>
                <a:ea typeface="Inter"/>
              </a:rPr>
              <a:t>Корпоративный ИИ-слой</a:t>
            </a:r>
            <a:endParaRPr lang="en-US" sz="1500" noProof="1"/>
          </a:p>
        </p:txBody>
      </p:sp>
      <p:sp>
        <p:nvSpPr>
          <p:cNvPr id="14" name="Rounded Rectangle 11"/>
          <p:cNvSpPr/>
          <p:nvPr/>
        </p:nvSpPr>
        <p:spPr>
          <a:xfrm>
            <a:off x="4368800" y="1930400"/>
            <a:ext cx="34544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</p:sp>
      <p:sp>
        <p:nvSpPr>
          <p:cNvPr id="15" name="TextBox 12"/>
          <p:cNvSpPr txBox="1"/>
          <p:nvPr/>
        </p:nvSpPr>
        <p:spPr>
          <a:xfrm>
            <a:off x="4546600" y="2032000"/>
            <a:ext cx="3098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b="1" i="0" noProof="1">
                <a:solidFill>
                  <a:srgbClr val="FFFFFF"/>
                </a:solidFill>
                <a:latin typeface="Inter"/>
                <a:ea typeface="Inter"/>
              </a:rPr>
              <a:t>Сценарии и интерфейсы</a:t>
            </a:r>
            <a:endParaRPr lang="en-US" sz="1050" noProof="1"/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lang="en-US" sz="1050" i="0" noProof="1">
                <a:solidFill>
                  <a:srgbClr val="B9D4D9"/>
                </a:solidFill>
                <a:latin typeface="Inter"/>
                <a:ea typeface="Inter"/>
              </a:rPr>
              <a:t>диалоги, ассистенты, агенты, отчёты</a:t>
            </a:r>
            <a:endParaRPr lang="en-US" sz="1050" noProof="1"/>
          </a:p>
        </p:txBody>
      </p:sp>
      <p:sp>
        <p:nvSpPr>
          <p:cNvPr id="16" name="Rounded Rectangle 13"/>
          <p:cNvSpPr/>
          <p:nvPr/>
        </p:nvSpPr>
        <p:spPr>
          <a:xfrm>
            <a:off x="4368800" y="2971800"/>
            <a:ext cx="34544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</p:sp>
      <p:sp>
        <p:nvSpPr>
          <p:cNvPr id="17" name="TextBox 14"/>
          <p:cNvSpPr txBox="1"/>
          <p:nvPr/>
        </p:nvSpPr>
        <p:spPr>
          <a:xfrm>
            <a:off x="4546600" y="3073400"/>
            <a:ext cx="3098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b="1" i="0" noProof="1">
                <a:solidFill>
                  <a:srgbClr val="FFFFFF"/>
                </a:solidFill>
                <a:latin typeface="Inter"/>
                <a:ea typeface="Inter"/>
              </a:rPr>
              <a:t>Платформенные сервисы</a:t>
            </a:r>
            <a:endParaRPr lang="en-US" sz="1050" noProof="1"/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lang="en-US" sz="1050" i="0" noProof="1">
                <a:solidFill>
                  <a:srgbClr val="B9D4D9"/>
                </a:solidFill>
                <a:latin typeface="Inter"/>
                <a:ea typeface="Inter"/>
              </a:rPr>
              <a:t>маршрутизация моделей, поиск, оркестрация агентов, мониторинг</a:t>
            </a:r>
            <a:endParaRPr lang="en-US" sz="1050" noProof="1"/>
          </a:p>
        </p:txBody>
      </p:sp>
      <p:sp>
        <p:nvSpPr>
          <p:cNvPr id="18" name="Rounded Rectangle 15"/>
          <p:cNvSpPr/>
          <p:nvPr/>
        </p:nvSpPr>
        <p:spPr>
          <a:xfrm>
            <a:off x="4368800" y="4013200"/>
            <a:ext cx="34544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</p:sp>
      <p:sp>
        <p:nvSpPr>
          <p:cNvPr id="19" name="TextBox 16"/>
          <p:cNvSpPr txBox="1"/>
          <p:nvPr/>
        </p:nvSpPr>
        <p:spPr>
          <a:xfrm>
            <a:off x="4546600" y="4114800"/>
            <a:ext cx="3098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b="1" i="0" noProof="1">
                <a:solidFill>
                  <a:srgbClr val="FFFFFF"/>
                </a:solidFill>
                <a:latin typeface="Inter"/>
                <a:ea typeface="Inter"/>
              </a:rPr>
              <a:t>Безопасность и управление</a:t>
            </a:r>
            <a:endParaRPr lang="en-US" sz="1050" noProof="1"/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lang="en-US" sz="1050" i="0" noProof="1">
                <a:solidFill>
                  <a:srgbClr val="B9D4D9"/>
                </a:solidFill>
                <a:latin typeface="Inter"/>
                <a:ea typeface="Inter"/>
              </a:rPr>
              <a:t>маскирование ПД, контроль доступа, аудит, governance</a:t>
            </a:r>
            <a:endParaRPr lang="en-US" sz="1050" noProof="1"/>
          </a:p>
        </p:txBody>
      </p:sp>
      <p:sp>
        <p:nvSpPr>
          <p:cNvPr id="20" name="Rounded Rectangle 17"/>
          <p:cNvSpPr/>
          <p:nvPr/>
        </p:nvSpPr>
        <p:spPr>
          <a:xfrm>
            <a:off x="4368800" y="5054600"/>
            <a:ext cx="34544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</p:sp>
      <p:sp>
        <p:nvSpPr>
          <p:cNvPr id="21" name="TextBox 18"/>
          <p:cNvSpPr txBox="1"/>
          <p:nvPr/>
        </p:nvSpPr>
        <p:spPr>
          <a:xfrm>
            <a:off x="4546600" y="5156200"/>
            <a:ext cx="3098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b="1" i="0" noProof="1">
                <a:solidFill>
                  <a:srgbClr val="FFFFFF"/>
                </a:solidFill>
                <a:latin typeface="Inter"/>
                <a:ea typeface="Inter"/>
              </a:rPr>
              <a:t>Развёртывание и эксплуатация</a:t>
            </a:r>
            <a:endParaRPr lang="en-US" sz="1050" noProof="1"/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lang="en-US" sz="1050" i="0" noProof="1">
                <a:solidFill>
                  <a:srgbClr val="B9D4D9"/>
                </a:solidFill>
                <a:latin typeface="Inter"/>
                <a:ea typeface="Inter"/>
              </a:rPr>
              <a:t>выбор контура, сайзинг, масштабирование, SLA</a:t>
            </a:r>
            <a:endParaRPr lang="en-US" sz="1050" noProof="1"/>
          </a:p>
        </p:txBody>
      </p:sp>
      <p:pic>
        <p:nvPicPr>
          <p:cNvPr id="22" name="Picture 19"/>
          <p:cNvPicPr/>
          <p:nvPr/>
        </p:nvPicPr>
        <p:blipFill>
          <a:blip r:embed="rId2"/>
          <a:stretch>
            <a:fillRect/>
          </a:stretch>
        </p:blipFill>
        <p:spPr>
          <a:xfrm>
            <a:off x="8178800" y="3556000"/>
            <a:ext cx="254000" cy="254000"/>
          </a:xfrm>
          <a:prstGeom prst="rect">
            <a:avLst/>
          </a:prstGeom>
          <a:ln>
            <a:noFill/>
          </a:ln>
        </p:spPr>
      </p:pic>
      <p:sp>
        <p:nvSpPr>
          <p:cNvPr id="23" name="TextBox 20"/>
          <p:cNvSpPr txBox="1"/>
          <p:nvPr/>
        </p:nvSpPr>
        <p:spPr>
          <a:xfrm>
            <a:off x="8534400" y="12700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Бизнес-сценарии</a:t>
            </a:r>
            <a:endParaRPr lang="en-US" sz="1250" noProof="1"/>
          </a:p>
        </p:txBody>
      </p:sp>
      <p:sp>
        <p:nvSpPr>
          <p:cNvPr id="24" name="Rounded Rectangle 21"/>
          <p:cNvSpPr/>
          <p:nvPr/>
        </p:nvSpPr>
        <p:spPr>
          <a:xfrm>
            <a:off x="8534400" y="1600200"/>
            <a:ext cx="3060700" cy="419100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5" name="TextBox 22"/>
          <p:cNvSpPr txBox="1"/>
          <p:nvPr/>
        </p:nvSpPr>
        <p:spPr>
          <a:xfrm>
            <a:off x="8763000" y="1803400"/>
            <a:ext cx="2603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Ассистент руководителя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ИИ-агент бухгалтерии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HR-рекрутер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Тендерный специалист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Поддержка клиентов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Аналитик «на естественном языке»</a:t>
            </a:r>
            <a:endParaRPr lang="en-US" sz="1100" noProof="1"/>
          </a:p>
        </p:txBody>
      </p:sp>
      <p:sp>
        <p:nvSpPr>
          <p:cNvPr id="26" name="TextBox 23"/>
          <p:cNvSpPr txBox="1"/>
          <p:nvPr/>
        </p:nvSpPr>
        <p:spPr>
          <a:xfrm>
            <a:off x="609600" y="6172200"/>
            <a:ext cx="109855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50" i="0" noProof="1">
                <a:solidFill>
                  <a:srgbClr val="64767F"/>
                </a:solidFill>
                <a:latin typeface="Inter"/>
                <a:ea typeface="Inter"/>
              </a:rPr>
              <a:t>On-premise в контуре заказчика · любые LLM-провайдеры — российские, open-source, внешние — по вашей политике</a:t>
            </a:r>
            <a:endParaRPr lang="en-US" sz="1050" noProof="1"/>
          </a:p>
        </p:txBody>
      </p:sp>
      <p:sp>
        <p:nvSpPr>
          <p:cNvPr id="27" name="TextBox 24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28" name="TextBox 25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8</a:t>
            </a:r>
            <a:endParaRPr lang="en-US" sz="850" noProof="1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9E1B8173-166D-645C-46B6-37BEA378D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ЧТО ВХОДИТ В ПЛАТФОРМУ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Платформа — набор готовых компонентов</a:t>
            </a:r>
            <a:endParaRPr lang="en-US" sz="2500" noProof="1"/>
          </a:p>
        </p:txBody>
      </p:sp>
      <p:sp>
        <p:nvSpPr>
          <p:cNvPr id="8" name="Rounded Rectangle 5"/>
          <p:cNvSpPr/>
          <p:nvPr/>
        </p:nvSpPr>
        <p:spPr>
          <a:xfrm>
            <a:off x="609600" y="1270000"/>
            <a:ext cx="3543300" cy="1625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9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498600"/>
            <a:ext cx="279400" cy="279400"/>
          </a:xfrm>
          <a:prstGeom prst="rect">
            <a:avLst/>
          </a:prstGeom>
          <a:ln>
            <a:noFill/>
          </a:ln>
        </p:spPr>
      </p:pic>
      <p:sp>
        <p:nvSpPr>
          <p:cNvPr id="10" name="TextBox 7"/>
          <p:cNvSpPr txBox="1"/>
          <p:nvPr/>
        </p:nvSpPr>
        <p:spPr>
          <a:xfrm>
            <a:off x="1244600" y="1498600"/>
            <a:ext cx="2730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AI Guard — модуль безопасности</a:t>
            </a:r>
            <a:endParaRPr lang="en-US" sz="1250" noProof="1"/>
          </a:p>
        </p:txBody>
      </p:sp>
      <p:sp>
        <p:nvSpPr>
          <p:cNvPr id="11" name="TextBox 8"/>
          <p:cNvSpPr txBox="1"/>
          <p:nvPr/>
        </p:nvSpPr>
        <p:spPr>
          <a:xfrm>
            <a:off x="838200" y="1879600"/>
            <a:ext cx="31115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Защищённый доступ к моделям: маскирование данных, восстановление в ответе, RBAC, журналирование. Встроен в платформу, поставляется и отдельно.</a:t>
            </a:r>
            <a:endParaRPr lang="en-US" sz="1050" noProof="1"/>
          </a:p>
        </p:txBody>
      </p:sp>
      <p:sp>
        <p:nvSpPr>
          <p:cNvPr id="12" name="Rounded Rectangle 9"/>
          <p:cNvSpPr/>
          <p:nvPr/>
        </p:nvSpPr>
        <p:spPr>
          <a:xfrm>
            <a:off x="4330700" y="1270000"/>
            <a:ext cx="3543300" cy="1625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13" name="Picture 10"/>
          <p:cNvPicPr/>
          <p:nvPr/>
        </p:nvPicPr>
        <p:blipFill>
          <a:blip r:embed="rId3"/>
          <a:stretch>
            <a:fillRect/>
          </a:stretch>
        </p:blipFill>
        <p:spPr>
          <a:xfrm>
            <a:off x="4559300" y="1498600"/>
            <a:ext cx="279400" cy="279400"/>
          </a:xfrm>
          <a:prstGeom prst="rect">
            <a:avLst/>
          </a:prstGeom>
          <a:ln>
            <a:noFill/>
          </a:ln>
        </p:spPr>
      </p:pic>
      <p:sp>
        <p:nvSpPr>
          <p:cNvPr id="14" name="TextBox 11"/>
          <p:cNvSpPr txBox="1"/>
          <p:nvPr/>
        </p:nvSpPr>
        <p:spPr>
          <a:xfrm>
            <a:off x="4965700" y="1498600"/>
            <a:ext cx="2730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Диалог с данными</a:t>
            </a:r>
            <a:endParaRPr lang="en-US" sz="1250" noProof="1"/>
          </a:p>
        </p:txBody>
      </p:sp>
      <p:sp>
        <p:nvSpPr>
          <p:cNvPr id="15" name="TextBox 12"/>
          <p:cNvSpPr txBox="1"/>
          <p:nvPr/>
        </p:nvSpPr>
        <p:spPr>
          <a:xfrm>
            <a:off x="4559300" y="1879600"/>
            <a:ext cx="31115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Единый каталог корпоративных данных: что где хранится, что означает, кому доступно — агенты понимают бизнес-контекст.</a:t>
            </a:r>
            <a:endParaRPr lang="en-US" sz="1050" noProof="1"/>
          </a:p>
        </p:txBody>
      </p:sp>
      <p:sp>
        <p:nvSpPr>
          <p:cNvPr id="16" name="Rounded Rectangle 13"/>
          <p:cNvSpPr/>
          <p:nvPr/>
        </p:nvSpPr>
        <p:spPr>
          <a:xfrm>
            <a:off x="8051800" y="1270000"/>
            <a:ext cx="3543300" cy="1625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17" name="Picture 14"/>
          <p:cNvPicPr/>
          <p:nvPr/>
        </p:nvPicPr>
        <p:blipFill>
          <a:blip r:embed="rId4"/>
          <a:stretch>
            <a:fillRect/>
          </a:stretch>
        </p:blipFill>
        <p:spPr>
          <a:xfrm>
            <a:off x="8280400" y="1498600"/>
            <a:ext cx="279400" cy="279400"/>
          </a:xfrm>
          <a:prstGeom prst="rect">
            <a:avLst/>
          </a:prstGeom>
          <a:ln>
            <a:noFill/>
          </a:ln>
        </p:spPr>
      </p:pic>
      <p:sp>
        <p:nvSpPr>
          <p:cNvPr id="18" name="TextBox 15"/>
          <p:cNvSpPr txBox="1"/>
          <p:nvPr/>
        </p:nvSpPr>
        <p:spPr>
          <a:xfrm>
            <a:off x="8686800" y="1498600"/>
            <a:ext cx="2730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Корпоративные знания (RAG)</a:t>
            </a:r>
            <a:endParaRPr lang="en-US" sz="1250" noProof="1"/>
          </a:p>
        </p:txBody>
      </p:sp>
      <p:sp>
        <p:nvSpPr>
          <p:cNvPr id="19" name="TextBox 16"/>
          <p:cNvSpPr txBox="1"/>
          <p:nvPr/>
        </p:nvSpPr>
        <p:spPr>
          <a:xfrm>
            <a:off x="8280400" y="1879600"/>
            <a:ext cx="31115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Работа с документами, регламентами, базами знаний — поиск по смыслу, точные ответы с указанием источников.</a:t>
            </a:r>
            <a:endParaRPr lang="en-US" sz="1050" noProof="1"/>
          </a:p>
        </p:txBody>
      </p:sp>
      <p:sp>
        <p:nvSpPr>
          <p:cNvPr id="20" name="Rounded Rectangle 17"/>
          <p:cNvSpPr/>
          <p:nvPr/>
        </p:nvSpPr>
        <p:spPr>
          <a:xfrm>
            <a:off x="609600" y="3073400"/>
            <a:ext cx="3543300" cy="1625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21" name="Picture 18"/>
          <p:cNvPicPr/>
          <p:nvPr/>
        </p:nvPicPr>
        <p:blipFill>
          <a:blip r:embed="rId5"/>
          <a:stretch>
            <a:fillRect/>
          </a:stretch>
        </p:blipFill>
        <p:spPr>
          <a:xfrm>
            <a:off x="838200" y="3302000"/>
            <a:ext cx="279400" cy="279400"/>
          </a:xfrm>
          <a:prstGeom prst="rect">
            <a:avLst/>
          </a:prstGeom>
          <a:ln>
            <a:noFill/>
          </a:ln>
        </p:spPr>
      </p:pic>
      <p:sp>
        <p:nvSpPr>
          <p:cNvPr id="22" name="TextBox 19"/>
          <p:cNvSpPr txBox="1"/>
          <p:nvPr/>
        </p:nvSpPr>
        <p:spPr>
          <a:xfrm>
            <a:off x="1244600" y="3302000"/>
            <a:ext cx="2730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Конструктор агентов</a:t>
            </a:r>
            <a:endParaRPr lang="en-US" sz="1250" noProof="1"/>
          </a:p>
        </p:txBody>
      </p:sp>
      <p:sp>
        <p:nvSpPr>
          <p:cNvPr id="23" name="TextBox 20"/>
          <p:cNvSpPr txBox="1"/>
          <p:nvPr/>
        </p:nvSpPr>
        <p:spPr>
          <a:xfrm>
            <a:off x="838200" y="3683000"/>
            <a:ext cx="31115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Создание ИИ-агентов под конкретные задачи: настройка модели, источников данных, инструментов и прав доступа.</a:t>
            </a:r>
            <a:endParaRPr lang="en-US" sz="1050" noProof="1"/>
          </a:p>
        </p:txBody>
      </p:sp>
      <p:sp>
        <p:nvSpPr>
          <p:cNvPr id="24" name="Rounded Rectangle 21"/>
          <p:cNvSpPr/>
          <p:nvPr/>
        </p:nvSpPr>
        <p:spPr>
          <a:xfrm>
            <a:off x="4330700" y="3073400"/>
            <a:ext cx="3543300" cy="1625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25" name="Picture 22"/>
          <p:cNvPicPr/>
          <p:nvPr/>
        </p:nvPicPr>
        <p:blipFill>
          <a:blip r:embed="rId6"/>
          <a:stretch>
            <a:fillRect/>
          </a:stretch>
        </p:blipFill>
        <p:spPr>
          <a:xfrm>
            <a:off x="4559300" y="3302000"/>
            <a:ext cx="279400" cy="279400"/>
          </a:xfrm>
          <a:prstGeom prst="rect">
            <a:avLst/>
          </a:prstGeom>
          <a:ln>
            <a:noFill/>
          </a:ln>
        </p:spPr>
      </p:pic>
      <p:sp>
        <p:nvSpPr>
          <p:cNvPr id="26" name="TextBox 23"/>
          <p:cNvSpPr txBox="1"/>
          <p:nvPr/>
        </p:nvSpPr>
        <p:spPr>
          <a:xfrm>
            <a:off x="4965700" y="3302000"/>
            <a:ext cx="2730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API для агентов</a:t>
            </a:r>
            <a:endParaRPr lang="en-US" sz="1250" noProof="1"/>
          </a:p>
        </p:txBody>
      </p:sp>
      <p:sp>
        <p:nvSpPr>
          <p:cNvPr id="27" name="TextBox 24"/>
          <p:cNvSpPr txBox="1"/>
          <p:nvPr/>
        </p:nvSpPr>
        <p:spPr>
          <a:xfrm>
            <a:off x="4559300" y="3683000"/>
            <a:ext cx="31115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Встраивание агентов в корпоративные приложения, чат-интерфейсы и процессы. API совместим с OpenAI.</a:t>
            </a:r>
            <a:endParaRPr lang="en-US" sz="1050" noProof="1"/>
          </a:p>
        </p:txBody>
      </p:sp>
      <p:sp>
        <p:nvSpPr>
          <p:cNvPr id="28" name="Rounded Rectangle 25"/>
          <p:cNvSpPr/>
          <p:nvPr/>
        </p:nvSpPr>
        <p:spPr>
          <a:xfrm>
            <a:off x="8051800" y="3073400"/>
            <a:ext cx="3543300" cy="1625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29" name="Picture 26"/>
          <p:cNvPicPr/>
          <p:nvPr/>
        </p:nvPicPr>
        <p:blipFill>
          <a:blip r:embed="rId7"/>
          <a:stretch>
            <a:fillRect/>
          </a:stretch>
        </p:blipFill>
        <p:spPr>
          <a:xfrm>
            <a:off x="8280400" y="3302000"/>
            <a:ext cx="279400" cy="279400"/>
          </a:xfrm>
          <a:prstGeom prst="rect">
            <a:avLst/>
          </a:prstGeom>
          <a:ln>
            <a:noFill/>
          </a:ln>
        </p:spPr>
      </p:pic>
      <p:sp>
        <p:nvSpPr>
          <p:cNvPr id="30" name="TextBox 27"/>
          <p:cNvSpPr txBox="1"/>
          <p:nvPr/>
        </p:nvSpPr>
        <p:spPr>
          <a:xfrm>
            <a:off x="8686800" y="3302000"/>
            <a:ext cx="2730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Доступ и биллинг</a:t>
            </a:r>
            <a:endParaRPr lang="en-US" sz="1250" noProof="1"/>
          </a:p>
        </p:txBody>
      </p:sp>
      <p:sp>
        <p:nvSpPr>
          <p:cNvPr id="31" name="TextBox 28"/>
          <p:cNvSpPr txBox="1"/>
          <p:nvPr/>
        </p:nvSpPr>
        <p:spPr>
          <a:xfrm>
            <a:off x="8280400" y="3683000"/>
            <a:ext cx="31115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Ролевая модель, лимиты токенов по командам и агентам, аналитика потребления. SSO (LDAP/OIDC).</a:t>
            </a:r>
            <a:endParaRPr lang="en-US" sz="1050" noProof="1"/>
          </a:p>
        </p:txBody>
      </p:sp>
      <p:sp>
        <p:nvSpPr>
          <p:cNvPr id="32" name="Rounded Rectangle 29"/>
          <p:cNvSpPr/>
          <p:nvPr/>
        </p:nvSpPr>
        <p:spPr>
          <a:xfrm>
            <a:off x="609600" y="5003800"/>
            <a:ext cx="10985500" cy="1016000"/>
          </a:xfrm>
          <a:prstGeom prst="roundRect">
            <a:avLst>
              <a:gd name="adj" fmla="val 9000"/>
            </a:avLst>
          </a:prstGeom>
          <a:solidFill>
            <a:srgbClr val="073E44"/>
          </a:solidFill>
          <a:ln>
            <a:noFill/>
          </a:ln>
        </p:spPr>
      </p:sp>
      <p:pic>
        <p:nvPicPr>
          <p:cNvPr id="33" name="Picture 30"/>
          <p:cNvPicPr/>
          <p:nvPr/>
        </p:nvPicPr>
        <p:blipFill>
          <a:blip r:embed="rId8"/>
          <a:stretch>
            <a:fillRect/>
          </a:stretch>
        </p:blipFill>
        <p:spPr>
          <a:xfrm>
            <a:off x="965200" y="5334000"/>
            <a:ext cx="355600" cy="355600"/>
          </a:xfrm>
          <a:prstGeom prst="rect">
            <a:avLst/>
          </a:prstGeom>
          <a:ln>
            <a:noFill/>
          </a:ln>
        </p:spPr>
      </p:pic>
      <p:sp>
        <p:nvSpPr>
          <p:cNvPr id="34" name="TextBox 31"/>
          <p:cNvSpPr txBox="1"/>
          <p:nvPr/>
        </p:nvSpPr>
        <p:spPr>
          <a:xfrm>
            <a:off x="1549400" y="5181600"/>
            <a:ext cx="977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Новый сценарий = ваша специфика + готовая обвязка.</a:t>
            </a:r>
            <a:r>
              <a:rPr lang="en-US" sz="1250" i="0" noProof="1">
                <a:solidFill>
                  <a:srgbClr val="FFFFFF"/>
                </a:solidFill>
                <a:latin typeface="Inter"/>
                <a:ea typeface="Inter"/>
              </a:rPr>
              <a:t> Базовая инфраструктура уже построена — поэтому запуск занимает недели, а не месяцы.</a:t>
            </a:r>
            <a:endParaRPr lang="en-US" sz="1250" noProof="1"/>
          </a:p>
        </p:txBody>
      </p:sp>
      <p:sp>
        <p:nvSpPr>
          <p:cNvPr id="35" name="TextBox 32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36" name="TextBox 33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9</a:t>
            </a:r>
            <a:endParaRPr lang="en-US" sz="850" noProof="1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988BE917-FFCE-E97D-9E15-CA7462E07C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ЧТО РЕШАЕТ ПЛАТФОРМА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Три типа задач — и конкретные примеры</a:t>
            </a:r>
            <a:endParaRPr lang="en-US" sz="2500" noProof="1"/>
          </a:p>
        </p:txBody>
      </p:sp>
      <p:sp>
        <p:nvSpPr>
          <p:cNvPr id="8" name="Rounded Rectangle 5"/>
          <p:cNvSpPr/>
          <p:nvPr/>
        </p:nvSpPr>
        <p:spPr>
          <a:xfrm>
            <a:off x="609600" y="1244600"/>
            <a:ext cx="3543300" cy="838200"/>
          </a:xfrm>
          <a:prstGeom prst="roundRect">
            <a:avLst>
              <a:gd name="adj" fmla="val 8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9" name="TextBox 6"/>
          <p:cNvSpPr txBox="1"/>
          <p:nvPr/>
        </p:nvSpPr>
        <p:spPr>
          <a:xfrm>
            <a:off x="812800" y="1346200"/>
            <a:ext cx="31369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СТРУКТУРИРОВАННЫЕ ДАННЫЕ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B9D4D9"/>
                </a:solidFill>
                <a:latin typeface="Inter"/>
                <a:ea typeface="Inter"/>
              </a:rPr>
              <a:t>вопросы к ERP, CRM, хранилищам на естественном языке</a:t>
            </a:r>
            <a:endParaRPr lang="en-US" sz="1600" noProof="1"/>
          </a:p>
        </p:txBody>
      </p:sp>
      <p:sp>
        <p:nvSpPr>
          <p:cNvPr id="10" name="Rounded Rectangle 7"/>
          <p:cNvSpPr/>
          <p:nvPr/>
        </p:nvSpPr>
        <p:spPr>
          <a:xfrm>
            <a:off x="609600" y="2235200"/>
            <a:ext cx="3543300" cy="787400"/>
          </a:xfrm>
          <a:prstGeom prst="roundRect">
            <a:avLst>
              <a:gd name="adj" fmla="val 9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1" name="TextBox 8"/>
          <p:cNvSpPr txBox="1"/>
          <p:nvPr/>
        </p:nvSpPr>
        <p:spPr>
          <a:xfrm>
            <a:off x="812800" y="2336800"/>
            <a:ext cx="31369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«Выручка по регионам за квартал против плана»</a:t>
            </a:r>
            <a:endParaRPr lang="en-US" sz="1100" noProof="1"/>
          </a:p>
        </p:txBody>
      </p:sp>
      <p:sp>
        <p:nvSpPr>
          <p:cNvPr id="12" name="Rounded Rectangle 9"/>
          <p:cNvSpPr/>
          <p:nvPr/>
        </p:nvSpPr>
        <p:spPr>
          <a:xfrm>
            <a:off x="609600" y="3149600"/>
            <a:ext cx="3543300" cy="787400"/>
          </a:xfrm>
          <a:prstGeom prst="roundRect">
            <a:avLst>
              <a:gd name="adj" fmla="val 9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3" name="TextBox 10"/>
          <p:cNvSpPr txBox="1"/>
          <p:nvPr/>
        </p:nvSpPr>
        <p:spPr>
          <a:xfrm>
            <a:off x="812800" y="3251200"/>
            <a:ext cx="31369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«Какие клиенты снизили закупки за 3 месяца?»</a:t>
            </a:r>
            <a:endParaRPr lang="en-US" sz="1100" noProof="1"/>
          </a:p>
        </p:txBody>
      </p:sp>
      <p:sp>
        <p:nvSpPr>
          <p:cNvPr id="14" name="Rounded Rectangle 11"/>
          <p:cNvSpPr/>
          <p:nvPr/>
        </p:nvSpPr>
        <p:spPr>
          <a:xfrm>
            <a:off x="609600" y="4064000"/>
            <a:ext cx="3543300" cy="787400"/>
          </a:xfrm>
          <a:prstGeom prst="roundRect">
            <a:avLst>
              <a:gd name="adj" fmla="val 9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5" name="TextBox 12"/>
          <p:cNvSpPr txBox="1"/>
          <p:nvPr/>
        </p:nvSpPr>
        <p:spPr>
          <a:xfrm>
            <a:off x="812800" y="4165600"/>
            <a:ext cx="31369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Отчёты и витрины по расписанию</a:t>
            </a:r>
            <a:endParaRPr lang="en-US" sz="1100" noProof="1"/>
          </a:p>
        </p:txBody>
      </p:sp>
      <p:sp>
        <p:nvSpPr>
          <p:cNvPr id="16" name="Rounded Rectangle 13"/>
          <p:cNvSpPr/>
          <p:nvPr/>
        </p:nvSpPr>
        <p:spPr>
          <a:xfrm>
            <a:off x="4330700" y="1244600"/>
            <a:ext cx="3543300" cy="838200"/>
          </a:xfrm>
          <a:prstGeom prst="roundRect">
            <a:avLst>
              <a:gd name="adj" fmla="val 8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7" name="TextBox 14"/>
          <p:cNvSpPr txBox="1"/>
          <p:nvPr/>
        </p:nvSpPr>
        <p:spPr>
          <a:xfrm>
            <a:off x="4533900" y="1346200"/>
            <a:ext cx="31369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ДОКУМЕНТЫ И ТЕКСТЫ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E3F4F5"/>
                </a:solidFill>
                <a:latin typeface="Inter"/>
                <a:ea typeface="Inter"/>
              </a:rPr>
              <a:t>поиск и ответы по регламентам, договорам, переписке</a:t>
            </a:r>
            <a:endParaRPr lang="en-US" sz="1600" noProof="1"/>
          </a:p>
        </p:txBody>
      </p:sp>
      <p:sp>
        <p:nvSpPr>
          <p:cNvPr id="18" name="Rounded Rectangle 15"/>
          <p:cNvSpPr/>
          <p:nvPr/>
        </p:nvSpPr>
        <p:spPr>
          <a:xfrm>
            <a:off x="4330700" y="2235200"/>
            <a:ext cx="3543300" cy="787400"/>
          </a:xfrm>
          <a:prstGeom prst="roundRect">
            <a:avLst>
              <a:gd name="adj" fmla="val 9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9" name="TextBox 16"/>
          <p:cNvSpPr txBox="1"/>
          <p:nvPr/>
        </p:nvSpPr>
        <p:spPr>
          <a:xfrm>
            <a:off x="4533900" y="2336800"/>
            <a:ext cx="31369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«Что в регламенте сказано про командировки?»</a:t>
            </a:r>
            <a:endParaRPr lang="en-US" sz="1100" noProof="1"/>
          </a:p>
        </p:txBody>
      </p:sp>
      <p:sp>
        <p:nvSpPr>
          <p:cNvPr id="20" name="Rounded Rectangle 17"/>
          <p:cNvSpPr/>
          <p:nvPr/>
        </p:nvSpPr>
        <p:spPr>
          <a:xfrm>
            <a:off x="4330700" y="3149600"/>
            <a:ext cx="3543300" cy="787400"/>
          </a:xfrm>
          <a:prstGeom prst="roundRect">
            <a:avLst>
              <a:gd name="adj" fmla="val 9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1" name="TextBox 18"/>
          <p:cNvSpPr txBox="1"/>
          <p:nvPr/>
        </p:nvSpPr>
        <p:spPr>
          <a:xfrm>
            <a:off x="4533900" y="3251200"/>
            <a:ext cx="31369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«Найди пункт о расторжении в договоре с X»</a:t>
            </a:r>
            <a:endParaRPr lang="en-US" sz="1100" noProof="1"/>
          </a:p>
        </p:txBody>
      </p:sp>
      <p:sp>
        <p:nvSpPr>
          <p:cNvPr id="22" name="Rounded Rectangle 19"/>
          <p:cNvSpPr/>
          <p:nvPr/>
        </p:nvSpPr>
        <p:spPr>
          <a:xfrm>
            <a:off x="4330700" y="4064000"/>
            <a:ext cx="3543300" cy="787400"/>
          </a:xfrm>
          <a:prstGeom prst="roundRect">
            <a:avLst>
              <a:gd name="adj" fmla="val 9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3" name="TextBox 20"/>
          <p:cNvSpPr txBox="1"/>
          <p:nvPr/>
        </p:nvSpPr>
        <p:spPr>
          <a:xfrm>
            <a:off x="4533900" y="4165600"/>
            <a:ext cx="31369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Поддержка сотрудников по базе знаний</a:t>
            </a:r>
            <a:endParaRPr lang="en-US" sz="1100" noProof="1"/>
          </a:p>
        </p:txBody>
      </p:sp>
      <p:sp>
        <p:nvSpPr>
          <p:cNvPr id="24" name="Rounded Rectangle 21"/>
          <p:cNvSpPr/>
          <p:nvPr/>
        </p:nvSpPr>
        <p:spPr>
          <a:xfrm>
            <a:off x="8051800" y="1244600"/>
            <a:ext cx="3543300" cy="838200"/>
          </a:xfrm>
          <a:prstGeom prst="roundRect">
            <a:avLst>
              <a:gd name="adj" fmla="val 8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25" name="TextBox 22"/>
          <p:cNvSpPr txBox="1"/>
          <p:nvPr/>
        </p:nvSpPr>
        <p:spPr>
          <a:xfrm>
            <a:off x="8255000" y="1346200"/>
            <a:ext cx="31369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АГЕНТЫ ПРОЦЕССОВ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B9D4D9"/>
                </a:solidFill>
                <a:latin typeface="Inter"/>
                <a:ea typeface="Inter"/>
              </a:rPr>
              <a:t>выполняют действия в системах, а не просто отвечают</a:t>
            </a:r>
            <a:endParaRPr lang="en-US" sz="1600" noProof="1"/>
          </a:p>
        </p:txBody>
      </p:sp>
      <p:sp>
        <p:nvSpPr>
          <p:cNvPr id="26" name="Rounded Rectangle 23"/>
          <p:cNvSpPr/>
          <p:nvPr/>
        </p:nvSpPr>
        <p:spPr>
          <a:xfrm>
            <a:off x="8051800" y="2235200"/>
            <a:ext cx="3543300" cy="787400"/>
          </a:xfrm>
          <a:prstGeom prst="roundRect">
            <a:avLst>
              <a:gd name="adj" fmla="val 9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7" name="TextBox 24"/>
          <p:cNvSpPr txBox="1"/>
          <p:nvPr/>
        </p:nvSpPr>
        <p:spPr>
          <a:xfrm>
            <a:off x="8255000" y="2336800"/>
            <a:ext cx="31369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Первая линия поддержки: ответ и эскалация</a:t>
            </a:r>
            <a:endParaRPr lang="en-US" sz="1100" noProof="1"/>
          </a:p>
        </p:txBody>
      </p:sp>
      <p:sp>
        <p:nvSpPr>
          <p:cNvPr id="28" name="Rounded Rectangle 25"/>
          <p:cNvSpPr/>
          <p:nvPr/>
        </p:nvSpPr>
        <p:spPr>
          <a:xfrm>
            <a:off x="8051800" y="3149600"/>
            <a:ext cx="3543300" cy="787400"/>
          </a:xfrm>
          <a:prstGeom prst="roundRect">
            <a:avLst>
              <a:gd name="adj" fmla="val 9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9" name="TextBox 26"/>
          <p:cNvSpPr txBox="1"/>
          <p:nvPr/>
        </p:nvSpPr>
        <p:spPr>
          <a:xfrm>
            <a:off x="8255000" y="3251200"/>
            <a:ext cx="31369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Агент бухгалтерии: проверка первички</a:t>
            </a:r>
            <a:endParaRPr lang="en-US" sz="1100" noProof="1"/>
          </a:p>
        </p:txBody>
      </p:sp>
      <p:sp>
        <p:nvSpPr>
          <p:cNvPr id="30" name="Rounded Rectangle 27"/>
          <p:cNvSpPr/>
          <p:nvPr/>
        </p:nvSpPr>
        <p:spPr>
          <a:xfrm>
            <a:off x="8051800" y="4064000"/>
            <a:ext cx="3543300" cy="787400"/>
          </a:xfrm>
          <a:prstGeom prst="roundRect">
            <a:avLst>
              <a:gd name="adj" fmla="val 9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31" name="TextBox 28"/>
          <p:cNvSpPr txBox="1"/>
          <p:nvPr/>
        </p:nvSpPr>
        <p:spPr>
          <a:xfrm>
            <a:off x="8255000" y="4165600"/>
            <a:ext cx="31369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HR: обработка типовых заявлений</a:t>
            </a:r>
            <a:endParaRPr lang="en-US" sz="1100" noProof="1"/>
          </a:p>
        </p:txBody>
      </p:sp>
      <p:sp>
        <p:nvSpPr>
          <p:cNvPr id="32" name="Rounded Rectangle 29"/>
          <p:cNvSpPr/>
          <p:nvPr/>
        </p:nvSpPr>
        <p:spPr>
          <a:xfrm>
            <a:off x="609600" y="5130800"/>
            <a:ext cx="10985500" cy="889000"/>
          </a:xfrm>
          <a:prstGeom prst="roundRect">
            <a:avLst>
              <a:gd name="adj" fmla="val 9000"/>
            </a:avLst>
          </a:prstGeom>
          <a:solidFill>
            <a:srgbClr val="EDF2F7"/>
          </a:solidFill>
          <a:ln w="12700">
            <a:solidFill>
              <a:srgbClr val="D8E1EA"/>
            </a:solidFill>
          </a:ln>
        </p:spPr>
      </p:sp>
      <p:sp>
        <p:nvSpPr>
          <p:cNvPr id="33" name="TextBox 30"/>
          <p:cNvSpPr txBox="1"/>
          <p:nvPr/>
        </p:nvSpPr>
        <p:spPr>
          <a:xfrm>
            <a:off x="914400" y="5283200"/>
            <a:ext cx="10414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150" b="1" i="0" noProof="1">
                <a:solidFill>
                  <a:srgbClr val="2E4149"/>
                </a:solidFill>
                <a:latin typeface="Inter"/>
                <a:ea typeface="Inter"/>
              </a:rPr>
              <a:t>Честно:</a:t>
            </a:r>
            <a:r>
              <a:rPr lang="en-US" sz="1150" i="0" noProof="1">
                <a:solidFill>
                  <a:srgbClr val="2E4149"/>
                </a:solidFill>
                <a:latin typeface="Inter"/>
                <a:ea typeface="Inter"/>
              </a:rPr>
              <a:t> платформа раскрывается там, где ИИ становится постоянной частью работы компании. Для одной разовой задачи она избыточна — и мы скажем об этом прямо.</a:t>
            </a:r>
            <a:endParaRPr lang="en-US" sz="1150" noProof="1"/>
          </a:p>
        </p:txBody>
      </p:sp>
      <p:sp>
        <p:nvSpPr>
          <p:cNvPr id="34" name="TextBox 31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35" name="TextBox 32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10</a:t>
            </a:r>
            <a:endParaRPr lang="en-US" sz="850" noProof="1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10D67B22-5DA2-BC6B-9D66-FAEE494C2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ПЛАТФОРМА В ДЕЙСТВИИ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RAG в действии: ответы из ваших данных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Retrieval Augmented Generation — генерация на основе корпоративных источников: ответ со ссылкой на документ, без «галлюцинаций».</a:t>
            </a:r>
            <a:endParaRPr lang="en-US" sz="1250" noProof="1"/>
          </a:p>
        </p:txBody>
      </p:sp>
      <p:sp>
        <p:nvSpPr>
          <p:cNvPr id="9" name="Flow Chip 1"/>
          <p:cNvSpPr/>
          <p:nvPr/>
        </p:nvSpPr>
        <p:spPr>
          <a:xfrm>
            <a:off x="1574800" y="1422400"/>
            <a:ext cx="2159000" cy="431800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Flow Arrow 1"/>
          <p:cNvSpPr/>
          <p:nvPr/>
        </p:nvSpPr>
        <p:spPr>
          <a:xfrm>
            <a:off x="3860800" y="1549400"/>
            <a:ext cx="330200" cy="1778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1" name="Flow Chip 2"/>
          <p:cNvSpPr/>
          <p:nvPr/>
        </p:nvSpPr>
        <p:spPr>
          <a:xfrm>
            <a:off x="4318000" y="1422400"/>
            <a:ext cx="2540000" cy="4318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2" name="Flow Arrow 2"/>
          <p:cNvSpPr/>
          <p:nvPr/>
        </p:nvSpPr>
        <p:spPr>
          <a:xfrm>
            <a:off x="6985000" y="1549400"/>
            <a:ext cx="330200" cy="1778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3" name="Flow Chip 3"/>
          <p:cNvSpPr/>
          <p:nvPr/>
        </p:nvSpPr>
        <p:spPr>
          <a:xfrm>
            <a:off x="7442200" y="1422400"/>
            <a:ext cx="3175000" cy="431800"/>
          </a:xfrm>
          <a:prstGeom prst="roundRect">
            <a:avLst>
              <a:gd name="adj" fmla="val 50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4" name="Card 1"/>
          <p:cNvSpPr/>
          <p:nvPr/>
        </p:nvSpPr>
        <p:spPr>
          <a:xfrm>
            <a:off x="609600" y="2032000"/>
            <a:ext cx="5397500" cy="1879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5" name="Card 1 Strip"/>
          <p:cNvSpPr/>
          <p:nvPr/>
        </p:nvSpPr>
        <p:spPr>
          <a:xfrm>
            <a:off x="609600" y="2235200"/>
            <a:ext cx="63500" cy="14732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16" name="Card 1 Bubble"/>
          <p:cNvSpPr/>
          <p:nvPr/>
        </p:nvSpPr>
        <p:spPr>
          <a:xfrm>
            <a:off x="863600" y="2743200"/>
            <a:ext cx="4889500" cy="457200"/>
          </a:xfrm>
          <a:prstGeom prst="roundRect">
            <a:avLst>
              <a:gd name="adj" fmla="val 50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7" name="Card 2"/>
          <p:cNvSpPr/>
          <p:nvPr/>
        </p:nvSpPr>
        <p:spPr>
          <a:xfrm>
            <a:off x="6197600" y="2032000"/>
            <a:ext cx="5397500" cy="1879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8" name="Card 2 Strip"/>
          <p:cNvSpPr/>
          <p:nvPr/>
        </p:nvSpPr>
        <p:spPr>
          <a:xfrm>
            <a:off x="6197600" y="2235200"/>
            <a:ext cx="63500" cy="14732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19" name="Card 2 Bubble"/>
          <p:cNvSpPr/>
          <p:nvPr/>
        </p:nvSpPr>
        <p:spPr>
          <a:xfrm>
            <a:off x="6451600" y="2743200"/>
            <a:ext cx="4889500" cy="457200"/>
          </a:xfrm>
          <a:prstGeom prst="roundRect">
            <a:avLst>
              <a:gd name="adj" fmla="val 50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20" name="Card 3"/>
          <p:cNvSpPr/>
          <p:nvPr/>
        </p:nvSpPr>
        <p:spPr>
          <a:xfrm>
            <a:off x="609600" y="4064000"/>
            <a:ext cx="5397500" cy="1879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1" name="Card 3 Strip"/>
          <p:cNvSpPr/>
          <p:nvPr/>
        </p:nvSpPr>
        <p:spPr>
          <a:xfrm>
            <a:off x="609600" y="4267200"/>
            <a:ext cx="63500" cy="14732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22" name="Card 3 Bubble"/>
          <p:cNvSpPr/>
          <p:nvPr/>
        </p:nvSpPr>
        <p:spPr>
          <a:xfrm>
            <a:off x="863600" y="4775200"/>
            <a:ext cx="4889500" cy="457200"/>
          </a:xfrm>
          <a:prstGeom prst="roundRect">
            <a:avLst>
              <a:gd name="adj" fmla="val 50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23" name="Card 4"/>
          <p:cNvSpPr/>
          <p:nvPr/>
        </p:nvSpPr>
        <p:spPr>
          <a:xfrm>
            <a:off x="6197600" y="4064000"/>
            <a:ext cx="5397500" cy="1879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4" name="Card 4 Strip"/>
          <p:cNvSpPr/>
          <p:nvPr/>
        </p:nvSpPr>
        <p:spPr>
          <a:xfrm>
            <a:off x="6197600" y="4267200"/>
            <a:ext cx="63500" cy="14732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25" name="Card 4 Bubble"/>
          <p:cNvSpPr/>
          <p:nvPr/>
        </p:nvSpPr>
        <p:spPr>
          <a:xfrm>
            <a:off x="6451600" y="4775200"/>
            <a:ext cx="4889500" cy="457200"/>
          </a:xfrm>
          <a:prstGeom prst="roundRect">
            <a:avLst>
              <a:gd name="adj" fmla="val 50000"/>
            </a:avLst>
          </a:prstGeom>
          <a:solidFill>
            <a:srgbClr val="073E44"/>
          </a:solidFill>
          <a:ln>
            <a:noFill/>
          </a:ln>
        </p:spPr>
      </p:sp>
      <p:pic>
        <p:nvPicPr>
          <p:cNvPr id="26" name="Card 1 Icon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63600" y="2235200"/>
            <a:ext cx="381000" cy="381000"/>
          </a:xfrm>
          <a:prstGeom prst="rect">
            <a:avLst/>
          </a:prstGeom>
          <a:ln>
            <a:noFill/>
          </a:ln>
        </p:spPr>
      </p:pic>
      <p:pic>
        <p:nvPicPr>
          <p:cNvPr id="27" name="Card 2 Icon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451600" y="2235200"/>
            <a:ext cx="381000" cy="381000"/>
          </a:xfrm>
          <a:prstGeom prst="rect">
            <a:avLst/>
          </a:prstGeom>
          <a:ln>
            <a:noFill/>
          </a:ln>
        </p:spPr>
      </p:pic>
      <p:pic>
        <p:nvPicPr>
          <p:cNvPr id="28" name="Card 3 Icon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863600" y="4267200"/>
            <a:ext cx="381000" cy="381000"/>
          </a:xfrm>
          <a:prstGeom prst="rect">
            <a:avLst/>
          </a:prstGeom>
          <a:ln>
            <a:noFill/>
          </a:ln>
        </p:spPr>
      </p:pic>
      <p:pic>
        <p:nvPicPr>
          <p:cNvPr id="29" name="Card 4 Icon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6451600" y="4267200"/>
            <a:ext cx="381000" cy="381000"/>
          </a:xfrm>
          <a:prstGeom prst="rect">
            <a:avLst/>
          </a:prstGeom>
          <a:ln>
            <a:noFill/>
          </a:ln>
        </p:spPr>
      </p:pic>
      <p:sp>
        <p:nvSpPr>
          <p:cNvPr id="30" name="Flow Chip 1 Text"/>
          <p:cNvSpPr txBox="1"/>
          <p:nvPr/>
        </p:nvSpPr>
        <p:spPr>
          <a:xfrm>
            <a:off x="1574800" y="1422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Запрос сотрудника</a:t>
            </a:r>
            <a:endParaRPr lang="en-US" sz="1050" noProof="1"/>
          </a:p>
        </p:txBody>
      </p:sp>
      <p:sp>
        <p:nvSpPr>
          <p:cNvPr id="31" name="Flow Chip 2 Text"/>
          <p:cNvSpPr txBox="1"/>
          <p:nvPr/>
        </p:nvSpPr>
        <p:spPr>
          <a:xfrm>
            <a:off x="4318000" y="1422400"/>
            <a:ext cx="254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i="0" noProof="1">
                <a:solidFill>
                  <a:srgbClr val="FFFFFF"/>
                </a:solidFill>
                <a:latin typeface="Inter"/>
                <a:ea typeface="Inter"/>
              </a:rPr>
              <a:t>Поиск по источникам</a:t>
            </a:r>
            <a:endParaRPr lang="en-US" sz="1050" noProof="1"/>
          </a:p>
        </p:txBody>
      </p:sp>
      <p:sp>
        <p:nvSpPr>
          <p:cNvPr id="32" name="Flow Chip 3 Text"/>
          <p:cNvSpPr txBox="1"/>
          <p:nvPr/>
        </p:nvSpPr>
        <p:spPr>
          <a:xfrm>
            <a:off x="7442200" y="1422400"/>
            <a:ext cx="3175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i="0" noProof="1">
                <a:solidFill>
                  <a:srgbClr val="FFFFFF"/>
                </a:solidFill>
                <a:latin typeface="Inter"/>
                <a:ea typeface="Inter"/>
              </a:rPr>
              <a:t>Ответ со ссылкой на документ</a:t>
            </a:r>
            <a:endParaRPr lang="en-US" sz="1050" noProof="1"/>
          </a:p>
        </p:txBody>
      </p:sp>
      <p:sp>
        <p:nvSpPr>
          <p:cNvPr id="33" name="Card 1 Title"/>
          <p:cNvSpPr txBox="1"/>
          <p:nvPr/>
        </p:nvSpPr>
        <p:spPr>
          <a:xfrm>
            <a:off x="1371600" y="2235200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Технолог</a:t>
            </a:r>
            <a:endParaRPr lang="en-US" sz="1250" noProof="1"/>
          </a:p>
        </p:txBody>
      </p:sp>
      <p:sp>
        <p:nvSpPr>
          <p:cNvPr id="34" name="Card 1 Quote"/>
          <p:cNvSpPr txBox="1"/>
          <p:nvPr/>
        </p:nvSpPr>
        <p:spPr>
          <a:xfrm>
            <a:off x="1066800" y="2743200"/>
            <a:ext cx="44831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i="1" noProof="1">
                <a:solidFill>
                  <a:srgbClr val="FFFFFF"/>
                </a:solidFill>
                <a:latin typeface="Inter"/>
                <a:ea typeface="Inter"/>
              </a:rPr>
              <a:t>«Соответствует ли размер детали ГОСТ 12345?»</a:t>
            </a:r>
            <a:endParaRPr lang="en-US" sz="1050" noProof="1"/>
          </a:p>
        </p:txBody>
      </p:sp>
      <p:sp>
        <p:nvSpPr>
          <p:cNvPr id="35" name="Card 1 Desc"/>
          <p:cNvSpPr txBox="1"/>
          <p:nvPr/>
        </p:nvSpPr>
        <p:spPr>
          <a:xfrm>
            <a:off x="863600" y="3327400"/>
            <a:ext cx="48895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Система извлекает актуальный стандарт из файлового хранилища и даёт верифицированный ответ со ссылкой на источник.</a:t>
            </a:r>
            <a:endParaRPr lang="en-US" sz="1050" noProof="1"/>
          </a:p>
        </p:txBody>
      </p:sp>
      <p:sp>
        <p:nvSpPr>
          <p:cNvPr id="36" name="Card 2 Title"/>
          <p:cNvSpPr txBox="1"/>
          <p:nvPr/>
        </p:nvSpPr>
        <p:spPr>
          <a:xfrm>
            <a:off x="6959600" y="2235200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Юрист</a:t>
            </a:r>
            <a:endParaRPr lang="en-US" sz="1250" noProof="1"/>
          </a:p>
        </p:txBody>
      </p:sp>
      <p:sp>
        <p:nvSpPr>
          <p:cNvPr id="37" name="Card 2 Quote"/>
          <p:cNvSpPr txBox="1"/>
          <p:nvPr/>
        </p:nvSpPr>
        <p:spPr>
          <a:xfrm>
            <a:off x="6654800" y="2743200"/>
            <a:ext cx="44831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i="1" noProof="1">
                <a:solidFill>
                  <a:srgbClr val="FFFFFF"/>
                </a:solidFill>
                <a:latin typeface="Inter"/>
                <a:ea typeface="Inter"/>
              </a:rPr>
              <a:t>«Проверь договор с подрядчиком на противоречия»</a:t>
            </a:r>
            <a:endParaRPr lang="en-US" sz="1050" noProof="1"/>
          </a:p>
        </p:txBody>
      </p:sp>
      <p:sp>
        <p:nvSpPr>
          <p:cNvPr id="38" name="Card 2 Desc"/>
          <p:cNvSpPr txBox="1"/>
          <p:nvPr/>
        </p:nvSpPr>
        <p:spPr>
          <a:xfrm>
            <a:off x="6451600" y="3327400"/>
            <a:ext cx="48895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Платформа анализирует документ, маскируя реквизиты и цены, и выдаёт заключение по рискам.</a:t>
            </a:r>
            <a:endParaRPr lang="en-US" sz="1050" noProof="1"/>
          </a:p>
        </p:txBody>
      </p:sp>
      <p:sp>
        <p:nvSpPr>
          <p:cNvPr id="39" name="Card 3 Title"/>
          <p:cNvSpPr txBox="1"/>
          <p:nvPr/>
        </p:nvSpPr>
        <p:spPr>
          <a:xfrm>
            <a:off x="1371600" y="4267200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Аналитик</a:t>
            </a:r>
            <a:endParaRPr lang="en-US" sz="1250" noProof="1"/>
          </a:p>
        </p:txBody>
      </p:sp>
      <p:sp>
        <p:nvSpPr>
          <p:cNvPr id="40" name="Card 3 Quote"/>
          <p:cNvSpPr txBox="1"/>
          <p:nvPr/>
        </p:nvSpPr>
        <p:spPr>
          <a:xfrm>
            <a:off x="1066800" y="4775200"/>
            <a:ext cx="44831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i="1" noProof="1">
                <a:solidFill>
                  <a:srgbClr val="FFFFFF"/>
                </a:solidFill>
                <a:latin typeface="Inter"/>
                <a:ea typeface="Inter"/>
              </a:rPr>
              <a:t>«Сравни показатели из 1С за Q1 и Q2»</a:t>
            </a:r>
            <a:endParaRPr lang="en-US" sz="1050" noProof="1"/>
          </a:p>
        </p:txBody>
      </p:sp>
      <p:sp>
        <p:nvSpPr>
          <p:cNvPr id="41" name="Card 3 Desc"/>
          <p:cNvSpPr txBox="1"/>
          <p:nvPr/>
        </p:nvSpPr>
        <p:spPr>
          <a:xfrm>
            <a:off x="863600" y="5359400"/>
            <a:ext cx="48895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Подключение к базе данных, извлечение цифр и формирование сводки — всё в одном запросе.</a:t>
            </a:r>
            <a:endParaRPr lang="en-US" sz="1050" noProof="1"/>
          </a:p>
        </p:txBody>
      </p:sp>
      <p:sp>
        <p:nvSpPr>
          <p:cNvPr id="42" name="Card 4 Title"/>
          <p:cNvSpPr txBox="1"/>
          <p:nvPr/>
        </p:nvSpPr>
        <p:spPr>
          <a:xfrm>
            <a:off x="6959600" y="4267200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Сотрудник ОК</a:t>
            </a:r>
            <a:endParaRPr lang="en-US" sz="1250" noProof="1"/>
          </a:p>
        </p:txBody>
      </p:sp>
      <p:sp>
        <p:nvSpPr>
          <p:cNvPr id="43" name="Card 4 Quote"/>
          <p:cNvSpPr txBox="1"/>
          <p:nvPr/>
        </p:nvSpPr>
        <p:spPr>
          <a:xfrm>
            <a:off x="6654800" y="4775200"/>
            <a:ext cx="44831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i="1" noProof="1">
                <a:solidFill>
                  <a:srgbClr val="FFFFFF"/>
                </a:solidFill>
                <a:latin typeface="Inter"/>
                <a:ea typeface="Inter"/>
              </a:rPr>
              <a:t>«Как оформить командировку по новому регламенту?»</a:t>
            </a:r>
            <a:endParaRPr lang="en-US" sz="1050" noProof="1"/>
          </a:p>
        </p:txBody>
      </p:sp>
      <p:sp>
        <p:nvSpPr>
          <p:cNvPr id="44" name="Card 4 Desc"/>
          <p:cNvSpPr txBox="1"/>
          <p:nvPr/>
        </p:nvSpPr>
        <p:spPr>
          <a:xfrm>
            <a:off x="6451600" y="5359400"/>
            <a:ext cx="48895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Ответ строится на актуальном регламенте из Confluence, а не на устаревших знаниях из интернета.</a:t>
            </a:r>
            <a:endParaRPr lang="en-US" sz="1050" noProof="1"/>
          </a:p>
        </p:txBody>
      </p:sp>
      <p:sp>
        <p:nvSpPr>
          <p:cNvPr id="45" name="TextBox 22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46" name="TextBox 23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11</a:t>
            </a:r>
            <a:endParaRPr lang="en-US" sz="850" noProof="1"/>
          </a:p>
        </p:txBody>
      </p:sp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B0509A06-0D55-FEFA-8E2E-6FF62C6678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ПУТЬ РАЗВИТИЯ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Дорожная карта зрелости: от чата к автоматизации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Организации «зреют» к агентам постепенно — это нормально. Мы рекомендуем двигаться поэтапно, наращивая ценность на каждом шаге.</a:t>
            </a:r>
            <a:endParaRPr lang="en-US" sz="1250" noProof="1"/>
          </a:p>
        </p:txBody>
      </p:sp>
      <p:sp>
        <p:nvSpPr>
          <p:cNvPr id="9" name="Step 1 Block"/>
          <p:cNvSpPr/>
          <p:nvPr/>
        </p:nvSpPr>
        <p:spPr>
          <a:xfrm>
            <a:off x="609600" y="3556000"/>
            <a:ext cx="2641600" cy="1524000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Step 2 Block"/>
          <p:cNvSpPr/>
          <p:nvPr/>
        </p:nvSpPr>
        <p:spPr>
          <a:xfrm>
            <a:off x="3390900" y="2984500"/>
            <a:ext cx="2641600" cy="2095500"/>
          </a:xfrm>
          <a:prstGeom prst="roundRect">
            <a:avLst>
              <a:gd name="adj" fmla="val 7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1" name="Step 3 Block"/>
          <p:cNvSpPr/>
          <p:nvPr/>
        </p:nvSpPr>
        <p:spPr>
          <a:xfrm>
            <a:off x="6172200" y="2413000"/>
            <a:ext cx="2641600" cy="2667000"/>
          </a:xfrm>
          <a:prstGeom prst="roundRect">
            <a:avLst>
              <a:gd name="adj" fmla="val 7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2" name="Step 4 Block"/>
          <p:cNvSpPr/>
          <p:nvPr/>
        </p:nvSpPr>
        <p:spPr>
          <a:xfrm>
            <a:off x="8953500" y="1841500"/>
            <a:ext cx="2641600" cy="3238500"/>
          </a:xfrm>
          <a:prstGeom prst="roundRect">
            <a:avLst>
              <a:gd name="adj" fmla="val 7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3" name="Step 1 Circle"/>
          <p:cNvSpPr/>
          <p:nvPr/>
        </p:nvSpPr>
        <p:spPr>
          <a:xfrm>
            <a:off x="1739900" y="3365500"/>
            <a:ext cx="381000" cy="381000"/>
          </a:xfrm>
          <a:prstGeom prst="ellipse">
            <a:avLst/>
          </a:prstGeom>
          <a:solidFill>
            <a:srgbClr val="1F9BA3"/>
          </a:solidFill>
          <a:ln w="25400">
            <a:solidFill>
              <a:srgbClr val="FFFFFF"/>
            </a:solidFill>
          </a:ln>
        </p:spPr>
      </p:sp>
      <p:sp>
        <p:nvSpPr>
          <p:cNvPr id="14" name="Step 2 Circle"/>
          <p:cNvSpPr/>
          <p:nvPr/>
        </p:nvSpPr>
        <p:spPr>
          <a:xfrm>
            <a:off x="4521200" y="2794000"/>
            <a:ext cx="381000" cy="381000"/>
          </a:xfrm>
          <a:prstGeom prst="ellipse">
            <a:avLst/>
          </a:prstGeom>
          <a:solidFill>
            <a:srgbClr val="4EC6C6"/>
          </a:solidFill>
          <a:ln w="25400">
            <a:solidFill>
              <a:srgbClr val="FFFFFF"/>
            </a:solidFill>
          </a:ln>
        </p:spPr>
      </p:sp>
      <p:sp>
        <p:nvSpPr>
          <p:cNvPr id="15" name="Step 3 Circle"/>
          <p:cNvSpPr/>
          <p:nvPr/>
        </p:nvSpPr>
        <p:spPr>
          <a:xfrm>
            <a:off x="7302500" y="2222500"/>
            <a:ext cx="381000" cy="381000"/>
          </a:xfrm>
          <a:prstGeom prst="ellipse">
            <a:avLst/>
          </a:prstGeom>
          <a:solidFill>
            <a:srgbClr val="1F9BA3"/>
          </a:solidFill>
          <a:ln w="25400">
            <a:solidFill>
              <a:srgbClr val="FFFFFF"/>
            </a:solidFill>
          </a:ln>
        </p:spPr>
      </p:sp>
      <p:sp>
        <p:nvSpPr>
          <p:cNvPr id="16" name="Step 4 Circle"/>
          <p:cNvSpPr/>
          <p:nvPr/>
        </p:nvSpPr>
        <p:spPr>
          <a:xfrm>
            <a:off x="10083800" y="1651000"/>
            <a:ext cx="381000" cy="381000"/>
          </a:xfrm>
          <a:prstGeom prst="ellipse">
            <a:avLst/>
          </a:prstGeom>
          <a:solidFill>
            <a:srgbClr val="4EC6C6"/>
          </a:solidFill>
          <a:ln w="25400">
            <a:solidFill>
              <a:srgbClr val="FFFFFF"/>
            </a:solidFill>
          </a:ln>
        </p:spPr>
      </p:sp>
      <p:pic>
        <p:nvPicPr>
          <p:cNvPr id="17" name="Step 1 Icon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12800" y="3860800"/>
            <a:ext cx="355600" cy="355600"/>
          </a:xfrm>
          <a:prstGeom prst="rect">
            <a:avLst/>
          </a:prstGeom>
          <a:ln>
            <a:noFill/>
          </a:ln>
        </p:spPr>
      </p:pic>
      <p:pic>
        <p:nvPicPr>
          <p:cNvPr id="18" name="Step 2 Icon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594100" y="3289300"/>
            <a:ext cx="355600" cy="355600"/>
          </a:xfrm>
          <a:prstGeom prst="rect">
            <a:avLst/>
          </a:prstGeom>
          <a:ln>
            <a:noFill/>
          </a:ln>
        </p:spPr>
      </p:pic>
      <p:pic>
        <p:nvPicPr>
          <p:cNvPr id="19" name="Step 3 Icon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6375400" y="2717800"/>
            <a:ext cx="355600" cy="355600"/>
          </a:xfrm>
          <a:prstGeom prst="rect">
            <a:avLst/>
          </a:prstGeom>
          <a:ln>
            <a:noFill/>
          </a:ln>
        </p:spPr>
      </p:pic>
      <p:pic>
        <p:nvPicPr>
          <p:cNvPr id="20" name="Step 4 Icon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9156700" y="2146300"/>
            <a:ext cx="355600" cy="355600"/>
          </a:xfrm>
          <a:prstGeom prst="rect">
            <a:avLst/>
          </a:prstGeom>
          <a:ln>
            <a:noFill/>
          </a:ln>
        </p:spPr>
      </p:pic>
      <p:sp>
        <p:nvSpPr>
          <p:cNvPr id="21" name="Rounded Rectangle 22"/>
          <p:cNvSpPr/>
          <p:nvPr/>
        </p:nvSpPr>
        <p:spPr>
          <a:xfrm>
            <a:off x="609600" y="5232400"/>
            <a:ext cx="10985500" cy="812800"/>
          </a:xfrm>
          <a:prstGeom prst="roundRect">
            <a:avLst>
              <a:gd name="adj" fmla="val 9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22" name="Step 1 Num"/>
          <p:cNvSpPr txBox="1"/>
          <p:nvPr/>
        </p:nvSpPr>
        <p:spPr>
          <a:xfrm>
            <a:off x="1739900" y="33655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i="0" noProof="1">
                <a:solidFill>
                  <a:srgbClr val="FFFFFF"/>
                </a:solidFill>
                <a:latin typeface="Inter"/>
                <a:ea typeface="Inter"/>
              </a:rPr>
              <a:t>1</a:t>
            </a:r>
            <a:endParaRPr lang="en-US" sz="1200" noProof="1"/>
          </a:p>
        </p:txBody>
      </p:sp>
      <p:sp>
        <p:nvSpPr>
          <p:cNvPr id="23" name="Step 2 Num"/>
          <p:cNvSpPr txBox="1"/>
          <p:nvPr/>
        </p:nvSpPr>
        <p:spPr>
          <a:xfrm>
            <a:off x="4521200" y="27940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i="0" noProof="1">
                <a:solidFill>
                  <a:srgbClr val="073E44"/>
                </a:solidFill>
                <a:latin typeface="Inter"/>
                <a:ea typeface="Inter"/>
              </a:rPr>
              <a:t>2</a:t>
            </a:r>
            <a:endParaRPr lang="en-US" sz="1200" noProof="1"/>
          </a:p>
        </p:txBody>
      </p:sp>
      <p:sp>
        <p:nvSpPr>
          <p:cNvPr id="24" name="Step 3 Num"/>
          <p:cNvSpPr txBox="1"/>
          <p:nvPr/>
        </p:nvSpPr>
        <p:spPr>
          <a:xfrm>
            <a:off x="7302500" y="22225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i="0" noProof="1">
                <a:solidFill>
                  <a:srgbClr val="FFFFFF"/>
                </a:solidFill>
                <a:latin typeface="Inter"/>
                <a:ea typeface="Inter"/>
              </a:rPr>
              <a:t>3</a:t>
            </a:r>
            <a:endParaRPr lang="en-US" sz="1200" noProof="1"/>
          </a:p>
        </p:txBody>
      </p:sp>
      <p:sp>
        <p:nvSpPr>
          <p:cNvPr id="25" name="Step 4 Num"/>
          <p:cNvSpPr txBox="1"/>
          <p:nvPr/>
        </p:nvSpPr>
        <p:spPr>
          <a:xfrm>
            <a:off x="10083800" y="16510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i="0" noProof="1">
                <a:solidFill>
                  <a:srgbClr val="073E44"/>
                </a:solidFill>
                <a:latin typeface="Inter"/>
                <a:ea typeface="Inter"/>
              </a:rPr>
              <a:t>4</a:t>
            </a:r>
            <a:endParaRPr lang="en-US" sz="1200" noProof="1"/>
          </a:p>
        </p:txBody>
      </p:sp>
      <p:sp>
        <p:nvSpPr>
          <p:cNvPr id="26" name="Step 1 Title"/>
          <p:cNvSpPr txBox="1"/>
          <p:nvPr/>
        </p:nvSpPr>
        <p:spPr>
          <a:xfrm>
            <a:off x="1270000" y="3860800"/>
            <a:ext cx="18288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Базовый чат</a:t>
            </a:r>
            <a:endParaRPr lang="en-US" sz="1250" noProof="1"/>
          </a:p>
        </p:txBody>
      </p:sp>
      <p:sp>
        <p:nvSpPr>
          <p:cNvPr id="27" name="Step 1 Desc"/>
          <p:cNvSpPr txBox="1"/>
          <p:nvPr/>
        </p:nvSpPr>
        <p:spPr>
          <a:xfrm>
            <a:off x="812800" y="4318000"/>
            <a:ext cx="2235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950" i="0" noProof="1">
                <a:solidFill>
                  <a:srgbClr val="2E4149"/>
                </a:solidFill>
                <a:latin typeface="Inter"/>
                <a:ea typeface="Inter"/>
              </a:rPr>
              <a:t>Вопросы и ответы: знакомство с ИИ, комфортный старт без рисков.</a:t>
            </a:r>
            <a:endParaRPr lang="en-US" sz="950" noProof="1"/>
          </a:p>
        </p:txBody>
      </p:sp>
      <p:sp>
        <p:nvSpPr>
          <p:cNvPr id="28" name="Step 2 Title"/>
          <p:cNvSpPr txBox="1"/>
          <p:nvPr/>
        </p:nvSpPr>
        <p:spPr>
          <a:xfrm>
            <a:off x="4051300" y="3289300"/>
            <a:ext cx="18288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RAG + документы</a:t>
            </a:r>
            <a:endParaRPr lang="en-US" sz="1250" noProof="1"/>
          </a:p>
        </p:txBody>
      </p:sp>
      <p:sp>
        <p:nvSpPr>
          <p:cNvPr id="29" name="Step 2 Desc"/>
          <p:cNvSpPr txBox="1"/>
          <p:nvPr/>
        </p:nvSpPr>
        <p:spPr>
          <a:xfrm>
            <a:off x="3594100" y="3746500"/>
            <a:ext cx="2235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950" i="0" noProof="1">
                <a:solidFill>
                  <a:srgbClr val="B9D4D9"/>
                </a:solidFill>
                <a:latin typeface="Inter"/>
                <a:ea typeface="Inter"/>
              </a:rPr>
              <a:t>Внутренние базы знаний, регламенты, ГОСТы. Ответы на основе ваших данных.</a:t>
            </a:r>
            <a:endParaRPr lang="en-US" sz="950" noProof="1"/>
          </a:p>
        </p:txBody>
      </p:sp>
      <p:sp>
        <p:nvSpPr>
          <p:cNvPr id="30" name="Step 3 Title"/>
          <p:cNvSpPr txBox="1"/>
          <p:nvPr/>
        </p:nvSpPr>
        <p:spPr>
          <a:xfrm>
            <a:off x="6832600" y="2717800"/>
            <a:ext cx="18288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ИИ-агенты</a:t>
            </a:r>
            <a:endParaRPr lang="en-US" sz="1250" noProof="1"/>
          </a:p>
        </p:txBody>
      </p:sp>
      <p:sp>
        <p:nvSpPr>
          <p:cNvPr id="31" name="Step 3 Desc"/>
          <p:cNvSpPr txBox="1"/>
          <p:nvPr/>
        </p:nvSpPr>
        <p:spPr>
          <a:xfrm>
            <a:off x="6375400" y="3175000"/>
            <a:ext cx="2235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950" i="0" noProof="1">
                <a:solidFill>
                  <a:srgbClr val="2E4149"/>
                </a:solidFill>
                <a:latin typeface="Inter"/>
                <a:ea typeface="Inter"/>
              </a:rPr>
              <a:t>Автономное выполнение многошаговых задач: оркестрация и вызов инструментов.</a:t>
            </a:r>
            <a:endParaRPr lang="en-US" sz="950" noProof="1"/>
          </a:p>
        </p:txBody>
      </p:sp>
      <p:sp>
        <p:nvSpPr>
          <p:cNvPr id="32" name="Step 4 Title"/>
          <p:cNvSpPr txBox="1"/>
          <p:nvPr/>
        </p:nvSpPr>
        <p:spPr>
          <a:xfrm>
            <a:off x="9613900" y="2146300"/>
            <a:ext cx="18796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Полная автоматизация</a:t>
            </a:r>
            <a:endParaRPr lang="en-US" sz="1250" noProof="1"/>
          </a:p>
        </p:txBody>
      </p:sp>
      <p:sp>
        <p:nvSpPr>
          <p:cNvPr id="33" name="Step 4 Desc"/>
          <p:cNvSpPr txBox="1"/>
          <p:nvPr/>
        </p:nvSpPr>
        <p:spPr>
          <a:xfrm>
            <a:off x="9156700" y="2603500"/>
            <a:ext cx="2235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950" i="0" noProof="1">
                <a:solidFill>
                  <a:srgbClr val="B9D4D9"/>
                </a:solidFill>
                <a:latin typeface="Inter"/>
                <a:ea typeface="Inter"/>
              </a:rPr>
              <a:t>ИИ самостоятельно ведёт комплексные бизнес-процессы под контролем человека.</a:t>
            </a:r>
            <a:endParaRPr lang="en-US" sz="950" noProof="1"/>
          </a:p>
        </p:txBody>
      </p:sp>
      <p:sp>
        <p:nvSpPr>
          <p:cNvPr id="34" name="TextBox 23"/>
          <p:cNvSpPr txBox="1"/>
          <p:nvPr/>
        </p:nvSpPr>
        <p:spPr>
          <a:xfrm>
            <a:off x="914400" y="5232400"/>
            <a:ext cx="10414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300" b="1" i="0" noProof="1">
                <a:solidFill>
                  <a:srgbClr val="FFFFFF"/>
                </a:solidFill>
                <a:latin typeface="Inter"/>
                <a:ea typeface="Inter"/>
              </a:rPr>
              <a:t>Каждый следующий этап дешевле предыдущего:</a:t>
            </a:r>
            <a:r>
              <a:rPr lang="en-US" sz="1300" i="0" noProof="1">
                <a:solidFill>
                  <a:srgbClr val="FFFFFF"/>
                </a:solidFill>
                <a:latin typeface="Inter"/>
                <a:ea typeface="Inter"/>
              </a:rPr>
              <a:t> базовая инфраструктура уже построена, добавляется только логика сценария.</a:t>
            </a:r>
            <a:endParaRPr lang="en-US" sz="1300" noProof="1"/>
          </a:p>
        </p:txBody>
      </p:sp>
      <p:sp>
        <p:nvSpPr>
          <p:cNvPr id="35" name="TextBox 24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36" name="TextBox 25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12</a:t>
            </a:r>
            <a:endParaRPr lang="en-US" sz="850" noProof="1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80787048-2839-A103-8015-325705BBBE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ЧТО ЭТО ДАЁТ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Бизнесу — конвейер, ИТ и ИБ — управляемость</a:t>
            </a:r>
            <a:endParaRPr lang="en-US" sz="2500" noProof="1"/>
          </a:p>
        </p:txBody>
      </p:sp>
      <p:sp>
        <p:nvSpPr>
          <p:cNvPr id="8" name="Rounded Rectangle 5"/>
          <p:cNvSpPr/>
          <p:nvPr/>
        </p:nvSpPr>
        <p:spPr>
          <a:xfrm>
            <a:off x="609600" y="1270000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9" name="Card 1 Strip"/>
          <p:cNvSpPr/>
          <p:nvPr/>
        </p:nvSpPr>
        <p:spPr>
          <a:xfrm>
            <a:off x="609600" y="1473200"/>
            <a:ext cx="63500" cy="18796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10" name="Rounded Rectangle 8"/>
          <p:cNvSpPr/>
          <p:nvPr/>
        </p:nvSpPr>
        <p:spPr>
          <a:xfrm>
            <a:off x="609600" y="3708400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1" name="Card 2 Strip"/>
          <p:cNvSpPr/>
          <p:nvPr/>
        </p:nvSpPr>
        <p:spPr>
          <a:xfrm>
            <a:off x="609600" y="3911600"/>
            <a:ext cx="63500" cy="18796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pic>
        <p:nvPicPr>
          <p:cNvPr id="12" name="Card 1 Icon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63600" y="1422400"/>
            <a:ext cx="304800" cy="304800"/>
          </a:xfrm>
          <a:prstGeom prst="rect">
            <a:avLst/>
          </a:prstGeom>
          <a:ln>
            <a:noFill/>
          </a:ln>
        </p:spPr>
      </p:pic>
      <p:pic>
        <p:nvPicPr>
          <p:cNvPr id="13" name="Card 2 Icon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863600" y="3860800"/>
            <a:ext cx="304800" cy="304800"/>
          </a:xfrm>
          <a:prstGeom prst="rect">
            <a:avLst/>
          </a:prstGeom>
          <a:ln>
            <a:noFill/>
          </a:ln>
        </p:spPr>
      </p:pic>
      <p:sp>
        <p:nvSpPr>
          <p:cNvPr id="14" name="Bar 1"/>
          <p:cNvSpPr/>
          <p:nvPr/>
        </p:nvSpPr>
        <p:spPr>
          <a:xfrm>
            <a:off x="6248400" y="2489200"/>
            <a:ext cx="1397000" cy="1397000"/>
          </a:xfrm>
          <a:prstGeom prst="roundRect">
            <a:avLst>
              <a:gd name="adj" fmla="val 8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5" name="Bar 2"/>
          <p:cNvSpPr/>
          <p:nvPr/>
        </p:nvSpPr>
        <p:spPr>
          <a:xfrm>
            <a:off x="8089900" y="2997200"/>
            <a:ext cx="1397000" cy="889000"/>
          </a:xfrm>
          <a:prstGeom prst="roundRect">
            <a:avLst>
              <a:gd name="adj" fmla="val 8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6" name="Bar 3"/>
          <p:cNvSpPr/>
          <p:nvPr/>
        </p:nvSpPr>
        <p:spPr>
          <a:xfrm>
            <a:off x="9931400" y="3314700"/>
            <a:ext cx="1397000" cy="571500"/>
          </a:xfrm>
          <a:prstGeom prst="roundRect">
            <a:avLst>
              <a:gd name="adj" fmla="val 8000"/>
            </a:avLst>
          </a:prstGeom>
          <a:solidFill>
            <a:srgbClr val="4EC6C6"/>
          </a:solidFill>
          <a:ln>
            <a:noFill/>
          </a:ln>
        </p:spPr>
      </p:sp>
      <p:sp>
        <p:nvSpPr>
          <p:cNvPr id="17" name="Bar Arrow 1"/>
          <p:cNvSpPr/>
          <p:nvPr/>
        </p:nvSpPr>
        <p:spPr>
          <a:xfrm>
            <a:off x="7696200" y="3124200"/>
            <a:ext cx="330200" cy="1778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64767F"/>
          </a:solidFill>
          <a:ln>
            <a:noFill/>
          </a:ln>
        </p:spPr>
      </p:sp>
      <p:sp>
        <p:nvSpPr>
          <p:cNvPr id="18" name="Bar Arrow 2"/>
          <p:cNvSpPr/>
          <p:nvPr/>
        </p:nvSpPr>
        <p:spPr>
          <a:xfrm>
            <a:off x="9537700" y="3403600"/>
            <a:ext cx="330200" cy="1778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64767F"/>
          </a:solidFill>
          <a:ln>
            <a:noFill/>
          </a:ln>
        </p:spPr>
      </p:sp>
      <p:sp>
        <p:nvSpPr>
          <p:cNvPr id="19" name="TextBox 6"/>
          <p:cNvSpPr txBox="1"/>
          <p:nvPr/>
        </p:nvSpPr>
        <p:spPr>
          <a:xfrm>
            <a:off x="1295400" y="1422400"/>
            <a:ext cx="4394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50" b="1" i="0" noProof="1">
                <a:solidFill>
                  <a:srgbClr val="073E44"/>
                </a:solidFill>
                <a:latin typeface="Inter"/>
                <a:ea typeface="Inter"/>
              </a:rPr>
              <a:t>Бизнесу — конвейер</a:t>
            </a:r>
            <a:endParaRPr lang="en-US" sz="1350" noProof="1"/>
          </a:p>
        </p:txBody>
      </p:sp>
      <p:sp>
        <p:nvSpPr>
          <p:cNvPr id="20" name="TextBox 7"/>
          <p:cNvSpPr txBox="1"/>
          <p:nvPr/>
        </p:nvSpPr>
        <p:spPr>
          <a:xfrm>
            <a:off x="863600" y="1854200"/>
            <a:ext cx="4826000" cy="154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— Понятный путь идеи: от формулировки до прода за известный срок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— ИИ из набора экспериментов превращается в управляемую деятельность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— Владельцы процессов приходят с идеями, а не ждут «ИТ что-нибудь сделает»</a:t>
            </a:r>
            <a:endParaRPr lang="en-US" sz="1100" noProof="1"/>
          </a:p>
        </p:txBody>
      </p:sp>
      <p:sp>
        <p:nvSpPr>
          <p:cNvPr id="21" name="TextBox 9"/>
          <p:cNvSpPr txBox="1"/>
          <p:nvPr/>
        </p:nvSpPr>
        <p:spPr>
          <a:xfrm>
            <a:off x="1295400" y="3860800"/>
            <a:ext cx="4394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50" b="1" i="0" noProof="1">
                <a:solidFill>
                  <a:srgbClr val="073E44"/>
                </a:solidFill>
                <a:latin typeface="Inter"/>
                <a:ea typeface="Inter"/>
              </a:rPr>
              <a:t>ИТ и ИБ — управляемость</a:t>
            </a:r>
            <a:endParaRPr lang="en-US" sz="1350" noProof="1"/>
          </a:p>
        </p:txBody>
      </p:sp>
      <p:sp>
        <p:nvSpPr>
          <p:cNvPr id="22" name="TextBox 10"/>
          <p:cNvSpPr txBox="1"/>
          <p:nvPr/>
        </p:nvSpPr>
        <p:spPr>
          <a:xfrm>
            <a:off x="863600" y="4292600"/>
            <a:ext cx="4826000" cy="154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— Единый периметр безопасности: одна политика на все сценарии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— Единый governance: доступы, аудит, жизненный цикл моделей в одной системе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— Выделенная эксплуатация: SLA, обновления, разбор инцидентов</a:t>
            </a:r>
            <a:endParaRPr lang="en-US" sz="1100" noProof="1"/>
          </a:p>
        </p:txBody>
      </p:sp>
      <p:sp>
        <p:nvSpPr>
          <p:cNvPr id="23" name="TextBox 11"/>
          <p:cNvSpPr txBox="1"/>
          <p:nvPr/>
        </p:nvSpPr>
        <p:spPr>
          <a:xfrm>
            <a:off x="6248400" y="1270000"/>
            <a:ext cx="5346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Каждый следующий сценарий — быстрее и дешевле</a:t>
            </a:r>
            <a:endParaRPr lang="en-US" sz="1250" noProof="1"/>
          </a:p>
        </p:txBody>
      </p:sp>
      <p:sp>
        <p:nvSpPr>
          <p:cNvPr id="24" name="Bar 1 Label"/>
          <p:cNvSpPr txBox="1"/>
          <p:nvPr/>
        </p:nvSpPr>
        <p:spPr>
          <a:xfrm>
            <a:off x="6248400" y="21844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100%</a:t>
            </a:r>
            <a:endParaRPr lang="en-US" sz="1300" noProof="1"/>
          </a:p>
        </p:txBody>
      </p:sp>
      <p:sp>
        <p:nvSpPr>
          <p:cNvPr id="25" name="Bar 2 Label"/>
          <p:cNvSpPr txBox="1"/>
          <p:nvPr/>
        </p:nvSpPr>
        <p:spPr>
          <a:xfrm>
            <a:off x="8089900" y="26924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i="0" noProof="1">
                <a:solidFill>
                  <a:srgbClr val="1F9BA3"/>
                </a:solidFill>
                <a:latin typeface="Inter"/>
                <a:ea typeface="Inter"/>
              </a:rPr>
              <a:t>≈60%</a:t>
            </a:r>
            <a:endParaRPr lang="en-US" sz="1300" noProof="1"/>
          </a:p>
        </p:txBody>
      </p:sp>
      <p:sp>
        <p:nvSpPr>
          <p:cNvPr id="26" name="Bar 3 Label"/>
          <p:cNvSpPr txBox="1"/>
          <p:nvPr/>
        </p:nvSpPr>
        <p:spPr>
          <a:xfrm>
            <a:off x="9931400" y="30099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i="0" noProof="1">
                <a:solidFill>
                  <a:srgbClr val="1F9BA3"/>
                </a:solidFill>
                <a:latin typeface="Inter"/>
                <a:ea typeface="Inter"/>
              </a:rPr>
              <a:t>≈40%</a:t>
            </a:r>
            <a:endParaRPr lang="en-US" sz="1300" noProof="1"/>
          </a:p>
        </p:txBody>
      </p:sp>
      <p:sp>
        <p:nvSpPr>
          <p:cNvPr id="27" name="Bar 1 Name"/>
          <p:cNvSpPr txBox="1"/>
          <p:nvPr/>
        </p:nvSpPr>
        <p:spPr>
          <a:xfrm>
            <a:off x="6248400" y="39624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Сценарий 1</a:t>
            </a:r>
            <a:endParaRPr lang="en-US" sz="1000" noProof="1"/>
          </a:p>
        </p:txBody>
      </p:sp>
      <p:sp>
        <p:nvSpPr>
          <p:cNvPr id="28" name="Bar 1 Sub"/>
          <p:cNvSpPr txBox="1"/>
          <p:nvPr/>
        </p:nvSpPr>
        <p:spPr>
          <a:xfrm>
            <a:off x="6146800" y="4191000"/>
            <a:ext cx="16002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инвестиция в слой</a:t>
            </a:r>
            <a:endParaRPr lang="en-US" sz="850" noProof="1"/>
          </a:p>
        </p:txBody>
      </p:sp>
      <p:sp>
        <p:nvSpPr>
          <p:cNvPr id="29" name="Bar 2 Name"/>
          <p:cNvSpPr txBox="1"/>
          <p:nvPr/>
        </p:nvSpPr>
        <p:spPr>
          <a:xfrm>
            <a:off x="8089900" y="39624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Сценарий 2</a:t>
            </a:r>
            <a:endParaRPr lang="en-US" sz="1000" noProof="1"/>
          </a:p>
        </p:txBody>
      </p:sp>
      <p:sp>
        <p:nvSpPr>
          <p:cNvPr id="30" name="Bar 2 Sub"/>
          <p:cNvSpPr txBox="1"/>
          <p:nvPr/>
        </p:nvSpPr>
        <p:spPr>
          <a:xfrm>
            <a:off x="7988300" y="4191000"/>
            <a:ext cx="16002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на готовом слое</a:t>
            </a:r>
            <a:endParaRPr lang="en-US" sz="850" noProof="1"/>
          </a:p>
        </p:txBody>
      </p:sp>
      <p:sp>
        <p:nvSpPr>
          <p:cNvPr id="31" name="Bar 3 Name"/>
          <p:cNvSpPr txBox="1"/>
          <p:nvPr/>
        </p:nvSpPr>
        <p:spPr>
          <a:xfrm>
            <a:off x="9931400" y="39624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Сценарий 3</a:t>
            </a:r>
            <a:endParaRPr lang="en-US" sz="1000" noProof="1"/>
          </a:p>
        </p:txBody>
      </p:sp>
      <p:sp>
        <p:nvSpPr>
          <p:cNvPr id="32" name="Bar 3 Sub"/>
          <p:cNvSpPr txBox="1"/>
          <p:nvPr/>
        </p:nvSpPr>
        <p:spPr>
          <a:xfrm>
            <a:off x="9829800" y="4191000"/>
            <a:ext cx="16002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на готовом слое</a:t>
            </a:r>
            <a:endParaRPr lang="en-US" sz="850" noProof="1"/>
          </a:p>
        </p:txBody>
      </p:sp>
      <p:sp>
        <p:nvSpPr>
          <p:cNvPr id="33" name="TextBox 13"/>
          <p:cNvSpPr txBox="1"/>
          <p:nvPr/>
        </p:nvSpPr>
        <p:spPr>
          <a:xfrm>
            <a:off x="6248400" y="4470400"/>
            <a:ext cx="53467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00" i="0" noProof="1">
                <a:solidFill>
                  <a:srgbClr val="64767F"/>
                </a:solidFill>
                <a:latin typeface="Inter"/>
                <a:ea typeface="Inter"/>
              </a:rPr>
              <a:t>Иллюстративно: стоимость каждого следующего сценария на готовом слое</a:t>
            </a:r>
            <a:endParaRPr lang="en-US" sz="900" noProof="1"/>
          </a:p>
        </p:txBody>
      </p:sp>
      <p:sp>
        <p:nvSpPr>
          <p:cNvPr id="34" name="TextBox 14"/>
          <p:cNvSpPr txBox="1"/>
          <p:nvPr/>
        </p:nvSpPr>
        <p:spPr>
          <a:xfrm>
            <a:off x="6248400" y="4800600"/>
            <a:ext cx="53467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— Окупается не один сценарий, а вся программа ИИ</a:t>
            </a:r>
            <a:endParaRPr lang="en-US" sz="1100" noProof="1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— Первый сценарий — инвестиция в слой; дальше — переиспользование</a:t>
            </a:r>
            <a:endParaRPr lang="en-US" sz="1100" noProof="1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— Поддержка дешевле: один контур вместо десяти</a:t>
            </a:r>
            <a:endParaRPr lang="en-US" sz="1100" noProof="1"/>
          </a:p>
        </p:txBody>
      </p:sp>
      <p:sp>
        <p:nvSpPr>
          <p:cNvPr id="35" name="TextBox 15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36" name="TextBox 16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13</a:t>
            </a:r>
            <a:endParaRPr lang="en-US" sz="850" noProof="1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128A84D0-D9D0-7526-3A6B-B19654EAC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Rounded Rectangle 2-shape"/>
          <p:cNvSpPr/>
          <p:nvPr/>
        </p:nvSpPr>
        <p:spPr>
          <a:xfrm>
            <a:off x="609600" y="457200"/>
            <a:ext cx="666750" cy="3175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4" name="Rounded Rectangle 2-text"/>
          <p:cNvSpPr txBox="1"/>
          <p:nvPr/>
        </p:nvSpPr>
        <p:spPr>
          <a:xfrm>
            <a:off x="609600" y="457200"/>
            <a:ext cx="66675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300" noProof="1"/>
          </a:p>
        </p:txBody>
      </p:sp>
      <p:sp>
        <p:nvSpPr>
          <p:cNvPr id="5" name="Rounded Rectangle 3-shape"/>
          <p:cNvSpPr/>
          <p:nvPr/>
        </p:nvSpPr>
        <p:spPr>
          <a:xfrm>
            <a:off x="609600" y="457200"/>
            <a:ext cx="808990" cy="3175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" name="Rounded Rectangle 3-text"/>
          <p:cNvSpPr txBox="1"/>
          <p:nvPr/>
        </p:nvSpPr>
        <p:spPr>
          <a:xfrm>
            <a:off x="609600" y="457200"/>
            <a:ext cx="80899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>
                <a:solidFill>
                  <a:srgbClr val="0C323D"/>
                </a:solidFill>
                <a:latin typeface="Inter"/>
                <a:ea typeface="Inter"/>
              </a:rPr>
              <a:t>group</a:t>
            </a:r>
            <a:endParaRPr lang="en-US" sz="1150" noProof="1"/>
          </a:p>
        </p:txBody>
      </p:sp>
      <p:sp>
        <p:nvSpPr>
          <p:cNvPr id="7" name="TextBox 4"/>
          <p:cNvSpPr txBox="1"/>
          <p:nvPr/>
        </p:nvSpPr>
        <p:spPr>
          <a:xfrm>
            <a:off x="508000" y="762000"/>
            <a:ext cx="5080000" cy="165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0" b="1" i="0" noProof="1">
                <a:solidFill>
                  <a:srgbClr val="FFFFFF"/>
                </a:solidFill>
                <a:latin typeface="Inter"/>
                <a:ea typeface="Inter"/>
              </a:rPr>
              <a:t>02</a:t>
            </a:r>
            <a:endParaRPr lang="en-US" sz="11000" noProof="1"/>
          </a:p>
        </p:txBody>
      </p:sp>
      <p:sp>
        <p:nvSpPr>
          <p:cNvPr id="8" name="TextBox 5"/>
          <p:cNvSpPr txBox="1"/>
          <p:nvPr/>
        </p:nvSpPr>
        <p:spPr>
          <a:xfrm>
            <a:off x="812800" y="2743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i="0" kern="0" spc="300" noProof="1">
                <a:solidFill>
                  <a:srgbClr val="4EC6C6"/>
                </a:solidFill>
                <a:latin typeface="Inter"/>
                <a:ea typeface="Inter"/>
              </a:rPr>
              <a:t>РАЗДЕЛ 02</a:t>
            </a:r>
            <a:endParaRPr lang="en-US" sz="1150" noProof="1"/>
          </a:p>
        </p:txBody>
      </p:sp>
      <p:sp>
        <p:nvSpPr>
          <p:cNvPr id="9" name="TextBox 6"/>
          <p:cNvSpPr txBox="1"/>
          <p:nvPr/>
        </p:nvSpPr>
        <p:spPr>
          <a:xfrm>
            <a:off x="812800" y="3048000"/>
            <a:ext cx="7874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i="0" noProof="1">
                <a:solidFill>
                  <a:srgbClr val="FFFFFF"/>
                </a:solidFill>
                <a:latin typeface="Inter"/>
                <a:ea typeface="Inter"/>
              </a:rPr>
              <a:t>AI Guard</a:t>
            </a:r>
            <a:endParaRPr lang="en-US" sz="3400" noProof="1"/>
          </a:p>
        </p:txBody>
      </p:sp>
      <p:sp>
        <p:nvSpPr>
          <p:cNvPr id="10" name="TextBox 7"/>
          <p:cNvSpPr txBox="1"/>
          <p:nvPr/>
        </p:nvSpPr>
        <p:spPr>
          <a:xfrm>
            <a:off x="812800" y="3759200"/>
            <a:ext cx="787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i="0" noProof="1">
                <a:solidFill>
                  <a:srgbClr val="4EC6C6"/>
                </a:solidFill>
                <a:latin typeface="Inter"/>
                <a:ea typeface="Inter"/>
              </a:rPr>
              <a:t>Безопасный периметр корпоративного ИИ</a:t>
            </a:r>
            <a:endParaRPr lang="en-US" sz="1600" noProof="1"/>
          </a:p>
        </p:txBody>
      </p:sp>
      <p:sp>
        <p:nvSpPr>
          <p:cNvPr id="11" name="TextBox 8"/>
          <p:cNvSpPr txBox="1"/>
          <p:nvPr/>
        </p:nvSpPr>
        <p:spPr>
          <a:xfrm>
            <a:off x="812800" y="4267200"/>
            <a:ext cx="711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i="0" noProof="1">
                <a:solidFill>
                  <a:srgbClr val="B9D4D9"/>
                </a:solidFill>
                <a:latin typeface="Inter"/>
                <a:ea typeface="Inter"/>
              </a:rPr>
              <a:t>Работать с ИИ — не нарушая требований безопасности. Реальные данные не покидают периметр компании. Служба ИБ — за. Встроен в «Синапс», поставляется и как самостоятельный продукт.</a:t>
            </a:r>
            <a:endParaRPr lang="en-US" sz="1300" noProof="1"/>
          </a:p>
        </p:txBody>
      </p:sp>
      <p:sp>
        <p:nvSpPr>
          <p:cNvPr id="12" name="TextBox 9"/>
          <p:cNvSpPr txBox="1"/>
          <p:nvPr/>
        </p:nvSpPr>
        <p:spPr>
          <a:xfrm>
            <a:off x="8382000" y="27432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i="0" kern="0" spc="200" noProof="1">
                <a:solidFill>
                  <a:srgbClr val="7FAAB1"/>
                </a:solidFill>
                <a:latin typeface="Inter"/>
                <a:ea typeface="Inter"/>
              </a:rPr>
              <a:t>В РАЗДЕЛЕ</a:t>
            </a:r>
            <a:endParaRPr lang="en-US" sz="1000" noProof="1"/>
          </a:p>
        </p:txBody>
      </p:sp>
      <p:sp>
        <p:nvSpPr>
          <p:cNvPr id="13" name="TextBox 10"/>
          <p:cNvSpPr txBox="1"/>
          <p:nvPr/>
        </p:nvSpPr>
        <p:spPr>
          <a:xfrm>
            <a:off x="8382000" y="3048000"/>
            <a:ext cx="3175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Ложный выбор «безопасность или ИИ»</a:t>
            </a:r>
            <a:endParaRPr lang="en-US" sz="1200" noProof="1"/>
          </a:p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Как работает маскирование</a:t>
            </a:r>
            <a:endParaRPr lang="en-US" sz="1200" noProof="1"/>
          </a:p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Четыре задачи одним продуктом</a:t>
            </a:r>
            <a:endParaRPr lang="en-US" sz="1200" noProof="1"/>
          </a:p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Внедрение без боли для ИТ</a:t>
            </a:r>
            <a:endParaRPr lang="en-US" sz="1200" noProof="1"/>
          </a:p>
        </p:txBody>
      </p:sp>
      <p:sp>
        <p:nvSpPr>
          <p:cNvPr id="14" name="Rounded Rectangle 11"/>
          <p:cNvSpPr/>
          <p:nvPr/>
        </p:nvSpPr>
        <p:spPr>
          <a:xfrm>
            <a:off x="812800" y="5588000"/>
            <a:ext cx="914400" cy="508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12B787F-0B28-299C-B911-857139545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50" y="3429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ЗНАКОМАЯ СИТУАЦИЯ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Перспективный ИИ-проект — и стоп от службы ИБ</a:t>
            </a:r>
            <a:endParaRPr lang="en-US" sz="2500" noProof="1"/>
          </a:p>
        </p:txBody>
      </p:sp>
      <p:sp>
        <p:nvSpPr>
          <p:cNvPr id="8" name="Rounded Rectangle 5"/>
          <p:cNvSpPr/>
          <p:nvPr/>
        </p:nvSpPr>
        <p:spPr>
          <a:xfrm>
            <a:off x="609600" y="1244600"/>
            <a:ext cx="6350000" cy="16764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9" name="TextBox 6"/>
          <p:cNvSpPr txBox="1"/>
          <p:nvPr/>
        </p:nvSpPr>
        <p:spPr>
          <a:xfrm>
            <a:off x="863600" y="1397000"/>
            <a:ext cx="58420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50" i="0" noProof="1">
                <a:solidFill>
                  <a:srgbClr val="2E4149"/>
                </a:solidFill>
                <a:latin typeface="Inter"/>
                <a:ea typeface="Inter"/>
              </a:rPr>
              <a:t>Команда загорелась, собрала пилот, показала эффект. А потом приходит ИБ-блок и задаёт один вопрос:</a:t>
            </a:r>
            <a:endParaRPr lang="en-US" sz="1150" noProof="1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150" b="1" i="0" noProof="1">
                <a:solidFill>
                  <a:srgbClr val="1F9BA3"/>
                </a:solidFill>
                <a:latin typeface="Inter"/>
                <a:ea typeface="Inter"/>
              </a:rPr>
              <a:t>«Какие данные мы отправляем во внешнюю модель?»</a:t>
            </a:r>
            <a:endParaRPr lang="en-US" sz="1150" noProof="1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150" i="0" noProof="1">
                <a:solidFill>
                  <a:srgbClr val="2E4149"/>
                </a:solidFill>
                <a:latin typeface="Inter"/>
                <a:ea typeface="Inter"/>
              </a:rPr>
              <a:t>Если ответ — «любые, что выберет пользователь», проект блокируется. Так в крупных компаниях умирает большинство ИИ-инициатив.</a:t>
            </a:r>
            <a:endParaRPr lang="en-US" sz="1150" noProof="1"/>
          </a:p>
        </p:txBody>
      </p:sp>
      <p:sp>
        <p:nvSpPr>
          <p:cNvPr id="10" name="TextBox 7"/>
          <p:cNvSpPr txBox="1"/>
          <p:nvPr/>
        </p:nvSpPr>
        <p:spPr>
          <a:xfrm>
            <a:off x="609600" y="304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Причина структурная — пропасть между «удобно» и «безопасно»</a:t>
            </a:r>
            <a:endParaRPr lang="en-US" sz="1250" noProof="1"/>
          </a:p>
        </p:txBody>
      </p:sp>
      <p:sp>
        <p:nvSpPr>
          <p:cNvPr id="11" name="Rounded Rectangle 8"/>
          <p:cNvSpPr/>
          <p:nvPr/>
        </p:nvSpPr>
        <p:spPr>
          <a:xfrm>
            <a:off x="609600" y="3403600"/>
            <a:ext cx="19939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12" name="TextBox 9"/>
          <p:cNvSpPr txBox="1"/>
          <p:nvPr/>
        </p:nvSpPr>
        <p:spPr>
          <a:xfrm>
            <a:off x="762000" y="3556000"/>
            <a:ext cx="16891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Облако — дёшево, но запрещено</a:t>
            </a:r>
            <a:endParaRPr lang="en-US" sz="1000" noProof="1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Отправлять ПД во внешние API нельзя по закону</a:t>
            </a:r>
            <a:endParaRPr lang="en-US" sz="1000" noProof="1"/>
          </a:p>
        </p:txBody>
      </p:sp>
      <p:sp>
        <p:nvSpPr>
          <p:cNvPr id="13" name="Rounded Rectangle 10"/>
          <p:cNvSpPr/>
          <p:nvPr/>
        </p:nvSpPr>
        <p:spPr>
          <a:xfrm>
            <a:off x="2781300" y="3403600"/>
            <a:ext cx="19939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14" name="TextBox 11"/>
          <p:cNvSpPr txBox="1"/>
          <p:nvPr/>
        </p:nvSpPr>
        <p:spPr>
          <a:xfrm>
            <a:off x="2933700" y="3556000"/>
            <a:ext cx="16891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On-premise — дорого</a:t>
            </a:r>
            <a:endParaRPr lang="en-US" sz="1000" noProof="1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Свои модели: GPU на десятки миллионов и команда поддержки</a:t>
            </a:r>
            <a:endParaRPr lang="en-US" sz="1000" noProof="1"/>
          </a:p>
        </p:txBody>
      </p:sp>
      <p:sp>
        <p:nvSpPr>
          <p:cNvPr id="15" name="Rounded Rectangle 12"/>
          <p:cNvSpPr/>
          <p:nvPr/>
        </p:nvSpPr>
        <p:spPr>
          <a:xfrm>
            <a:off x="4953000" y="3403600"/>
            <a:ext cx="2006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16" name="TextBox 13"/>
          <p:cNvSpPr txBox="1"/>
          <p:nvPr/>
        </p:nvSpPr>
        <p:spPr>
          <a:xfrm>
            <a:off x="5105400" y="3556000"/>
            <a:ext cx="17018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Пользователь сольёт что угодно</a:t>
            </a:r>
            <a:endParaRPr lang="en-US" sz="1000" noProof="1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В свободном окне диалога — любые чувствительные данные</a:t>
            </a:r>
            <a:endParaRPr lang="en-US" sz="1000" noProof="1"/>
          </a:p>
        </p:txBody>
      </p:sp>
      <p:sp>
        <p:nvSpPr>
          <p:cNvPr id="17" name="TextBox 14"/>
          <p:cNvSpPr txBox="1"/>
          <p:nvPr/>
        </p:nvSpPr>
        <p:spPr>
          <a:xfrm>
            <a:off x="7366000" y="1244600"/>
            <a:ext cx="42291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Кажется, выбор такой</a:t>
            </a:r>
            <a:endParaRPr lang="en-US" sz="1250" noProof="1"/>
          </a:p>
        </p:txBody>
      </p:sp>
      <p:sp>
        <p:nvSpPr>
          <p:cNvPr id="18" name="Rounded Rectangle 15"/>
          <p:cNvSpPr/>
          <p:nvPr/>
        </p:nvSpPr>
        <p:spPr>
          <a:xfrm>
            <a:off x="7366000" y="1574800"/>
            <a:ext cx="4229100" cy="1219200"/>
          </a:xfrm>
          <a:prstGeom prst="roundRect">
            <a:avLst>
              <a:gd name="adj" fmla="val 7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9" name="TextBox 16"/>
          <p:cNvSpPr txBox="1"/>
          <p:nvPr/>
        </p:nvSpPr>
        <p:spPr>
          <a:xfrm>
            <a:off x="7594600" y="1752600"/>
            <a:ext cx="37719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50" b="1" i="0" noProof="1">
                <a:solidFill>
                  <a:srgbClr val="FFFFFF"/>
                </a:solidFill>
                <a:latin typeface="Inter"/>
                <a:ea typeface="Inter"/>
              </a:rPr>
              <a:t>Безопасность</a:t>
            </a:r>
            <a:endParaRPr lang="en-US" sz="11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50" i="0" noProof="1">
                <a:solidFill>
                  <a:srgbClr val="B9D4D9"/>
                </a:solidFill>
                <a:latin typeface="Inter"/>
                <a:ea typeface="Inter"/>
              </a:rPr>
              <a:t>…но без ИИ. Заблокировать, запретить, ждать.</a:t>
            </a:r>
            <a:endParaRPr lang="en-US" sz="1150" noProof="1"/>
          </a:p>
        </p:txBody>
      </p:sp>
      <p:sp>
        <p:nvSpPr>
          <p:cNvPr id="20" name="Rounded Rectangle 17"/>
          <p:cNvSpPr/>
          <p:nvPr/>
        </p:nvSpPr>
        <p:spPr>
          <a:xfrm>
            <a:off x="8737600" y="2895600"/>
            <a:ext cx="1485900" cy="3810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21" name="TextBox 18"/>
          <p:cNvSpPr txBox="1"/>
          <p:nvPr/>
        </p:nvSpPr>
        <p:spPr>
          <a:xfrm>
            <a:off x="8737600" y="2895600"/>
            <a:ext cx="14859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i="0" noProof="1">
                <a:solidFill>
                  <a:srgbClr val="FFFFFF"/>
                </a:solidFill>
                <a:latin typeface="Inter"/>
                <a:ea typeface="Inter"/>
              </a:rPr>
              <a:t>VS</a:t>
            </a:r>
            <a:endParaRPr lang="en-US" sz="1200" noProof="1"/>
          </a:p>
        </p:txBody>
      </p:sp>
      <p:sp>
        <p:nvSpPr>
          <p:cNvPr id="22" name="Rounded Rectangle 19"/>
          <p:cNvSpPr/>
          <p:nvPr/>
        </p:nvSpPr>
        <p:spPr>
          <a:xfrm>
            <a:off x="7366000" y="3403600"/>
            <a:ext cx="4229100" cy="1219200"/>
          </a:xfrm>
          <a:prstGeom prst="roundRect">
            <a:avLst>
              <a:gd name="adj" fmla="val 7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23" name="TextBox 20"/>
          <p:cNvSpPr txBox="1"/>
          <p:nvPr/>
        </p:nvSpPr>
        <p:spPr>
          <a:xfrm>
            <a:off x="7594600" y="3581400"/>
            <a:ext cx="37719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50" b="1" i="0" noProof="1">
                <a:solidFill>
                  <a:srgbClr val="FFFFFF"/>
                </a:solidFill>
                <a:latin typeface="Inter"/>
                <a:ea typeface="Inter"/>
              </a:rPr>
              <a:t>Скорость с ИИ</a:t>
            </a:r>
            <a:endParaRPr lang="en-US" sz="11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50" i="0" noProof="1">
                <a:solidFill>
                  <a:srgbClr val="B9D4D9"/>
                </a:solidFill>
                <a:latin typeface="Inter"/>
                <a:ea typeface="Inter"/>
              </a:rPr>
              <a:t>…но с риском утечки данных и штрафов.</a:t>
            </a:r>
            <a:endParaRPr lang="en-US" sz="1150" noProof="1"/>
          </a:p>
        </p:txBody>
      </p:sp>
      <p:sp>
        <p:nvSpPr>
          <p:cNvPr id="24" name="Rounded Rectangle 21"/>
          <p:cNvSpPr/>
          <p:nvPr/>
        </p:nvSpPr>
        <p:spPr>
          <a:xfrm>
            <a:off x="609600" y="5080000"/>
            <a:ext cx="10985500" cy="914400"/>
          </a:xfrm>
          <a:prstGeom prst="roundRect">
            <a:avLst>
              <a:gd name="adj" fmla="val 9000"/>
            </a:avLst>
          </a:prstGeom>
          <a:solidFill>
            <a:srgbClr val="1F9BA3"/>
          </a:solidFill>
          <a:ln>
            <a:noFill/>
          </a:ln>
        </p:spPr>
      </p:sp>
      <p:pic>
        <p:nvPicPr>
          <p:cNvPr id="25" name="Picture 22"/>
          <p:cNvPicPr/>
          <p:nvPr/>
        </p:nvPicPr>
        <p:blipFill>
          <a:blip r:embed="rId2"/>
          <a:stretch>
            <a:fillRect/>
          </a:stretch>
        </p:blipFill>
        <p:spPr>
          <a:xfrm>
            <a:off x="965200" y="5359400"/>
            <a:ext cx="355600" cy="355600"/>
          </a:xfrm>
          <a:prstGeom prst="rect">
            <a:avLst/>
          </a:prstGeom>
          <a:ln>
            <a:noFill/>
          </a:ln>
        </p:spPr>
      </p:pic>
      <p:sp>
        <p:nvSpPr>
          <p:cNvPr id="26" name="TextBox 23"/>
          <p:cNvSpPr txBox="1"/>
          <p:nvPr/>
        </p:nvSpPr>
        <p:spPr>
          <a:xfrm>
            <a:off x="1549400" y="5232400"/>
            <a:ext cx="9779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b="1" i="0" noProof="1">
                <a:solidFill>
                  <a:srgbClr val="FFFFFF"/>
                </a:solidFill>
                <a:latin typeface="Inter"/>
                <a:ea typeface="Inter"/>
              </a:rPr>
              <a:t>Это ложный выбор.</a:t>
            </a:r>
            <a:r>
              <a:rPr lang="en-US" sz="1300" i="0" noProof="1">
                <a:solidFill>
                  <a:srgbClr val="FFFFFF"/>
                </a:solidFill>
                <a:latin typeface="Inter"/>
                <a:ea typeface="Inter"/>
              </a:rPr>
              <a:t> Можно получить и безопасность, и ИИ — одновременно. AI Guard снимает эту дилемму.</a:t>
            </a:r>
            <a:endParaRPr lang="en-US" sz="1300" noProof="1"/>
          </a:p>
        </p:txBody>
      </p:sp>
      <p:sp>
        <p:nvSpPr>
          <p:cNvPr id="27" name="TextBox 24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28" name="TextBox 25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15</a:t>
            </a:r>
            <a:endParaRPr lang="en-US" sz="850" noProof="1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924B79C-5EF9-0E7E-7F98-73733A6CC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КАК ЭТО РАБОТАЕТ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Данные не покидают периметр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Комплекс перехватывает запросы к моделям, маскирует персональные данные и деанонимизирует ответ внутри контура.</a:t>
            </a:r>
            <a:endParaRPr lang="en-US" sz="125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1549400"/>
            <a:ext cx="2489200" cy="2133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TextBox 7"/>
          <p:cNvSpPr txBox="1"/>
          <p:nvPr/>
        </p:nvSpPr>
        <p:spPr>
          <a:xfrm>
            <a:off x="838200" y="1752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200" noProof="1">
                <a:solidFill>
                  <a:srgbClr val="1F9BA3"/>
                </a:solidFill>
                <a:latin typeface="Inter"/>
                <a:ea typeface="Inter"/>
              </a:rPr>
              <a:t>ШАГ 1</a:t>
            </a:r>
            <a:endParaRPr lang="en-US" sz="1100" noProof="1"/>
          </a:p>
        </p:txBody>
      </p:sp>
      <p:pic>
        <p:nvPicPr>
          <p:cNvPr id="11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0828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12" name="TextBox 9"/>
          <p:cNvSpPr txBox="1"/>
          <p:nvPr/>
        </p:nvSpPr>
        <p:spPr>
          <a:xfrm>
            <a:off x="838200" y="2540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Запрос с данными</a:t>
            </a:r>
            <a:endParaRPr lang="en-US" sz="1250" noProof="1"/>
          </a:p>
        </p:txBody>
      </p:sp>
      <p:sp>
        <p:nvSpPr>
          <p:cNvPr id="13" name="TextBox 10"/>
          <p:cNvSpPr txBox="1"/>
          <p:nvPr/>
        </p:nvSpPr>
        <p:spPr>
          <a:xfrm>
            <a:off x="838200" y="2819400"/>
            <a:ext cx="203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Сотрудник обращается к ИИ как обычно</a:t>
            </a:r>
            <a:endParaRPr lang="en-US" sz="1050" noProof="1"/>
          </a:p>
        </p:txBody>
      </p:sp>
      <p:pic>
        <p:nvPicPr>
          <p:cNvPr id="14" name="Picture 11"/>
          <p:cNvPicPr/>
          <p:nvPr/>
        </p:nvPicPr>
        <p:blipFill>
          <a:blip r:embed="rId3"/>
          <a:stretch>
            <a:fillRect/>
          </a:stretch>
        </p:blipFill>
        <p:spPr>
          <a:xfrm>
            <a:off x="3200400" y="2489200"/>
            <a:ext cx="279400" cy="279400"/>
          </a:xfrm>
          <a:prstGeom prst="rect">
            <a:avLst/>
          </a:prstGeom>
          <a:ln>
            <a:noFill/>
          </a:ln>
        </p:spPr>
      </p:pic>
      <p:sp>
        <p:nvSpPr>
          <p:cNvPr id="15" name="Rounded Rectangle 12"/>
          <p:cNvSpPr/>
          <p:nvPr/>
        </p:nvSpPr>
        <p:spPr>
          <a:xfrm>
            <a:off x="3581400" y="1549400"/>
            <a:ext cx="2489200" cy="2133600"/>
          </a:xfrm>
          <a:prstGeom prst="roundRect">
            <a:avLst>
              <a:gd name="adj" fmla="val 6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6" name="TextBox 13"/>
          <p:cNvSpPr txBox="1"/>
          <p:nvPr/>
        </p:nvSpPr>
        <p:spPr>
          <a:xfrm>
            <a:off x="3810000" y="1752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200" noProof="1">
                <a:solidFill>
                  <a:srgbClr val="4EC6C6"/>
                </a:solidFill>
                <a:latin typeface="Inter"/>
                <a:ea typeface="Inter"/>
              </a:rPr>
              <a:t>ШАГ 2</a:t>
            </a:r>
            <a:endParaRPr lang="en-US" sz="1100" noProof="1"/>
          </a:p>
        </p:txBody>
      </p:sp>
      <p:pic>
        <p:nvPicPr>
          <p:cNvPr id="17" name="Picture 14"/>
          <p:cNvPicPr/>
          <p:nvPr/>
        </p:nvPicPr>
        <p:blipFill>
          <a:blip r:embed="rId4"/>
          <a:stretch>
            <a:fillRect/>
          </a:stretch>
        </p:blipFill>
        <p:spPr>
          <a:xfrm>
            <a:off x="3810000" y="20828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18" name="TextBox 15"/>
          <p:cNvSpPr txBox="1"/>
          <p:nvPr/>
        </p:nvSpPr>
        <p:spPr>
          <a:xfrm>
            <a:off x="3810000" y="2540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Маскирование</a:t>
            </a:r>
            <a:endParaRPr lang="en-US" sz="1250" noProof="1"/>
          </a:p>
        </p:txBody>
      </p:sp>
      <p:sp>
        <p:nvSpPr>
          <p:cNvPr id="19" name="TextBox 16"/>
          <p:cNvSpPr txBox="1"/>
          <p:nvPr/>
        </p:nvSpPr>
        <p:spPr>
          <a:xfrm>
            <a:off x="3810000" y="2819400"/>
            <a:ext cx="203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B9D4D9"/>
                </a:solidFill>
                <a:latin typeface="Inter"/>
                <a:ea typeface="Inter"/>
              </a:rPr>
              <a:t>Персональные данные заменяются на метки</a:t>
            </a:r>
            <a:endParaRPr lang="en-US" sz="1050" noProof="1"/>
          </a:p>
        </p:txBody>
      </p:sp>
      <p:pic>
        <p:nvPicPr>
          <p:cNvPr id="20" name="Picture 17"/>
          <p:cNvPicPr/>
          <p:nvPr/>
        </p:nvPicPr>
        <p:blipFill>
          <a:blip r:embed="rId3"/>
          <a:stretch>
            <a:fillRect/>
          </a:stretch>
        </p:blipFill>
        <p:spPr>
          <a:xfrm>
            <a:off x="6172200" y="2489200"/>
            <a:ext cx="279400" cy="279400"/>
          </a:xfrm>
          <a:prstGeom prst="rect">
            <a:avLst/>
          </a:prstGeom>
          <a:ln>
            <a:noFill/>
          </a:ln>
        </p:spPr>
      </p:pic>
      <p:sp>
        <p:nvSpPr>
          <p:cNvPr id="21" name="Rounded Rectangle 18"/>
          <p:cNvSpPr/>
          <p:nvPr/>
        </p:nvSpPr>
        <p:spPr>
          <a:xfrm>
            <a:off x="6553200" y="1549400"/>
            <a:ext cx="2489200" cy="2133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2" name="TextBox 19"/>
          <p:cNvSpPr txBox="1"/>
          <p:nvPr/>
        </p:nvSpPr>
        <p:spPr>
          <a:xfrm>
            <a:off x="6781800" y="1752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200" noProof="1">
                <a:solidFill>
                  <a:srgbClr val="1F9BA3"/>
                </a:solidFill>
                <a:latin typeface="Inter"/>
                <a:ea typeface="Inter"/>
              </a:rPr>
              <a:t>ШАГ 3</a:t>
            </a:r>
            <a:endParaRPr lang="en-US" sz="1100" noProof="1"/>
          </a:p>
        </p:txBody>
      </p:sp>
      <p:pic>
        <p:nvPicPr>
          <p:cNvPr id="23" name="Picture 20"/>
          <p:cNvPicPr/>
          <p:nvPr/>
        </p:nvPicPr>
        <p:blipFill>
          <a:blip r:embed="rId5"/>
          <a:stretch>
            <a:fillRect/>
          </a:stretch>
        </p:blipFill>
        <p:spPr>
          <a:xfrm>
            <a:off x="6781800" y="20828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24" name="TextBox 21"/>
          <p:cNvSpPr txBox="1"/>
          <p:nvPr/>
        </p:nvSpPr>
        <p:spPr>
          <a:xfrm>
            <a:off x="6781800" y="2540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Внешняя модель</a:t>
            </a:r>
            <a:endParaRPr lang="en-US" sz="1250" noProof="1"/>
          </a:p>
        </p:txBody>
      </p:sp>
      <p:sp>
        <p:nvSpPr>
          <p:cNvPr id="25" name="TextBox 22"/>
          <p:cNvSpPr txBox="1"/>
          <p:nvPr/>
        </p:nvSpPr>
        <p:spPr>
          <a:xfrm>
            <a:off x="6781800" y="2819400"/>
            <a:ext cx="203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Видит только обезличенный текст</a:t>
            </a:r>
            <a:endParaRPr lang="en-US" sz="1050" noProof="1"/>
          </a:p>
        </p:txBody>
      </p:sp>
      <p:pic>
        <p:nvPicPr>
          <p:cNvPr id="26" name="Picture 23"/>
          <p:cNvPicPr/>
          <p:nvPr/>
        </p:nvPicPr>
        <p:blipFill>
          <a:blip r:embed="rId3"/>
          <a:stretch>
            <a:fillRect/>
          </a:stretch>
        </p:blipFill>
        <p:spPr>
          <a:xfrm>
            <a:off x="9144000" y="2489200"/>
            <a:ext cx="279400" cy="279400"/>
          </a:xfrm>
          <a:prstGeom prst="rect">
            <a:avLst/>
          </a:prstGeom>
          <a:ln>
            <a:noFill/>
          </a:ln>
        </p:spPr>
      </p:pic>
      <p:sp>
        <p:nvSpPr>
          <p:cNvPr id="27" name="Rounded Rectangle 24"/>
          <p:cNvSpPr/>
          <p:nvPr/>
        </p:nvSpPr>
        <p:spPr>
          <a:xfrm>
            <a:off x="9525000" y="1549400"/>
            <a:ext cx="2070100" cy="2133600"/>
          </a:xfrm>
          <a:prstGeom prst="roundRect">
            <a:avLst>
              <a:gd name="adj" fmla="val 6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28" name="TextBox 25"/>
          <p:cNvSpPr txBox="1"/>
          <p:nvPr/>
        </p:nvSpPr>
        <p:spPr>
          <a:xfrm>
            <a:off x="9753600" y="1752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200" noProof="1">
                <a:solidFill>
                  <a:srgbClr val="4EC6C6"/>
                </a:solidFill>
                <a:latin typeface="Inter"/>
                <a:ea typeface="Inter"/>
              </a:rPr>
              <a:t>ШАГ 4</a:t>
            </a:r>
            <a:endParaRPr lang="en-US" sz="1100" noProof="1"/>
          </a:p>
        </p:txBody>
      </p:sp>
      <p:pic>
        <p:nvPicPr>
          <p:cNvPr id="29" name="Picture 26"/>
          <p:cNvPicPr/>
          <p:nvPr/>
        </p:nvPicPr>
        <p:blipFill>
          <a:blip r:embed="rId6"/>
          <a:stretch>
            <a:fillRect/>
          </a:stretch>
        </p:blipFill>
        <p:spPr>
          <a:xfrm>
            <a:off x="9753600" y="20828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30" name="TextBox 27"/>
          <p:cNvSpPr txBox="1"/>
          <p:nvPr/>
        </p:nvSpPr>
        <p:spPr>
          <a:xfrm>
            <a:off x="9753600" y="2540000"/>
            <a:ext cx="165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Деанонимизация</a:t>
            </a:r>
            <a:endParaRPr lang="en-US" sz="1250" noProof="1"/>
          </a:p>
        </p:txBody>
      </p:sp>
      <p:sp>
        <p:nvSpPr>
          <p:cNvPr id="31" name="TextBox 28"/>
          <p:cNvSpPr txBox="1"/>
          <p:nvPr/>
        </p:nvSpPr>
        <p:spPr>
          <a:xfrm>
            <a:off x="9753600" y="3022600"/>
            <a:ext cx="1651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B9D4D9"/>
                </a:solidFill>
                <a:latin typeface="Inter"/>
                <a:ea typeface="Inter"/>
              </a:rPr>
              <a:t>Реальные данные возвращаются внутри контура</a:t>
            </a:r>
            <a:endParaRPr lang="en-US" sz="1050" noProof="1"/>
          </a:p>
        </p:txBody>
      </p:sp>
      <p:sp>
        <p:nvSpPr>
          <p:cNvPr id="32" name="Rounded Rectangle 29"/>
          <p:cNvSpPr/>
          <p:nvPr/>
        </p:nvSpPr>
        <p:spPr>
          <a:xfrm>
            <a:off x="609600" y="3987800"/>
            <a:ext cx="10985500" cy="889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3" name="TextBox 30"/>
          <p:cNvSpPr txBox="1"/>
          <p:nvPr/>
        </p:nvSpPr>
        <p:spPr>
          <a:xfrm>
            <a:off x="914400" y="4140200"/>
            <a:ext cx="10414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Распознаёт:</a:t>
            </a: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 ФИО, суммы, счета, реквизиты, ИНН и кастомные сущности — в тексте и файлах (PDF, DOCX, XLSX, CSV, PPTX, PNG, JPG). Политика маскировки зависит от класса модели: облачная — строже, локальная — мягче.</a:t>
            </a:r>
            <a:endParaRPr lang="en-US" sz="1100" noProof="1"/>
          </a:p>
        </p:txBody>
      </p:sp>
      <p:sp>
        <p:nvSpPr>
          <p:cNvPr id="34" name="Rounded Rectangle 31"/>
          <p:cNvSpPr/>
          <p:nvPr/>
        </p:nvSpPr>
        <p:spPr>
          <a:xfrm>
            <a:off x="609600" y="5080000"/>
            <a:ext cx="10985500" cy="914400"/>
          </a:xfrm>
          <a:prstGeom prst="roundRect">
            <a:avLst>
              <a:gd name="adj" fmla="val 9000"/>
            </a:avLst>
          </a:prstGeom>
          <a:solidFill>
            <a:srgbClr val="1F9BA3"/>
          </a:solidFill>
          <a:ln>
            <a:noFill/>
          </a:ln>
        </p:spPr>
      </p:sp>
      <p:pic>
        <p:nvPicPr>
          <p:cNvPr id="35" name="Picture 32"/>
          <p:cNvPicPr/>
          <p:nvPr/>
        </p:nvPicPr>
        <p:blipFill>
          <a:blip r:embed="rId7"/>
          <a:stretch>
            <a:fillRect/>
          </a:stretch>
        </p:blipFill>
        <p:spPr>
          <a:xfrm>
            <a:off x="965200" y="5359400"/>
            <a:ext cx="355600" cy="355600"/>
          </a:xfrm>
          <a:prstGeom prst="rect">
            <a:avLst/>
          </a:prstGeom>
          <a:ln>
            <a:noFill/>
          </a:ln>
        </p:spPr>
      </p:pic>
      <p:sp>
        <p:nvSpPr>
          <p:cNvPr id="36" name="TextBox 33"/>
          <p:cNvSpPr txBox="1"/>
          <p:nvPr/>
        </p:nvSpPr>
        <p:spPr>
          <a:xfrm>
            <a:off x="1549400" y="5232400"/>
            <a:ext cx="9779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300" b="1" i="0" noProof="1">
                <a:solidFill>
                  <a:srgbClr val="FFFFFF"/>
                </a:solidFill>
                <a:latin typeface="Inter"/>
                <a:ea typeface="Inter"/>
              </a:rPr>
              <a:t>Результат:</a:t>
            </a:r>
            <a:r>
              <a:rPr lang="en-US" sz="1300" i="0" noProof="1">
                <a:solidFill>
                  <a:srgbClr val="FFFFFF"/>
                </a:solidFill>
                <a:latin typeface="Inter"/>
                <a:ea typeface="Inter"/>
              </a:rPr>
              <a:t> пользователь работает как обычно, а чувствительные данные ни разу не уходят наружу в открытом виде. Регуляторный риск (152-ФЗ и аналоги) закрыт по умолчанию.</a:t>
            </a:r>
            <a:endParaRPr lang="en-US" sz="1300" noProof="1"/>
          </a:p>
        </p:txBody>
      </p:sp>
      <p:sp>
        <p:nvSpPr>
          <p:cNvPr id="37" name="TextBox 34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38" name="TextBox 35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16</a:t>
            </a:r>
            <a:endParaRPr lang="en-US" sz="850" noProof="1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64DC988E-FF16-DC13-3FEF-AF590C4D9B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ВНУТРИ ЗАЩИТНОГО ШЛЮЗА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AI Guard: три уровня защиты данных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Запрос проходит три последовательных фильтра — от простых шаблонов к пониманию контекста и обратимому маскированию.</a:t>
            </a:r>
            <a:endParaRPr lang="en-US" sz="1250" noProof="1"/>
          </a:p>
        </p:txBody>
      </p:sp>
      <p:sp>
        <p:nvSpPr>
          <p:cNvPr id="9" name="Flow Chip In"/>
          <p:cNvSpPr/>
          <p:nvPr/>
        </p:nvSpPr>
        <p:spPr>
          <a:xfrm>
            <a:off x="609600" y="1422400"/>
            <a:ext cx="1524000" cy="558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8A33D"/>
            </a:solidFill>
          </a:ln>
        </p:spPr>
      </p:sp>
      <p:sp>
        <p:nvSpPr>
          <p:cNvPr id="10" name="Flow Arrow 1"/>
          <p:cNvSpPr/>
          <p:nvPr/>
        </p:nvSpPr>
        <p:spPr>
          <a:xfrm>
            <a:off x="2184400" y="1612900"/>
            <a:ext cx="254000" cy="1778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1" name="Flow Chip L1"/>
          <p:cNvSpPr/>
          <p:nvPr/>
        </p:nvSpPr>
        <p:spPr>
          <a:xfrm>
            <a:off x="2489200" y="1422400"/>
            <a:ext cx="1905000" cy="558800"/>
          </a:xfrm>
          <a:prstGeom prst="roundRect">
            <a:avLst>
              <a:gd name="adj" fmla="val 20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2" name="Flow Arrow 2"/>
          <p:cNvSpPr/>
          <p:nvPr/>
        </p:nvSpPr>
        <p:spPr>
          <a:xfrm>
            <a:off x="4445000" y="1612900"/>
            <a:ext cx="254000" cy="1778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3" name="Flow Chip L2"/>
          <p:cNvSpPr/>
          <p:nvPr/>
        </p:nvSpPr>
        <p:spPr>
          <a:xfrm>
            <a:off x="4749800" y="1422400"/>
            <a:ext cx="2032000" cy="558800"/>
          </a:xfrm>
          <a:prstGeom prst="roundRect">
            <a:avLst>
              <a:gd name="adj" fmla="val 20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4" name="Flow Arrow 3"/>
          <p:cNvSpPr/>
          <p:nvPr/>
        </p:nvSpPr>
        <p:spPr>
          <a:xfrm>
            <a:off x="6832600" y="1612900"/>
            <a:ext cx="254000" cy="1778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5" name="Flow Chip L3"/>
          <p:cNvSpPr/>
          <p:nvPr/>
        </p:nvSpPr>
        <p:spPr>
          <a:xfrm>
            <a:off x="7137400" y="1422400"/>
            <a:ext cx="1841500" cy="558800"/>
          </a:xfrm>
          <a:prstGeom prst="roundRect">
            <a:avLst>
              <a:gd name="adj" fmla="val 20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6" name="Flow Arrow 4"/>
          <p:cNvSpPr/>
          <p:nvPr/>
        </p:nvSpPr>
        <p:spPr>
          <a:xfrm>
            <a:off x="9029700" y="1612900"/>
            <a:ext cx="254000" cy="1778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7" name="Flow Chip Out"/>
          <p:cNvSpPr/>
          <p:nvPr/>
        </p:nvSpPr>
        <p:spPr>
          <a:xfrm>
            <a:off x="9334500" y="1422400"/>
            <a:ext cx="2260600" cy="558800"/>
          </a:xfrm>
          <a:prstGeom prst="roundRect">
            <a:avLst>
              <a:gd name="adj" fmla="val 20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8" name="Card 1"/>
          <p:cNvSpPr/>
          <p:nvPr/>
        </p:nvSpPr>
        <p:spPr>
          <a:xfrm>
            <a:off x="609600" y="2235200"/>
            <a:ext cx="3526409" cy="24130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9" name="Card 1 Strip"/>
          <p:cNvSpPr/>
          <p:nvPr/>
        </p:nvSpPr>
        <p:spPr>
          <a:xfrm>
            <a:off x="609600" y="2413000"/>
            <a:ext cx="63500" cy="20574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20" name="Card 2"/>
          <p:cNvSpPr/>
          <p:nvPr/>
        </p:nvSpPr>
        <p:spPr>
          <a:xfrm>
            <a:off x="4339209" y="2235200"/>
            <a:ext cx="3526409" cy="2413000"/>
          </a:xfrm>
          <a:prstGeom prst="roundRect">
            <a:avLst>
              <a:gd name="adj" fmla="val 6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21" name="Card 2 Strip"/>
          <p:cNvSpPr/>
          <p:nvPr/>
        </p:nvSpPr>
        <p:spPr>
          <a:xfrm>
            <a:off x="4339209" y="2413000"/>
            <a:ext cx="63500" cy="2057400"/>
          </a:xfrm>
          <a:prstGeom prst="rect">
            <a:avLst/>
          </a:prstGeom>
          <a:solidFill>
            <a:srgbClr val="4EC6C6"/>
          </a:solidFill>
          <a:ln>
            <a:noFill/>
          </a:ln>
        </p:spPr>
      </p:sp>
      <p:sp>
        <p:nvSpPr>
          <p:cNvPr id="22" name="Card 3"/>
          <p:cNvSpPr/>
          <p:nvPr/>
        </p:nvSpPr>
        <p:spPr>
          <a:xfrm>
            <a:off x="8068818" y="2235200"/>
            <a:ext cx="3526409" cy="24130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3" name="Card 3 Strip"/>
          <p:cNvSpPr/>
          <p:nvPr/>
        </p:nvSpPr>
        <p:spPr>
          <a:xfrm>
            <a:off x="8068818" y="2413000"/>
            <a:ext cx="63500" cy="20574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pic>
        <p:nvPicPr>
          <p:cNvPr id="24" name="Card 1 Icon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63600" y="2438400"/>
            <a:ext cx="381000" cy="381000"/>
          </a:xfrm>
          <a:prstGeom prst="rect">
            <a:avLst/>
          </a:prstGeom>
          <a:ln>
            <a:noFill/>
          </a:ln>
        </p:spPr>
      </p:pic>
      <p:pic>
        <p:nvPicPr>
          <p:cNvPr id="25" name="Card 2 Icon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593209" y="2438400"/>
            <a:ext cx="381000" cy="381000"/>
          </a:xfrm>
          <a:prstGeom prst="rect">
            <a:avLst/>
          </a:prstGeom>
          <a:ln>
            <a:noFill/>
          </a:ln>
        </p:spPr>
      </p:pic>
      <p:pic>
        <p:nvPicPr>
          <p:cNvPr id="26" name="Card 3 Icon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8322818" y="2438400"/>
            <a:ext cx="381000" cy="381000"/>
          </a:xfrm>
          <a:prstGeom prst="rect">
            <a:avLst/>
          </a:prstGeom>
          <a:ln>
            <a:noFill/>
          </a:ln>
        </p:spPr>
      </p:pic>
      <p:sp>
        <p:nvSpPr>
          <p:cNvPr id="27" name="Rounded Rectangle 18"/>
          <p:cNvSpPr/>
          <p:nvPr/>
        </p:nvSpPr>
        <p:spPr>
          <a:xfrm>
            <a:off x="609600" y="5080000"/>
            <a:ext cx="109855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28" name="Flow Chip In Text"/>
          <p:cNvSpPr txBox="1"/>
          <p:nvPr/>
        </p:nvSpPr>
        <p:spPr>
          <a:xfrm>
            <a:off x="609600" y="1422400"/>
            <a:ext cx="1524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Запрос с ПД</a:t>
            </a:r>
            <a:endParaRPr lang="en-US" sz="1000" noProof="1"/>
          </a:p>
        </p:txBody>
      </p:sp>
      <p:sp>
        <p:nvSpPr>
          <p:cNvPr id="29" name="Flow Chip L1 Text"/>
          <p:cNvSpPr txBox="1"/>
          <p:nvPr/>
        </p:nvSpPr>
        <p:spPr>
          <a:xfrm>
            <a:off x="2489200" y="14224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i="0" noProof="1">
                <a:solidFill>
                  <a:srgbClr val="FFFFFF"/>
                </a:solidFill>
                <a:latin typeface="Inter"/>
                <a:ea typeface="Inter"/>
              </a:rPr>
              <a:t>1 · Паттерн-поиск</a:t>
            </a:r>
            <a:endParaRPr lang="en-US" sz="1000" noProof="1"/>
          </a:p>
        </p:txBody>
      </p:sp>
      <p:sp>
        <p:nvSpPr>
          <p:cNvPr id="30" name="Flow Chip L2 Text"/>
          <p:cNvSpPr txBox="1"/>
          <p:nvPr/>
        </p:nvSpPr>
        <p:spPr>
          <a:xfrm>
            <a:off x="4749800" y="1422400"/>
            <a:ext cx="2032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i="0" noProof="1">
                <a:solidFill>
                  <a:srgbClr val="FFFFFF"/>
                </a:solidFill>
                <a:latin typeface="Inter"/>
                <a:ea typeface="Inter"/>
              </a:rPr>
              <a:t>2 · BERT-фильтрация</a:t>
            </a:r>
            <a:endParaRPr lang="en-US" sz="1000" noProof="1"/>
          </a:p>
        </p:txBody>
      </p:sp>
      <p:sp>
        <p:nvSpPr>
          <p:cNvPr id="31" name="Flow Chip L3 Text"/>
          <p:cNvSpPr txBox="1"/>
          <p:nvPr/>
        </p:nvSpPr>
        <p:spPr>
          <a:xfrm>
            <a:off x="7137400" y="1422400"/>
            <a:ext cx="18415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i="0" noProof="1">
                <a:solidFill>
                  <a:srgbClr val="FFFFFF"/>
                </a:solidFill>
                <a:latin typeface="Inter"/>
                <a:ea typeface="Inter"/>
              </a:rPr>
              <a:t>3 · Маскирование</a:t>
            </a:r>
            <a:endParaRPr lang="en-US" sz="1000" noProof="1"/>
          </a:p>
        </p:txBody>
      </p:sp>
      <p:sp>
        <p:nvSpPr>
          <p:cNvPr id="32" name="Flow Chip Out Text"/>
          <p:cNvSpPr txBox="1"/>
          <p:nvPr/>
        </p:nvSpPr>
        <p:spPr>
          <a:xfrm>
            <a:off x="9334500" y="1422400"/>
            <a:ext cx="22606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i="0" noProof="1">
                <a:solidFill>
                  <a:srgbClr val="FFFFFF"/>
                </a:solidFill>
                <a:latin typeface="Inter"/>
                <a:ea typeface="Inter"/>
              </a:rPr>
              <a:t>Обезличенный текст к модели</a:t>
            </a:r>
            <a:endParaRPr lang="en-US" sz="1000" noProof="1"/>
          </a:p>
        </p:txBody>
      </p:sp>
      <p:sp>
        <p:nvSpPr>
          <p:cNvPr id="33" name="Card 1 Label"/>
          <p:cNvSpPr txBox="1"/>
          <p:nvPr/>
        </p:nvSpPr>
        <p:spPr>
          <a:xfrm>
            <a:off x="1371600" y="24384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i="0" kern="0" spc="200" noProof="1">
                <a:solidFill>
                  <a:srgbClr val="1F9BA3"/>
                </a:solidFill>
                <a:latin typeface="Inter"/>
                <a:ea typeface="Inter"/>
              </a:rPr>
              <a:t>УРОВЕНЬ 1</a:t>
            </a:r>
            <a:endParaRPr lang="en-US" sz="1100" noProof="1"/>
          </a:p>
        </p:txBody>
      </p:sp>
      <p:sp>
        <p:nvSpPr>
          <p:cNvPr id="34" name="Card 1 Title"/>
          <p:cNvSpPr txBox="1"/>
          <p:nvPr/>
        </p:nvSpPr>
        <p:spPr>
          <a:xfrm>
            <a:off x="863600" y="2946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Паттерн-поиск и регулярные выражения</a:t>
            </a:r>
            <a:endParaRPr lang="en-US" sz="1250" noProof="1"/>
          </a:p>
        </p:txBody>
      </p:sp>
      <p:sp>
        <p:nvSpPr>
          <p:cNvPr id="35" name="Card 1 Desc"/>
          <p:cNvSpPr txBox="1"/>
          <p:nvPr/>
        </p:nvSpPr>
        <p:spPr>
          <a:xfrm>
            <a:off x="863600" y="3505200"/>
            <a:ext cx="3048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i="0" noProof="1">
                <a:solidFill>
                  <a:srgbClr val="2E4149"/>
                </a:solidFill>
                <a:latin typeface="Inter"/>
                <a:ea typeface="Inter"/>
              </a:rPr>
              <a:t>Email, телефоны, паспорта, ИНН, СНИЛС, реквизиты счетов, кастомные сущности. Всё настраивается под ваши требования.</a:t>
            </a:r>
            <a:endParaRPr lang="en-US" sz="1000" noProof="1"/>
          </a:p>
        </p:txBody>
      </p:sp>
      <p:sp>
        <p:nvSpPr>
          <p:cNvPr id="36" name="Card 2 Label"/>
          <p:cNvSpPr txBox="1"/>
          <p:nvPr/>
        </p:nvSpPr>
        <p:spPr>
          <a:xfrm>
            <a:off x="5101209" y="24384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i="0" kern="0" spc="200" noProof="1">
                <a:solidFill>
                  <a:srgbClr val="4EC6C6"/>
                </a:solidFill>
                <a:latin typeface="Inter"/>
                <a:ea typeface="Inter"/>
              </a:rPr>
              <a:t>УРОВЕНЬ 2</a:t>
            </a:r>
            <a:endParaRPr lang="en-US" sz="1100" noProof="1"/>
          </a:p>
        </p:txBody>
      </p:sp>
      <p:sp>
        <p:nvSpPr>
          <p:cNvPr id="37" name="Card 2 Title"/>
          <p:cNvSpPr txBox="1"/>
          <p:nvPr/>
        </p:nvSpPr>
        <p:spPr>
          <a:xfrm>
            <a:off x="4593209" y="2946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Контекстная фильтрация BERT-моделями</a:t>
            </a:r>
            <a:endParaRPr lang="en-US" sz="1250" noProof="1"/>
          </a:p>
        </p:txBody>
      </p:sp>
      <p:sp>
        <p:nvSpPr>
          <p:cNvPr id="38" name="Card 2 Desc"/>
          <p:cNvSpPr txBox="1"/>
          <p:nvPr/>
        </p:nvSpPr>
        <p:spPr>
          <a:xfrm>
            <a:off x="4593209" y="3505200"/>
            <a:ext cx="3048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i="0" noProof="1">
                <a:solidFill>
                  <a:srgbClr val="B9D4D9"/>
                </a:solidFill>
                <a:latin typeface="Inter"/>
                <a:ea typeface="Inter"/>
              </a:rPr>
              <a:t>Локальные модели работают на CPU, без GPU и выхода в интернет. Понимают смысл: «гарантийные условия» вырезаются в любой формулировке.</a:t>
            </a:r>
            <a:endParaRPr lang="en-US" sz="1000" noProof="1"/>
          </a:p>
        </p:txBody>
      </p:sp>
      <p:sp>
        <p:nvSpPr>
          <p:cNvPr id="39" name="Card 3 Label"/>
          <p:cNvSpPr txBox="1"/>
          <p:nvPr/>
        </p:nvSpPr>
        <p:spPr>
          <a:xfrm>
            <a:off x="8830818" y="24384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i="0" kern="0" spc="200" noProof="1">
                <a:solidFill>
                  <a:srgbClr val="1F9BA3"/>
                </a:solidFill>
                <a:latin typeface="Inter"/>
                <a:ea typeface="Inter"/>
              </a:rPr>
              <a:t>УРОВЕНЬ 3</a:t>
            </a:r>
            <a:endParaRPr lang="en-US" sz="1100" noProof="1"/>
          </a:p>
        </p:txBody>
      </p:sp>
      <p:sp>
        <p:nvSpPr>
          <p:cNvPr id="40" name="Card 3 Title"/>
          <p:cNvSpPr txBox="1"/>
          <p:nvPr/>
        </p:nvSpPr>
        <p:spPr>
          <a:xfrm>
            <a:off x="8322818" y="2946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Динамическое маскирование</a:t>
            </a:r>
            <a:endParaRPr lang="en-US" sz="1250" noProof="1"/>
          </a:p>
        </p:txBody>
      </p:sp>
      <p:sp>
        <p:nvSpPr>
          <p:cNvPr id="41" name="Card 3 Desc"/>
          <p:cNvSpPr txBox="1"/>
          <p:nvPr/>
        </p:nvSpPr>
        <p:spPr>
          <a:xfrm>
            <a:off x="8322818" y="3505200"/>
            <a:ext cx="3048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i="0" noProof="1">
                <a:solidFill>
                  <a:srgbClr val="2E4149"/>
                </a:solidFill>
                <a:latin typeface="Inter"/>
                <a:ea typeface="Inter"/>
              </a:rPr>
              <a:t>Замена на абстрактные метки (Person 1, Number 1, Org A). Динамический справочник соответствий, обратная расшифровка ответа внутри контура.</a:t>
            </a:r>
            <a:endParaRPr lang="en-US" sz="1000" noProof="1"/>
          </a:p>
        </p:txBody>
      </p:sp>
      <p:sp>
        <p:nvSpPr>
          <p:cNvPr id="42" name="TextBox 19"/>
          <p:cNvSpPr txBox="1"/>
          <p:nvPr/>
        </p:nvSpPr>
        <p:spPr>
          <a:xfrm>
            <a:off x="914400" y="5080000"/>
            <a:ext cx="10414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Пример:</a:t>
            </a: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 договор с реквизитами → шлюз заменяет счета на «Number 1, Number 2» → модель анализирует обезличенный текст → ответ возвращается с реальными реквизитами.</a:t>
            </a:r>
            <a:endParaRPr lang="en-US" sz="1100" noProof="1"/>
          </a:p>
        </p:txBody>
      </p:sp>
      <p:sp>
        <p:nvSpPr>
          <p:cNvPr id="43" name="TextBox 20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44" name="TextBox 21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17</a:t>
            </a:r>
            <a:endParaRPr lang="en-US" sz="850" noProof="1"/>
          </a:p>
        </p:txBody>
      </p:sp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A07547A7-6B93-8640-0DE3-3585A014F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КОМУ ЭТО КРИТИЧНО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Закрытый контур: это про любые чувствительные данные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Персональные данные, коммерческая тайна и регуляторные требования есть не только у оборонных предприятий.</a:t>
            </a:r>
            <a:endParaRPr lang="en-US" sz="1250" noProof="1"/>
          </a:p>
        </p:txBody>
      </p:sp>
      <p:sp>
        <p:nvSpPr>
          <p:cNvPr id="9" name="Card 1"/>
          <p:cNvSpPr/>
          <p:nvPr/>
        </p:nvSpPr>
        <p:spPr>
          <a:xfrm>
            <a:off x="609600" y="1549400"/>
            <a:ext cx="3517900" cy="17780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Card 1 Strip"/>
          <p:cNvSpPr/>
          <p:nvPr/>
        </p:nvSpPr>
        <p:spPr>
          <a:xfrm>
            <a:off x="609600" y="1727200"/>
            <a:ext cx="63500" cy="14224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11" name="Card 1 Chip"/>
          <p:cNvSpPr/>
          <p:nvPr/>
        </p:nvSpPr>
        <p:spPr>
          <a:xfrm>
            <a:off x="838200" y="2159000"/>
            <a:ext cx="1066800" cy="2032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pic>
        <p:nvPicPr>
          <p:cNvPr id="12" name="Card 1 Icon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38200" y="17272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13" name="Card 2"/>
          <p:cNvSpPr/>
          <p:nvPr/>
        </p:nvSpPr>
        <p:spPr>
          <a:xfrm>
            <a:off x="4330700" y="1549400"/>
            <a:ext cx="3517900" cy="17780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4" name="Card 2 Strip"/>
          <p:cNvSpPr/>
          <p:nvPr/>
        </p:nvSpPr>
        <p:spPr>
          <a:xfrm>
            <a:off x="4330700" y="1727200"/>
            <a:ext cx="63500" cy="14224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15" name="Card 2 Chip"/>
          <p:cNvSpPr/>
          <p:nvPr/>
        </p:nvSpPr>
        <p:spPr>
          <a:xfrm>
            <a:off x="4559300" y="2159000"/>
            <a:ext cx="965200" cy="2032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pic>
        <p:nvPicPr>
          <p:cNvPr id="16" name="Card 2 Icon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559300" y="17272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17" name="Card 3"/>
          <p:cNvSpPr/>
          <p:nvPr/>
        </p:nvSpPr>
        <p:spPr>
          <a:xfrm>
            <a:off x="8051800" y="1549400"/>
            <a:ext cx="3517900" cy="1778000"/>
          </a:xfrm>
          <a:prstGeom prst="roundRect">
            <a:avLst>
              <a:gd name="adj" fmla="val 6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8" name="Card 3 Strip"/>
          <p:cNvSpPr/>
          <p:nvPr/>
        </p:nvSpPr>
        <p:spPr>
          <a:xfrm>
            <a:off x="8051800" y="1727200"/>
            <a:ext cx="63500" cy="1422400"/>
          </a:xfrm>
          <a:prstGeom prst="rect">
            <a:avLst/>
          </a:prstGeom>
          <a:solidFill>
            <a:srgbClr val="4EC6C6"/>
          </a:solidFill>
          <a:ln>
            <a:noFill/>
          </a:ln>
        </p:spPr>
      </p:sp>
      <p:sp>
        <p:nvSpPr>
          <p:cNvPr id="19" name="Card 3 Chip"/>
          <p:cNvSpPr/>
          <p:nvPr/>
        </p:nvSpPr>
        <p:spPr>
          <a:xfrm>
            <a:off x="8280400" y="2159000"/>
            <a:ext cx="1168400" cy="203200"/>
          </a:xfrm>
          <a:prstGeom prst="roundRect">
            <a:avLst>
              <a:gd name="adj" fmla="val 50000"/>
            </a:avLst>
          </a:prstGeom>
          <a:solidFill>
            <a:srgbClr val="4EC6C6"/>
          </a:solidFill>
          <a:ln>
            <a:noFill/>
          </a:ln>
        </p:spPr>
      </p:sp>
      <p:pic>
        <p:nvPicPr>
          <p:cNvPr id="20" name="Card 3 Icon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8280400" y="17272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21" name="Card 4"/>
          <p:cNvSpPr/>
          <p:nvPr/>
        </p:nvSpPr>
        <p:spPr>
          <a:xfrm>
            <a:off x="609600" y="3530600"/>
            <a:ext cx="3517900" cy="1778000"/>
          </a:xfrm>
          <a:prstGeom prst="roundRect">
            <a:avLst>
              <a:gd name="adj" fmla="val 6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22" name="Card 4 Strip"/>
          <p:cNvSpPr/>
          <p:nvPr/>
        </p:nvSpPr>
        <p:spPr>
          <a:xfrm>
            <a:off x="609600" y="3708400"/>
            <a:ext cx="63500" cy="1422400"/>
          </a:xfrm>
          <a:prstGeom prst="rect">
            <a:avLst/>
          </a:prstGeom>
          <a:solidFill>
            <a:srgbClr val="4EC6C6"/>
          </a:solidFill>
          <a:ln>
            <a:noFill/>
          </a:ln>
        </p:spPr>
      </p:sp>
      <p:sp>
        <p:nvSpPr>
          <p:cNvPr id="23" name="Card 4 Chip"/>
          <p:cNvSpPr/>
          <p:nvPr/>
        </p:nvSpPr>
        <p:spPr>
          <a:xfrm>
            <a:off x="838200" y="4140200"/>
            <a:ext cx="1270000" cy="203200"/>
          </a:xfrm>
          <a:prstGeom prst="roundRect">
            <a:avLst>
              <a:gd name="adj" fmla="val 50000"/>
            </a:avLst>
          </a:prstGeom>
          <a:solidFill>
            <a:srgbClr val="4EC6C6"/>
          </a:solidFill>
          <a:ln>
            <a:noFill/>
          </a:ln>
        </p:spPr>
      </p:sp>
      <p:pic>
        <p:nvPicPr>
          <p:cNvPr id="24" name="Card 4 Icon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838200" y="37084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25" name="Card 5"/>
          <p:cNvSpPr/>
          <p:nvPr/>
        </p:nvSpPr>
        <p:spPr>
          <a:xfrm>
            <a:off x="4330700" y="3530600"/>
            <a:ext cx="3517900" cy="17780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6" name="Card 5 Strip"/>
          <p:cNvSpPr/>
          <p:nvPr/>
        </p:nvSpPr>
        <p:spPr>
          <a:xfrm>
            <a:off x="4330700" y="3708400"/>
            <a:ext cx="63500" cy="14224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27" name="Card 5 Chip"/>
          <p:cNvSpPr/>
          <p:nvPr/>
        </p:nvSpPr>
        <p:spPr>
          <a:xfrm>
            <a:off x="4559300" y="4140200"/>
            <a:ext cx="965200" cy="2032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pic>
        <p:nvPicPr>
          <p:cNvPr id="28" name="Card 5 Icon"/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4559300" y="37084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29" name="Card 6"/>
          <p:cNvSpPr/>
          <p:nvPr/>
        </p:nvSpPr>
        <p:spPr>
          <a:xfrm>
            <a:off x="8051800" y="3530600"/>
            <a:ext cx="3517900" cy="17780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30" name="Card 6 Strip"/>
          <p:cNvSpPr/>
          <p:nvPr/>
        </p:nvSpPr>
        <p:spPr>
          <a:xfrm>
            <a:off x="8051800" y="3708400"/>
            <a:ext cx="63500" cy="14224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31" name="Card 6 Chip"/>
          <p:cNvSpPr/>
          <p:nvPr/>
        </p:nvSpPr>
        <p:spPr>
          <a:xfrm>
            <a:off x="8280400" y="4140200"/>
            <a:ext cx="1270000" cy="2032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pic>
        <p:nvPicPr>
          <p:cNvPr id="32" name="Card 6 Icon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8280400" y="37084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33" name="Rounded Rectangle 24"/>
          <p:cNvSpPr/>
          <p:nvPr/>
        </p:nvSpPr>
        <p:spPr>
          <a:xfrm>
            <a:off x="609600" y="5562600"/>
            <a:ext cx="10985500" cy="762000"/>
          </a:xfrm>
          <a:prstGeom prst="roundRect">
            <a:avLst>
              <a:gd name="adj" fmla="val 9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34" name="Card 1 Title"/>
          <p:cNvSpPr txBox="1"/>
          <p:nvPr/>
        </p:nvSpPr>
        <p:spPr>
          <a:xfrm>
            <a:off x="1295400" y="1727200"/>
            <a:ext cx="26035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Банки и финансы</a:t>
            </a:r>
            <a:endParaRPr lang="en-US" sz="1250" noProof="1"/>
          </a:p>
        </p:txBody>
      </p:sp>
      <p:sp>
        <p:nvSpPr>
          <p:cNvPr id="35" name="Card 1 Chip Text"/>
          <p:cNvSpPr txBox="1"/>
          <p:nvPr/>
        </p:nvSpPr>
        <p:spPr>
          <a:xfrm>
            <a:off x="838200" y="2159000"/>
            <a:ext cx="1066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00" b="1" i="0" noProof="1">
                <a:solidFill>
                  <a:srgbClr val="FFFFFF"/>
                </a:solidFill>
                <a:latin typeface="Inter"/>
                <a:ea typeface="Inter"/>
              </a:rPr>
              <a:t>ПД · 152-ФЗ · ЦБ</a:t>
            </a:r>
            <a:endParaRPr lang="en-US" sz="800" noProof="1"/>
          </a:p>
        </p:txBody>
      </p:sp>
      <p:sp>
        <p:nvSpPr>
          <p:cNvPr id="36" name="Card 1 Desc"/>
          <p:cNvSpPr txBox="1"/>
          <p:nvPr/>
        </p:nvSpPr>
        <p:spPr>
          <a:xfrm>
            <a:off x="838200" y="2489200"/>
            <a:ext cx="30607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i="0" noProof="1">
                <a:solidFill>
                  <a:srgbClr val="2E4149"/>
                </a:solidFill>
                <a:latin typeface="Inter"/>
                <a:ea typeface="Inter"/>
              </a:rPr>
              <a:t>Персональные данные клиентов, кредитные истории, транзакции. 152-ФЗ и требования ЦБ.</a:t>
            </a:r>
            <a:endParaRPr lang="en-US" sz="1000" noProof="1"/>
          </a:p>
        </p:txBody>
      </p:sp>
      <p:sp>
        <p:nvSpPr>
          <p:cNvPr id="37" name="Card 2 Title"/>
          <p:cNvSpPr txBox="1"/>
          <p:nvPr/>
        </p:nvSpPr>
        <p:spPr>
          <a:xfrm>
            <a:off x="5016500" y="1727200"/>
            <a:ext cx="26035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Страхование</a:t>
            </a:r>
            <a:endParaRPr lang="en-US" sz="1250" noProof="1"/>
          </a:p>
        </p:txBody>
      </p:sp>
      <p:sp>
        <p:nvSpPr>
          <p:cNvPr id="38" name="Card 2 Chip Text"/>
          <p:cNvSpPr txBox="1"/>
          <p:nvPr/>
        </p:nvSpPr>
        <p:spPr>
          <a:xfrm>
            <a:off x="4559300" y="2159000"/>
            <a:ext cx="965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00" b="1" i="0" noProof="1">
                <a:solidFill>
                  <a:srgbClr val="FFFFFF"/>
                </a:solidFill>
                <a:latin typeface="Inter"/>
                <a:ea typeface="Inter"/>
              </a:rPr>
              <a:t>Медданные · ПД</a:t>
            </a:r>
            <a:endParaRPr lang="en-US" sz="800" noProof="1"/>
          </a:p>
        </p:txBody>
      </p:sp>
      <p:sp>
        <p:nvSpPr>
          <p:cNvPr id="39" name="Card 2 Desc"/>
          <p:cNvSpPr txBox="1"/>
          <p:nvPr/>
        </p:nvSpPr>
        <p:spPr>
          <a:xfrm>
            <a:off x="4559300" y="2489200"/>
            <a:ext cx="30607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i="0" noProof="1">
                <a:solidFill>
                  <a:srgbClr val="2E4149"/>
                </a:solidFill>
                <a:latin typeface="Inter"/>
                <a:ea typeface="Inter"/>
              </a:rPr>
              <a:t>Медицинские данные, страховые случаи, расчёты резервов. Требования регулятора к работе с ИИ.</a:t>
            </a:r>
            <a:endParaRPr lang="en-US" sz="1000" noProof="1"/>
          </a:p>
        </p:txBody>
      </p:sp>
      <p:sp>
        <p:nvSpPr>
          <p:cNvPr id="40" name="Card 3 Title"/>
          <p:cNvSpPr txBox="1"/>
          <p:nvPr/>
        </p:nvSpPr>
        <p:spPr>
          <a:xfrm>
            <a:off x="8737600" y="1727200"/>
            <a:ext cx="26035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Промышленность</a:t>
            </a:r>
            <a:endParaRPr lang="en-US" sz="1250" noProof="1"/>
          </a:p>
        </p:txBody>
      </p:sp>
      <p:sp>
        <p:nvSpPr>
          <p:cNvPr id="41" name="Card 3 Chip Text"/>
          <p:cNvSpPr txBox="1"/>
          <p:nvPr/>
        </p:nvSpPr>
        <p:spPr>
          <a:xfrm>
            <a:off x="8280400" y="2159000"/>
            <a:ext cx="1168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00" b="1" i="0" noProof="1">
                <a:solidFill>
                  <a:srgbClr val="333333"/>
                </a:solidFill>
                <a:latin typeface="Inter"/>
                <a:ea typeface="Inter"/>
              </a:rPr>
              <a:t>Коммерческая тайна</a:t>
            </a:r>
            <a:endParaRPr lang="en-US" sz="800" noProof="1"/>
          </a:p>
        </p:txBody>
      </p:sp>
      <p:sp>
        <p:nvSpPr>
          <p:cNvPr id="42" name="Card 3 Desc"/>
          <p:cNvSpPr txBox="1"/>
          <p:nvPr/>
        </p:nvSpPr>
        <p:spPr>
          <a:xfrm>
            <a:off x="8280400" y="2489200"/>
            <a:ext cx="30607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i="0" noProof="1">
                <a:solidFill>
                  <a:srgbClr val="B9D4D9"/>
                </a:solidFill>
                <a:latin typeface="Inter"/>
                <a:ea typeface="Inter"/>
              </a:rPr>
              <a:t>Технологические регламенты, ГОСТы, чертежи, коммерческие условия с поставщиками.</a:t>
            </a:r>
            <a:endParaRPr lang="en-US" sz="1000" noProof="1"/>
          </a:p>
        </p:txBody>
      </p:sp>
      <p:sp>
        <p:nvSpPr>
          <p:cNvPr id="43" name="Card 4 Title"/>
          <p:cNvSpPr txBox="1"/>
          <p:nvPr/>
        </p:nvSpPr>
        <p:spPr>
          <a:xfrm>
            <a:off x="1295400" y="3708400"/>
            <a:ext cx="26035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FFFFFF"/>
                </a:solidFill>
                <a:latin typeface="Inter"/>
                <a:ea typeface="Inter"/>
              </a:rPr>
              <a:t>Госкомпании</a:t>
            </a:r>
            <a:endParaRPr lang="en-US" sz="1250" noProof="1"/>
          </a:p>
        </p:txBody>
      </p:sp>
      <p:sp>
        <p:nvSpPr>
          <p:cNvPr id="44" name="Card 4 Chip Text"/>
          <p:cNvSpPr txBox="1"/>
          <p:nvPr/>
        </p:nvSpPr>
        <p:spPr>
          <a:xfrm>
            <a:off x="838200" y="41402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00" b="1" i="0" noProof="1">
                <a:solidFill>
                  <a:srgbClr val="333333"/>
                </a:solidFill>
                <a:latin typeface="Inter"/>
                <a:ea typeface="Inter"/>
              </a:rPr>
              <a:t>ПД · служебная тайна</a:t>
            </a:r>
            <a:endParaRPr lang="en-US" sz="800" noProof="1"/>
          </a:p>
        </p:txBody>
      </p:sp>
      <p:sp>
        <p:nvSpPr>
          <p:cNvPr id="45" name="Card 4 Desc"/>
          <p:cNvSpPr txBox="1"/>
          <p:nvPr/>
        </p:nvSpPr>
        <p:spPr>
          <a:xfrm>
            <a:off x="838200" y="4470400"/>
            <a:ext cx="30607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i="0" noProof="1">
                <a:solidFill>
                  <a:srgbClr val="B9D4D9"/>
                </a:solidFill>
                <a:latin typeface="Inter"/>
                <a:ea typeface="Inter"/>
              </a:rPr>
              <a:t>Персональные данные граждан, служебная информация, регуляторный аудит.</a:t>
            </a:r>
            <a:endParaRPr lang="en-US" sz="1000" noProof="1"/>
          </a:p>
        </p:txBody>
      </p:sp>
      <p:sp>
        <p:nvSpPr>
          <p:cNvPr id="46" name="Card 5 Title"/>
          <p:cNvSpPr txBox="1"/>
          <p:nvPr/>
        </p:nvSpPr>
        <p:spPr>
          <a:xfrm>
            <a:off x="5016500" y="3708400"/>
            <a:ext cx="26035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Ритейл и логистика</a:t>
            </a:r>
            <a:endParaRPr lang="en-US" sz="1250" noProof="1"/>
          </a:p>
        </p:txBody>
      </p:sp>
      <p:sp>
        <p:nvSpPr>
          <p:cNvPr id="47" name="Card 5 Chip Text"/>
          <p:cNvSpPr txBox="1"/>
          <p:nvPr/>
        </p:nvSpPr>
        <p:spPr>
          <a:xfrm>
            <a:off x="4559300" y="4140200"/>
            <a:ext cx="965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00" b="1" i="0" noProof="1">
                <a:solidFill>
                  <a:srgbClr val="FFFFFF"/>
                </a:solidFill>
                <a:latin typeface="Inter"/>
                <a:ea typeface="Inter"/>
              </a:rPr>
              <a:t>ПД · контракты</a:t>
            </a:r>
            <a:endParaRPr lang="en-US" sz="800" noProof="1"/>
          </a:p>
        </p:txBody>
      </p:sp>
      <p:sp>
        <p:nvSpPr>
          <p:cNvPr id="48" name="Card 5 Desc"/>
          <p:cNvSpPr txBox="1"/>
          <p:nvPr/>
        </p:nvSpPr>
        <p:spPr>
          <a:xfrm>
            <a:off x="4559300" y="4470400"/>
            <a:ext cx="30607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i="0" noProof="1">
                <a:solidFill>
                  <a:srgbClr val="2E4149"/>
                </a:solidFill>
                <a:latin typeface="Inter"/>
                <a:ea typeface="Inter"/>
              </a:rPr>
              <a:t>Данные покупателей, ценообразование, контракты с поставщиками.</a:t>
            </a:r>
            <a:endParaRPr lang="en-US" sz="1000" noProof="1"/>
          </a:p>
        </p:txBody>
      </p:sp>
      <p:sp>
        <p:nvSpPr>
          <p:cNvPr id="49" name="Card 6 Title"/>
          <p:cNvSpPr txBox="1"/>
          <p:nvPr/>
        </p:nvSpPr>
        <p:spPr>
          <a:xfrm>
            <a:off x="8737600" y="3708400"/>
            <a:ext cx="26035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ИТ и телеком</a:t>
            </a:r>
            <a:endParaRPr lang="en-US" sz="1250" noProof="1"/>
          </a:p>
        </p:txBody>
      </p:sp>
      <p:sp>
        <p:nvSpPr>
          <p:cNvPr id="50" name="Card 6 Chip Text"/>
          <p:cNvSpPr txBox="1"/>
          <p:nvPr/>
        </p:nvSpPr>
        <p:spPr>
          <a:xfrm>
            <a:off x="8280400" y="41402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00" b="1" i="0" noProof="1">
                <a:solidFill>
                  <a:srgbClr val="FFFFFF"/>
                </a:solidFill>
                <a:latin typeface="Inter"/>
                <a:ea typeface="Inter"/>
              </a:rPr>
              <a:t>Код · инфраструктура</a:t>
            </a:r>
            <a:endParaRPr lang="en-US" sz="800" noProof="1"/>
          </a:p>
        </p:txBody>
      </p:sp>
      <p:sp>
        <p:nvSpPr>
          <p:cNvPr id="51" name="Card 6 Desc"/>
          <p:cNvSpPr txBox="1"/>
          <p:nvPr/>
        </p:nvSpPr>
        <p:spPr>
          <a:xfrm>
            <a:off x="8280400" y="4470400"/>
            <a:ext cx="30607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i="0" noProof="1">
                <a:solidFill>
                  <a:srgbClr val="2E4149"/>
                </a:solidFill>
                <a:latin typeface="Inter"/>
                <a:ea typeface="Inter"/>
              </a:rPr>
              <a:t>Исходный код, инфраструктурные данные, клиентская база.</a:t>
            </a:r>
            <a:endParaRPr lang="en-US" sz="1000" noProof="1"/>
          </a:p>
        </p:txBody>
      </p:sp>
      <p:sp>
        <p:nvSpPr>
          <p:cNvPr id="52" name="TextBox 25"/>
          <p:cNvSpPr txBox="1"/>
          <p:nvPr/>
        </p:nvSpPr>
        <p:spPr>
          <a:xfrm>
            <a:off x="914400" y="5664200"/>
            <a:ext cx="1041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300" b="1" i="0" noProof="1">
                <a:solidFill>
                  <a:srgbClr val="FFFFFF"/>
                </a:solidFill>
                <a:latin typeface="Inter"/>
                <a:ea typeface="Inter"/>
              </a:rPr>
              <a:t>Общий принцип:</a:t>
            </a:r>
            <a:r>
              <a:rPr lang="en-US" sz="1300" i="0" noProof="1">
                <a:solidFill>
                  <a:srgbClr val="FFFFFF"/>
                </a:solidFill>
                <a:latin typeface="Inter"/>
                <a:ea typeface="Inter"/>
              </a:rPr>
              <a:t> если данные нельзя отправлять в публичные API — нужна платформа с защитным шлюзом внутри контура.</a:t>
            </a:r>
            <a:endParaRPr lang="en-US" sz="1300" noProof="1"/>
          </a:p>
        </p:txBody>
      </p:sp>
      <p:sp>
        <p:nvSpPr>
          <p:cNvPr id="53" name="TextBox 26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54" name="TextBox 27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18</a:t>
            </a:r>
            <a:endParaRPr lang="en-US" sz="850" noProof="1"/>
          </a:p>
        </p:txBody>
      </p:sp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84B105FE-3782-768D-DD91-0675A87EC0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БОЛЬШЕ, ЧЕМ ЗАЩИТА ПД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Один продукт закрывает четыре задачи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Защита персональных данных — базовый уровень. Попутно AI Guard снимает ещё три головные боли работы с ИИ.</a:t>
            </a:r>
            <a:endParaRPr lang="en-US" sz="125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1549400"/>
            <a:ext cx="5397500" cy="203200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10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889000" y="18288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11" name="TextBox 8"/>
          <p:cNvSpPr txBox="1"/>
          <p:nvPr/>
        </p:nvSpPr>
        <p:spPr>
          <a:xfrm>
            <a:off x="1397000" y="18542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Персональные данные</a:t>
            </a:r>
            <a:endParaRPr lang="en-US" sz="1300" noProof="1"/>
          </a:p>
        </p:txBody>
      </p:sp>
      <p:sp>
        <p:nvSpPr>
          <p:cNvPr id="12" name="TextBox 9"/>
          <p:cNvSpPr txBox="1"/>
          <p:nvPr/>
        </p:nvSpPr>
        <p:spPr>
          <a:xfrm>
            <a:off x="889000" y="2311400"/>
            <a:ext cx="4826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Маскирование ПД перед отправкой в любую модель. Базовый уровень защиты — обнаружение, маскирование и обратимое восстановление на входе и выходе LLM.</a:t>
            </a:r>
            <a:endParaRPr lang="en-US" sz="1100" noProof="1"/>
          </a:p>
        </p:txBody>
      </p:sp>
      <p:sp>
        <p:nvSpPr>
          <p:cNvPr id="13" name="Rounded Rectangle 10"/>
          <p:cNvSpPr/>
          <p:nvPr/>
        </p:nvSpPr>
        <p:spPr>
          <a:xfrm>
            <a:off x="6197600" y="1549400"/>
            <a:ext cx="5397500" cy="203200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14" name="Picture 11"/>
          <p:cNvPicPr/>
          <p:nvPr/>
        </p:nvPicPr>
        <p:blipFill>
          <a:blip r:embed="rId3"/>
          <a:stretch>
            <a:fillRect/>
          </a:stretch>
        </p:blipFill>
        <p:spPr>
          <a:xfrm>
            <a:off x="6477000" y="18288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15" name="TextBox 12"/>
          <p:cNvSpPr txBox="1"/>
          <p:nvPr/>
        </p:nvSpPr>
        <p:spPr>
          <a:xfrm>
            <a:off x="6985000" y="18542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Коммерческая тайна</a:t>
            </a:r>
            <a:endParaRPr lang="en-US" sz="1300" noProof="1"/>
          </a:p>
        </p:txBody>
      </p:sp>
      <p:sp>
        <p:nvSpPr>
          <p:cNvPr id="16" name="TextBox 13"/>
          <p:cNvSpPr txBox="1"/>
          <p:nvPr/>
        </p:nvSpPr>
        <p:spPr>
          <a:xfrm>
            <a:off x="6477000" y="2311400"/>
            <a:ext cx="4826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Опционально — защита чувствительных документов через семантический поиск: DLP-движок с настройкой и дообучением силами заказчика, реакция на ключевые слова.</a:t>
            </a:r>
            <a:endParaRPr lang="en-US" sz="1100" noProof="1"/>
          </a:p>
        </p:txBody>
      </p:sp>
      <p:sp>
        <p:nvSpPr>
          <p:cNvPr id="17" name="Rounded Rectangle 14"/>
          <p:cNvSpPr/>
          <p:nvPr/>
        </p:nvSpPr>
        <p:spPr>
          <a:xfrm>
            <a:off x="609600" y="3759200"/>
            <a:ext cx="5397500" cy="203200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18" name="Picture 15"/>
          <p:cNvPicPr/>
          <p:nvPr/>
        </p:nvPicPr>
        <p:blipFill>
          <a:blip r:embed="rId4"/>
          <a:stretch>
            <a:fillRect/>
          </a:stretch>
        </p:blipFill>
        <p:spPr>
          <a:xfrm>
            <a:off x="889000" y="40386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19" name="TextBox 16"/>
          <p:cNvSpPr txBox="1"/>
          <p:nvPr/>
        </p:nvSpPr>
        <p:spPr>
          <a:xfrm>
            <a:off x="1397000" y="40640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Контроль расходов</a:t>
            </a:r>
            <a:endParaRPr lang="en-US" sz="1300" noProof="1"/>
          </a:p>
        </p:txBody>
      </p:sp>
      <p:sp>
        <p:nvSpPr>
          <p:cNvPr id="20" name="TextBox 17"/>
          <p:cNvSpPr txBox="1"/>
          <p:nvPr/>
        </p:nvSpPr>
        <p:spPr>
          <a:xfrm>
            <a:off x="889000" y="4521200"/>
            <a:ext cx="4826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Квоты и счётчики по командам и пользователям. ИИ-бюджет под управлением: лимиты и оповещения для службы ИБ и владельцев.</a:t>
            </a:r>
            <a:endParaRPr lang="en-US" sz="1100" noProof="1"/>
          </a:p>
        </p:txBody>
      </p:sp>
      <p:sp>
        <p:nvSpPr>
          <p:cNvPr id="21" name="Rounded Rectangle 18"/>
          <p:cNvSpPr/>
          <p:nvPr/>
        </p:nvSpPr>
        <p:spPr>
          <a:xfrm>
            <a:off x="6197600" y="3759200"/>
            <a:ext cx="5397500" cy="203200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22" name="Picture 19"/>
          <p:cNvPicPr/>
          <p:nvPr/>
        </p:nvPicPr>
        <p:blipFill>
          <a:blip r:embed="rId5"/>
          <a:stretch>
            <a:fillRect/>
          </a:stretch>
        </p:blipFill>
        <p:spPr>
          <a:xfrm>
            <a:off x="6477000" y="40386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23" name="TextBox 20"/>
          <p:cNvSpPr txBox="1"/>
          <p:nvPr/>
        </p:nvSpPr>
        <p:spPr>
          <a:xfrm>
            <a:off x="6985000" y="40640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Сквозной аудит</a:t>
            </a:r>
            <a:endParaRPr lang="en-US" sz="1300" noProof="1"/>
          </a:p>
        </p:txBody>
      </p:sp>
      <p:sp>
        <p:nvSpPr>
          <p:cNvPr id="24" name="TextBox 21"/>
          <p:cNvSpPr txBox="1"/>
          <p:nvPr/>
        </p:nvSpPr>
        <p:spPr>
          <a:xfrm>
            <a:off x="6477000" y="4521200"/>
            <a:ext cx="4826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Каждое обращение к модели логируется: вопрос, вызовы инструментов, факт и объём маскирования. Интеграция с SIEM, наблюдаемость, security-алерты.</a:t>
            </a:r>
            <a:endParaRPr lang="en-US" sz="1100" noProof="1"/>
          </a:p>
        </p:txBody>
      </p:sp>
      <p:sp>
        <p:nvSpPr>
          <p:cNvPr id="25" name="TextBox 22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26" name="TextBox 23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19</a:t>
            </a:r>
            <a:endParaRPr lang="en-US" sz="850" noProof="1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01B27334-4E3A-846A-4797-51C5E4DD0D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pill-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logo-pill-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logo-pill-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logo-pill-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kicker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ВНЕДРЕНИЕ</a:t>
            </a:r>
            <a:endParaRPr lang="en-US" sz="1100" noProof="1"/>
          </a:p>
        </p:txBody>
      </p:sp>
      <p:sp>
        <p:nvSpPr>
          <p:cNvPr id="7" name="title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Без переписывания систем и боли для ИТ</a:t>
            </a:r>
            <a:endParaRPr lang="en-US" sz="2500" noProof="1"/>
          </a:p>
        </p:txBody>
      </p:sp>
      <p:sp>
        <p:nvSpPr>
          <p:cNvPr id="8" name="scheme-box-1"/>
          <p:cNvSpPr/>
          <p:nvPr/>
        </p:nvSpPr>
        <p:spPr>
          <a:xfrm>
            <a:off x="609600" y="1219200"/>
            <a:ext cx="3048000" cy="12192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9" name="scheme-icon-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eyJpY29uTmFtZSI6ImZhczp1c2VycyJ9</pptd:icon>
              </p:ext>
            </p:extLst>
          </p:nvPr>
        </p:nvSpPr>
        <p:spPr>
          <a:xfrm>
            <a:off x="914400" y="1549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20" y="16"/>
                </a:moveTo>
                <a:cubicBezTo>
                  <a:pt x="377" y="16"/>
                  <a:pt x="424" y="63"/>
                  <a:pt x="424" y="120"/>
                </a:cubicBezTo>
                <a:cubicBezTo>
                  <a:pt x="424" y="177"/>
                  <a:pt x="377" y="224"/>
                  <a:pt x="320" y="224"/>
                </a:cubicBezTo>
                <a:cubicBezTo>
                  <a:pt x="263" y="224"/>
                  <a:pt x="216" y="177"/>
                  <a:pt x="216" y="120"/>
                </a:cubicBezTo>
                <a:cubicBezTo>
                  <a:pt x="216" y="63"/>
                  <a:pt x="263" y="16"/>
                  <a:pt x="320" y="16"/>
                </a:cubicBezTo>
                <a:close/>
              </a:path>
              <a:path w="640" h="512">
                <a:moveTo>
                  <a:pt x="96" y="88"/>
                </a:moveTo>
                <a:cubicBezTo>
                  <a:pt x="136" y="88"/>
                  <a:pt x="168" y="120"/>
                  <a:pt x="168" y="160"/>
                </a:cubicBezTo>
                <a:cubicBezTo>
                  <a:pt x="168" y="200"/>
                  <a:pt x="136" y="232"/>
                  <a:pt x="96" y="232"/>
                </a:cubicBezTo>
                <a:cubicBezTo>
                  <a:pt x="56" y="232"/>
                  <a:pt x="24" y="200"/>
                  <a:pt x="24" y="160"/>
                </a:cubicBezTo>
                <a:cubicBezTo>
                  <a:pt x="24" y="120"/>
                  <a:pt x="56" y="88"/>
                  <a:pt x="96" y="88"/>
                </a:cubicBezTo>
                <a:close/>
              </a:path>
              <a:path w="640" h="512">
                <a:moveTo>
                  <a:pt x="0" y="416"/>
                </a:moveTo>
                <a:cubicBezTo>
                  <a:pt x="0" y="345"/>
                  <a:pt x="57" y="288"/>
                  <a:pt x="128" y="288"/>
                </a:cubicBezTo>
                <a:cubicBezTo>
                  <a:pt x="141" y="288"/>
                  <a:pt x="153" y="290"/>
                  <a:pt x="165" y="293"/>
                </a:cubicBezTo>
                <a:cubicBezTo>
                  <a:pt x="132" y="330"/>
                  <a:pt x="112" y="379"/>
                  <a:pt x="112" y="432"/>
                </a:cubicBezTo>
                <a:lnTo>
                  <a:pt x="112" y="448"/>
                </a:lnTo>
                <a:cubicBezTo>
                  <a:pt x="112" y="459"/>
                  <a:pt x="114" y="470"/>
                  <a:pt x="119" y="480"/>
                </a:cubicBezTo>
                <a:lnTo>
                  <a:pt x="32" y="480"/>
                </a:lnTo>
                <a:cubicBezTo>
                  <a:pt x="14" y="480"/>
                  <a:pt x="0" y="466"/>
                  <a:pt x="0" y="448"/>
                </a:cubicBezTo>
                <a:lnTo>
                  <a:pt x="0" y="416"/>
                </a:lnTo>
                <a:close/>
              </a:path>
              <a:path w="640" h="512">
                <a:moveTo>
                  <a:pt x="521" y="480"/>
                </a:moveTo>
                <a:cubicBezTo>
                  <a:pt x="526" y="470"/>
                  <a:pt x="528" y="459"/>
                  <a:pt x="528" y="448"/>
                </a:cubicBezTo>
                <a:lnTo>
                  <a:pt x="528" y="432"/>
                </a:lnTo>
                <a:cubicBezTo>
                  <a:pt x="528" y="379"/>
                  <a:pt x="508" y="330"/>
                  <a:pt x="475" y="293"/>
                </a:cubicBezTo>
                <a:cubicBezTo>
                  <a:pt x="487" y="290"/>
                  <a:pt x="499" y="288"/>
                  <a:pt x="512" y="288"/>
                </a:cubicBezTo>
                <a:cubicBezTo>
                  <a:pt x="583" y="288"/>
                  <a:pt x="640" y="345"/>
                  <a:pt x="640" y="416"/>
                </a:cubicBezTo>
                <a:lnTo>
                  <a:pt x="640" y="448"/>
                </a:lnTo>
                <a:cubicBezTo>
                  <a:pt x="640" y="466"/>
                  <a:pt x="626" y="480"/>
                  <a:pt x="608" y="480"/>
                </a:cubicBezTo>
                <a:lnTo>
                  <a:pt x="521" y="480"/>
                </a:lnTo>
                <a:close/>
              </a:path>
              <a:path w="640" h="512">
                <a:moveTo>
                  <a:pt x="472" y="160"/>
                </a:moveTo>
                <a:cubicBezTo>
                  <a:pt x="472" y="120"/>
                  <a:pt x="504" y="88"/>
                  <a:pt x="544" y="88"/>
                </a:cubicBezTo>
                <a:cubicBezTo>
                  <a:pt x="584" y="88"/>
                  <a:pt x="616" y="120"/>
                  <a:pt x="616" y="160"/>
                </a:cubicBezTo>
                <a:cubicBezTo>
                  <a:pt x="616" y="200"/>
                  <a:pt x="584" y="232"/>
                  <a:pt x="544" y="232"/>
                </a:cubicBezTo>
                <a:cubicBezTo>
                  <a:pt x="504" y="232"/>
                  <a:pt x="472" y="200"/>
                  <a:pt x="472" y="160"/>
                </a:cubicBezTo>
                <a:close/>
              </a:path>
              <a:path w="640" h="512">
                <a:moveTo>
                  <a:pt x="160" y="432"/>
                </a:moveTo>
                <a:cubicBezTo>
                  <a:pt x="160" y="344"/>
                  <a:pt x="232" y="272"/>
                  <a:pt x="320" y="272"/>
                </a:cubicBezTo>
                <a:cubicBezTo>
                  <a:pt x="408" y="272"/>
                  <a:pt x="480" y="344"/>
                  <a:pt x="480" y="432"/>
                </a:cubicBezTo>
                <a:lnTo>
                  <a:pt x="480" y="448"/>
                </a:lnTo>
                <a:cubicBezTo>
                  <a:pt x="480" y="466"/>
                  <a:pt x="466" y="480"/>
                  <a:pt x="448" y="480"/>
                </a:cubicBezTo>
                <a:lnTo>
                  <a:pt x="192" y="480"/>
                </a:lnTo>
                <a:cubicBezTo>
                  <a:pt x="174" y="480"/>
                  <a:pt x="160" y="466"/>
                  <a:pt x="160" y="448"/>
                </a:cubicBezTo>
                <a:lnTo>
                  <a:pt x="160" y="432"/>
                </a:lnTo>
                <a:close/>
              </a:path>
            </a:pathLst>
          </a:custGeom>
          <a:solidFill>
            <a:srgbClr val="1F9BA3"/>
          </a:solidFill>
          <a:ln>
            <a:noFill/>
          </a:ln>
        </p:spPr>
      </p:sp>
      <p:sp>
        <p:nvSpPr>
          <p:cNvPr id="10" name="scheme-title-1"/>
          <p:cNvSpPr txBox="1"/>
          <p:nvPr/>
        </p:nvSpPr>
        <p:spPr>
          <a:xfrm>
            <a:off x="1447800" y="142240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073E44"/>
                </a:solidFill>
                <a:latin typeface="Inter"/>
                <a:ea typeface="Inter"/>
              </a:rPr>
              <a:t>Пользователи и существующие системы</a:t>
            </a:r>
            <a:endParaRPr lang="en-US" sz="1150" noProof="1"/>
          </a:p>
        </p:txBody>
      </p:sp>
      <p:sp>
        <p:nvSpPr>
          <p:cNvPr id="11" name="scheme-sub-1"/>
          <p:cNvSpPr txBox="1"/>
          <p:nvPr/>
        </p:nvSpPr>
        <p:spPr>
          <a:xfrm>
            <a:off x="1447800" y="1905000"/>
            <a:ext cx="2057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900" noProof="1">
                <a:solidFill>
                  <a:srgbClr val="64767F"/>
                </a:solidFill>
                <a:latin typeface="Inter"/>
                <a:ea typeface="Inter"/>
              </a:rPr>
              <a:t>работают там же, где раньше — разработку не трогаем</a:t>
            </a:r>
            <a:endParaRPr lang="en-US" sz="900" noProof="1"/>
          </a:p>
        </p:txBody>
      </p:sp>
      <p:sp>
        <p:nvSpPr>
          <p:cNvPr id="12" name="scheme-arrow-1"/>
          <p:cNvSpPr/>
          <p:nvPr/>
        </p:nvSpPr>
        <p:spPr>
          <a:xfrm>
            <a:off x="3708400" y="1701800"/>
            <a:ext cx="457200" cy="254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3" name="scheme-box-2"/>
          <p:cNvSpPr/>
          <p:nvPr/>
        </p:nvSpPr>
        <p:spPr>
          <a:xfrm>
            <a:off x="4216400" y="1219200"/>
            <a:ext cx="3352800" cy="1219200"/>
          </a:xfrm>
          <a:prstGeom prst="roundRect">
            <a:avLst>
              <a:gd name="adj" fmla="val 8000"/>
            </a:avLst>
          </a:prstGeom>
          <a:solidFill>
            <a:srgbClr val="073E44"/>
          </a:solidFill>
          <a:ln>
            <a:noFill/>
          </a:ln>
        </p:spPr>
      </p:sp>
      <p:pic>
        <p:nvPicPr>
          <p:cNvPr id="14" name="scheme-icon-2"/>
          <p:cNvPicPr/>
          <p:nvPr/>
        </p:nvPicPr>
        <p:blipFill>
          <a:blip r:embed="rId2"/>
          <a:stretch>
            <a:fillRect/>
          </a:stretch>
        </p:blipFill>
        <p:spPr>
          <a:xfrm>
            <a:off x="4521200" y="1600200"/>
            <a:ext cx="381000" cy="381000"/>
          </a:xfrm>
          <a:prstGeom prst="rect">
            <a:avLst/>
          </a:prstGeom>
          <a:ln>
            <a:noFill/>
          </a:ln>
        </p:spPr>
      </p:pic>
      <p:sp>
        <p:nvSpPr>
          <p:cNvPr id="15" name="scheme-title-2"/>
          <p:cNvSpPr txBox="1"/>
          <p:nvPr/>
        </p:nvSpPr>
        <p:spPr>
          <a:xfrm>
            <a:off x="5054600" y="1447800"/>
            <a:ext cx="2336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Inter"/>
                <a:ea typeface="Inter"/>
              </a:rPr>
              <a:t>AI Guard — единый шлюз</a:t>
            </a:r>
            <a:endParaRPr lang="en-US" sz="1200" noProof="1"/>
          </a:p>
        </p:txBody>
      </p:sp>
      <p:sp>
        <p:nvSpPr>
          <p:cNvPr id="16" name="scheme-sub-2"/>
          <p:cNvSpPr txBox="1"/>
          <p:nvPr/>
        </p:nvSpPr>
        <p:spPr>
          <a:xfrm>
            <a:off x="5054600" y="1727200"/>
            <a:ext cx="2336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900" noProof="1">
                <a:solidFill>
                  <a:srgbClr val="B9D4D9"/>
                </a:solidFill>
                <a:latin typeface="Inter"/>
                <a:ea typeface="Inter"/>
              </a:rPr>
              <a:t>контроль доступа, аудит каждого обращения, наследование ролей</a:t>
            </a:r>
            <a:endParaRPr lang="en-US" sz="900" noProof="1"/>
          </a:p>
        </p:txBody>
      </p:sp>
      <p:sp>
        <p:nvSpPr>
          <p:cNvPr id="17" name="scheme-arrow-2"/>
          <p:cNvSpPr/>
          <p:nvPr/>
        </p:nvSpPr>
        <p:spPr>
          <a:xfrm>
            <a:off x="7620000" y="1701800"/>
            <a:ext cx="457200" cy="254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8" name="scheme-box-3"/>
          <p:cNvSpPr/>
          <p:nvPr/>
        </p:nvSpPr>
        <p:spPr>
          <a:xfrm>
            <a:off x="8128000" y="1219200"/>
            <a:ext cx="3467100" cy="12192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pic>
        <p:nvPicPr>
          <p:cNvPr id="19" name="scheme-icon-3"/>
          <p:cNvPicPr/>
          <p:nvPr/>
        </p:nvPicPr>
        <p:blipFill>
          <a:blip r:embed="rId3"/>
          <a:stretch>
            <a:fillRect/>
          </a:stretch>
        </p:blipFill>
        <p:spPr>
          <a:xfrm>
            <a:off x="8432800" y="1574800"/>
            <a:ext cx="381000" cy="381000"/>
          </a:xfrm>
          <a:prstGeom prst="rect">
            <a:avLst/>
          </a:prstGeom>
          <a:ln>
            <a:noFill/>
          </a:ln>
        </p:spPr>
      </p:pic>
      <p:sp>
        <p:nvSpPr>
          <p:cNvPr id="20" name="scheme-title-3"/>
          <p:cNvSpPr txBox="1"/>
          <p:nvPr/>
        </p:nvSpPr>
        <p:spPr>
          <a:xfrm>
            <a:off x="8991600" y="14478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073E44"/>
                </a:solidFill>
                <a:latin typeface="Inter"/>
                <a:ea typeface="Inter"/>
              </a:rPr>
              <a:t>Модели</a:t>
            </a:r>
            <a:endParaRPr lang="en-US" sz="1200" noProof="1"/>
          </a:p>
        </p:txBody>
      </p:sp>
      <p:sp>
        <p:nvSpPr>
          <p:cNvPr id="21" name="scheme-sub-3"/>
          <p:cNvSpPr txBox="1"/>
          <p:nvPr/>
        </p:nvSpPr>
        <p:spPr>
          <a:xfrm>
            <a:off x="8991600" y="1727200"/>
            <a:ext cx="2413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900" noProof="1">
                <a:solidFill>
                  <a:srgbClr val="64767F"/>
                </a:solidFill>
                <a:latin typeface="Inter"/>
                <a:ea typeface="Inter"/>
              </a:rPr>
              <a:t>облачные и локальные, изолированные сети с поддержкой air-gap</a:t>
            </a:r>
            <a:endParaRPr lang="en-US" sz="900" noProof="1"/>
          </a:p>
        </p:txBody>
      </p:sp>
      <p:pic>
        <p:nvPicPr>
          <p:cNvPr id="22" name="chips-icon"/>
          <p:cNvPicPr/>
          <p:nvPr/>
        </p:nvPicPr>
        <p:blipFill>
          <a:blip r:embed="rId4"/>
          <a:stretch>
            <a:fillRect/>
          </a:stretch>
        </p:blipFill>
        <p:spPr>
          <a:xfrm>
            <a:off x="609600" y="2628900"/>
            <a:ext cx="254000" cy="254000"/>
          </a:xfrm>
          <a:prstGeom prst="rect">
            <a:avLst/>
          </a:prstGeom>
          <a:ln>
            <a:noFill/>
          </a:ln>
        </p:spPr>
      </p:pic>
      <p:sp>
        <p:nvSpPr>
          <p:cNvPr id="23" name="chips-label"/>
          <p:cNvSpPr txBox="1"/>
          <p:nvPr/>
        </p:nvSpPr>
        <p:spPr>
          <a:xfrm>
            <a:off x="965200" y="2667000"/>
            <a:ext cx="1168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noProof="1">
                <a:solidFill>
                  <a:srgbClr val="073E44"/>
                </a:solidFill>
                <a:latin typeface="Inter"/>
                <a:ea typeface="Inter"/>
              </a:rPr>
              <a:t>Интеграции:</a:t>
            </a:r>
            <a:endParaRPr lang="en-US" sz="1050" noProof="1"/>
          </a:p>
        </p:txBody>
      </p:sp>
      <p:sp>
        <p:nvSpPr>
          <p:cNvPr id="24" name="chip-1-shape"/>
          <p:cNvSpPr/>
          <p:nvPr/>
        </p:nvSpPr>
        <p:spPr>
          <a:xfrm>
            <a:off x="2184400" y="2616200"/>
            <a:ext cx="9398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9BA3"/>
            </a:solidFill>
          </a:ln>
        </p:spPr>
      </p:sp>
      <p:sp>
        <p:nvSpPr>
          <p:cNvPr id="25" name="chip-1-text"/>
          <p:cNvSpPr txBox="1"/>
          <p:nvPr/>
        </p:nvSpPr>
        <p:spPr>
          <a:xfrm>
            <a:off x="2184400" y="2616200"/>
            <a:ext cx="939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noProof="1">
                <a:solidFill>
                  <a:srgbClr val="1F9BA3"/>
                </a:solidFill>
                <a:latin typeface="Inter"/>
                <a:ea typeface="Inter"/>
              </a:rPr>
              <a:t>LDAP/AD</a:t>
            </a:r>
            <a:endParaRPr lang="en-US" sz="950" noProof="1"/>
          </a:p>
        </p:txBody>
      </p:sp>
      <p:sp>
        <p:nvSpPr>
          <p:cNvPr id="26" name="chip-2-shape"/>
          <p:cNvSpPr/>
          <p:nvPr/>
        </p:nvSpPr>
        <p:spPr>
          <a:xfrm>
            <a:off x="3251200" y="2616200"/>
            <a:ext cx="7874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9BA3"/>
            </a:solidFill>
          </a:ln>
        </p:spPr>
      </p:sp>
      <p:sp>
        <p:nvSpPr>
          <p:cNvPr id="27" name="chip-2-text"/>
          <p:cNvSpPr txBox="1"/>
          <p:nvPr/>
        </p:nvSpPr>
        <p:spPr>
          <a:xfrm>
            <a:off x="3251200" y="26162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noProof="1">
                <a:solidFill>
                  <a:srgbClr val="1F9BA3"/>
                </a:solidFill>
                <a:latin typeface="Inter"/>
                <a:ea typeface="Inter"/>
              </a:rPr>
              <a:t>SAML</a:t>
            </a:r>
            <a:endParaRPr lang="en-US" sz="950" noProof="1"/>
          </a:p>
        </p:txBody>
      </p:sp>
      <p:sp>
        <p:nvSpPr>
          <p:cNvPr id="28" name="chip-3-shape"/>
          <p:cNvSpPr/>
          <p:nvPr/>
        </p:nvSpPr>
        <p:spPr>
          <a:xfrm>
            <a:off x="4165600" y="2616200"/>
            <a:ext cx="9906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9BA3"/>
            </a:solidFill>
          </a:ln>
        </p:spPr>
      </p:sp>
      <p:sp>
        <p:nvSpPr>
          <p:cNvPr id="29" name="chip-3-text"/>
          <p:cNvSpPr txBox="1"/>
          <p:nvPr/>
        </p:nvSpPr>
        <p:spPr>
          <a:xfrm>
            <a:off x="4165600" y="26162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noProof="1">
                <a:solidFill>
                  <a:srgbClr val="1F9BA3"/>
                </a:solidFill>
                <a:latin typeface="Inter"/>
                <a:ea typeface="Inter"/>
              </a:rPr>
              <a:t>Keycloak</a:t>
            </a:r>
            <a:endParaRPr lang="en-US" sz="950" noProof="1"/>
          </a:p>
        </p:txBody>
      </p:sp>
      <p:sp>
        <p:nvSpPr>
          <p:cNvPr id="30" name="chip-4-shape"/>
          <p:cNvSpPr/>
          <p:nvPr/>
        </p:nvSpPr>
        <p:spPr>
          <a:xfrm>
            <a:off x="5283200" y="2616200"/>
            <a:ext cx="762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9BA3"/>
            </a:solidFill>
          </a:ln>
        </p:spPr>
      </p:sp>
      <p:sp>
        <p:nvSpPr>
          <p:cNvPr id="31" name="chip-4-text"/>
          <p:cNvSpPr txBox="1"/>
          <p:nvPr/>
        </p:nvSpPr>
        <p:spPr>
          <a:xfrm>
            <a:off x="5283200" y="26162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noProof="1">
                <a:solidFill>
                  <a:srgbClr val="1F9BA3"/>
                </a:solidFill>
                <a:latin typeface="Inter"/>
                <a:ea typeface="Inter"/>
              </a:rPr>
              <a:t>OIDC</a:t>
            </a:r>
            <a:endParaRPr lang="en-US" sz="950" noProof="1"/>
          </a:p>
        </p:txBody>
      </p:sp>
      <p:sp>
        <p:nvSpPr>
          <p:cNvPr id="32" name="chip-5-shape"/>
          <p:cNvSpPr/>
          <p:nvPr/>
        </p:nvSpPr>
        <p:spPr>
          <a:xfrm>
            <a:off x="6172200" y="2616200"/>
            <a:ext cx="7366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9BA3"/>
            </a:solidFill>
          </a:ln>
        </p:spPr>
      </p:sp>
      <p:sp>
        <p:nvSpPr>
          <p:cNvPr id="33" name="chip-5-text"/>
          <p:cNvSpPr txBox="1"/>
          <p:nvPr/>
        </p:nvSpPr>
        <p:spPr>
          <a:xfrm>
            <a:off x="6172200" y="26162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noProof="1">
                <a:solidFill>
                  <a:srgbClr val="1F9BA3"/>
                </a:solidFill>
                <a:latin typeface="Inter"/>
                <a:ea typeface="Inter"/>
              </a:rPr>
              <a:t>SIEM</a:t>
            </a:r>
            <a:endParaRPr lang="en-US" sz="950" noProof="1"/>
          </a:p>
        </p:txBody>
      </p:sp>
      <p:sp>
        <p:nvSpPr>
          <p:cNvPr id="34" name="card-left-shape"/>
          <p:cNvSpPr/>
          <p:nvPr/>
        </p:nvSpPr>
        <p:spPr>
          <a:xfrm>
            <a:off x="609600" y="3098800"/>
            <a:ext cx="5334000" cy="190500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35" name="card-left-title"/>
          <p:cNvSpPr txBox="1"/>
          <p:nvPr/>
        </p:nvSpPr>
        <p:spPr>
          <a:xfrm>
            <a:off x="889000" y="3276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Как встраивается</a:t>
            </a:r>
            <a:endParaRPr lang="en-US" sz="1300" noProof="1"/>
          </a:p>
        </p:txBody>
      </p:sp>
      <p:sp>
        <p:nvSpPr>
          <p:cNvPr id="36" name="card-left-body"/>
          <p:cNvSpPr txBox="1"/>
          <p:nvPr/>
        </p:nvSpPr>
        <p:spPr>
          <a:xfrm>
            <a:off x="889000" y="3606800"/>
            <a:ext cx="47752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b="1" noProof="1">
                <a:solidFill>
                  <a:srgbClr val="1F9BA3"/>
                </a:solidFill>
                <a:latin typeface="Inter"/>
                <a:ea typeface="Inter"/>
              </a:rPr>
              <a:t>—</a:t>
            </a:r>
            <a:r>
              <a:rPr lang="en-US" sz="1050" noProof="1">
                <a:solidFill>
                  <a:srgbClr val="2E4149"/>
                </a:solidFill>
                <a:latin typeface="Inter"/>
                <a:ea typeface="Inter"/>
              </a:rPr>
              <a:t> Работает независимо от платформы, разработку не трогаем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1050" b="1" noProof="1">
                <a:solidFill>
                  <a:srgbClr val="1F9BA3"/>
                </a:solidFill>
                <a:latin typeface="Inter"/>
                <a:ea typeface="Inter"/>
              </a:rPr>
              <a:t>—</a:t>
            </a:r>
            <a:r>
              <a:rPr lang="en-US" sz="1050" noProof="1">
                <a:solidFill>
                  <a:srgbClr val="2E4149"/>
                </a:solidFill>
                <a:latin typeface="Inter"/>
                <a:ea typeface="Inter"/>
              </a:rPr>
              <a:t> Единый вход через корпоративный каталог и SSO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1050" b="1" noProof="1">
                <a:solidFill>
                  <a:srgbClr val="1F9BA3"/>
                </a:solidFill>
                <a:latin typeface="Inter"/>
                <a:ea typeface="Inter"/>
              </a:rPr>
              <a:t>—</a:t>
            </a:r>
            <a:r>
              <a:rPr lang="en-US" sz="1050" noProof="1">
                <a:solidFill>
                  <a:srgbClr val="2E4149"/>
                </a:solidFill>
                <a:latin typeface="Inter"/>
                <a:ea typeface="Inter"/>
              </a:rPr>
              <a:t> Изолированные сети, разные правила доступа, air-gap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1050" b="1" noProof="1">
                <a:solidFill>
                  <a:srgbClr val="1F9BA3"/>
                </a:solidFill>
                <a:latin typeface="Inter"/>
                <a:ea typeface="Inter"/>
              </a:rPr>
              <a:t>—</a:t>
            </a:r>
            <a:r>
              <a:rPr lang="en-US" sz="1050" noProof="1">
                <a:solidFill>
                  <a:srgbClr val="2E4149"/>
                </a:solidFill>
                <a:latin typeface="Inter"/>
                <a:ea typeface="Inter"/>
              </a:rPr>
              <a:t> Отключили сотрудника — его сессии в ИИ обрываются</a:t>
            </a:r>
            <a:endParaRPr lang="en-US" sz="1050" noProof="1"/>
          </a:p>
        </p:txBody>
      </p:sp>
      <p:sp>
        <p:nvSpPr>
          <p:cNvPr id="37" name="card-right-shape"/>
          <p:cNvSpPr/>
          <p:nvPr/>
        </p:nvSpPr>
        <p:spPr>
          <a:xfrm>
            <a:off x="6261100" y="3098800"/>
            <a:ext cx="5334000" cy="1905000"/>
          </a:xfrm>
          <a:prstGeom prst="roundRect">
            <a:avLst>
              <a:gd name="adj" fmla="val 5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38" name="card-right-title"/>
          <p:cNvSpPr txBox="1"/>
          <p:nvPr/>
        </p:nvSpPr>
        <p:spPr>
          <a:xfrm>
            <a:off x="6540500" y="3276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FFFFFF"/>
                </a:solidFill>
                <a:latin typeface="Inter"/>
                <a:ea typeface="Inter"/>
              </a:rPr>
              <a:t>Почему ИБ говорит «да»</a:t>
            </a:r>
            <a:endParaRPr lang="en-US" sz="1300" noProof="1"/>
          </a:p>
        </p:txBody>
      </p:sp>
      <p:sp>
        <p:nvSpPr>
          <p:cNvPr id="39" name="card-right-body"/>
          <p:cNvSpPr txBox="1"/>
          <p:nvPr/>
        </p:nvSpPr>
        <p:spPr>
          <a:xfrm>
            <a:off x="6540500" y="3606800"/>
            <a:ext cx="47752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b="1" noProof="1">
                <a:solidFill>
                  <a:srgbClr val="4EC6C6"/>
                </a:solidFill>
                <a:latin typeface="Inter"/>
                <a:ea typeface="Inter"/>
              </a:rPr>
              <a:t>—</a:t>
            </a:r>
            <a:r>
              <a:rPr lang="en-US" sz="1050" noProof="1">
                <a:solidFill>
                  <a:srgbClr val="D8E9EC"/>
                </a:solidFill>
                <a:latin typeface="Inter"/>
                <a:ea typeface="Inter"/>
              </a:rPr>
              <a:t> Контроль внутри компании — данные не уходят наружу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1050" b="1" noProof="1">
                <a:solidFill>
                  <a:srgbClr val="4EC6C6"/>
                </a:solidFill>
                <a:latin typeface="Inter"/>
                <a:ea typeface="Inter"/>
              </a:rPr>
              <a:t>—</a:t>
            </a:r>
            <a:r>
              <a:rPr lang="en-US" sz="1050" noProof="1">
                <a:solidFill>
                  <a:srgbClr val="D8E9EC"/>
                </a:solidFill>
                <a:latin typeface="Inter"/>
                <a:ea typeface="Inter"/>
              </a:rPr>
              <a:t> Доступы наследуются из вашей ролевой модели (RBAC)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1050" b="1" noProof="1">
                <a:solidFill>
                  <a:srgbClr val="4EC6C6"/>
                </a:solidFill>
                <a:latin typeface="Inter"/>
                <a:ea typeface="Inter"/>
              </a:rPr>
              <a:t>—</a:t>
            </a:r>
            <a:r>
              <a:rPr lang="en-US" sz="1050" noProof="1">
                <a:solidFill>
                  <a:srgbClr val="D8E9EC"/>
                </a:solidFill>
                <a:latin typeface="Inter"/>
                <a:ea typeface="Inter"/>
              </a:rPr>
              <a:t> Каждое обращение аудируется, события — в SIEM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1050" b="1" noProof="1">
                <a:solidFill>
                  <a:srgbClr val="4EC6C6"/>
                </a:solidFill>
                <a:latin typeface="Inter"/>
                <a:ea typeface="Inter"/>
              </a:rPr>
              <a:t>—</a:t>
            </a:r>
            <a:r>
              <a:rPr lang="en-US" sz="1050" noProof="1">
                <a:solidFill>
                  <a:srgbClr val="D8E9EC"/>
                </a:solidFill>
                <a:latin typeface="Inter"/>
                <a:ea typeface="Inter"/>
              </a:rPr>
              <a:t> Регуляторный риск (152-ФЗ и аналоги) закрыт по умолчанию</a:t>
            </a:r>
            <a:endParaRPr lang="en-US" sz="1050" noProof="1"/>
          </a:p>
        </p:txBody>
      </p:sp>
      <p:sp>
        <p:nvSpPr>
          <p:cNvPr id="40" name="cases-label"/>
          <p:cNvSpPr txBox="1"/>
          <p:nvPr/>
        </p:nvSpPr>
        <p:spPr>
          <a:xfrm>
            <a:off x="609600" y="52324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Когда это ваш случай</a:t>
            </a:r>
            <a:endParaRPr lang="en-US" sz="1250" noProof="1"/>
          </a:p>
        </p:txBody>
      </p:sp>
      <p:sp>
        <p:nvSpPr>
          <p:cNvPr id="41" name="case-1-shape"/>
          <p:cNvSpPr/>
          <p:nvPr/>
        </p:nvSpPr>
        <p:spPr>
          <a:xfrm>
            <a:off x="609600" y="5562600"/>
            <a:ext cx="35433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42" name="case-1-bar"/>
          <p:cNvSpPr/>
          <p:nvPr/>
        </p:nvSpPr>
        <p:spPr>
          <a:xfrm>
            <a:off x="609600" y="5562600"/>
            <a:ext cx="50800" cy="7620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43" name="case-1-text"/>
          <p:cNvSpPr txBox="1"/>
          <p:nvPr/>
        </p:nvSpPr>
        <p:spPr>
          <a:xfrm>
            <a:off x="812800" y="5638800"/>
            <a:ext cx="31877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ИИ-инициативы тормозятся или режутся из-за безопасности данных</a:t>
            </a:r>
            <a:endParaRPr lang="en-US" sz="1050" noProof="1"/>
          </a:p>
        </p:txBody>
      </p:sp>
      <p:sp>
        <p:nvSpPr>
          <p:cNvPr id="44" name="case-2-shape"/>
          <p:cNvSpPr/>
          <p:nvPr/>
        </p:nvSpPr>
        <p:spPr>
          <a:xfrm>
            <a:off x="4330700" y="5562600"/>
            <a:ext cx="35433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45" name="case-2-bar"/>
          <p:cNvSpPr/>
          <p:nvPr/>
        </p:nvSpPr>
        <p:spPr>
          <a:xfrm>
            <a:off x="4330700" y="5562600"/>
            <a:ext cx="50800" cy="7620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46" name="case-2-text"/>
          <p:cNvSpPr txBox="1"/>
          <p:nvPr/>
        </p:nvSpPr>
        <p:spPr>
          <a:xfrm>
            <a:off x="4533900" y="5638800"/>
            <a:ext cx="31877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Свой ИИ-стек уже есть, но он не закрыт и не одобрен ИБ</a:t>
            </a:r>
            <a:endParaRPr lang="en-US" sz="1050" noProof="1"/>
          </a:p>
        </p:txBody>
      </p:sp>
      <p:sp>
        <p:nvSpPr>
          <p:cNvPr id="47" name="case-3-shape"/>
          <p:cNvSpPr/>
          <p:nvPr/>
        </p:nvSpPr>
        <p:spPr>
          <a:xfrm>
            <a:off x="8051800" y="5562600"/>
            <a:ext cx="35433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48" name="case-3-bar"/>
          <p:cNvSpPr/>
          <p:nvPr/>
        </p:nvSpPr>
        <p:spPr>
          <a:xfrm>
            <a:off x="8051800" y="5562600"/>
            <a:ext cx="50800" cy="7620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49" name="case-3-text"/>
          <p:cNvSpPr txBox="1"/>
          <p:nvPr/>
        </p:nvSpPr>
        <p:spPr>
          <a:xfrm>
            <a:off x="8255000" y="5638800"/>
            <a:ext cx="31877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Нужно срочно снять регуляторный риск, а полная платформа пока избыточна</a:t>
            </a:r>
            <a:endParaRPr lang="en-US" sz="1050" noProof="1"/>
          </a:p>
        </p:txBody>
      </p:sp>
      <p:sp>
        <p:nvSpPr>
          <p:cNvPr id="50" name="footer-left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51" name="footer-page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20</a:t>
            </a:r>
            <a:endParaRPr lang="en-US" sz="850" noProof="1"/>
          </a:p>
        </p:txBody>
      </p:sp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E028D73A-BB09-E8D5-3073-249FB3D3E6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Rounded Rectangle 2-shape"/>
          <p:cNvSpPr/>
          <p:nvPr/>
        </p:nvSpPr>
        <p:spPr>
          <a:xfrm>
            <a:off x="609600" y="457200"/>
            <a:ext cx="666750" cy="3175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4" name="Rounded Rectangle 2-text"/>
          <p:cNvSpPr txBox="1"/>
          <p:nvPr/>
        </p:nvSpPr>
        <p:spPr>
          <a:xfrm>
            <a:off x="609600" y="457200"/>
            <a:ext cx="66675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300" noProof="1"/>
          </a:p>
        </p:txBody>
      </p:sp>
      <p:sp>
        <p:nvSpPr>
          <p:cNvPr id="5" name="Rounded Rectangle 3-shape"/>
          <p:cNvSpPr/>
          <p:nvPr/>
        </p:nvSpPr>
        <p:spPr>
          <a:xfrm>
            <a:off x="609600" y="447040"/>
            <a:ext cx="808990" cy="3175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" name="Rounded Rectangle 3-text"/>
          <p:cNvSpPr txBox="1"/>
          <p:nvPr/>
        </p:nvSpPr>
        <p:spPr>
          <a:xfrm>
            <a:off x="609600" y="447040"/>
            <a:ext cx="80899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>
                <a:solidFill>
                  <a:srgbClr val="0C323D"/>
                </a:solidFill>
                <a:latin typeface="Inter"/>
                <a:ea typeface="Inter"/>
              </a:rPr>
              <a:t>group</a:t>
            </a:r>
            <a:endParaRPr lang="en-US" sz="1150" noProof="1"/>
          </a:p>
        </p:txBody>
      </p:sp>
      <p:sp>
        <p:nvSpPr>
          <p:cNvPr id="7" name="TextBox 4"/>
          <p:cNvSpPr txBox="1"/>
          <p:nvPr/>
        </p:nvSpPr>
        <p:spPr>
          <a:xfrm>
            <a:off x="508000" y="762000"/>
            <a:ext cx="5080000" cy="165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0" b="1" i="0" noProof="1">
                <a:solidFill>
                  <a:srgbClr val="FFFFFF"/>
                </a:solidFill>
                <a:latin typeface="Inter"/>
                <a:ea typeface="Inter"/>
              </a:rPr>
              <a:t>03</a:t>
            </a:r>
            <a:endParaRPr lang="en-US" sz="11000" noProof="1"/>
          </a:p>
        </p:txBody>
      </p:sp>
      <p:sp>
        <p:nvSpPr>
          <p:cNvPr id="8" name="TextBox 5"/>
          <p:cNvSpPr txBox="1"/>
          <p:nvPr/>
        </p:nvSpPr>
        <p:spPr>
          <a:xfrm>
            <a:off x="812800" y="2743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i="0" kern="0" spc="300" noProof="1">
                <a:solidFill>
                  <a:srgbClr val="4EC6C6"/>
                </a:solidFill>
                <a:latin typeface="Inter"/>
                <a:ea typeface="Inter"/>
              </a:rPr>
              <a:t>РАЗДЕЛ 03</a:t>
            </a:r>
            <a:endParaRPr lang="en-US" sz="1150" noProof="1"/>
          </a:p>
        </p:txBody>
      </p:sp>
      <p:sp>
        <p:nvSpPr>
          <p:cNvPr id="9" name="TextBox 6"/>
          <p:cNvSpPr txBox="1"/>
          <p:nvPr/>
        </p:nvSpPr>
        <p:spPr>
          <a:xfrm>
            <a:off x="812800" y="3048000"/>
            <a:ext cx="7874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i="0" noProof="1">
                <a:solidFill>
                  <a:srgbClr val="FFFFFF"/>
                </a:solidFill>
                <a:latin typeface="Inter"/>
                <a:ea typeface="Inter"/>
              </a:rPr>
              <a:t>Veai Platform</a:t>
            </a:r>
            <a:endParaRPr lang="en-US" sz="3400" noProof="1"/>
          </a:p>
        </p:txBody>
      </p:sp>
      <p:sp>
        <p:nvSpPr>
          <p:cNvPr id="10" name="TextBox 7"/>
          <p:cNvSpPr txBox="1"/>
          <p:nvPr/>
        </p:nvSpPr>
        <p:spPr>
          <a:xfrm>
            <a:off x="812800" y="3759200"/>
            <a:ext cx="812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i="0" noProof="1">
                <a:solidFill>
                  <a:srgbClr val="4EC6C6"/>
                </a:solidFill>
                <a:latin typeface="Inter"/>
                <a:ea typeface="Inter"/>
              </a:rPr>
              <a:t>Доступ к топовым ИИ-моделям — легально и в рублях</a:t>
            </a:r>
            <a:endParaRPr lang="en-US" sz="1600" noProof="1"/>
          </a:p>
        </p:txBody>
      </p:sp>
      <p:sp>
        <p:nvSpPr>
          <p:cNvPr id="11" name="TextBox 8"/>
          <p:cNvSpPr txBox="1"/>
          <p:nvPr/>
        </p:nvSpPr>
        <p:spPr>
          <a:xfrm>
            <a:off x="812800" y="4267200"/>
            <a:ext cx="711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i="0" noProof="1">
                <a:solidFill>
                  <a:srgbClr val="B9D4D9"/>
                </a:solidFill>
                <a:latin typeface="Inter"/>
                <a:ea typeface="Inter"/>
              </a:rPr>
              <a:t>Единый API-шлюз к Claude, GPT, Gemini и другим моделям. Без VPN и иностранных карт, с корпоративным контролем расходов — и экономией до 40% на флагманских моделях.</a:t>
            </a:r>
            <a:endParaRPr lang="en-US" sz="1300" noProof="1"/>
          </a:p>
        </p:txBody>
      </p:sp>
      <p:sp>
        <p:nvSpPr>
          <p:cNvPr id="12" name="TextBox 9"/>
          <p:cNvSpPr txBox="1"/>
          <p:nvPr/>
        </p:nvSpPr>
        <p:spPr>
          <a:xfrm>
            <a:off x="8382000" y="27432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i="0" kern="0" spc="200" noProof="1">
                <a:solidFill>
                  <a:srgbClr val="7FAAB1"/>
                </a:solidFill>
                <a:latin typeface="Inter"/>
                <a:ea typeface="Inter"/>
              </a:rPr>
              <a:t>В РАЗДЕЛЕ</a:t>
            </a:r>
            <a:endParaRPr lang="en-US" sz="1000" noProof="1"/>
          </a:p>
        </p:txBody>
      </p:sp>
      <p:sp>
        <p:nvSpPr>
          <p:cNvPr id="13" name="TextBox 10"/>
          <p:cNvSpPr txBox="1"/>
          <p:nvPr/>
        </p:nvSpPr>
        <p:spPr>
          <a:xfrm>
            <a:off x="8382000" y="3048000"/>
            <a:ext cx="3175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Проблема и решение</a:t>
            </a:r>
            <a:endParaRPr lang="en-US" sz="1200" noProof="1"/>
          </a:p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Корпоративные возможности</a:t>
            </a:r>
            <a:endParaRPr lang="en-US" sz="1200" noProof="1"/>
          </a:p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Тарифы и модели</a:t>
            </a:r>
            <a:endParaRPr lang="en-US" sz="1200" noProof="1"/>
          </a:p>
        </p:txBody>
      </p:sp>
      <p:sp>
        <p:nvSpPr>
          <p:cNvPr id="14" name="Rounded Rectangle 11"/>
          <p:cNvSpPr/>
          <p:nvPr/>
        </p:nvSpPr>
        <p:spPr>
          <a:xfrm>
            <a:off x="812800" y="5588000"/>
            <a:ext cx="914400" cy="508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67FAA16-3A15-EFEB-395D-76E9BC6BC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50" y="36195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ПРОБЛЕМА И РЕШЕНИЕ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Как сейчас устроен доступ к ИИ — и как его меняет Veai</a:t>
            </a:r>
            <a:endParaRPr lang="en-US" sz="2500" noProof="1"/>
          </a:p>
        </p:txBody>
      </p:sp>
      <p:sp>
        <p:nvSpPr>
          <p:cNvPr id="8" name="Rounded Rectangle 5"/>
          <p:cNvSpPr/>
          <p:nvPr/>
        </p:nvSpPr>
        <p:spPr>
          <a:xfrm>
            <a:off x="609600" y="1244600"/>
            <a:ext cx="2628900" cy="11684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9" name="TextBox 6"/>
          <p:cNvSpPr txBox="1"/>
          <p:nvPr/>
        </p:nvSpPr>
        <p:spPr>
          <a:xfrm>
            <a:off x="787400" y="1371600"/>
            <a:ext cx="22733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Нужен VPN</a:t>
            </a:r>
            <a:endParaRPr lang="en-US" sz="1050" noProof="1"/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lang="en-US" sz="1050" i="0" noProof="1">
                <a:solidFill>
                  <a:srgbClr val="64767F"/>
                </a:solidFill>
                <a:latin typeface="Inter"/>
                <a:ea typeface="Inter"/>
              </a:rPr>
              <a:t>Западные модели заблокированы или нестабильны в РФ</a:t>
            </a:r>
            <a:endParaRPr lang="en-US" sz="1050" noProof="1"/>
          </a:p>
        </p:txBody>
      </p:sp>
      <p:sp>
        <p:nvSpPr>
          <p:cNvPr id="10" name="Rounded Rectangle 7"/>
          <p:cNvSpPr/>
          <p:nvPr/>
        </p:nvSpPr>
        <p:spPr>
          <a:xfrm>
            <a:off x="3390900" y="1244600"/>
            <a:ext cx="2628900" cy="11684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1" name="TextBox 8"/>
          <p:cNvSpPr txBox="1"/>
          <p:nvPr/>
        </p:nvSpPr>
        <p:spPr>
          <a:xfrm>
            <a:off x="3568700" y="1371600"/>
            <a:ext cx="22733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Иностранные карты</a:t>
            </a:r>
            <a:endParaRPr lang="en-US" sz="1050" noProof="1"/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lang="en-US" sz="1050" i="0" noProof="1">
                <a:solidFill>
                  <a:srgbClr val="64767F"/>
                </a:solidFill>
                <a:latin typeface="Inter"/>
                <a:ea typeface="Inter"/>
              </a:rPr>
              <a:t>Оплата через зарубежные платёжные системы</a:t>
            </a:r>
            <a:endParaRPr lang="en-US" sz="1050" noProof="1"/>
          </a:p>
        </p:txBody>
      </p:sp>
      <p:sp>
        <p:nvSpPr>
          <p:cNvPr id="12" name="Rounded Rectangle 9"/>
          <p:cNvSpPr/>
          <p:nvPr/>
        </p:nvSpPr>
        <p:spPr>
          <a:xfrm>
            <a:off x="6172200" y="1244600"/>
            <a:ext cx="2628900" cy="11684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3" name="TextBox 10"/>
          <p:cNvSpPr txBox="1"/>
          <p:nvPr/>
        </p:nvSpPr>
        <p:spPr>
          <a:xfrm>
            <a:off x="6350000" y="1371600"/>
            <a:ext cx="22733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Множество аккаунтов</a:t>
            </a:r>
            <a:endParaRPr lang="en-US" sz="1050" noProof="1"/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lang="en-US" sz="1050" i="0" noProof="1">
                <a:solidFill>
                  <a:srgbClr val="64767F"/>
                </a:solidFill>
                <a:latin typeface="Inter"/>
                <a:ea typeface="Inter"/>
              </a:rPr>
              <a:t>Отдельный ключ у каждого сотрудника у каждого провайдера</a:t>
            </a:r>
            <a:endParaRPr lang="en-US" sz="1050" noProof="1"/>
          </a:p>
        </p:txBody>
      </p:sp>
      <p:sp>
        <p:nvSpPr>
          <p:cNvPr id="14" name="Rounded Rectangle 11"/>
          <p:cNvSpPr/>
          <p:nvPr/>
        </p:nvSpPr>
        <p:spPr>
          <a:xfrm>
            <a:off x="8953500" y="1244600"/>
            <a:ext cx="2641600" cy="11684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5" name="TextBox 12"/>
          <p:cNvSpPr txBox="1"/>
          <p:nvPr/>
        </p:nvSpPr>
        <p:spPr>
          <a:xfrm>
            <a:off x="9131300" y="137160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Нет контроля</a:t>
            </a:r>
            <a:endParaRPr lang="en-US" sz="1050" noProof="1"/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lang="en-US" sz="1050" i="0" noProof="1">
                <a:solidFill>
                  <a:srgbClr val="64767F"/>
                </a:solidFill>
                <a:latin typeface="Inter"/>
                <a:ea typeface="Inter"/>
              </a:rPr>
              <a:t>Непрозрачные расходы, нет аналитики по команде</a:t>
            </a:r>
            <a:endParaRPr lang="en-US" sz="1050" noProof="1"/>
          </a:p>
        </p:txBody>
      </p:sp>
      <p:sp>
        <p:nvSpPr>
          <p:cNvPr id="16" name="Rounded Rectangle 13"/>
          <p:cNvSpPr/>
          <p:nvPr/>
        </p:nvSpPr>
        <p:spPr>
          <a:xfrm>
            <a:off x="609600" y="2616200"/>
            <a:ext cx="10985500" cy="1371600"/>
          </a:xfrm>
          <a:prstGeom prst="roundRect">
            <a:avLst>
              <a:gd name="adj" fmla="val 5000"/>
            </a:avLst>
          </a:prstGeom>
          <a:solidFill>
            <a:srgbClr val="073E44"/>
          </a:solidFill>
          <a:ln>
            <a:noFill/>
          </a:ln>
        </p:spPr>
      </p:sp>
      <p:pic>
        <p:nvPicPr>
          <p:cNvPr id="17" name="Picture 14"/>
          <p:cNvPicPr/>
          <p:nvPr/>
        </p:nvPicPr>
        <p:blipFill>
          <a:blip r:embed="rId2"/>
          <a:stretch>
            <a:fillRect/>
          </a:stretch>
        </p:blipFill>
        <p:spPr>
          <a:xfrm>
            <a:off x="939800" y="2946400"/>
            <a:ext cx="381000" cy="381000"/>
          </a:xfrm>
          <a:prstGeom prst="rect">
            <a:avLst/>
          </a:prstGeom>
          <a:ln>
            <a:noFill/>
          </a:ln>
        </p:spPr>
      </p:pic>
      <p:sp>
        <p:nvSpPr>
          <p:cNvPr id="18" name="TextBox 15"/>
          <p:cNvSpPr txBox="1"/>
          <p:nvPr/>
        </p:nvSpPr>
        <p:spPr>
          <a:xfrm>
            <a:off x="1574800" y="2768600"/>
            <a:ext cx="97790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150" b="1" i="0" noProof="1">
                <a:solidFill>
                  <a:srgbClr val="FFFFFF"/>
                </a:solidFill>
                <a:latin typeface="Inter"/>
                <a:ea typeface="Inter"/>
              </a:rPr>
              <a:t>Veai решает все эти задачи одновременно:</a:t>
            </a:r>
            <a:r>
              <a:rPr lang="en-US" sz="1150" i="0" noProof="1">
                <a:solidFill>
                  <a:srgbClr val="FFFFFF"/>
                </a:solidFill>
                <a:latin typeface="Inter"/>
                <a:ea typeface="Inter"/>
              </a:rPr>
              <a:t> единый API-шлюз к Claude, GPT, Gemini и другим топовым моделям. Смените baseURL один раз — и все инструменты (Cursor, Claude Code, Veai, любой OpenAI-совместимый) работают через платформу.</a:t>
            </a:r>
            <a:endParaRPr lang="en-US" sz="1150" noProof="1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150" b="1" i="0" noProof="1">
                <a:solidFill>
                  <a:srgbClr val="4EC6C6"/>
                </a:solidFill>
                <a:latin typeface="Inter"/>
                <a:ea typeface="Inter"/>
              </a:rPr>
              <a:t>Оплата в рублях · кредиты не сгорают · авто-переключение между провайдерами · экономия до 40%</a:t>
            </a:r>
            <a:endParaRPr lang="en-US" sz="1150" noProof="1"/>
          </a:p>
        </p:txBody>
      </p:sp>
      <p:sp>
        <p:nvSpPr>
          <p:cNvPr id="19" name="TextBox 16"/>
          <p:cNvSpPr txBox="1"/>
          <p:nvPr/>
        </p:nvSpPr>
        <p:spPr>
          <a:xfrm>
            <a:off x="609600" y="42418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Корпоративные возможности платформы</a:t>
            </a:r>
            <a:endParaRPr lang="en-US" sz="1250" noProof="1"/>
          </a:p>
        </p:txBody>
      </p:sp>
      <p:sp>
        <p:nvSpPr>
          <p:cNvPr id="20" name="Rounded Rectangle 17"/>
          <p:cNvSpPr/>
          <p:nvPr/>
        </p:nvSpPr>
        <p:spPr>
          <a:xfrm>
            <a:off x="609600" y="4597400"/>
            <a:ext cx="2628900" cy="711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21" name="TextBox 18"/>
          <p:cNvSpPr txBox="1"/>
          <p:nvPr/>
        </p:nvSpPr>
        <p:spPr>
          <a:xfrm>
            <a:off x="787400" y="4673600"/>
            <a:ext cx="2286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SSO — единый вход через корпоративный IDP</a:t>
            </a:r>
            <a:endParaRPr lang="en-US" sz="1050" noProof="1"/>
          </a:p>
        </p:txBody>
      </p:sp>
      <p:sp>
        <p:nvSpPr>
          <p:cNvPr id="22" name="Rounded Rectangle 19"/>
          <p:cNvSpPr/>
          <p:nvPr/>
        </p:nvSpPr>
        <p:spPr>
          <a:xfrm>
            <a:off x="3390900" y="4597400"/>
            <a:ext cx="2628900" cy="711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23" name="TextBox 20"/>
          <p:cNvSpPr txBox="1"/>
          <p:nvPr/>
        </p:nvSpPr>
        <p:spPr>
          <a:xfrm>
            <a:off x="3568700" y="4673600"/>
            <a:ext cx="2286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DLP — фильтр данных от утечек</a:t>
            </a:r>
            <a:endParaRPr lang="en-US" sz="1050" noProof="1"/>
          </a:p>
        </p:txBody>
      </p:sp>
      <p:sp>
        <p:nvSpPr>
          <p:cNvPr id="24" name="Rounded Rectangle 21"/>
          <p:cNvSpPr/>
          <p:nvPr/>
        </p:nvSpPr>
        <p:spPr>
          <a:xfrm>
            <a:off x="6172200" y="4597400"/>
            <a:ext cx="2628900" cy="711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25" name="TextBox 22"/>
          <p:cNvSpPr txBox="1"/>
          <p:nvPr/>
        </p:nvSpPr>
        <p:spPr>
          <a:xfrm>
            <a:off x="6350000" y="4673600"/>
            <a:ext cx="2286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RBAC — ролевая модель доступа</a:t>
            </a:r>
            <a:endParaRPr lang="en-US" sz="1050" noProof="1"/>
          </a:p>
        </p:txBody>
      </p:sp>
      <p:sp>
        <p:nvSpPr>
          <p:cNvPr id="26" name="Rounded Rectangle 23"/>
          <p:cNvSpPr/>
          <p:nvPr/>
        </p:nvSpPr>
        <p:spPr>
          <a:xfrm>
            <a:off x="8953500" y="4597400"/>
            <a:ext cx="2641600" cy="711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27" name="TextBox 24"/>
          <p:cNvSpPr txBox="1"/>
          <p:nvPr/>
        </p:nvSpPr>
        <p:spPr>
          <a:xfrm>
            <a:off x="9131300" y="4673600"/>
            <a:ext cx="2286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Audit Trail — след по каждому запросу</a:t>
            </a:r>
            <a:endParaRPr lang="en-US" sz="1050" noProof="1"/>
          </a:p>
        </p:txBody>
      </p:sp>
      <p:sp>
        <p:nvSpPr>
          <p:cNvPr id="28" name="Rounded Rectangle 25"/>
          <p:cNvSpPr/>
          <p:nvPr/>
        </p:nvSpPr>
        <p:spPr>
          <a:xfrm>
            <a:off x="609600" y="5435600"/>
            <a:ext cx="2628900" cy="711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29" name="TextBox 26"/>
          <p:cNvSpPr txBox="1"/>
          <p:nvPr/>
        </p:nvSpPr>
        <p:spPr>
          <a:xfrm>
            <a:off x="787400" y="5511800"/>
            <a:ext cx="2286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Бюджеты и лимиты на роль и команду</a:t>
            </a:r>
            <a:endParaRPr lang="en-US" sz="1050" noProof="1"/>
          </a:p>
        </p:txBody>
      </p:sp>
      <p:sp>
        <p:nvSpPr>
          <p:cNvPr id="30" name="Rounded Rectangle 27"/>
          <p:cNvSpPr/>
          <p:nvPr/>
        </p:nvSpPr>
        <p:spPr>
          <a:xfrm>
            <a:off x="3390900" y="5435600"/>
            <a:ext cx="2628900" cy="711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1" name="TextBox 28"/>
          <p:cNvSpPr txBox="1"/>
          <p:nvPr/>
        </p:nvSpPr>
        <p:spPr>
          <a:xfrm>
            <a:off x="3568700" y="5511800"/>
            <a:ext cx="2286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Телеметрия и дашборд использования</a:t>
            </a:r>
            <a:endParaRPr lang="en-US" sz="1050" noProof="1"/>
          </a:p>
        </p:txBody>
      </p:sp>
      <p:sp>
        <p:nvSpPr>
          <p:cNvPr id="32" name="Rounded Rectangle 29"/>
          <p:cNvSpPr/>
          <p:nvPr/>
        </p:nvSpPr>
        <p:spPr>
          <a:xfrm>
            <a:off x="6172200" y="5435600"/>
            <a:ext cx="2628900" cy="711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3" name="TextBox 30"/>
          <p:cNvSpPr txBox="1"/>
          <p:nvPr/>
        </p:nvSpPr>
        <p:spPr>
          <a:xfrm>
            <a:off x="6350000" y="5511800"/>
            <a:ext cx="2286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Управление ключами: хранение и ротация</a:t>
            </a:r>
            <a:endParaRPr lang="en-US" sz="1050" noProof="1"/>
          </a:p>
        </p:txBody>
      </p:sp>
      <p:sp>
        <p:nvSpPr>
          <p:cNvPr id="34" name="Rounded Rectangle 31"/>
          <p:cNvSpPr/>
          <p:nvPr/>
        </p:nvSpPr>
        <p:spPr>
          <a:xfrm>
            <a:off x="8953500" y="5435600"/>
            <a:ext cx="2641600" cy="711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5" name="TextBox 32"/>
          <p:cNvSpPr txBox="1"/>
          <p:nvPr/>
        </p:nvSpPr>
        <p:spPr>
          <a:xfrm>
            <a:off x="9131300" y="5511800"/>
            <a:ext cx="2286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Личный кабинет и сервер лицензий</a:t>
            </a:r>
            <a:endParaRPr lang="en-US" sz="1050" noProof="1"/>
          </a:p>
        </p:txBody>
      </p:sp>
      <p:sp>
        <p:nvSpPr>
          <p:cNvPr id="36" name="TextBox 33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37" name="TextBox 34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22</a:t>
            </a:r>
            <a:endParaRPr lang="en-US" sz="850" noProof="1"/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2E7155FD-C5D7-A003-9A57-2FB2EF63A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ВЫБОР МОДЕЛЕЙ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Честный разговор: локальные vs облачные модели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Выбор между локальным развёртыванием и облаком — не только вопрос безопасности, но и пользовательского опыта.</a:t>
            </a:r>
            <a:endParaRPr lang="en-US" sz="125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1549400"/>
            <a:ext cx="5384800" cy="34290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Rounded Rectangle 7"/>
          <p:cNvSpPr/>
          <p:nvPr/>
        </p:nvSpPr>
        <p:spPr>
          <a:xfrm>
            <a:off x="6210300" y="1549400"/>
            <a:ext cx="5384800" cy="3429000"/>
          </a:xfrm>
          <a:prstGeom prst="roundRect">
            <a:avLst>
              <a:gd name="adj" fmla="val 6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1" name="TextBox 8"/>
          <p:cNvSpPr txBox="1"/>
          <p:nvPr/>
        </p:nvSpPr>
        <p:spPr>
          <a:xfrm>
            <a:off x="838200" y="1778000"/>
            <a:ext cx="4927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i="0" noProof="1">
                <a:solidFill>
                  <a:srgbClr val="073E44"/>
                </a:solidFill>
                <a:latin typeface="Inter"/>
                <a:ea typeface="Inter"/>
              </a:rPr>
              <a:t>Локальные модели</a:t>
            </a:r>
            <a:endParaRPr lang="en-US" sz="1500" noProof="1"/>
          </a:p>
        </p:txBody>
      </p:sp>
      <p:sp>
        <p:nvSpPr>
          <p:cNvPr id="12" name="TextBox 9"/>
          <p:cNvSpPr txBox="1"/>
          <p:nvPr/>
        </p:nvSpPr>
        <p:spPr>
          <a:xfrm>
            <a:off x="838200" y="22098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i="0" kern="0" spc="200" noProof="1">
                <a:solidFill>
                  <a:srgbClr val="1F9BA3"/>
                </a:solidFill>
                <a:latin typeface="Inter"/>
                <a:ea typeface="Inter"/>
              </a:rPr>
              <a:t>ПЛЮСЫ</a:t>
            </a:r>
            <a:endParaRPr lang="en-US" sz="1000" noProof="1"/>
          </a:p>
        </p:txBody>
      </p:sp>
      <p:sp>
        <p:nvSpPr>
          <p:cNvPr id="13" name="TextBox 10"/>
          <p:cNvSpPr txBox="1"/>
          <p:nvPr/>
        </p:nvSpPr>
        <p:spPr>
          <a:xfrm>
            <a:off x="838200" y="2438400"/>
            <a:ext cx="49276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b="1" i="0" noProof="1">
                <a:solidFill>
                  <a:srgbClr val="1F9BA3"/>
                </a:solidFill>
                <a:latin typeface="Inter"/>
                <a:ea typeface="Inter"/>
              </a:rPr>
              <a:t>✓</a:t>
            </a: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 Полный контроль: ни один байт не покидает периметр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500"/>
              </a:spcBef>
            </a:pPr>
            <a:r>
              <a:rPr lang="en-US" sz="1100" b="1" i="0" noProof="1">
                <a:solidFill>
                  <a:srgbClr val="1F9BA3"/>
                </a:solidFill>
                <a:latin typeface="Inter"/>
                <a:ea typeface="Inter"/>
              </a:rPr>
              <a:t>✓</a:t>
            </a: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 Нет зависимости от внешних провайдеров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500"/>
              </a:spcBef>
            </a:pPr>
            <a:r>
              <a:rPr lang="en-US" sz="1100" b="1" i="0" noProof="1">
                <a:solidFill>
                  <a:srgbClr val="1F9BA3"/>
                </a:solidFill>
                <a:latin typeface="Inter"/>
                <a:ea typeface="Inter"/>
              </a:rPr>
              <a:t>✓</a:t>
            </a: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 Соответствие 152-ФЗ и требованиям к ИИ</a:t>
            </a:r>
            <a:endParaRPr lang="en-US" sz="1100" noProof="1"/>
          </a:p>
        </p:txBody>
      </p:sp>
      <p:sp>
        <p:nvSpPr>
          <p:cNvPr id="14" name="TextBox 11"/>
          <p:cNvSpPr txBox="1"/>
          <p:nvPr/>
        </p:nvSpPr>
        <p:spPr>
          <a:xfrm>
            <a:off x="838200" y="34036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i="0" kern="0" spc="200" noProof="1">
                <a:solidFill>
                  <a:srgbClr val="B7791F"/>
                </a:solidFill>
                <a:latin typeface="Inter"/>
                <a:ea typeface="Inter"/>
              </a:rPr>
              <a:t>ОГРАНИЧЕНИЯ</a:t>
            </a:r>
            <a:endParaRPr lang="en-US" sz="1000" noProof="1"/>
          </a:p>
        </p:txBody>
      </p:sp>
      <p:sp>
        <p:nvSpPr>
          <p:cNvPr id="15" name="TextBox 12"/>
          <p:cNvSpPr txBox="1"/>
          <p:nvPr/>
        </p:nvSpPr>
        <p:spPr>
          <a:xfrm>
            <a:off x="838200" y="3632200"/>
            <a:ext cx="49276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b="1" i="0" noProof="1">
                <a:solidFill>
                  <a:srgbClr val="B7791F"/>
                </a:solidFill>
                <a:latin typeface="Inter"/>
                <a:ea typeface="Inter"/>
              </a:rPr>
              <a:t>⚠</a:t>
            </a: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 Нужны GPU: 80–160 ГБ видеопамяти для старта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500"/>
              </a:spcBef>
            </a:pPr>
            <a:r>
              <a:rPr lang="en-US" sz="1100" b="1" i="0" noProof="1">
                <a:solidFill>
                  <a:srgbClr val="B7791F"/>
                </a:solidFill>
                <a:latin typeface="Inter"/>
                <a:ea typeface="Inter"/>
              </a:rPr>
              <a:t>⚠</a:t>
            </a: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 Модели ~30B параметров слабее топовых облачных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500"/>
              </a:spcBef>
            </a:pPr>
            <a:r>
              <a:rPr lang="en-US" sz="1100" b="1" i="0" noProof="1">
                <a:solidFill>
                  <a:srgbClr val="B7791F"/>
                </a:solidFill>
                <a:latin typeface="Inter"/>
                <a:ea typeface="Inter"/>
              </a:rPr>
              <a:t>⚠</a:t>
            </a: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 Скорость генерации ниже — пользователи ждут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500"/>
              </a:spcBef>
            </a:pPr>
            <a:r>
              <a:rPr lang="en-US" sz="1100" b="1" i="0" noProof="1">
                <a:solidFill>
                  <a:srgbClr val="B7791F"/>
                </a:solidFill>
                <a:latin typeface="Inter"/>
                <a:ea typeface="Inter"/>
              </a:rPr>
              <a:t>⚠</a:t>
            </a: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 Своя команда эксплуатации или сопровождение</a:t>
            </a:r>
            <a:endParaRPr lang="en-US" sz="1100" noProof="1"/>
          </a:p>
        </p:txBody>
      </p:sp>
      <p:sp>
        <p:nvSpPr>
          <p:cNvPr id="16" name="TextBox 13"/>
          <p:cNvSpPr txBox="1"/>
          <p:nvPr/>
        </p:nvSpPr>
        <p:spPr>
          <a:xfrm>
            <a:off x="6438900" y="1778000"/>
            <a:ext cx="4927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i="0" noProof="1">
                <a:solidFill>
                  <a:srgbClr val="FFFFFF"/>
                </a:solidFill>
                <a:latin typeface="Inter"/>
                <a:ea typeface="Inter"/>
              </a:rPr>
              <a:t>Облачные модели через шлюз</a:t>
            </a:r>
            <a:endParaRPr lang="en-US" sz="1500" noProof="1"/>
          </a:p>
        </p:txBody>
      </p:sp>
      <p:sp>
        <p:nvSpPr>
          <p:cNvPr id="17" name="TextBox 14"/>
          <p:cNvSpPr txBox="1"/>
          <p:nvPr/>
        </p:nvSpPr>
        <p:spPr>
          <a:xfrm>
            <a:off x="6438900" y="22098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i="0" kern="0" spc="200" noProof="1">
                <a:solidFill>
                  <a:srgbClr val="4EC6C6"/>
                </a:solidFill>
                <a:latin typeface="Inter"/>
                <a:ea typeface="Inter"/>
              </a:rPr>
              <a:t>ПЛЮСЫ</a:t>
            </a:r>
            <a:endParaRPr lang="en-US" sz="1000" noProof="1"/>
          </a:p>
        </p:txBody>
      </p:sp>
      <p:sp>
        <p:nvSpPr>
          <p:cNvPr id="18" name="TextBox 15"/>
          <p:cNvSpPr txBox="1"/>
          <p:nvPr/>
        </p:nvSpPr>
        <p:spPr>
          <a:xfrm>
            <a:off x="6438900" y="2438400"/>
            <a:ext cx="49276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b="1" i="0" noProof="1">
                <a:solidFill>
                  <a:srgbClr val="4EC6C6"/>
                </a:solidFill>
                <a:latin typeface="Inter"/>
                <a:ea typeface="Inter"/>
              </a:rPr>
              <a:t>✓</a:t>
            </a:r>
            <a:r>
              <a:rPr lang="en-US" sz="1100" i="0" noProof="1">
                <a:solidFill>
                  <a:srgbClr val="B9D4D9"/>
                </a:solidFill>
                <a:latin typeface="Inter"/>
                <a:ea typeface="Inter"/>
              </a:rPr>
              <a:t> Высочайшее качество: GPT-4, Claude, Gemini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500"/>
              </a:spcBef>
            </a:pPr>
            <a:r>
              <a:rPr lang="en-US" sz="1100" b="1" i="0" noProof="1">
                <a:solidFill>
                  <a:srgbClr val="4EC6C6"/>
                </a:solidFill>
                <a:latin typeface="Inter"/>
                <a:ea typeface="Inter"/>
              </a:rPr>
              <a:t>✓</a:t>
            </a:r>
            <a:r>
              <a:rPr lang="en-US" sz="1100" i="0" noProof="1">
                <a:solidFill>
                  <a:srgbClr val="B9D4D9"/>
                </a:solidFill>
                <a:latin typeface="Inter"/>
                <a:ea typeface="Inter"/>
              </a:rPr>
              <a:t> Быстрый старт без закупки железа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500"/>
              </a:spcBef>
            </a:pPr>
            <a:r>
              <a:rPr lang="en-US" sz="1100" b="1" i="0" noProof="1">
                <a:solidFill>
                  <a:srgbClr val="4EC6C6"/>
                </a:solidFill>
                <a:latin typeface="Inter"/>
                <a:ea typeface="Inter"/>
              </a:rPr>
              <a:t>✓</a:t>
            </a:r>
            <a:r>
              <a:rPr lang="en-US" sz="1100" i="0" noProof="1">
                <a:solidFill>
                  <a:srgbClr val="B9D4D9"/>
                </a:solidFill>
                <a:latin typeface="Inter"/>
                <a:ea typeface="Inter"/>
              </a:rPr>
              <a:t> Экономия на инфраструктуре</a:t>
            </a:r>
            <a:endParaRPr lang="en-US" sz="1100" noProof="1"/>
          </a:p>
        </p:txBody>
      </p:sp>
      <p:sp>
        <p:nvSpPr>
          <p:cNvPr id="19" name="TextBox 16"/>
          <p:cNvSpPr txBox="1"/>
          <p:nvPr/>
        </p:nvSpPr>
        <p:spPr>
          <a:xfrm>
            <a:off x="6438900" y="34036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i="0" kern="0" spc="200" noProof="1">
                <a:solidFill>
                  <a:srgbClr val="E8A33D"/>
                </a:solidFill>
                <a:latin typeface="Inter"/>
                <a:ea typeface="Inter"/>
              </a:rPr>
              <a:t>ОГРАНИЧЕНИЯ</a:t>
            </a:r>
            <a:endParaRPr lang="en-US" sz="1000" noProof="1"/>
          </a:p>
        </p:txBody>
      </p:sp>
      <p:sp>
        <p:nvSpPr>
          <p:cNvPr id="20" name="TextBox 17"/>
          <p:cNvSpPr txBox="1"/>
          <p:nvPr/>
        </p:nvSpPr>
        <p:spPr>
          <a:xfrm>
            <a:off x="6438900" y="3632200"/>
            <a:ext cx="49276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b="1" i="0" noProof="1">
                <a:solidFill>
                  <a:srgbClr val="E8A33D"/>
                </a:solidFill>
                <a:latin typeface="Inter"/>
                <a:ea typeface="Inter"/>
              </a:rPr>
              <a:t>⚠</a:t>
            </a:r>
            <a:r>
              <a:rPr lang="en-US" sz="1100" i="0" noProof="1">
                <a:solidFill>
                  <a:srgbClr val="B9D4D9"/>
                </a:solidFill>
                <a:latin typeface="Inter"/>
                <a:ea typeface="Inter"/>
              </a:rPr>
              <a:t> Обязательное маскирование чувствительных данных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500"/>
              </a:spcBef>
            </a:pPr>
            <a:r>
              <a:rPr lang="en-US" sz="1100" b="1" i="0" noProof="1">
                <a:solidFill>
                  <a:srgbClr val="E8A33D"/>
                </a:solidFill>
                <a:latin typeface="Inter"/>
                <a:ea typeface="Inter"/>
              </a:rPr>
              <a:t>⚠</a:t>
            </a:r>
            <a:r>
              <a:rPr lang="en-US" sz="1100" i="0" noProof="1">
                <a:solidFill>
                  <a:srgbClr val="B9D4D9"/>
                </a:solidFill>
                <a:latin typeface="Inter"/>
                <a:ea typeface="Inter"/>
              </a:rPr>
              <a:t> Зависимость от провайдера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500"/>
              </a:spcBef>
            </a:pPr>
            <a:r>
              <a:rPr lang="en-US" sz="1100" b="1" i="0" noProof="1">
                <a:solidFill>
                  <a:srgbClr val="E8A33D"/>
                </a:solidFill>
                <a:latin typeface="Inter"/>
                <a:ea typeface="Inter"/>
              </a:rPr>
              <a:t>⚠</a:t>
            </a:r>
            <a:r>
              <a:rPr lang="en-US" sz="1100" i="0" noProof="1">
                <a:solidFill>
                  <a:srgbClr val="B9D4D9"/>
                </a:solidFill>
                <a:latin typeface="Inter"/>
                <a:ea typeface="Inter"/>
              </a:rPr>
              <a:t> Регуляторные риски для части категорий данных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500"/>
              </a:spcBef>
            </a:pPr>
            <a:r>
              <a:rPr lang="en-US" sz="1100" b="1" i="0" noProof="1">
                <a:solidFill>
                  <a:srgbClr val="E8A33D"/>
                </a:solidFill>
                <a:latin typeface="Inter"/>
                <a:ea typeface="Inter"/>
              </a:rPr>
              <a:t>⚠</a:t>
            </a:r>
            <a:r>
              <a:rPr lang="en-US" sz="1100" i="0" noProof="1">
                <a:solidFill>
                  <a:srgbClr val="B9D4D9"/>
                </a:solidFill>
                <a:latin typeface="Inter"/>
                <a:ea typeface="Inter"/>
              </a:rPr>
              <a:t> Постоянные расходы на API</a:t>
            </a:r>
            <a:endParaRPr lang="en-US" sz="1100" noProof="1"/>
          </a:p>
        </p:txBody>
      </p:sp>
      <p:sp>
        <p:nvSpPr>
          <p:cNvPr id="21" name="Rounded Rectangle 18"/>
          <p:cNvSpPr/>
          <p:nvPr/>
        </p:nvSpPr>
        <p:spPr>
          <a:xfrm>
            <a:off x="609600" y="5232400"/>
            <a:ext cx="10985500" cy="812800"/>
          </a:xfrm>
          <a:prstGeom prst="roundRect">
            <a:avLst>
              <a:gd name="adj" fmla="val 9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22" name="TextBox 19"/>
          <p:cNvSpPr txBox="1"/>
          <p:nvPr/>
        </p:nvSpPr>
        <p:spPr>
          <a:xfrm>
            <a:off x="914400" y="5334000"/>
            <a:ext cx="10414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300" b="1" i="0" noProof="1">
                <a:solidFill>
                  <a:srgbClr val="FFFFFF"/>
                </a:solidFill>
                <a:latin typeface="Inter"/>
                <a:ea typeface="Inter"/>
              </a:rPr>
              <a:t>Гибридный путь через шлюз Veai:</a:t>
            </a:r>
            <a:r>
              <a:rPr lang="en-US" sz="1300" i="0" noProof="1">
                <a:solidFill>
                  <a:srgbClr val="FFFFFF"/>
                </a:solidFill>
                <a:latin typeface="Inter"/>
                <a:ea typeface="Inter"/>
              </a:rPr>
              <a:t> облачное качество моделей + маскирование чувствительных данных внутри контура — без компромисса между скоростью и безопасностью.</a:t>
            </a:r>
            <a:endParaRPr lang="en-US" sz="1300" noProof="1"/>
          </a:p>
        </p:txBody>
      </p:sp>
      <p:sp>
        <p:nvSpPr>
          <p:cNvPr id="23" name="TextBox 20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24" name="TextBox 21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23</a:t>
            </a:r>
            <a:endParaRPr lang="en-US" sz="850" noProof="1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3EBD5B6B-8E27-03BC-C238-94BBA2F7B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ТАРИФЫ И МОДЕЛИ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Два способа подключения</a:t>
            </a:r>
            <a:endParaRPr lang="en-US" sz="2500" noProof="1"/>
          </a:p>
        </p:txBody>
      </p:sp>
      <p:sp>
        <p:nvSpPr>
          <p:cNvPr id="8" name="Rounded Rectangle 5"/>
          <p:cNvSpPr/>
          <p:nvPr/>
        </p:nvSpPr>
        <p:spPr>
          <a:xfrm>
            <a:off x="609600" y="1219200"/>
            <a:ext cx="5397500" cy="241300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9" name="TextBox 6"/>
          <p:cNvSpPr txBox="1"/>
          <p:nvPr/>
        </p:nvSpPr>
        <p:spPr>
          <a:xfrm>
            <a:off x="863600" y="1422400"/>
            <a:ext cx="4889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API Gateway — оплата за токены</a:t>
            </a:r>
            <a:endParaRPr lang="en-US" sz="1300" noProof="1"/>
          </a:p>
        </p:txBody>
      </p:sp>
      <p:sp>
        <p:nvSpPr>
          <p:cNvPr id="10" name="TextBox 7"/>
          <p:cNvSpPr txBox="1"/>
          <p:nvPr/>
        </p:nvSpPr>
        <p:spPr>
          <a:xfrm>
            <a:off x="863600" y="1752600"/>
            <a:ext cx="48895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Для команд, которые работают с ИИ напрямую через API.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Тарификация: прозрачная модель по фактическому потреблению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— Договор-оферта (оказание услуг)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— 1 API-ключ и выгрузка статистики за период</a:t>
            </a:r>
            <a:endParaRPr lang="en-US" sz="1050" noProof="1"/>
          </a:p>
        </p:txBody>
      </p:sp>
      <p:sp>
        <p:nvSpPr>
          <p:cNvPr id="11" name="Rounded Rectangle 8"/>
          <p:cNvSpPr/>
          <p:nvPr/>
        </p:nvSpPr>
        <p:spPr>
          <a:xfrm>
            <a:off x="6197600" y="1219200"/>
            <a:ext cx="5397500" cy="2413000"/>
          </a:xfrm>
          <a:prstGeom prst="roundRect">
            <a:avLst>
              <a:gd name="adj" fmla="val 5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2" name="Rounded Rectangle 9"/>
          <p:cNvSpPr/>
          <p:nvPr/>
        </p:nvSpPr>
        <p:spPr>
          <a:xfrm>
            <a:off x="10160000" y="1397000"/>
            <a:ext cx="1219200" cy="2794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3" name="TextBox 10"/>
          <p:cNvSpPr txBox="1"/>
          <p:nvPr/>
        </p:nvSpPr>
        <p:spPr>
          <a:xfrm>
            <a:off x="10160000" y="1397000"/>
            <a:ext cx="1219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i="0" noProof="1">
                <a:solidFill>
                  <a:srgbClr val="FFFFFF"/>
                </a:solidFill>
                <a:latin typeface="Inter"/>
                <a:ea typeface="Inter"/>
              </a:rPr>
              <a:t>РЕКОМЕНДУЕМ</a:t>
            </a:r>
            <a:endParaRPr lang="en-US" sz="950" noProof="1"/>
          </a:p>
        </p:txBody>
      </p:sp>
      <p:sp>
        <p:nvSpPr>
          <p:cNvPr id="14" name="TextBox 11"/>
          <p:cNvSpPr txBox="1"/>
          <p:nvPr/>
        </p:nvSpPr>
        <p:spPr>
          <a:xfrm>
            <a:off x="6451600" y="1422400"/>
            <a:ext cx="368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FFFFFF"/>
                </a:solidFill>
                <a:latin typeface="Inter"/>
                <a:ea typeface="Inter"/>
              </a:rPr>
              <a:t>Veai Platform — подписка</a:t>
            </a:r>
            <a:endParaRPr lang="en-US" sz="1300" noProof="1"/>
          </a:p>
        </p:txBody>
      </p:sp>
      <p:sp>
        <p:nvSpPr>
          <p:cNvPr id="15" name="TextBox 12"/>
          <p:cNvSpPr txBox="1"/>
          <p:nvPr/>
        </p:nvSpPr>
        <p:spPr>
          <a:xfrm>
            <a:off x="6451600" y="1727200"/>
            <a:ext cx="48895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i="0" noProof="1">
                <a:solidFill>
                  <a:srgbClr val="4EC6C6"/>
                </a:solidFill>
                <a:latin typeface="Inter"/>
                <a:ea typeface="Inter"/>
              </a:rPr>
              <a:t>Индивидуальная подписка с гибкими условиями</a:t>
            </a:r>
            <a:r>
              <a:rPr lang="en-US" sz="1100" b="1" i="0" noProof="1">
                <a:solidFill>
                  <a:srgbClr val="B9D4D9"/>
                </a:solidFill>
                <a:latin typeface="Inter"/>
                <a:ea typeface="Inter"/>
              </a:rPr>
              <a:t> </a:t>
            </a:r>
            <a:endParaRPr lang="en-US" sz="1500" noProof="1"/>
          </a:p>
        </p:txBody>
      </p:sp>
      <p:sp>
        <p:nvSpPr>
          <p:cNvPr id="16" name="TextBox 13"/>
          <p:cNvSpPr txBox="1"/>
          <p:nvPr/>
        </p:nvSpPr>
        <p:spPr>
          <a:xfrm>
            <a:off x="6451600" y="2108200"/>
            <a:ext cx="48895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— Весь функционал: личный кабинет, лимиты, аналитика, DLP, SSO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— Токены: OpenRouter × ЦБ × 1,06 без НДС, скидка до 40% на флагманы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— Лицензионный договор на отечественное ПО (Реестр №33199)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— Бонусы за крупное пополнение: +5–10% кредитами</a:t>
            </a:r>
            <a:endParaRPr lang="en-US" sz="1050" noProof="1"/>
          </a:p>
        </p:txBody>
      </p:sp>
      <p:sp>
        <p:nvSpPr>
          <p:cNvPr id="17" name="TextBox 14"/>
          <p:cNvSpPr txBox="1"/>
          <p:nvPr/>
        </p:nvSpPr>
        <p:spPr>
          <a:xfrm>
            <a:off x="609600" y="3886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Доступные модели — каталог обновляется динамически</a:t>
            </a:r>
            <a:endParaRPr lang="en-US" sz="1250" noProof="1"/>
          </a:p>
        </p:txBody>
      </p:sp>
      <p:graphicFrame>
        <p:nvGraphicFramePr>
          <p:cNvPr id="18" name="Table 15"/>
          <p:cNvGraphicFramePr>
            <a:graphicFrameLocks noGrp="1"/>
          </p:cNvGraphicFramePr>
          <p:nvPr/>
        </p:nvGraphicFramePr>
        <p:xfrm>
          <a:off x="609600" y="4216400"/>
          <a:ext cx="7112000" cy="1930402"/>
        </p:xfrm>
        <a:graphic>
          <a:graphicData uri="http://schemas.openxmlformats.org/drawingml/2006/table">
            <a:tbl>
              <a:tblPr/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37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Anthropic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Claude Sonnet 4.6, Claude Opus 4.6 / 4.7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37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OpenAI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GPT-5.5, GPT-5.4, GPT-5.4-Mini, GPT-5.3 Codex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37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Google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Gemini 3.1 Pro, Gemini 3.1 Flash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37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DeepSeek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DeepSeek-V4Pro, DeepSeek-V4-Flash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44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Z.AI · Moonshot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GLM-5.1 · Kimi-k2.5, Kimi-k2.6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44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Qwen · Xiaomi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Qwen 3.6-plus · Mimo-v2-pro · MiniMax m2.5/m2.7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Rounded Rectangle 16"/>
          <p:cNvSpPr/>
          <p:nvPr/>
        </p:nvSpPr>
        <p:spPr>
          <a:xfrm>
            <a:off x="8026400" y="3886200"/>
            <a:ext cx="3568700" cy="15494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0" name="TextBox 17"/>
          <p:cNvSpPr txBox="1"/>
          <p:nvPr/>
        </p:nvSpPr>
        <p:spPr>
          <a:xfrm>
            <a:off x="8255000" y="4038600"/>
            <a:ext cx="3111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i="0" noProof="1">
                <a:solidFill>
                  <a:srgbClr val="073E44"/>
                </a:solidFill>
                <a:latin typeface="Inter"/>
                <a:ea typeface="Inter"/>
              </a:rPr>
              <a:t>VeaiGPT — локальная модель</a:t>
            </a:r>
            <a:endParaRPr lang="en-US" sz="1200" noProof="1"/>
          </a:p>
        </p:txBody>
      </p:sp>
      <p:sp>
        <p:nvSpPr>
          <p:cNvPr id="21" name="TextBox 18"/>
          <p:cNvSpPr txBox="1"/>
          <p:nvPr/>
        </p:nvSpPr>
        <p:spPr>
          <a:xfrm>
            <a:off x="8255000" y="4318000"/>
            <a:ext cx="31115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00" i="0" noProof="1">
                <a:solidFill>
                  <a:srgbClr val="2E4149"/>
                </a:solidFill>
                <a:latin typeface="Inter"/>
                <a:ea typeface="Inter"/>
              </a:rPr>
              <a:t>Инфраструктура Selectel в РФ, 152-ФЗ — данные не покидают страну. Тарификация по фактическому использованию — индивидуальный расчёт.</a:t>
            </a:r>
            <a:endParaRPr lang="en-US" sz="1000" noProof="1"/>
          </a:p>
        </p:txBody>
      </p:sp>
      <p:sp>
        <p:nvSpPr>
          <p:cNvPr id="22" name="Rounded Rectangle 19"/>
          <p:cNvSpPr/>
          <p:nvPr/>
        </p:nvSpPr>
        <p:spPr>
          <a:xfrm>
            <a:off x="8026400" y="5562600"/>
            <a:ext cx="3568700" cy="584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23" name="TextBox 20"/>
          <p:cNvSpPr txBox="1"/>
          <p:nvPr/>
        </p:nvSpPr>
        <p:spPr>
          <a:xfrm>
            <a:off x="8255000" y="5638800"/>
            <a:ext cx="3175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SLA:</a:t>
            </a: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 доступность платформы и моделей — </a:t>
            </a:r>
            <a:r>
              <a:rPr lang="en-US" sz="1050" b="1" i="0" noProof="1">
                <a:solidFill>
                  <a:srgbClr val="1F9BA3"/>
                </a:solidFill>
                <a:latin typeface="Inter"/>
                <a:ea typeface="Inter"/>
              </a:rPr>
              <a:t>98%</a:t>
            </a: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, реакция поддержки — до 2 ч</a:t>
            </a:r>
            <a:endParaRPr lang="en-US" sz="1050" noProof="1"/>
          </a:p>
        </p:txBody>
      </p:sp>
      <p:sp>
        <p:nvSpPr>
          <p:cNvPr id="24" name="TextBox 21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25" name="TextBox 22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24</a:t>
            </a:r>
            <a:endParaRPr lang="en-US" sz="850" noProof="1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0D30E4AC-DC2E-ADBD-530D-F0B54E67F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Rounded Rectangle 2-shape"/>
          <p:cNvSpPr/>
          <p:nvPr/>
        </p:nvSpPr>
        <p:spPr>
          <a:xfrm>
            <a:off x="609600" y="457200"/>
            <a:ext cx="666750" cy="3175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4" name="Rounded Rectangle 2-text"/>
          <p:cNvSpPr txBox="1"/>
          <p:nvPr/>
        </p:nvSpPr>
        <p:spPr>
          <a:xfrm>
            <a:off x="609600" y="457200"/>
            <a:ext cx="66675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300" noProof="1"/>
          </a:p>
        </p:txBody>
      </p:sp>
      <p:sp>
        <p:nvSpPr>
          <p:cNvPr id="5" name="Rounded Rectangle 3-shape"/>
          <p:cNvSpPr/>
          <p:nvPr/>
        </p:nvSpPr>
        <p:spPr>
          <a:xfrm>
            <a:off x="538480" y="457200"/>
            <a:ext cx="808990" cy="3175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" name="Rounded Rectangle 3-text"/>
          <p:cNvSpPr txBox="1"/>
          <p:nvPr/>
        </p:nvSpPr>
        <p:spPr>
          <a:xfrm>
            <a:off x="538480" y="457200"/>
            <a:ext cx="80899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>
                <a:solidFill>
                  <a:srgbClr val="0C323D"/>
                </a:solidFill>
                <a:latin typeface="Inter"/>
                <a:ea typeface="Inter"/>
              </a:rPr>
              <a:t>group</a:t>
            </a:r>
            <a:endParaRPr lang="en-US" sz="1150" noProof="1"/>
          </a:p>
        </p:txBody>
      </p:sp>
      <p:sp>
        <p:nvSpPr>
          <p:cNvPr id="7" name="TextBox 4"/>
          <p:cNvSpPr txBox="1"/>
          <p:nvPr/>
        </p:nvSpPr>
        <p:spPr>
          <a:xfrm>
            <a:off x="508000" y="762000"/>
            <a:ext cx="5080000" cy="165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0" b="1" i="0" noProof="1">
                <a:solidFill>
                  <a:srgbClr val="FFFFFF"/>
                </a:solidFill>
                <a:latin typeface="Inter"/>
                <a:ea typeface="Inter"/>
              </a:rPr>
              <a:t>04</a:t>
            </a:r>
            <a:endParaRPr lang="en-US" sz="11000" noProof="1"/>
          </a:p>
        </p:txBody>
      </p:sp>
      <p:sp>
        <p:nvSpPr>
          <p:cNvPr id="8" name="TextBox 5"/>
          <p:cNvSpPr txBox="1"/>
          <p:nvPr/>
        </p:nvSpPr>
        <p:spPr>
          <a:xfrm>
            <a:off x="812800" y="2743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i="0" kern="0" spc="300" noProof="1">
                <a:solidFill>
                  <a:srgbClr val="4EC6C6"/>
                </a:solidFill>
                <a:latin typeface="Inter"/>
                <a:ea typeface="Inter"/>
              </a:rPr>
              <a:t>РАЗДЕЛ 04</a:t>
            </a:r>
            <a:endParaRPr lang="en-US" sz="1150" noProof="1"/>
          </a:p>
        </p:txBody>
      </p:sp>
      <p:sp>
        <p:nvSpPr>
          <p:cNvPr id="9" name="TextBox 6"/>
          <p:cNvSpPr txBox="1"/>
          <p:nvPr/>
        </p:nvSpPr>
        <p:spPr>
          <a:xfrm>
            <a:off x="812800" y="3048000"/>
            <a:ext cx="7874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i="0" noProof="1">
                <a:solidFill>
                  <a:srgbClr val="FFFFFF"/>
                </a:solidFill>
                <a:latin typeface="Inter"/>
                <a:ea typeface="Inter"/>
              </a:rPr>
              <a:t>Внешний офис ИИ</a:t>
            </a:r>
            <a:endParaRPr lang="en-US" sz="3400" noProof="1"/>
          </a:p>
        </p:txBody>
      </p:sp>
      <p:sp>
        <p:nvSpPr>
          <p:cNvPr id="10" name="TextBox 7"/>
          <p:cNvSpPr txBox="1"/>
          <p:nvPr/>
        </p:nvSpPr>
        <p:spPr>
          <a:xfrm>
            <a:off x="812800" y="3759200"/>
            <a:ext cx="812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i="0" noProof="1">
                <a:solidFill>
                  <a:srgbClr val="4EC6C6"/>
                </a:solidFill>
                <a:latin typeface="Inter"/>
                <a:ea typeface="Inter"/>
              </a:rPr>
              <a:t>Инженерная команда для внедрения ИИ</a:t>
            </a:r>
            <a:endParaRPr lang="en-US" sz="1600" noProof="1"/>
          </a:p>
        </p:txBody>
      </p:sp>
      <p:sp>
        <p:nvSpPr>
          <p:cNvPr id="11" name="TextBox 8"/>
          <p:cNvSpPr txBox="1"/>
          <p:nvPr/>
        </p:nvSpPr>
        <p:spPr>
          <a:xfrm>
            <a:off x="812800" y="4267200"/>
            <a:ext cx="711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i="0" noProof="1">
                <a:solidFill>
                  <a:srgbClr val="B9D4D9"/>
                </a:solidFill>
                <a:latin typeface="Inter"/>
                <a:ea typeface="Inter"/>
              </a:rPr>
              <a:t>Команда, которая поможет запустить ИИ правильно — и передаст экспертизу вам. Для тех, кто хочет внедрять ИИ, но пока не имеет своей экспертизы, как начать, чтобы не наступать на грабли.</a:t>
            </a:r>
            <a:endParaRPr lang="en-US" sz="1300" noProof="1"/>
          </a:p>
        </p:txBody>
      </p:sp>
      <p:sp>
        <p:nvSpPr>
          <p:cNvPr id="12" name="TextBox 9"/>
          <p:cNvSpPr txBox="1"/>
          <p:nvPr/>
        </p:nvSpPr>
        <p:spPr>
          <a:xfrm>
            <a:off x="8382000" y="27432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i="0" kern="0" spc="200" noProof="1">
                <a:solidFill>
                  <a:srgbClr val="7FAAB1"/>
                </a:solidFill>
                <a:latin typeface="Inter"/>
                <a:ea typeface="Inter"/>
              </a:rPr>
              <a:t>В РАЗДЕЛЕ</a:t>
            </a:r>
            <a:endParaRPr lang="en-US" sz="1000" noProof="1"/>
          </a:p>
        </p:txBody>
      </p:sp>
      <p:sp>
        <p:nvSpPr>
          <p:cNvPr id="13" name="TextBox 10"/>
          <p:cNvSpPr txBox="1"/>
          <p:nvPr/>
        </p:nvSpPr>
        <p:spPr>
          <a:xfrm>
            <a:off x="8382000" y="3048000"/>
            <a:ext cx="3175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Типовые грабли и третий путь</a:t>
            </a:r>
            <a:endParaRPr lang="en-US" sz="1200" noProof="1"/>
          </a:p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11 ролей под весь путь</a:t>
            </a:r>
            <a:endParaRPr lang="en-US" sz="1200" noProof="1"/>
          </a:p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Передача экспертизы</a:t>
            </a:r>
            <a:endParaRPr lang="en-US" sz="1200" noProof="1"/>
          </a:p>
        </p:txBody>
      </p:sp>
      <p:sp>
        <p:nvSpPr>
          <p:cNvPr id="14" name="Rounded Rectangle 11"/>
          <p:cNvSpPr/>
          <p:nvPr/>
        </p:nvSpPr>
        <p:spPr>
          <a:xfrm>
            <a:off x="812800" y="5588000"/>
            <a:ext cx="914400" cy="508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2C2EA79-B0E6-0FE5-D682-E370FAB55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30" y="355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pill-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logo-pill-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logo-pill-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logo-pill-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kicker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ЧТО ОБЫЧНО ИДЁТ НЕ ТАК</a:t>
            </a:r>
            <a:endParaRPr lang="en-US" sz="1100" noProof="1"/>
          </a:p>
        </p:txBody>
      </p:sp>
      <p:sp>
        <p:nvSpPr>
          <p:cNvPr id="7" name="title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Грабли, на которые наступают без опыта</a:t>
            </a:r>
            <a:endParaRPr lang="en-US" sz="2500" noProof="1"/>
          </a:p>
        </p:txBody>
      </p:sp>
      <p:sp>
        <p:nvSpPr>
          <p:cNvPr id="8" name="rake-1-shape"/>
          <p:cNvSpPr/>
          <p:nvPr/>
        </p:nvSpPr>
        <p:spPr>
          <a:xfrm>
            <a:off x="609600" y="1168400"/>
            <a:ext cx="3543300" cy="11176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9" name="rake-1-bar"/>
          <p:cNvSpPr/>
          <p:nvPr/>
        </p:nvSpPr>
        <p:spPr>
          <a:xfrm>
            <a:off x="609600" y="1168400"/>
            <a:ext cx="50800" cy="11176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10" name="rake-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eyJpY29uTmFtZSI6ImZhczp0cmlhbmdsZS1leGNsYW1hdGlvbiJ9</pptd:icon>
              </p:ext>
            </p:extLst>
          </p:nvPr>
        </p:nvSpPr>
        <p:spPr>
          <a:xfrm>
            <a:off x="838200" y="1346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168"/>
                </a:moveTo>
                <a:cubicBezTo>
                  <a:pt x="243" y="168"/>
                  <a:pt x="232" y="179"/>
                  <a:pt x="232" y="192"/>
                </a:cubicBezTo>
                <a:lnTo>
                  <a:pt x="232" y="304"/>
                </a:lnTo>
                <a:cubicBezTo>
                  <a:pt x="232" y="317"/>
                  <a:pt x="243" y="328"/>
                  <a:pt x="256" y="328"/>
                </a:cubicBezTo>
                <a:cubicBezTo>
                  <a:pt x="269" y="328"/>
                  <a:pt x="280" y="317"/>
                  <a:pt x="280" y="304"/>
                </a:cubicBezTo>
                <a:lnTo>
                  <a:pt x="280" y="192"/>
                </a:lnTo>
                <a:cubicBezTo>
                  <a:pt x="280" y="179"/>
                  <a:pt x="269" y="168"/>
                  <a:pt x="256" y="168"/>
                </a:cubicBezTo>
                <a:close/>
                <a:moveTo>
                  <a:pt x="283" y="384"/>
                </a:moveTo>
                <a:cubicBezTo>
                  <a:pt x="283" y="374"/>
                  <a:pt x="278" y="365"/>
                  <a:pt x="270" y="360"/>
                </a:cubicBezTo>
                <a:cubicBezTo>
                  <a:pt x="261" y="354"/>
                  <a:pt x="251" y="354"/>
                  <a:pt x="242" y="360"/>
                </a:cubicBezTo>
                <a:cubicBezTo>
                  <a:pt x="234" y="365"/>
                  <a:pt x="229" y="374"/>
                  <a:pt x="229" y="384"/>
                </a:cubicBezTo>
                <a:cubicBezTo>
                  <a:pt x="229" y="394"/>
                  <a:pt x="234" y="403"/>
                  <a:pt x="242" y="408"/>
                </a:cubicBezTo>
                <a:cubicBezTo>
                  <a:pt x="251" y="414"/>
                  <a:pt x="261" y="414"/>
                  <a:pt x="270" y="408"/>
                </a:cubicBezTo>
                <a:cubicBezTo>
                  <a:pt x="278" y="403"/>
                  <a:pt x="283" y="394"/>
                  <a:pt x="283" y="384"/>
                </a:cubicBezTo>
                <a:close/>
              </a:path>
            </a:pathLst>
          </a:custGeom>
          <a:solidFill>
            <a:srgbClr val="E8A33D"/>
          </a:solidFill>
          <a:ln>
            <a:noFill/>
          </a:ln>
        </p:spPr>
      </p:sp>
      <p:sp>
        <p:nvSpPr>
          <p:cNvPr id="11" name="rake-1-title"/>
          <p:cNvSpPr txBox="1"/>
          <p:nvPr/>
        </p:nvSpPr>
        <p:spPr>
          <a:xfrm>
            <a:off x="1168400" y="1333500"/>
            <a:ext cx="2806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2E4149"/>
                </a:solidFill>
                <a:latin typeface="Inter"/>
                <a:ea typeface="Inter"/>
              </a:rPr>
              <a:t>Данные не готовы</a:t>
            </a:r>
            <a:endParaRPr lang="en-US" sz="1150" noProof="1"/>
          </a:p>
        </p:txBody>
      </p:sp>
      <p:sp>
        <p:nvSpPr>
          <p:cNvPr id="12" name="rake-1-sub"/>
          <p:cNvSpPr txBox="1"/>
          <p:nvPr/>
        </p:nvSpPr>
        <p:spPr>
          <a:xfrm>
            <a:off x="1168400" y="1587500"/>
            <a:ext cx="28067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Разрознены, без качества, каталога и доступов</a:t>
            </a:r>
            <a:endParaRPr lang="en-US" sz="1000" noProof="1"/>
          </a:p>
        </p:txBody>
      </p:sp>
      <p:sp>
        <p:nvSpPr>
          <p:cNvPr id="13" name="rake-2-shape"/>
          <p:cNvSpPr/>
          <p:nvPr/>
        </p:nvSpPr>
        <p:spPr>
          <a:xfrm>
            <a:off x="4330700" y="1168400"/>
            <a:ext cx="3543300" cy="11176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4" name="rake-2-bar"/>
          <p:cNvSpPr/>
          <p:nvPr/>
        </p:nvSpPr>
        <p:spPr>
          <a:xfrm>
            <a:off x="4330700" y="1168400"/>
            <a:ext cx="50800" cy="11176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15" name="rake-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eyJpY29uTmFtZSI6ImZhczp0cmlhbmdsZS1leGNsYW1hdGlvbiJ9</pptd:icon>
              </p:ext>
            </p:extLst>
          </p:nvPr>
        </p:nvSpPr>
        <p:spPr>
          <a:xfrm>
            <a:off x="4559300" y="1346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168"/>
                </a:moveTo>
                <a:cubicBezTo>
                  <a:pt x="243" y="168"/>
                  <a:pt x="232" y="179"/>
                  <a:pt x="232" y="192"/>
                </a:cubicBezTo>
                <a:lnTo>
                  <a:pt x="232" y="304"/>
                </a:lnTo>
                <a:cubicBezTo>
                  <a:pt x="232" y="317"/>
                  <a:pt x="243" y="328"/>
                  <a:pt x="256" y="328"/>
                </a:cubicBezTo>
                <a:cubicBezTo>
                  <a:pt x="269" y="328"/>
                  <a:pt x="280" y="317"/>
                  <a:pt x="280" y="304"/>
                </a:cubicBezTo>
                <a:lnTo>
                  <a:pt x="280" y="192"/>
                </a:lnTo>
                <a:cubicBezTo>
                  <a:pt x="280" y="179"/>
                  <a:pt x="269" y="168"/>
                  <a:pt x="256" y="168"/>
                </a:cubicBezTo>
                <a:close/>
                <a:moveTo>
                  <a:pt x="283" y="384"/>
                </a:moveTo>
                <a:cubicBezTo>
                  <a:pt x="283" y="374"/>
                  <a:pt x="278" y="365"/>
                  <a:pt x="270" y="360"/>
                </a:cubicBezTo>
                <a:cubicBezTo>
                  <a:pt x="261" y="354"/>
                  <a:pt x="251" y="354"/>
                  <a:pt x="242" y="360"/>
                </a:cubicBezTo>
                <a:cubicBezTo>
                  <a:pt x="234" y="365"/>
                  <a:pt x="229" y="374"/>
                  <a:pt x="229" y="384"/>
                </a:cubicBezTo>
                <a:cubicBezTo>
                  <a:pt x="229" y="394"/>
                  <a:pt x="234" y="403"/>
                  <a:pt x="242" y="408"/>
                </a:cubicBezTo>
                <a:cubicBezTo>
                  <a:pt x="251" y="414"/>
                  <a:pt x="261" y="414"/>
                  <a:pt x="270" y="408"/>
                </a:cubicBezTo>
                <a:cubicBezTo>
                  <a:pt x="278" y="403"/>
                  <a:pt x="283" y="394"/>
                  <a:pt x="283" y="384"/>
                </a:cubicBezTo>
                <a:close/>
              </a:path>
            </a:pathLst>
          </a:custGeom>
          <a:solidFill>
            <a:srgbClr val="E8A33D"/>
          </a:solidFill>
          <a:ln>
            <a:noFill/>
          </a:ln>
        </p:spPr>
      </p:sp>
      <p:sp>
        <p:nvSpPr>
          <p:cNvPr id="16" name="rake-2-title"/>
          <p:cNvSpPr txBox="1"/>
          <p:nvPr/>
        </p:nvSpPr>
        <p:spPr>
          <a:xfrm>
            <a:off x="4889500" y="1333500"/>
            <a:ext cx="2806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2E4149"/>
                </a:solidFill>
                <a:latin typeface="Inter"/>
                <a:ea typeface="Inter"/>
              </a:rPr>
              <a:t>Безопасность блокирует</a:t>
            </a:r>
            <a:endParaRPr lang="en-US" sz="1150" noProof="1"/>
          </a:p>
        </p:txBody>
      </p:sp>
      <p:sp>
        <p:nvSpPr>
          <p:cNvPr id="17" name="rake-2-sub"/>
          <p:cNvSpPr txBox="1"/>
          <p:nvPr/>
        </p:nvSpPr>
        <p:spPr>
          <a:xfrm>
            <a:off x="4889500" y="1587500"/>
            <a:ext cx="28067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Персональные данные нельзя отдавать во внешние модели</a:t>
            </a:r>
            <a:endParaRPr lang="en-US" sz="1000" noProof="1"/>
          </a:p>
        </p:txBody>
      </p:sp>
      <p:sp>
        <p:nvSpPr>
          <p:cNvPr id="18" name="rake-3-shape"/>
          <p:cNvSpPr/>
          <p:nvPr/>
        </p:nvSpPr>
        <p:spPr>
          <a:xfrm>
            <a:off x="8051800" y="1168400"/>
            <a:ext cx="3543300" cy="11176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9" name="rake-3-bar"/>
          <p:cNvSpPr/>
          <p:nvPr/>
        </p:nvSpPr>
        <p:spPr>
          <a:xfrm>
            <a:off x="8051800" y="1168400"/>
            <a:ext cx="50800" cy="11176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20" name="rake-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eyJpY29uTmFtZSI6ImZhczp0cmlhbmdsZS1leGNsYW1hdGlvbiJ9</pptd:icon>
              </p:ext>
            </p:extLst>
          </p:nvPr>
        </p:nvSpPr>
        <p:spPr>
          <a:xfrm>
            <a:off x="8280400" y="1346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168"/>
                </a:moveTo>
                <a:cubicBezTo>
                  <a:pt x="243" y="168"/>
                  <a:pt x="232" y="179"/>
                  <a:pt x="232" y="192"/>
                </a:cubicBezTo>
                <a:lnTo>
                  <a:pt x="232" y="304"/>
                </a:lnTo>
                <a:cubicBezTo>
                  <a:pt x="232" y="317"/>
                  <a:pt x="243" y="328"/>
                  <a:pt x="256" y="328"/>
                </a:cubicBezTo>
                <a:cubicBezTo>
                  <a:pt x="269" y="328"/>
                  <a:pt x="280" y="317"/>
                  <a:pt x="280" y="304"/>
                </a:cubicBezTo>
                <a:lnTo>
                  <a:pt x="280" y="192"/>
                </a:lnTo>
                <a:cubicBezTo>
                  <a:pt x="280" y="179"/>
                  <a:pt x="269" y="168"/>
                  <a:pt x="256" y="168"/>
                </a:cubicBezTo>
                <a:close/>
                <a:moveTo>
                  <a:pt x="283" y="384"/>
                </a:moveTo>
                <a:cubicBezTo>
                  <a:pt x="283" y="374"/>
                  <a:pt x="278" y="365"/>
                  <a:pt x="270" y="360"/>
                </a:cubicBezTo>
                <a:cubicBezTo>
                  <a:pt x="261" y="354"/>
                  <a:pt x="251" y="354"/>
                  <a:pt x="242" y="360"/>
                </a:cubicBezTo>
                <a:cubicBezTo>
                  <a:pt x="234" y="365"/>
                  <a:pt x="229" y="374"/>
                  <a:pt x="229" y="384"/>
                </a:cubicBezTo>
                <a:cubicBezTo>
                  <a:pt x="229" y="394"/>
                  <a:pt x="234" y="403"/>
                  <a:pt x="242" y="408"/>
                </a:cubicBezTo>
                <a:cubicBezTo>
                  <a:pt x="251" y="414"/>
                  <a:pt x="261" y="414"/>
                  <a:pt x="270" y="408"/>
                </a:cubicBezTo>
                <a:cubicBezTo>
                  <a:pt x="278" y="403"/>
                  <a:pt x="283" y="394"/>
                  <a:pt x="283" y="384"/>
                </a:cubicBezTo>
                <a:close/>
              </a:path>
            </a:pathLst>
          </a:custGeom>
          <a:solidFill>
            <a:srgbClr val="E8A33D"/>
          </a:solidFill>
          <a:ln>
            <a:noFill/>
          </a:ln>
        </p:spPr>
      </p:sp>
      <p:sp>
        <p:nvSpPr>
          <p:cNvPr id="21" name="rake-3-title"/>
          <p:cNvSpPr txBox="1"/>
          <p:nvPr/>
        </p:nvSpPr>
        <p:spPr>
          <a:xfrm>
            <a:off x="8610600" y="1333500"/>
            <a:ext cx="2806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2E4149"/>
                </a:solidFill>
                <a:latin typeface="Inter"/>
                <a:ea typeface="Inter"/>
              </a:rPr>
              <a:t>Контур не выбран</a:t>
            </a:r>
            <a:endParaRPr lang="en-US" sz="1150" noProof="1"/>
          </a:p>
        </p:txBody>
      </p:sp>
      <p:sp>
        <p:nvSpPr>
          <p:cNvPr id="22" name="rake-3-sub"/>
          <p:cNvSpPr txBox="1"/>
          <p:nvPr/>
        </p:nvSpPr>
        <p:spPr>
          <a:xfrm>
            <a:off x="8610600" y="1587500"/>
            <a:ext cx="28067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Облако дёшево, но нельзя; on-premise — дорого</a:t>
            </a:r>
            <a:endParaRPr lang="en-US" sz="1000" noProof="1"/>
          </a:p>
        </p:txBody>
      </p:sp>
      <p:sp>
        <p:nvSpPr>
          <p:cNvPr id="23" name="rake-4-shape"/>
          <p:cNvSpPr/>
          <p:nvPr/>
        </p:nvSpPr>
        <p:spPr>
          <a:xfrm>
            <a:off x="609600" y="2387600"/>
            <a:ext cx="3543300" cy="11176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4" name="rake-4-bar"/>
          <p:cNvSpPr/>
          <p:nvPr/>
        </p:nvSpPr>
        <p:spPr>
          <a:xfrm>
            <a:off x="609600" y="2387600"/>
            <a:ext cx="50800" cy="11176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25" name="rake-4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eyJpY29uTmFtZSI6ImZhczp0cmlhbmdsZS1leGNsYW1hdGlvbiJ9</pptd:icon>
              </p:ext>
            </p:extLst>
          </p:nvPr>
        </p:nvSpPr>
        <p:spPr>
          <a:xfrm>
            <a:off x="838200" y="2565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168"/>
                </a:moveTo>
                <a:cubicBezTo>
                  <a:pt x="243" y="168"/>
                  <a:pt x="232" y="179"/>
                  <a:pt x="232" y="192"/>
                </a:cubicBezTo>
                <a:lnTo>
                  <a:pt x="232" y="304"/>
                </a:lnTo>
                <a:cubicBezTo>
                  <a:pt x="232" y="317"/>
                  <a:pt x="243" y="328"/>
                  <a:pt x="256" y="328"/>
                </a:cubicBezTo>
                <a:cubicBezTo>
                  <a:pt x="269" y="328"/>
                  <a:pt x="280" y="317"/>
                  <a:pt x="280" y="304"/>
                </a:cubicBezTo>
                <a:lnTo>
                  <a:pt x="280" y="192"/>
                </a:lnTo>
                <a:cubicBezTo>
                  <a:pt x="280" y="179"/>
                  <a:pt x="269" y="168"/>
                  <a:pt x="256" y="168"/>
                </a:cubicBezTo>
                <a:close/>
                <a:moveTo>
                  <a:pt x="283" y="384"/>
                </a:moveTo>
                <a:cubicBezTo>
                  <a:pt x="283" y="374"/>
                  <a:pt x="278" y="365"/>
                  <a:pt x="270" y="360"/>
                </a:cubicBezTo>
                <a:cubicBezTo>
                  <a:pt x="261" y="354"/>
                  <a:pt x="251" y="354"/>
                  <a:pt x="242" y="360"/>
                </a:cubicBezTo>
                <a:cubicBezTo>
                  <a:pt x="234" y="365"/>
                  <a:pt x="229" y="374"/>
                  <a:pt x="229" y="384"/>
                </a:cubicBezTo>
                <a:cubicBezTo>
                  <a:pt x="229" y="394"/>
                  <a:pt x="234" y="403"/>
                  <a:pt x="242" y="408"/>
                </a:cubicBezTo>
                <a:cubicBezTo>
                  <a:pt x="251" y="414"/>
                  <a:pt x="261" y="414"/>
                  <a:pt x="270" y="408"/>
                </a:cubicBezTo>
                <a:cubicBezTo>
                  <a:pt x="278" y="403"/>
                  <a:pt x="283" y="394"/>
                  <a:pt x="283" y="384"/>
                </a:cubicBezTo>
                <a:close/>
              </a:path>
            </a:pathLst>
          </a:custGeom>
          <a:solidFill>
            <a:srgbClr val="E8A33D"/>
          </a:solidFill>
          <a:ln>
            <a:noFill/>
          </a:ln>
        </p:spPr>
      </p:sp>
      <p:sp>
        <p:nvSpPr>
          <p:cNvPr id="26" name="rake-4-title"/>
          <p:cNvSpPr txBox="1"/>
          <p:nvPr/>
        </p:nvSpPr>
        <p:spPr>
          <a:xfrm>
            <a:off x="1168400" y="2552700"/>
            <a:ext cx="2806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2E4149"/>
                </a:solidFill>
                <a:latin typeface="Inter"/>
                <a:ea typeface="Inter"/>
              </a:rPr>
              <a:t>Нет ролевой модели</a:t>
            </a:r>
            <a:endParaRPr lang="en-US" sz="1150" noProof="1"/>
          </a:p>
        </p:txBody>
      </p:sp>
      <p:sp>
        <p:nvSpPr>
          <p:cNvPr id="27" name="rake-4-sub"/>
          <p:cNvSpPr txBox="1"/>
          <p:nvPr/>
        </p:nvSpPr>
        <p:spPr>
          <a:xfrm>
            <a:off x="1168400" y="2806700"/>
            <a:ext cx="28067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Ассистент выдаёт то, что пользователь не должен видеть</a:t>
            </a:r>
            <a:endParaRPr lang="en-US" sz="1000" noProof="1"/>
          </a:p>
        </p:txBody>
      </p:sp>
      <p:sp>
        <p:nvSpPr>
          <p:cNvPr id="28" name="rake-5-shape"/>
          <p:cNvSpPr/>
          <p:nvPr/>
        </p:nvSpPr>
        <p:spPr>
          <a:xfrm>
            <a:off x="4330700" y="2387600"/>
            <a:ext cx="3543300" cy="11176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9" name="rake-5-bar"/>
          <p:cNvSpPr/>
          <p:nvPr/>
        </p:nvSpPr>
        <p:spPr>
          <a:xfrm>
            <a:off x="4330700" y="2387600"/>
            <a:ext cx="50800" cy="11176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30" name="rake-5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eyJpY29uTmFtZSI6ImZhczp0cmlhbmdsZS1leGNsYW1hdGlvbiJ9</pptd:icon>
              </p:ext>
            </p:extLst>
          </p:nvPr>
        </p:nvSpPr>
        <p:spPr>
          <a:xfrm>
            <a:off x="4559300" y="2565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168"/>
                </a:moveTo>
                <a:cubicBezTo>
                  <a:pt x="243" y="168"/>
                  <a:pt x="232" y="179"/>
                  <a:pt x="232" y="192"/>
                </a:cubicBezTo>
                <a:lnTo>
                  <a:pt x="232" y="304"/>
                </a:lnTo>
                <a:cubicBezTo>
                  <a:pt x="232" y="317"/>
                  <a:pt x="243" y="328"/>
                  <a:pt x="256" y="328"/>
                </a:cubicBezTo>
                <a:cubicBezTo>
                  <a:pt x="269" y="328"/>
                  <a:pt x="280" y="317"/>
                  <a:pt x="280" y="304"/>
                </a:cubicBezTo>
                <a:lnTo>
                  <a:pt x="280" y="192"/>
                </a:lnTo>
                <a:cubicBezTo>
                  <a:pt x="280" y="179"/>
                  <a:pt x="269" y="168"/>
                  <a:pt x="256" y="168"/>
                </a:cubicBezTo>
                <a:close/>
                <a:moveTo>
                  <a:pt x="283" y="384"/>
                </a:moveTo>
                <a:cubicBezTo>
                  <a:pt x="283" y="374"/>
                  <a:pt x="278" y="365"/>
                  <a:pt x="270" y="360"/>
                </a:cubicBezTo>
                <a:cubicBezTo>
                  <a:pt x="261" y="354"/>
                  <a:pt x="251" y="354"/>
                  <a:pt x="242" y="360"/>
                </a:cubicBezTo>
                <a:cubicBezTo>
                  <a:pt x="234" y="365"/>
                  <a:pt x="229" y="374"/>
                  <a:pt x="229" y="384"/>
                </a:cubicBezTo>
                <a:cubicBezTo>
                  <a:pt x="229" y="394"/>
                  <a:pt x="234" y="403"/>
                  <a:pt x="242" y="408"/>
                </a:cubicBezTo>
                <a:cubicBezTo>
                  <a:pt x="251" y="414"/>
                  <a:pt x="261" y="414"/>
                  <a:pt x="270" y="408"/>
                </a:cubicBezTo>
                <a:cubicBezTo>
                  <a:pt x="278" y="403"/>
                  <a:pt x="283" y="394"/>
                  <a:pt x="283" y="384"/>
                </a:cubicBezTo>
                <a:close/>
              </a:path>
            </a:pathLst>
          </a:custGeom>
          <a:solidFill>
            <a:srgbClr val="E8A33D"/>
          </a:solidFill>
          <a:ln>
            <a:noFill/>
          </a:ln>
        </p:spPr>
      </p:sp>
      <p:sp>
        <p:nvSpPr>
          <p:cNvPr id="31" name="rake-5-title"/>
          <p:cNvSpPr txBox="1"/>
          <p:nvPr/>
        </p:nvSpPr>
        <p:spPr>
          <a:xfrm>
            <a:off x="4889500" y="2552700"/>
            <a:ext cx="2806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2E4149"/>
                </a:solidFill>
                <a:latin typeface="Inter"/>
                <a:ea typeface="Inter"/>
              </a:rPr>
              <a:t>Некому эксплуатировать</a:t>
            </a:r>
            <a:endParaRPr lang="en-US" sz="1150" noProof="1"/>
          </a:p>
        </p:txBody>
      </p:sp>
      <p:sp>
        <p:nvSpPr>
          <p:cNvPr id="32" name="rake-5-sub"/>
          <p:cNvSpPr txBox="1"/>
          <p:nvPr/>
        </p:nvSpPr>
        <p:spPr>
          <a:xfrm>
            <a:off x="4889500" y="2806700"/>
            <a:ext cx="28067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Запущенное без поддержки постепенно деградирует</a:t>
            </a:r>
            <a:endParaRPr lang="en-US" sz="1000" noProof="1"/>
          </a:p>
        </p:txBody>
      </p:sp>
      <p:sp>
        <p:nvSpPr>
          <p:cNvPr id="33" name="rake-6-shape"/>
          <p:cNvSpPr/>
          <p:nvPr/>
        </p:nvSpPr>
        <p:spPr>
          <a:xfrm>
            <a:off x="8051800" y="2387600"/>
            <a:ext cx="3543300" cy="11176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34" name="rake-6-bar"/>
          <p:cNvSpPr/>
          <p:nvPr/>
        </p:nvSpPr>
        <p:spPr>
          <a:xfrm>
            <a:off x="8051800" y="2387600"/>
            <a:ext cx="50800" cy="11176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35" name="rake-6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eyJpY29uTmFtZSI6ImZhczp0cmlhbmdsZS1leGNsYW1hdGlvbiJ9</pptd:icon>
              </p:ext>
            </p:extLst>
          </p:nvPr>
        </p:nvSpPr>
        <p:spPr>
          <a:xfrm>
            <a:off x="8280400" y="2565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168"/>
                </a:moveTo>
                <a:cubicBezTo>
                  <a:pt x="243" y="168"/>
                  <a:pt x="232" y="179"/>
                  <a:pt x="232" y="192"/>
                </a:cubicBezTo>
                <a:lnTo>
                  <a:pt x="232" y="304"/>
                </a:lnTo>
                <a:cubicBezTo>
                  <a:pt x="232" y="317"/>
                  <a:pt x="243" y="328"/>
                  <a:pt x="256" y="328"/>
                </a:cubicBezTo>
                <a:cubicBezTo>
                  <a:pt x="269" y="328"/>
                  <a:pt x="280" y="317"/>
                  <a:pt x="280" y="304"/>
                </a:cubicBezTo>
                <a:lnTo>
                  <a:pt x="280" y="192"/>
                </a:lnTo>
                <a:cubicBezTo>
                  <a:pt x="280" y="179"/>
                  <a:pt x="269" y="168"/>
                  <a:pt x="256" y="168"/>
                </a:cubicBezTo>
                <a:close/>
                <a:moveTo>
                  <a:pt x="283" y="384"/>
                </a:moveTo>
                <a:cubicBezTo>
                  <a:pt x="283" y="374"/>
                  <a:pt x="278" y="365"/>
                  <a:pt x="270" y="360"/>
                </a:cubicBezTo>
                <a:cubicBezTo>
                  <a:pt x="261" y="354"/>
                  <a:pt x="251" y="354"/>
                  <a:pt x="242" y="360"/>
                </a:cubicBezTo>
                <a:cubicBezTo>
                  <a:pt x="234" y="365"/>
                  <a:pt x="229" y="374"/>
                  <a:pt x="229" y="384"/>
                </a:cubicBezTo>
                <a:cubicBezTo>
                  <a:pt x="229" y="394"/>
                  <a:pt x="234" y="403"/>
                  <a:pt x="242" y="408"/>
                </a:cubicBezTo>
                <a:cubicBezTo>
                  <a:pt x="251" y="414"/>
                  <a:pt x="261" y="414"/>
                  <a:pt x="270" y="408"/>
                </a:cubicBezTo>
                <a:cubicBezTo>
                  <a:pt x="278" y="403"/>
                  <a:pt x="283" y="394"/>
                  <a:pt x="283" y="384"/>
                </a:cubicBezTo>
                <a:close/>
              </a:path>
            </a:pathLst>
          </a:custGeom>
          <a:solidFill>
            <a:srgbClr val="E8A33D"/>
          </a:solidFill>
          <a:ln>
            <a:noFill/>
          </a:ln>
        </p:spPr>
      </p:sp>
      <p:sp>
        <p:nvSpPr>
          <p:cNvPr id="36" name="rake-6-title"/>
          <p:cNvSpPr txBox="1"/>
          <p:nvPr/>
        </p:nvSpPr>
        <p:spPr>
          <a:xfrm>
            <a:off x="8610600" y="2552700"/>
            <a:ext cx="2806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2E4149"/>
                </a:solidFill>
                <a:latin typeface="Inter"/>
                <a:ea typeface="Inter"/>
              </a:rPr>
              <a:t>Зоопарк решений</a:t>
            </a:r>
            <a:endParaRPr lang="en-US" sz="1150" noProof="1"/>
          </a:p>
        </p:txBody>
      </p:sp>
      <p:sp>
        <p:nvSpPr>
          <p:cNvPr id="37" name="rake-6-sub"/>
          <p:cNvSpPr txBox="1"/>
          <p:nvPr/>
        </p:nvSpPr>
        <p:spPr>
          <a:xfrm>
            <a:off x="8610600" y="2806700"/>
            <a:ext cx="28067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У каждого отдела своё, общей картины нет</a:t>
            </a:r>
            <a:endParaRPr lang="en-US" sz="1000" noProof="1"/>
          </a:p>
        </p:txBody>
      </p:sp>
      <p:sp>
        <p:nvSpPr>
          <p:cNvPr id="38" name="choice-label"/>
          <p:cNvSpPr txBox="1"/>
          <p:nvPr/>
        </p:nvSpPr>
        <p:spPr>
          <a:xfrm>
            <a:off x="609600" y="37592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Это ложный выбор — есть третий путь</a:t>
            </a:r>
            <a:endParaRPr lang="en-US" sz="1250" noProof="1"/>
          </a:p>
        </p:txBody>
      </p:sp>
      <p:sp>
        <p:nvSpPr>
          <p:cNvPr id="39" name="dead-1-shape"/>
          <p:cNvSpPr/>
          <p:nvPr/>
        </p:nvSpPr>
        <p:spPr>
          <a:xfrm>
            <a:off x="609600" y="4089400"/>
            <a:ext cx="3225800" cy="2006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40" name="dead-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eyJpY29uTmFtZSI6ImZhczp4bWFyayJ9</pptd:icon>
              </p:ext>
            </p:extLst>
          </p:nvPr>
        </p:nvSpPr>
        <p:spPr>
          <a:xfrm>
            <a:off x="863600" y="4318000"/>
            <a:ext cx="203200" cy="228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55" y="73"/>
                </a:moveTo>
                <a:cubicBezTo>
                  <a:pt x="43" y="61"/>
                  <a:pt x="22" y="61"/>
                  <a:pt x="10" y="73"/>
                </a:cubicBezTo>
                <a:cubicBezTo>
                  <a:pt x="-3" y="86"/>
                  <a:pt x="-3" y="106"/>
                  <a:pt x="10" y="119"/>
                </a:cubicBezTo>
                <a:lnTo>
                  <a:pt x="147" y="256"/>
                </a:lnTo>
                <a:lnTo>
                  <a:pt x="10" y="393"/>
                </a:lnTo>
                <a:cubicBezTo>
                  <a:pt x="-3" y="406"/>
                  <a:pt x="-3" y="426"/>
                  <a:pt x="10" y="439"/>
                </a:cubicBezTo>
                <a:cubicBezTo>
                  <a:pt x="22" y="451"/>
                  <a:pt x="43" y="451"/>
                  <a:pt x="55" y="439"/>
                </a:cubicBezTo>
                <a:lnTo>
                  <a:pt x="193" y="301"/>
                </a:lnTo>
                <a:lnTo>
                  <a:pt x="330" y="439"/>
                </a:lnTo>
                <a:cubicBezTo>
                  <a:pt x="342" y="451"/>
                  <a:pt x="363" y="451"/>
                  <a:pt x="375" y="439"/>
                </a:cubicBezTo>
                <a:cubicBezTo>
                  <a:pt x="388" y="426"/>
                  <a:pt x="388" y="406"/>
                  <a:pt x="375" y="393"/>
                </a:cubicBezTo>
                <a:lnTo>
                  <a:pt x="238" y="256"/>
                </a:lnTo>
                <a:lnTo>
                  <a:pt x="375" y="119"/>
                </a:lnTo>
                <a:cubicBezTo>
                  <a:pt x="388" y="106"/>
                  <a:pt x="388" y="86"/>
                  <a:pt x="375" y="73"/>
                </a:cubicBezTo>
                <a:cubicBezTo>
                  <a:pt x="363" y="61"/>
                  <a:pt x="342" y="61"/>
                  <a:pt x="330" y="73"/>
                </a:cubicBezTo>
                <a:lnTo>
                  <a:pt x="193" y="211"/>
                </a:lnTo>
                <a:lnTo>
                  <a:pt x="55" y="73"/>
                </a:lnTo>
                <a:close/>
              </a:path>
            </a:pathLst>
          </a:custGeom>
          <a:solidFill>
            <a:srgbClr val="E8A33D"/>
          </a:solidFill>
          <a:ln>
            <a:noFill/>
          </a:ln>
        </p:spPr>
      </p:sp>
      <p:sp>
        <p:nvSpPr>
          <p:cNvPr id="41" name="dead-1-title"/>
          <p:cNvSpPr txBox="1"/>
          <p:nvPr/>
        </p:nvSpPr>
        <p:spPr>
          <a:xfrm>
            <a:off x="1193800" y="43180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strike="sngStrike" noProof="1">
                <a:solidFill>
                  <a:srgbClr val="64767F"/>
                </a:solidFill>
                <a:latin typeface="Inter"/>
                <a:ea typeface="Inter"/>
              </a:rPr>
              <a:t>Нанимать штат</a:t>
            </a:r>
            <a:endParaRPr lang="en-US" sz="1250" noProof="1"/>
          </a:p>
        </p:txBody>
      </p:sp>
      <p:sp>
        <p:nvSpPr>
          <p:cNvPr id="42" name="dead-1-sub"/>
          <p:cNvSpPr txBox="1"/>
          <p:nvPr/>
        </p:nvSpPr>
        <p:spPr>
          <a:xfrm>
            <a:off x="863600" y="4699000"/>
            <a:ext cx="27432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64767F"/>
                </a:solidFill>
                <a:latin typeface="Inter"/>
                <a:ea typeface="Inter"/>
              </a:rPr>
              <a:t>…долго и дорого, специалистов с опытом корпоративного ИИ почти не найти</a:t>
            </a:r>
            <a:endParaRPr lang="en-US" sz="1050" noProof="1"/>
          </a:p>
        </p:txBody>
      </p:sp>
      <p:sp>
        <p:nvSpPr>
          <p:cNvPr id="43" name="dead-2-shape"/>
          <p:cNvSpPr/>
          <p:nvPr/>
        </p:nvSpPr>
        <p:spPr>
          <a:xfrm>
            <a:off x="3987800" y="4089400"/>
            <a:ext cx="3225800" cy="2006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44" name="dead-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eyJpY29uTmFtZSI6ImZhczp4bWFyayJ9</pptd:icon>
              </p:ext>
            </p:extLst>
          </p:nvPr>
        </p:nvSpPr>
        <p:spPr>
          <a:xfrm>
            <a:off x="4241800" y="4318000"/>
            <a:ext cx="203200" cy="228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55" y="73"/>
                </a:moveTo>
                <a:cubicBezTo>
                  <a:pt x="43" y="61"/>
                  <a:pt x="22" y="61"/>
                  <a:pt x="10" y="73"/>
                </a:cubicBezTo>
                <a:cubicBezTo>
                  <a:pt x="-3" y="86"/>
                  <a:pt x="-3" y="106"/>
                  <a:pt x="10" y="119"/>
                </a:cubicBezTo>
                <a:lnTo>
                  <a:pt x="147" y="256"/>
                </a:lnTo>
                <a:lnTo>
                  <a:pt x="10" y="393"/>
                </a:lnTo>
                <a:cubicBezTo>
                  <a:pt x="-3" y="406"/>
                  <a:pt x="-3" y="426"/>
                  <a:pt x="10" y="439"/>
                </a:cubicBezTo>
                <a:cubicBezTo>
                  <a:pt x="22" y="451"/>
                  <a:pt x="43" y="451"/>
                  <a:pt x="55" y="439"/>
                </a:cubicBezTo>
                <a:lnTo>
                  <a:pt x="193" y="301"/>
                </a:lnTo>
                <a:lnTo>
                  <a:pt x="330" y="439"/>
                </a:lnTo>
                <a:cubicBezTo>
                  <a:pt x="342" y="451"/>
                  <a:pt x="363" y="451"/>
                  <a:pt x="375" y="439"/>
                </a:cubicBezTo>
                <a:cubicBezTo>
                  <a:pt x="388" y="426"/>
                  <a:pt x="388" y="406"/>
                  <a:pt x="375" y="393"/>
                </a:cubicBezTo>
                <a:lnTo>
                  <a:pt x="238" y="256"/>
                </a:lnTo>
                <a:lnTo>
                  <a:pt x="375" y="119"/>
                </a:lnTo>
                <a:cubicBezTo>
                  <a:pt x="388" y="106"/>
                  <a:pt x="388" y="86"/>
                  <a:pt x="375" y="73"/>
                </a:cubicBezTo>
                <a:cubicBezTo>
                  <a:pt x="363" y="61"/>
                  <a:pt x="342" y="61"/>
                  <a:pt x="330" y="73"/>
                </a:cubicBezTo>
                <a:lnTo>
                  <a:pt x="193" y="211"/>
                </a:lnTo>
                <a:lnTo>
                  <a:pt x="55" y="73"/>
                </a:lnTo>
                <a:close/>
              </a:path>
            </a:pathLst>
          </a:custGeom>
          <a:solidFill>
            <a:srgbClr val="E8A33D"/>
          </a:solidFill>
          <a:ln>
            <a:noFill/>
          </a:ln>
        </p:spPr>
      </p:sp>
      <p:sp>
        <p:nvSpPr>
          <p:cNvPr id="45" name="dead-2-title"/>
          <p:cNvSpPr txBox="1"/>
          <p:nvPr/>
        </p:nvSpPr>
        <p:spPr>
          <a:xfrm>
            <a:off x="4572000" y="43180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strike="sngStrike" noProof="1">
                <a:solidFill>
                  <a:srgbClr val="64767F"/>
                </a:solidFill>
                <a:latin typeface="Inter"/>
                <a:ea typeface="Inter"/>
              </a:rPr>
              <a:t>Звать консультантов</a:t>
            </a:r>
            <a:endParaRPr lang="en-US" sz="1250" noProof="1"/>
          </a:p>
        </p:txBody>
      </p:sp>
      <p:sp>
        <p:nvSpPr>
          <p:cNvPr id="46" name="dead-2-sub"/>
          <p:cNvSpPr txBox="1"/>
          <p:nvPr/>
        </p:nvSpPr>
        <p:spPr>
          <a:xfrm>
            <a:off x="4241800" y="4699000"/>
            <a:ext cx="27432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64767F"/>
                </a:solidFill>
                <a:latin typeface="Inter"/>
                <a:ea typeface="Inter"/>
              </a:rPr>
              <a:t>…красивая стратегия на бумаге, но руками реализует кто-то другой. Или никто</a:t>
            </a:r>
            <a:endParaRPr lang="en-US" sz="1050" noProof="1"/>
          </a:p>
        </p:txBody>
      </p:sp>
      <p:sp>
        <p:nvSpPr>
          <p:cNvPr id="47" name="third-arrow"/>
          <p:cNvSpPr/>
          <p:nvPr/>
        </p:nvSpPr>
        <p:spPr>
          <a:xfrm>
            <a:off x="7264400" y="4991100"/>
            <a:ext cx="228600" cy="2032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48" name="third-shape"/>
          <p:cNvSpPr/>
          <p:nvPr/>
        </p:nvSpPr>
        <p:spPr>
          <a:xfrm>
            <a:off x="7518400" y="4089400"/>
            <a:ext cx="4076700" cy="2006600"/>
          </a:xfrm>
          <a:prstGeom prst="roundRect">
            <a:avLst>
              <a:gd name="adj" fmla="val 6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49" name="third-chip-shape"/>
          <p:cNvSpPr/>
          <p:nvPr/>
        </p:nvSpPr>
        <p:spPr>
          <a:xfrm>
            <a:off x="7772400" y="4318000"/>
            <a:ext cx="1346200" cy="279400"/>
          </a:xfrm>
          <a:prstGeom prst="roundRect">
            <a:avLst>
              <a:gd name="adj" fmla="val 50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50" name="third-chip-text"/>
          <p:cNvSpPr txBox="1"/>
          <p:nvPr/>
        </p:nvSpPr>
        <p:spPr>
          <a:xfrm>
            <a:off x="7772400" y="4318000"/>
            <a:ext cx="1346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kern="0" spc="100" noProof="1">
                <a:solidFill>
                  <a:srgbClr val="FFFFFF"/>
                </a:solidFill>
                <a:latin typeface="Inter"/>
                <a:ea typeface="Inter"/>
              </a:rPr>
              <a:t>ТРЕТИЙ ПУТЬ</a:t>
            </a:r>
            <a:endParaRPr lang="en-US" sz="950" noProof="1"/>
          </a:p>
        </p:txBody>
      </p:sp>
      <p:sp>
        <p:nvSpPr>
          <p:cNvPr id="51" name="third-title"/>
          <p:cNvSpPr txBox="1"/>
          <p:nvPr/>
        </p:nvSpPr>
        <p:spPr>
          <a:xfrm>
            <a:off x="7772400" y="4724400"/>
            <a:ext cx="35687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FFFFFF"/>
                </a:solidFill>
                <a:latin typeface="Inter"/>
                <a:ea typeface="Inter"/>
              </a:rPr>
              <a:t>Внешний офис ИИ</a:t>
            </a:r>
            <a:endParaRPr lang="en-US" sz="1500" noProof="1"/>
          </a:p>
        </p:txBody>
      </p:sp>
      <p:sp>
        <p:nvSpPr>
          <p:cNvPr id="52" name="third-sub"/>
          <p:cNvSpPr txBox="1"/>
          <p:nvPr/>
        </p:nvSpPr>
        <p:spPr>
          <a:xfrm>
            <a:off x="7772400" y="5080000"/>
            <a:ext cx="35687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FFFFFF"/>
                </a:solidFill>
                <a:latin typeface="Inter"/>
                <a:ea typeface="Inter"/>
              </a:rPr>
              <a:t>Прикладная инженерная команда, которая на нужный этап становится частью вашей компании и делает работу руками, внутри вашего контура</a:t>
            </a:r>
            <a:endParaRPr lang="en-US" sz="1050" noProof="1"/>
          </a:p>
        </p:txBody>
      </p:sp>
      <p:sp>
        <p:nvSpPr>
          <p:cNvPr id="53" name="footer-left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54" name="footer-page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26</a:t>
            </a:r>
            <a:endParaRPr lang="en-US" sz="850" noProof="1"/>
          </a:p>
        </p:txBody>
      </p:sp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2EC0EE15-2F2F-6EB2-9A1A-7861D85D8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КОГО ПРЕДЛАГАЕМ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11 ролей под весь путь — берёте нужную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Не нанимаете всё сразу. Подключаете ровно ту роль, которая решает задачу текущего этапа.</a:t>
            </a:r>
            <a:endParaRPr lang="en-US" sz="125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1473200"/>
            <a:ext cx="2628900" cy="508000"/>
          </a:xfrm>
          <a:prstGeom prst="roundRect">
            <a:avLst>
              <a:gd name="adj" fmla="val 12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0" name="TextBox 7"/>
          <p:cNvSpPr txBox="1"/>
          <p:nvPr/>
        </p:nvSpPr>
        <p:spPr>
          <a:xfrm>
            <a:off x="762000" y="1549400"/>
            <a:ext cx="23241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b="1" i="0" noProof="1">
                <a:solidFill>
                  <a:srgbClr val="4EC6C6"/>
                </a:solidFill>
                <a:latin typeface="Inter"/>
                <a:ea typeface="Inter"/>
              </a:rPr>
              <a:t>ФАЗА 1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150" b="1" i="0" noProof="1">
                <a:solidFill>
                  <a:srgbClr val="FFFFFF"/>
                </a:solidFill>
                <a:latin typeface="Inter"/>
                <a:ea typeface="Inter"/>
              </a:rPr>
              <a:t>Диагностика</a:t>
            </a:r>
            <a:endParaRPr lang="en-US" sz="1600" noProof="1"/>
          </a:p>
        </p:txBody>
      </p:sp>
      <p:sp>
        <p:nvSpPr>
          <p:cNvPr id="11" name="Rounded Rectangle 8"/>
          <p:cNvSpPr/>
          <p:nvPr/>
        </p:nvSpPr>
        <p:spPr>
          <a:xfrm>
            <a:off x="609600" y="2082800"/>
            <a:ext cx="2628900" cy="3556000"/>
          </a:xfrm>
          <a:prstGeom prst="roundRect">
            <a:avLst>
              <a:gd name="adj" fmla="val 4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2" name="TextBox 9"/>
          <p:cNvSpPr txBox="1"/>
          <p:nvPr/>
        </p:nvSpPr>
        <p:spPr>
          <a:xfrm>
            <a:off x="787400" y="2260600"/>
            <a:ext cx="227330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Аудитор зрелости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Оценка готовности по 4 направлениям, дорожная карта</a:t>
            </a:r>
            <a:endParaRPr lang="en-US" sz="1600" noProof="1"/>
          </a:p>
        </p:txBody>
      </p:sp>
      <p:sp>
        <p:nvSpPr>
          <p:cNvPr id="13" name="Rounded Rectangle 10"/>
          <p:cNvSpPr/>
          <p:nvPr/>
        </p:nvSpPr>
        <p:spPr>
          <a:xfrm>
            <a:off x="3390900" y="1473200"/>
            <a:ext cx="2628900" cy="508000"/>
          </a:xfrm>
          <a:prstGeom prst="roundRect">
            <a:avLst>
              <a:gd name="adj" fmla="val 12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4" name="TextBox 11"/>
          <p:cNvSpPr txBox="1"/>
          <p:nvPr/>
        </p:nvSpPr>
        <p:spPr>
          <a:xfrm>
            <a:off x="3543300" y="1549400"/>
            <a:ext cx="23241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b="1" i="0" noProof="1">
                <a:solidFill>
                  <a:srgbClr val="E3F4F5"/>
                </a:solidFill>
                <a:latin typeface="Inter"/>
                <a:ea typeface="Inter"/>
              </a:rPr>
              <a:t>ФАЗА 2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150" b="1" i="0" noProof="1">
                <a:solidFill>
                  <a:srgbClr val="FFFFFF"/>
                </a:solidFill>
                <a:latin typeface="Inter"/>
                <a:ea typeface="Inter"/>
              </a:rPr>
              <a:t>Базовый фундамент</a:t>
            </a:r>
            <a:endParaRPr lang="en-US" sz="1600" noProof="1"/>
          </a:p>
        </p:txBody>
      </p:sp>
      <p:sp>
        <p:nvSpPr>
          <p:cNvPr id="15" name="Rounded Rectangle 12"/>
          <p:cNvSpPr/>
          <p:nvPr/>
        </p:nvSpPr>
        <p:spPr>
          <a:xfrm>
            <a:off x="3390900" y="2082800"/>
            <a:ext cx="2628900" cy="3556000"/>
          </a:xfrm>
          <a:prstGeom prst="roundRect">
            <a:avLst>
              <a:gd name="adj" fmla="val 4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6" name="TextBox 13"/>
          <p:cNvSpPr txBox="1"/>
          <p:nvPr/>
        </p:nvSpPr>
        <p:spPr>
          <a:xfrm>
            <a:off x="3568700" y="2260600"/>
            <a:ext cx="227330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Архитектор периметра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Безопасный контур работы с ИИ (AI Guard)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Платформенный инженер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Базовая инфраструктура ИИ-слоя</a:t>
            </a:r>
            <a:endParaRPr lang="en-US" sz="1600" noProof="1"/>
          </a:p>
        </p:txBody>
      </p:sp>
      <p:sp>
        <p:nvSpPr>
          <p:cNvPr id="17" name="Rounded Rectangle 14"/>
          <p:cNvSpPr/>
          <p:nvPr/>
        </p:nvSpPr>
        <p:spPr>
          <a:xfrm>
            <a:off x="6172200" y="1473200"/>
            <a:ext cx="2628900" cy="508000"/>
          </a:xfrm>
          <a:prstGeom prst="roundRect">
            <a:avLst>
              <a:gd name="adj" fmla="val 12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8" name="TextBox 15"/>
          <p:cNvSpPr txBox="1"/>
          <p:nvPr/>
        </p:nvSpPr>
        <p:spPr>
          <a:xfrm>
            <a:off x="6324600" y="1549400"/>
            <a:ext cx="23241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b="1" i="0" noProof="1">
                <a:solidFill>
                  <a:srgbClr val="4EC6C6"/>
                </a:solidFill>
                <a:latin typeface="Inter"/>
                <a:ea typeface="Inter"/>
              </a:rPr>
              <a:t>ФАЗА 3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150" b="1" i="0" noProof="1">
                <a:solidFill>
                  <a:srgbClr val="FFFFFF"/>
                </a:solidFill>
                <a:latin typeface="Inter"/>
                <a:ea typeface="Inter"/>
              </a:rPr>
              <a:t>Операционная модель</a:t>
            </a:r>
            <a:endParaRPr lang="en-US" sz="1600" noProof="1"/>
          </a:p>
        </p:txBody>
      </p:sp>
      <p:sp>
        <p:nvSpPr>
          <p:cNvPr id="19" name="Rounded Rectangle 16"/>
          <p:cNvSpPr/>
          <p:nvPr/>
        </p:nvSpPr>
        <p:spPr>
          <a:xfrm>
            <a:off x="6172200" y="2082800"/>
            <a:ext cx="2628900" cy="3556000"/>
          </a:xfrm>
          <a:prstGeom prst="roundRect">
            <a:avLst>
              <a:gd name="adj" fmla="val 4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0" name="TextBox 17"/>
          <p:cNvSpPr txBox="1"/>
          <p:nvPr/>
        </p:nvSpPr>
        <p:spPr>
          <a:xfrm>
            <a:off x="6350000" y="2209800"/>
            <a:ext cx="2273300" cy="332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Методолог конвейера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Процесс «идея → прод»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FinOps-инженер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Контроль расходов, маршрутизация моделей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Vendor-менеджер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Работа с поставщиками моделей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Стабилизатор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Приводит запущенное в управляемый вид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Архитектор ЦК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Внутренний Центр компетенций</a:t>
            </a:r>
            <a:endParaRPr lang="en-US" sz="1600" noProof="1"/>
          </a:p>
        </p:txBody>
      </p:sp>
      <p:sp>
        <p:nvSpPr>
          <p:cNvPr id="21" name="Rounded Rectangle 18"/>
          <p:cNvSpPr/>
          <p:nvPr/>
        </p:nvSpPr>
        <p:spPr>
          <a:xfrm>
            <a:off x="8953500" y="1473200"/>
            <a:ext cx="2641600" cy="508000"/>
          </a:xfrm>
          <a:prstGeom prst="roundRect">
            <a:avLst>
              <a:gd name="adj" fmla="val 12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22" name="TextBox 19"/>
          <p:cNvSpPr txBox="1"/>
          <p:nvPr/>
        </p:nvSpPr>
        <p:spPr>
          <a:xfrm>
            <a:off x="9105900" y="1549400"/>
            <a:ext cx="2336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b="1" i="0" noProof="1">
                <a:solidFill>
                  <a:srgbClr val="E3F4F5"/>
                </a:solidFill>
                <a:latin typeface="Inter"/>
                <a:ea typeface="Inter"/>
              </a:rPr>
              <a:t>ФАЗА 4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150" b="1" i="0" noProof="1">
                <a:solidFill>
                  <a:srgbClr val="FFFFFF"/>
                </a:solidFill>
                <a:latin typeface="Inter"/>
                <a:ea typeface="Inter"/>
              </a:rPr>
              <a:t>Применение</a:t>
            </a:r>
            <a:endParaRPr lang="en-US" sz="1600" noProof="1"/>
          </a:p>
        </p:txBody>
      </p:sp>
      <p:sp>
        <p:nvSpPr>
          <p:cNvPr id="23" name="Rounded Rectangle 20"/>
          <p:cNvSpPr/>
          <p:nvPr/>
        </p:nvSpPr>
        <p:spPr>
          <a:xfrm>
            <a:off x="8953500" y="2082800"/>
            <a:ext cx="2641600" cy="3556000"/>
          </a:xfrm>
          <a:prstGeom prst="roundRect">
            <a:avLst>
              <a:gd name="adj" fmla="val 4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4" name="TextBox 21"/>
          <p:cNvSpPr txBox="1"/>
          <p:nvPr/>
        </p:nvSpPr>
        <p:spPr>
          <a:xfrm>
            <a:off x="9131300" y="2260600"/>
            <a:ext cx="228600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Фильтр инициатив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Отбор сценариев с реальным эффектом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Production-инженер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Доводит сценарии до прода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Адаптатор моделей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950" i="0" noProof="1">
                <a:solidFill>
                  <a:srgbClr val="64767F"/>
                </a:solidFill>
                <a:latin typeface="Inter"/>
                <a:ea typeface="Inter"/>
              </a:rPr>
              <a:t>Настройка под вашу отрасль</a:t>
            </a:r>
            <a:endParaRPr lang="en-US" sz="1600" noProof="1"/>
          </a:p>
        </p:txBody>
      </p:sp>
      <p:sp>
        <p:nvSpPr>
          <p:cNvPr id="25" name="Rounded Rectangle 22"/>
          <p:cNvSpPr/>
          <p:nvPr/>
        </p:nvSpPr>
        <p:spPr>
          <a:xfrm>
            <a:off x="609600" y="5867400"/>
            <a:ext cx="10985500" cy="508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26" name="TextBox 23"/>
          <p:cNvSpPr txBox="1"/>
          <p:nvPr/>
        </p:nvSpPr>
        <p:spPr>
          <a:xfrm>
            <a:off x="914400" y="5943600"/>
            <a:ext cx="10414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Не консультанты и не штат на годы: привлекаете на конкретный этап — без долгого найма редких специалистов и постоянных обязательств.</a:t>
            </a:r>
            <a:endParaRPr lang="en-US" sz="1100" noProof="1"/>
          </a:p>
        </p:txBody>
      </p:sp>
      <p:sp>
        <p:nvSpPr>
          <p:cNvPr id="27" name="TextBox 24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28" name="TextBox 25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27</a:t>
            </a:r>
            <a:endParaRPr lang="en-US" sz="850" noProof="1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3FE939AB-0CE9-95C4-F727-BAC0C63E3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pill-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logo-pill-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logo-pill-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logo-pill-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kicker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ГЛАВНОЕ ОТЛИЧИЕ</a:t>
            </a:r>
            <a:endParaRPr lang="en-US" sz="1100" noProof="1"/>
          </a:p>
        </p:txBody>
      </p:sp>
      <p:sp>
        <p:nvSpPr>
          <p:cNvPr id="7" name="title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Наша цель — перестать быть нужными</a:t>
            </a:r>
            <a:endParaRPr lang="en-US" sz="2500" noProof="1"/>
          </a:p>
        </p:txBody>
      </p:sp>
      <p:sp>
        <p:nvSpPr>
          <p:cNvPr id="8" name="stage-1-shape"/>
          <p:cNvSpPr/>
          <p:nvPr/>
        </p:nvSpPr>
        <p:spPr>
          <a:xfrm>
            <a:off x="609600" y="1219200"/>
            <a:ext cx="3365500" cy="1879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9" name="stage-1-badge"/>
          <p:cNvSpPr/>
          <p:nvPr/>
        </p:nvSpPr>
        <p:spPr>
          <a:xfrm>
            <a:off x="838200" y="1422400"/>
            <a:ext cx="330200" cy="330200"/>
          </a:xfrm>
          <a:prstGeom prst="ellipse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10" name="stage-1-badge-num"/>
          <p:cNvSpPr txBox="1"/>
          <p:nvPr/>
        </p:nvSpPr>
        <p:spPr>
          <a:xfrm>
            <a:off x="838200" y="14224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Inter"/>
                <a:ea typeface="Inter"/>
              </a:rPr>
              <a:t>1</a:t>
            </a:r>
            <a:endParaRPr lang="en-US" sz="1200" noProof="1"/>
          </a:p>
        </p:txBody>
      </p:sp>
      <p:sp>
        <p:nvSpPr>
          <p:cNvPr id="11" name="stage-1-title"/>
          <p:cNvSpPr txBox="1"/>
          <p:nvPr/>
        </p:nvSpPr>
        <p:spPr>
          <a:xfrm>
            <a:off x="1295400" y="14732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073E44"/>
                </a:solidFill>
                <a:latin typeface="Inter"/>
                <a:ea typeface="Inter"/>
              </a:rPr>
              <a:t>Делаем за вас</a:t>
            </a:r>
            <a:endParaRPr lang="en-US" sz="1300" noProof="1"/>
          </a:p>
        </p:txBody>
      </p:sp>
      <p:sp>
        <p:nvSpPr>
          <p:cNvPr id="12" name="stage-1-sub"/>
          <p:cNvSpPr txBox="1"/>
          <p:nvPr/>
        </p:nvSpPr>
        <p:spPr>
          <a:xfrm>
            <a:off x="838200" y="1905000"/>
            <a:ext cx="29083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Запускаем и настраиваем сами, параллельно показывая, как всё устроено</a:t>
            </a:r>
            <a:endParaRPr lang="en-US" sz="1000" noProof="1"/>
          </a:p>
        </p:txBody>
      </p:sp>
      <p:sp>
        <p:nvSpPr>
          <p:cNvPr id="13" name="stage-1-track"/>
          <p:cNvSpPr/>
          <p:nvPr/>
        </p:nvSpPr>
        <p:spPr>
          <a:xfrm>
            <a:off x="838200" y="2540000"/>
            <a:ext cx="2908300" cy="127000"/>
          </a:xfrm>
          <a:prstGeom prst="roundRect">
            <a:avLst>
              <a:gd name="adj" fmla="val 50000"/>
            </a:avLst>
          </a:prstGeom>
          <a:solidFill>
            <a:srgbClr val="D8E1EA"/>
          </a:solidFill>
          <a:ln>
            <a:noFill/>
          </a:ln>
        </p:spPr>
      </p:sp>
      <p:sp>
        <p:nvSpPr>
          <p:cNvPr id="14" name="stage-1-fill"/>
          <p:cNvSpPr/>
          <p:nvPr/>
        </p:nvSpPr>
        <p:spPr>
          <a:xfrm>
            <a:off x="838200" y="2540000"/>
            <a:ext cx="584200" cy="1270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5" name="stage-1-bar-label"/>
          <p:cNvSpPr txBox="1"/>
          <p:nvPr/>
        </p:nvSpPr>
        <p:spPr>
          <a:xfrm>
            <a:off x="838200" y="2743200"/>
            <a:ext cx="29083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64767F"/>
                </a:solidFill>
                <a:latin typeface="Inter"/>
                <a:ea typeface="Inter"/>
              </a:rPr>
              <a:t>Доля вашей команды — около 20%</a:t>
            </a:r>
            <a:endParaRPr lang="en-US" sz="850" noProof="1"/>
          </a:p>
        </p:txBody>
      </p:sp>
      <p:sp>
        <p:nvSpPr>
          <p:cNvPr id="16" name="stage-arrow-1"/>
          <p:cNvSpPr/>
          <p:nvPr/>
        </p:nvSpPr>
        <p:spPr>
          <a:xfrm>
            <a:off x="4051300" y="2057400"/>
            <a:ext cx="304800" cy="2032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7" name="stage-2-shape"/>
          <p:cNvSpPr/>
          <p:nvPr/>
        </p:nvSpPr>
        <p:spPr>
          <a:xfrm>
            <a:off x="4419600" y="1219200"/>
            <a:ext cx="3365500" cy="1879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8" name="stage-2-badge"/>
          <p:cNvSpPr/>
          <p:nvPr/>
        </p:nvSpPr>
        <p:spPr>
          <a:xfrm>
            <a:off x="4648200" y="1422400"/>
            <a:ext cx="330200" cy="330200"/>
          </a:xfrm>
          <a:prstGeom prst="ellipse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19" name="stage-2-badge-num"/>
          <p:cNvSpPr txBox="1"/>
          <p:nvPr/>
        </p:nvSpPr>
        <p:spPr>
          <a:xfrm>
            <a:off x="4648200" y="14224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Inter"/>
                <a:ea typeface="Inter"/>
              </a:rPr>
              <a:t>2</a:t>
            </a:r>
            <a:endParaRPr lang="en-US" sz="1200" noProof="1"/>
          </a:p>
        </p:txBody>
      </p:sp>
      <p:sp>
        <p:nvSpPr>
          <p:cNvPr id="20" name="stage-2-title"/>
          <p:cNvSpPr txBox="1"/>
          <p:nvPr/>
        </p:nvSpPr>
        <p:spPr>
          <a:xfrm>
            <a:off x="5105400" y="14732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073E44"/>
                </a:solidFill>
                <a:latin typeface="Inter"/>
                <a:ea typeface="Inter"/>
              </a:rPr>
              <a:t>Делаем вместе</a:t>
            </a:r>
            <a:endParaRPr lang="en-US" sz="1300" noProof="1"/>
          </a:p>
        </p:txBody>
      </p:sp>
      <p:sp>
        <p:nvSpPr>
          <p:cNvPr id="21" name="stage-2-sub"/>
          <p:cNvSpPr txBox="1"/>
          <p:nvPr/>
        </p:nvSpPr>
        <p:spPr>
          <a:xfrm>
            <a:off x="4648200" y="1905000"/>
            <a:ext cx="29083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Работаем в паре с вашей командой, передаём навыки на реальных задачах</a:t>
            </a:r>
            <a:endParaRPr lang="en-US" sz="1000" noProof="1"/>
          </a:p>
        </p:txBody>
      </p:sp>
      <p:sp>
        <p:nvSpPr>
          <p:cNvPr id="22" name="stage-2-track"/>
          <p:cNvSpPr/>
          <p:nvPr/>
        </p:nvSpPr>
        <p:spPr>
          <a:xfrm>
            <a:off x="4648200" y="2540000"/>
            <a:ext cx="2908300" cy="127000"/>
          </a:xfrm>
          <a:prstGeom prst="roundRect">
            <a:avLst>
              <a:gd name="adj" fmla="val 50000"/>
            </a:avLst>
          </a:prstGeom>
          <a:solidFill>
            <a:srgbClr val="D8E1EA"/>
          </a:solidFill>
          <a:ln>
            <a:noFill/>
          </a:ln>
        </p:spPr>
      </p:sp>
      <p:sp>
        <p:nvSpPr>
          <p:cNvPr id="23" name="stage-2-fill"/>
          <p:cNvSpPr/>
          <p:nvPr/>
        </p:nvSpPr>
        <p:spPr>
          <a:xfrm>
            <a:off x="4648200" y="2540000"/>
            <a:ext cx="1739900" cy="1270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24" name="stage-2-bar-label"/>
          <p:cNvSpPr txBox="1"/>
          <p:nvPr/>
        </p:nvSpPr>
        <p:spPr>
          <a:xfrm>
            <a:off x="4648200" y="2743200"/>
            <a:ext cx="29083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64767F"/>
                </a:solidFill>
                <a:latin typeface="Inter"/>
                <a:ea typeface="Inter"/>
              </a:rPr>
              <a:t>Доля вашей команды — около 60%</a:t>
            </a:r>
            <a:endParaRPr lang="en-US" sz="850" noProof="1"/>
          </a:p>
        </p:txBody>
      </p:sp>
      <p:sp>
        <p:nvSpPr>
          <p:cNvPr id="25" name="stage-arrow-2"/>
          <p:cNvSpPr/>
          <p:nvPr/>
        </p:nvSpPr>
        <p:spPr>
          <a:xfrm>
            <a:off x="7861300" y="2057400"/>
            <a:ext cx="304800" cy="2032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26" name="stage-3-shape"/>
          <p:cNvSpPr/>
          <p:nvPr/>
        </p:nvSpPr>
        <p:spPr>
          <a:xfrm>
            <a:off x="8229600" y="1219200"/>
            <a:ext cx="3365500" cy="1879600"/>
          </a:xfrm>
          <a:prstGeom prst="roundRect">
            <a:avLst>
              <a:gd name="adj" fmla="val 6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27" name="stage-3-badge"/>
          <p:cNvSpPr/>
          <p:nvPr/>
        </p:nvSpPr>
        <p:spPr>
          <a:xfrm>
            <a:off x="8458200" y="1422400"/>
            <a:ext cx="330200" cy="330200"/>
          </a:xfrm>
          <a:prstGeom prst="ellipse">
            <a:avLst/>
          </a:prstGeom>
          <a:solidFill>
            <a:srgbClr val="4EC6C6"/>
          </a:solidFill>
          <a:ln>
            <a:noFill/>
          </a:ln>
        </p:spPr>
      </p:sp>
      <p:sp>
        <p:nvSpPr>
          <p:cNvPr id="28" name="stage-3-badge-num"/>
          <p:cNvSpPr txBox="1"/>
          <p:nvPr/>
        </p:nvSpPr>
        <p:spPr>
          <a:xfrm>
            <a:off x="8458200" y="14224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073E44"/>
                </a:solidFill>
                <a:latin typeface="Inter"/>
                <a:ea typeface="Inter"/>
              </a:rPr>
              <a:t>3</a:t>
            </a:r>
            <a:endParaRPr lang="en-US" sz="1200" noProof="1"/>
          </a:p>
        </p:txBody>
      </p:sp>
      <p:sp>
        <p:nvSpPr>
          <p:cNvPr id="29" name="stage-3-title"/>
          <p:cNvSpPr txBox="1"/>
          <p:nvPr/>
        </p:nvSpPr>
        <p:spPr>
          <a:xfrm>
            <a:off x="8915400" y="14732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Inter"/>
                <a:ea typeface="Inter"/>
              </a:rPr>
              <a:t>Вы делаете сами</a:t>
            </a:r>
            <a:endParaRPr lang="en-US" sz="1300" noProof="1"/>
          </a:p>
        </p:txBody>
      </p:sp>
      <p:sp>
        <p:nvSpPr>
          <p:cNvPr id="30" name="stage-3-sub"/>
          <p:cNvSpPr txBox="1"/>
          <p:nvPr/>
        </p:nvSpPr>
        <p:spPr>
          <a:xfrm>
            <a:off x="8458200" y="1905000"/>
            <a:ext cx="29083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B9D4D9"/>
                </a:solidFill>
                <a:latin typeface="Inter"/>
                <a:ea typeface="Inter"/>
              </a:rPr>
              <a:t>Центр компетенций сам запускает сценарии, пересматривает политики, развивает ИИ</a:t>
            </a:r>
            <a:endParaRPr lang="en-US" sz="1000" noProof="1"/>
          </a:p>
        </p:txBody>
      </p:sp>
      <p:sp>
        <p:nvSpPr>
          <p:cNvPr id="31" name="stage-3-track"/>
          <p:cNvSpPr/>
          <p:nvPr/>
        </p:nvSpPr>
        <p:spPr>
          <a:xfrm>
            <a:off x="8458200" y="2540000"/>
            <a:ext cx="2908300" cy="127000"/>
          </a:xfrm>
          <a:prstGeom prst="roundRect">
            <a:avLst>
              <a:gd name="adj" fmla="val 50000"/>
            </a:avLst>
          </a:prstGeom>
          <a:solidFill>
            <a:srgbClr val="0C323D"/>
          </a:solidFill>
          <a:ln>
            <a:noFill/>
          </a:ln>
        </p:spPr>
      </p:sp>
      <p:sp>
        <p:nvSpPr>
          <p:cNvPr id="32" name="stage-3-fill"/>
          <p:cNvSpPr/>
          <p:nvPr/>
        </p:nvSpPr>
        <p:spPr>
          <a:xfrm>
            <a:off x="8458200" y="2540000"/>
            <a:ext cx="2908300" cy="127000"/>
          </a:xfrm>
          <a:prstGeom prst="roundRect">
            <a:avLst>
              <a:gd name="adj" fmla="val 50000"/>
            </a:avLst>
          </a:prstGeom>
          <a:solidFill>
            <a:srgbClr val="4EC6C6"/>
          </a:solidFill>
          <a:ln>
            <a:noFill/>
          </a:ln>
        </p:spPr>
      </p:sp>
      <p:sp>
        <p:nvSpPr>
          <p:cNvPr id="33" name="stage-3-bar-label"/>
          <p:cNvSpPr txBox="1"/>
          <p:nvPr/>
        </p:nvSpPr>
        <p:spPr>
          <a:xfrm>
            <a:off x="8458200" y="2743200"/>
            <a:ext cx="29083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B9D4D9"/>
                </a:solidFill>
                <a:latin typeface="Inter"/>
                <a:ea typeface="Inter"/>
              </a:rPr>
              <a:t>Ваша команда — 100%, без подрядчика</a:t>
            </a:r>
            <a:endParaRPr lang="en-US" sz="850" noProof="1"/>
          </a:p>
        </p:txBody>
      </p:sp>
      <p:sp>
        <p:nvSpPr>
          <p:cNvPr id="34" name="lockin-band"/>
          <p:cNvSpPr/>
          <p:nvPr/>
        </p:nvSpPr>
        <p:spPr>
          <a:xfrm>
            <a:off x="609600" y="3276600"/>
            <a:ext cx="10985500" cy="1066800"/>
          </a:xfrm>
          <a:prstGeom prst="roundRect">
            <a:avLst>
              <a:gd name="adj" fmla="val 8000"/>
            </a:avLst>
          </a:prstGeom>
          <a:solidFill>
            <a:srgbClr val="073E44"/>
          </a:solidFill>
          <a:ln>
            <a:noFill/>
          </a:ln>
        </p:spPr>
      </p:sp>
      <p:pic>
        <p:nvPicPr>
          <p:cNvPr id="35" name="lockin-icon"/>
          <p:cNvPicPr/>
          <p:nvPr/>
        </p:nvPicPr>
        <p:blipFill>
          <a:blip r:embed="rId2"/>
          <a:stretch>
            <a:fillRect/>
          </a:stretch>
        </p:blipFill>
        <p:spPr>
          <a:xfrm>
            <a:off x="965200" y="3594100"/>
            <a:ext cx="431800" cy="431800"/>
          </a:xfrm>
          <a:prstGeom prst="rect">
            <a:avLst/>
          </a:prstGeom>
          <a:ln>
            <a:noFill/>
          </a:ln>
        </p:spPr>
      </p:pic>
      <p:sp>
        <p:nvSpPr>
          <p:cNvPr id="36" name="lockin-accent"/>
          <p:cNvSpPr txBox="1"/>
          <p:nvPr/>
        </p:nvSpPr>
        <p:spPr>
          <a:xfrm>
            <a:off x="1600200" y="3632200"/>
            <a:ext cx="4191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4EC6C6"/>
                </a:solidFill>
                <a:latin typeface="Inter"/>
                <a:ea typeface="Inter"/>
              </a:rPr>
              <a:t>Никакого vendor lock-in</a:t>
            </a:r>
            <a:endParaRPr lang="en-US" sz="2000" noProof="1"/>
          </a:p>
        </p:txBody>
      </p:sp>
      <p:sp>
        <p:nvSpPr>
          <p:cNvPr id="37" name="lockin-divider"/>
          <p:cNvSpPr/>
          <p:nvPr/>
        </p:nvSpPr>
        <p:spPr>
          <a:xfrm>
            <a:off x="5994400" y="3505200"/>
            <a:ext cx="12700" cy="6096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38" name="lockin-text"/>
          <p:cNvSpPr txBox="1"/>
          <p:nvPr/>
        </p:nvSpPr>
        <p:spPr>
          <a:xfrm>
            <a:off x="6299200" y="3429000"/>
            <a:ext cx="49911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>
                <a:solidFill>
                  <a:srgbClr val="D8E9EC"/>
                </a:solidFill>
                <a:latin typeface="Inter"/>
                <a:ea typeface="Inter"/>
              </a:rPr>
              <a:t>Мы передаём не только результат, но и способность воспроизводить процессы — через время вы развиваете ИИ своими силами.</a:t>
            </a:r>
            <a:endParaRPr lang="en-US" sz="1050" noProof="1"/>
          </a:p>
        </p:txBody>
      </p:sp>
      <p:sp>
        <p:nvSpPr>
          <p:cNvPr id="39" name="cases-label"/>
          <p:cNvSpPr txBox="1"/>
          <p:nvPr/>
        </p:nvSpPr>
        <p:spPr>
          <a:xfrm>
            <a:off x="609600" y="45212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Когда это ваш случай</a:t>
            </a:r>
            <a:endParaRPr lang="en-US" sz="1250" noProof="1"/>
          </a:p>
        </p:txBody>
      </p:sp>
      <p:sp>
        <p:nvSpPr>
          <p:cNvPr id="40" name="case-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609600" y="48514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340" y="213"/>
                </a:moveTo>
                <a:lnTo>
                  <a:pt x="260" y="341"/>
                </a:lnTo>
                <a:cubicBezTo>
                  <a:pt x="256" y="347"/>
                  <a:pt x="249" y="352"/>
                  <a:pt x="241" y="352"/>
                </a:cubicBezTo>
                <a:cubicBezTo>
                  <a:pt x="233" y="352"/>
                  <a:pt x="226" y="349"/>
                  <a:pt x="221" y="342"/>
                </a:cubicBezTo>
                <a:lnTo>
                  <a:pt x="173" y="278"/>
                </a:lnTo>
                <a:cubicBezTo>
                  <a:pt x="165" y="268"/>
                  <a:pt x="167" y="253"/>
                  <a:pt x="178" y="245"/>
                </a:cubicBezTo>
                <a:cubicBezTo>
                  <a:pt x="188" y="237"/>
                  <a:pt x="203" y="239"/>
                  <a:pt x="211" y="250"/>
                </a:cubicBezTo>
                <a:lnTo>
                  <a:pt x="238" y="286"/>
                </a:lnTo>
                <a:lnTo>
                  <a:pt x="300" y="187"/>
                </a:lnTo>
                <a:cubicBezTo>
                  <a:pt x="307" y="176"/>
                  <a:pt x="322" y="173"/>
                  <a:pt x="333" y="180"/>
                </a:cubicBezTo>
                <a:cubicBezTo>
                  <a:pt x="344" y="187"/>
                  <a:pt x="348" y="202"/>
                  <a:pt x="340" y="213"/>
                </a:cubicBezTo>
                <a:close/>
              </a:path>
            </a:pathLst>
          </a:custGeom>
          <a:solidFill>
            <a:srgbClr val="1F9BA3"/>
          </a:solidFill>
          <a:ln>
            <a:noFill/>
          </a:ln>
        </p:spPr>
      </p:sp>
      <p:sp>
        <p:nvSpPr>
          <p:cNvPr id="41" name="case-1-text"/>
          <p:cNvSpPr txBox="1"/>
          <p:nvPr/>
        </p:nvSpPr>
        <p:spPr>
          <a:xfrm>
            <a:off x="889000" y="4826000"/>
            <a:ext cx="5054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b="1" noProof="1">
                <a:solidFill>
                  <a:srgbClr val="2E4149"/>
                </a:solidFill>
                <a:latin typeface="Inter"/>
                <a:ea typeface="Inter"/>
              </a:rPr>
              <a:t>Нет своей экспертизы</a:t>
            </a: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 — решение внедрять принято, а команды с опытом корпоративного ИИ пока нет</a:t>
            </a:r>
            <a:endParaRPr lang="en-US" sz="1000" noProof="1"/>
          </a:p>
        </p:txBody>
      </p:sp>
      <p:sp>
        <p:nvSpPr>
          <p:cNvPr id="42" name="case-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609600" y="5384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340" y="213"/>
                </a:moveTo>
                <a:lnTo>
                  <a:pt x="260" y="341"/>
                </a:lnTo>
                <a:cubicBezTo>
                  <a:pt x="256" y="347"/>
                  <a:pt x="249" y="352"/>
                  <a:pt x="241" y="352"/>
                </a:cubicBezTo>
                <a:cubicBezTo>
                  <a:pt x="233" y="352"/>
                  <a:pt x="226" y="349"/>
                  <a:pt x="221" y="342"/>
                </a:cubicBezTo>
                <a:lnTo>
                  <a:pt x="173" y="278"/>
                </a:lnTo>
                <a:cubicBezTo>
                  <a:pt x="165" y="268"/>
                  <a:pt x="167" y="253"/>
                  <a:pt x="178" y="245"/>
                </a:cubicBezTo>
                <a:cubicBezTo>
                  <a:pt x="188" y="237"/>
                  <a:pt x="203" y="239"/>
                  <a:pt x="211" y="250"/>
                </a:cubicBezTo>
                <a:lnTo>
                  <a:pt x="238" y="286"/>
                </a:lnTo>
                <a:lnTo>
                  <a:pt x="300" y="187"/>
                </a:lnTo>
                <a:cubicBezTo>
                  <a:pt x="307" y="176"/>
                  <a:pt x="322" y="173"/>
                  <a:pt x="333" y="180"/>
                </a:cubicBezTo>
                <a:cubicBezTo>
                  <a:pt x="344" y="187"/>
                  <a:pt x="348" y="202"/>
                  <a:pt x="340" y="213"/>
                </a:cubicBezTo>
                <a:close/>
              </a:path>
            </a:pathLst>
          </a:custGeom>
          <a:solidFill>
            <a:srgbClr val="1F9BA3"/>
          </a:solidFill>
          <a:ln>
            <a:noFill/>
          </a:ln>
        </p:spPr>
      </p:sp>
      <p:sp>
        <p:nvSpPr>
          <p:cNvPr id="43" name="case-2-text"/>
          <p:cNvSpPr txBox="1"/>
          <p:nvPr/>
        </p:nvSpPr>
        <p:spPr>
          <a:xfrm>
            <a:off x="889000" y="5359400"/>
            <a:ext cx="5054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b="1" noProof="1">
                <a:solidFill>
                  <a:srgbClr val="2E4149"/>
                </a:solidFill>
                <a:latin typeface="Inter"/>
                <a:ea typeface="Inter"/>
              </a:rPr>
              <a:t>Нужно начать правильно</a:t>
            </a: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 — важно не потратить бюджет на грабли и архитектурно неудачные решения</a:t>
            </a:r>
            <a:endParaRPr lang="en-US" sz="1000" noProof="1"/>
          </a:p>
        </p:txBody>
      </p:sp>
      <p:sp>
        <p:nvSpPr>
          <p:cNvPr id="44" name="case-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609600" y="5918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340" y="213"/>
                </a:moveTo>
                <a:lnTo>
                  <a:pt x="260" y="341"/>
                </a:lnTo>
                <a:cubicBezTo>
                  <a:pt x="256" y="347"/>
                  <a:pt x="249" y="352"/>
                  <a:pt x="241" y="352"/>
                </a:cubicBezTo>
                <a:cubicBezTo>
                  <a:pt x="233" y="352"/>
                  <a:pt x="226" y="349"/>
                  <a:pt x="221" y="342"/>
                </a:cubicBezTo>
                <a:lnTo>
                  <a:pt x="173" y="278"/>
                </a:lnTo>
                <a:cubicBezTo>
                  <a:pt x="165" y="268"/>
                  <a:pt x="167" y="253"/>
                  <a:pt x="178" y="245"/>
                </a:cubicBezTo>
                <a:cubicBezTo>
                  <a:pt x="188" y="237"/>
                  <a:pt x="203" y="239"/>
                  <a:pt x="211" y="250"/>
                </a:cubicBezTo>
                <a:lnTo>
                  <a:pt x="238" y="286"/>
                </a:lnTo>
                <a:lnTo>
                  <a:pt x="300" y="187"/>
                </a:lnTo>
                <a:cubicBezTo>
                  <a:pt x="307" y="176"/>
                  <a:pt x="322" y="173"/>
                  <a:pt x="333" y="180"/>
                </a:cubicBezTo>
                <a:cubicBezTo>
                  <a:pt x="344" y="187"/>
                  <a:pt x="348" y="202"/>
                  <a:pt x="340" y="213"/>
                </a:cubicBezTo>
                <a:close/>
              </a:path>
            </a:pathLst>
          </a:custGeom>
          <a:solidFill>
            <a:srgbClr val="1F9BA3"/>
          </a:solidFill>
          <a:ln>
            <a:noFill/>
          </a:ln>
        </p:spPr>
      </p:sp>
      <p:sp>
        <p:nvSpPr>
          <p:cNvPr id="45" name="case-3-text"/>
          <p:cNvSpPr txBox="1"/>
          <p:nvPr/>
        </p:nvSpPr>
        <p:spPr>
          <a:xfrm>
            <a:off x="889000" y="5892800"/>
            <a:ext cx="5054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b="1" noProof="1">
                <a:solidFill>
                  <a:srgbClr val="2E4149"/>
                </a:solidFill>
                <a:latin typeface="Inter"/>
                <a:ea typeface="Inter"/>
              </a:rPr>
              <a:t>Не хотите зависеть от подрядчика</a:t>
            </a: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 — нужна экспертиза внутри компании, а не постоянная привязка к внешним</a:t>
            </a:r>
            <a:endParaRPr lang="en-US" sz="1000" noProof="1"/>
          </a:p>
        </p:txBody>
      </p:sp>
      <p:sp>
        <p:nvSpPr>
          <p:cNvPr id="46" name="bottom-divider"/>
          <p:cNvSpPr/>
          <p:nvPr/>
        </p:nvSpPr>
        <p:spPr>
          <a:xfrm>
            <a:off x="6096000" y="4572000"/>
            <a:ext cx="12700" cy="1727200"/>
          </a:xfrm>
          <a:prstGeom prst="rect">
            <a:avLst/>
          </a:prstGeom>
          <a:solidFill>
            <a:srgbClr val="D8E1EA"/>
          </a:solidFill>
          <a:ln>
            <a:noFill/>
          </a:ln>
        </p:spPr>
      </p:sp>
      <p:sp>
        <p:nvSpPr>
          <p:cNvPr id="47" name="diag-label"/>
          <p:cNvSpPr txBox="1"/>
          <p:nvPr/>
        </p:nvSpPr>
        <p:spPr>
          <a:xfrm>
            <a:off x="6362700" y="4521200"/>
            <a:ext cx="5232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Начнём с диагностики — без обязательств на полный объём</a:t>
            </a:r>
            <a:endParaRPr lang="en-US" sz="1250" noProof="1"/>
          </a:p>
        </p:txBody>
      </p:sp>
      <p:sp>
        <p:nvSpPr>
          <p:cNvPr id="48" name="diag-1-badge"/>
          <p:cNvSpPr/>
          <p:nvPr/>
        </p:nvSpPr>
        <p:spPr>
          <a:xfrm>
            <a:off x="6362700" y="4826000"/>
            <a:ext cx="254000" cy="254000"/>
          </a:xfrm>
          <a:prstGeom prst="ellipse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49" name="diag-1-num"/>
          <p:cNvSpPr txBox="1"/>
          <p:nvPr/>
        </p:nvSpPr>
        <p:spPr>
          <a:xfrm>
            <a:off x="6362700" y="48260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Inter"/>
                <a:ea typeface="Inter"/>
              </a:rPr>
              <a:t>1</a:t>
            </a:r>
            <a:endParaRPr lang="en-US" sz="1000" noProof="1"/>
          </a:p>
        </p:txBody>
      </p:sp>
      <p:sp>
        <p:nvSpPr>
          <p:cNvPr id="50" name="diag-1-text"/>
          <p:cNvSpPr txBox="1"/>
          <p:nvPr/>
        </p:nvSpPr>
        <p:spPr>
          <a:xfrm>
            <a:off x="6743700" y="4826000"/>
            <a:ext cx="4851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000" b="1" noProof="1">
                <a:solidFill>
                  <a:srgbClr val="2E4149"/>
                </a:solidFill>
                <a:latin typeface="Inter"/>
                <a:ea typeface="Inter"/>
              </a:rPr>
              <a:t>Диагностика</a:t>
            </a: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 — 2–4 недели, оценка зрелости</a:t>
            </a:r>
            <a:endParaRPr lang="en-US" sz="1000" noProof="1"/>
          </a:p>
        </p:txBody>
      </p:sp>
      <p:sp>
        <p:nvSpPr>
          <p:cNvPr id="51" name="diag-2-badge"/>
          <p:cNvSpPr/>
          <p:nvPr/>
        </p:nvSpPr>
        <p:spPr>
          <a:xfrm>
            <a:off x="6362700" y="5359400"/>
            <a:ext cx="254000" cy="254000"/>
          </a:xfrm>
          <a:prstGeom prst="ellipse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52" name="diag-2-num"/>
          <p:cNvSpPr txBox="1"/>
          <p:nvPr/>
        </p:nvSpPr>
        <p:spPr>
          <a:xfrm>
            <a:off x="6362700" y="53594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Inter"/>
                <a:ea typeface="Inter"/>
              </a:rPr>
              <a:t>2</a:t>
            </a:r>
            <a:endParaRPr lang="en-US" sz="1000" noProof="1"/>
          </a:p>
        </p:txBody>
      </p:sp>
      <p:sp>
        <p:nvSpPr>
          <p:cNvPr id="53" name="diag-2-text"/>
          <p:cNvSpPr txBox="1"/>
          <p:nvPr/>
        </p:nvSpPr>
        <p:spPr>
          <a:xfrm>
            <a:off x="6743700" y="5359400"/>
            <a:ext cx="4851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000" b="1" noProof="1">
                <a:solidFill>
                  <a:srgbClr val="2E4149"/>
                </a:solidFill>
                <a:latin typeface="Inter"/>
                <a:ea typeface="Inter"/>
              </a:rPr>
              <a:t>Дорожная карта</a:t>
            </a: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 — и понимание, какая роль нужна первой</a:t>
            </a:r>
            <a:endParaRPr lang="en-US" sz="1000" noProof="1"/>
          </a:p>
        </p:txBody>
      </p:sp>
      <p:sp>
        <p:nvSpPr>
          <p:cNvPr id="54" name="diag-3-badge"/>
          <p:cNvSpPr/>
          <p:nvPr/>
        </p:nvSpPr>
        <p:spPr>
          <a:xfrm>
            <a:off x="6362700" y="5892800"/>
            <a:ext cx="254000" cy="254000"/>
          </a:xfrm>
          <a:prstGeom prst="ellipse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55" name="diag-3-num"/>
          <p:cNvSpPr txBox="1"/>
          <p:nvPr/>
        </p:nvSpPr>
        <p:spPr>
          <a:xfrm>
            <a:off x="6362700" y="58928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Inter"/>
                <a:ea typeface="Inter"/>
              </a:rPr>
              <a:t>3</a:t>
            </a:r>
            <a:endParaRPr lang="en-US" sz="1000" noProof="1"/>
          </a:p>
        </p:txBody>
      </p:sp>
      <p:sp>
        <p:nvSpPr>
          <p:cNvPr id="56" name="diag-3-text"/>
          <p:cNvSpPr txBox="1"/>
          <p:nvPr/>
        </p:nvSpPr>
        <p:spPr>
          <a:xfrm>
            <a:off x="6743700" y="5892800"/>
            <a:ext cx="4851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000" b="1" noProof="1">
                <a:solidFill>
                  <a:srgbClr val="2E4149"/>
                </a:solidFill>
                <a:latin typeface="Inter"/>
                <a:ea typeface="Inter"/>
              </a:rPr>
              <a:t>Старт</a:t>
            </a: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 — с одной функции, дальше по мере надобности</a:t>
            </a:r>
            <a:endParaRPr lang="en-US" sz="1000" noProof="1"/>
          </a:p>
        </p:txBody>
      </p:sp>
      <p:sp>
        <p:nvSpPr>
          <p:cNvPr id="57" name="footer-left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58" name="footer-page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28</a:t>
            </a:r>
            <a:endParaRPr lang="en-US" sz="850" noProof="1"/>
          </a:p>
        </p:txBody>
      </p:sp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C95239B0-1461-938F-9821-8E6398624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Rounded Rectangle 2-shape"/>
          <p:cNvSpPr/>
          <p:nvPr/>
        </p:nvSpPr>
        <p:spPr>
          <a:xfrm>
            <a:off x="609600" y="457200"/>
            <a:ext cx="666750" cy="3175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4" name="Rounded Rectangle 2-text"/>
          <p:cNvSpPr txBox="1"/>
          <p:nvPr/>
        </p:nvSpPr>
        <p:spPr>
          <a:xfrm>
            <a:off x="609600" y="457200"/>
            <a:ext cx="66675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300" noProof="1"/>
          </a:p>
        </p:txBody>
      </p:sp>
      <p:sp>
        <p:nvSpPr>
          <p:cNvPr id="5" name="Rounded Rectangle 3-shape"/>
          <p:cNvSpPr/>
          <p:nvPr/>
        </p:nvSpPr>
        <p:spPr>
          <a:xfrm>
            <a:off x="467360" y="457200"/>
            <a:ext cx="808990" cy="3175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" name="Rounded Rectangle 3-text"/>
          <p:cNvSpPr txBox="1"/>
          <p:nvPr/>
        </p:nvSpPr>
        <p:spPr>
          <a:xfrm>
            <a:off x="467360" y="457200"/>
            <a:ext cx="80899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>
                <a:solidFill>
                  <a:srgbClr val="0C323D"/>
                </a:solidFill>
                <a:latin typeface="Inter"/>
                <a:ea typeface="Inter"/>
              </a:rPr>
              <a:t>group</a:t>
            </a:r>
            <a:endParaRPr lang="en-US" sz="1150" noProof="1"/>
          </a:p>
        </p:txBody>
      </p:sp>
      <p:sp>
        <p:nvSpPr>
          <p:cNvPr id="7" name="TextBox 4"/>
          <p:cNvSpPr txBox="1"/>
          <p:nvPr/>
        </p:nvSpPr>
        <p:spPr>
          <a:xfrm>
            <a:off x="508000" y="762000"/>
            <a:ext cx="5080000" cy="165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0" b="1" i="0" noProof="1">
                <a:solidFill>
                  <a:srgbClr val="FFFFFF"/>
                </a:solidFill>
                <a:latin typeface="Inter"/>
                <a:ea typeface="Inter"/>
              </a:rPr>
              <a:t>05</a:t>
            </a:r>
            <a:endParaRPr lang="en-US" sz="11000" noProof="1"/>
          </a:p>
        </p:txBody>
      </p:sp>
      <p:sp>
        <p:nvSpPr>
          <p:cNvPr id="8" name="TextBox 5"/>
          <p:cNvSpPr txBox="1"/>
          <p:nvPr/>
        </p:nvSpPr>
        <p:spPr>
          <a:xfrm>
            <a:off x="812800" y="2743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i="0" kern="0" spc="300" noProof="1">
                <a:solidFill>
                  <a:srgbClr val="4EC6C6"/>
                </a:solidFill>
                <a:latin typeface="Inter"/>
                <a:ea typeface="Inter"/>
              </a:rPr>
              <a:t>РАЗДЕЛ 05</a:t>
            </a:r>
            <a:endParaRPr lang="en-US" sz="1150" noProof="1"/>
          </a:p>
        </p:txBody>
      </p:sp>
      <p:sp>
        <p:nvSpPr>
          <p:cNvPr id="9" name="TextBox 6"/>
          <p:cNvSpPr txBox="1"/>
          <p:nvPr/>
        </p:nvSpPr>
        <p:spPr>
          <a:xfrm>
            <a:off x="812800" y="3048000"/>
            <a:ext cx="8128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i="0" noProof="1">
                <a:solidFill>
                  <a:srgbClr val="FFFFFF"/>
                </a:solidFill>
                <a:latin typeface="Inter"/>
                <a:ea typeface="Inter"/>
              </a:rPr>
              <a:t>Обучение и стратсессии</a:t>
            </a:r>
            <a:endParaRPr lang="en-US" sz="3400" noProof="1"/>
          </a:p>
        </p:txBody>
      </p:sp>
      <p:sp>
        <p:nvSpPr>
          <p:cNvPr id="10" name="TextBox 7"/>
          <p:cNvSpPr txBox="1"/>
          <p:nvPr/>
        </p:nvSpPr>
        <p:spPr>
          <a:xfrm>
            <a:off x="812800" y="3759200"/>
            <a:ext cx="8382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i="0" noProof="1">
                <a:solidFill>
                  <a:srgbClr val="4EC6C6"/>
                </a:solidFill>
                <a:latin typeface="Inter"/>
                <a:ea typeface="Inter"/>
              </a:rPr>
              <a:t>Чтобы ИИ начали реально использовать — на всех уровнях</a:t>
            </a:r>
            <a:endParaRPr lang="en-US" sz="1600" noProof="1"/>
          </a:p>
        </p:txBody>
      </p:sp>
      <p:sp>
        <p:nvSpPr>
          <p:cNvPr id="11" name="TextBox 8"/>
          <p:cNvSpPr txBox="1"/>
          <p:nvPr/>
        </p:nvSpPr>
        <p:spPr>
          <a:xfrm>
            <a:off x="812800" y="4267200"/>
            <a:ext cx="711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i="0" noProof="1">
                <a:solidFill>
                  <a:srgbClr val="B9D4D9"/>
                </a:solidFill>
                <a:latin typeface="Inter"/>
                <a:ea typeface="Inter"/>
              </a:rPr>
              <a:t>Не разовый курс, а четвёртая практика наряду с платформой, периметром и командой — растёт вместе с вашей зрелостью, от «что такое ИИ» до собственного тренерского ядра.</a:t>
            </a:r>
            <a:endParaRPr lang="en-US" sz="1300" noProof="1"/>
          </a:p>
        </p:txBody>
      </p:sp>
      <p:sp>
        <p:nvSpPr>
          <p:cNvPr id="12" name="TextBox 9"/>
          <p:cNvSpPr txBox="1"/>
          <p:nvPr/>
        </p:nvSpPr>
        <p:spPr>
          <a:xfrm>
            <a:off x="8382000" y="27432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i="0" kern="0" spc="200" noProof="1">
                <a:solidFill>
                  <a:srgbClr val="7FAAB1"/>
                </a:solidFill>
                <a:latin typeface="Inter"/>
                <a:ea typeface="Inter"/>
              </a:rPr>
              <a:t>В РАЗДЕЛЕ</a:t>
            </a:r>
            <a:endParaRPr lang="en-US" sz="1000" noProof="1"/>
          </a:p>
        </p:txBody>
      </p:sp>
      <p:sp>
        <p:nvSpPr>
          <p:cNvPr id="13" name="TextBox 10"/>
          <p:cNvSpPr txBox="1"/>
          <p:nvPr/>
        </p:nvSpPr>
        <p:spPr>
          <a:xfrm>
            <a:off x="8382000" y="3048000"/>
            <a:ext cx="3175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Три уровня и семь форматов</a:t>
            </a:r>
            <a:endParaRPr lang="en-US" sz="1200" noProof="1"/>
          </a:p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Шесть блоков содержания</a:t>
            </a:r>
            <a:endParaRPr lang="en-US" sz="1200" noProof="1"/>
          </a:p>
          <a:p>
            <a:pPr algn="l">
              <a:lnSpc>
                <a:spcPct val="200000"/>
              </a:lnSpc>
            </a:pPr>
            <a:r>
              <a:rPr lang="en-US" sz="1200" i="0" noProof="1">
                <a:solidFill>
                  <a:srgbClr val="D8E9EC"/>
                </a:solidFill>
                <a:latin typeface="Inter"/>
                <a:ea typeface="Inter"/>
              </a:rPr>
              <a:t>· Чем наше обучение отличается</a:t>
            </a:r>
            <a:endParaRPr lang="en-US" sz="1200" noProof="1"/>
          </a:p>
        </p:txBody>
      </p:sp>
      <p:sp>
        <p:nvSpPr>
          <p:cNvPr id="14" name="Rounded Rectangle 11"/>
          <p:cNvSpPr/>
          <p:nvPr/>
        </p:nvSpPr>
        <p:spPr>
          <a:xfrm>
            <a:off x="812800" y="5588000"/>
            <a:ext cx="914400" cy="50800"/>
          </a:xfrm>
          <a:prstGeom prst="roundRect">
            <a:avLst>
              <a:gd name="adj" fmla="val 50000"/>
            </a:avLst>
          </a:prstGeom>
          <a:solidFill>
            <a:srgbClr val="1F9BA3"/>
          </a:solidFill>
          <a:ln>
            <a:noFill/>
          </a:ln>
        </p:spPr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25AE6DF-35E1-8652-C4B5-ADB1A206E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30" y="3302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pill-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logo-pill-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logo-pill-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logo-pill-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kicker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КАК УСТРОЕНО</a:t>
            </a:r>
            <a:endParaRPr lang="en-US" sz="1100" noProof="1"/>
          </a:p>
        </p:txBody>
      </p:sp>
      <p:sp>
        <p:nvSpPr>
          <p:cNvPr id="7" name="title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Обучение растёт вместе с вами — три уровня</a:t>
            </a:r>
            <a:endParaRPr lang="en-US" sz="2500" noProof="1"/>
          </a:p>
        </p:txBody>
      </p:sp>
      <p:sp>
        <p:nvSpPr>
          <p:cNvPr id="8" name="stair-base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eyJ2aWV3Qm94IjpbODUwLDIzMF0sInBvaW50cyI6IjAsMjMwIDg1MCwwIiwiY3VydmUiOiJzaGFycCJ9</pptd:line>
              </p:ext>
            </p:extLst>
          </p:nvPr>
        </p:nvSpPr>
        <p:spPr>
          <a:xfrm>
            <a:off x="711200" y="1320800"/>
            <a:ext cx="10795000" cy="2921000"/>
          </a:xfrm>
          <a:custGeom>
            <a:avLst/>
            <a:gdLst/>
            <a:ahLst/>
            <a:cxnLst/>
            <a:rect l="l" t="t" r="r" b="b"/>
            <a:pathLst>
              <a:path w="850" h="230">
                <a:moveTo>
                  <a:pt x="0" y="230"/>
                </a:moveTo>
                <a:lnTo>
                  <a:pt x="850" y="0"/>
                </a:lnTo>
              </a:path>
            </a:pathLst>
          </a:custGeom>
          <a:noFill/>
          <a:ln w="25400">
            <a:solidFill>
              <a:srgbClr val="B9D4D9"/>
            </a:solidFill>
            <a:tailEnd type="stealth"/>
          </a:ln>
        </p:spPr>
      </p:sp>
      <p:sp>
        <p:nvSpPr>
          <p:cNvPr id="9" name="step-1-shape"/>
          <p:cNvSpPr/>
          <p:nvPr/>
        </p:nvSpPr>
        <p:spPr>
          <a:xfrm>
            <a:off x="609600" y="2311400"/>
            <a:ext cx="3454400" cy="1879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step-1-chip-shape"/>
          <p:cNvSpPr/>
          <p:nvPr/>
        </p:nvSpPr>
        <p:spPr>
          <a:xfrm>
            <a:off x="838200" y="2514600"/>
            <a:ext cx="1574800" cy="304800"/>
          </a:xfrm>
          <a:prstGeom prst="roundRect">
            <a:avLst>
              <a:gd name="adj" fmla="val 50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1" name="step-1-chip-text"/>
          <p:cNvSpPr txBox="1"/>
          <p:nvPr/>
        </p:nvSpPr>
        <p:spPr>
          <a:xfrm>
            <a:off x="838200" y="2514600"/>
            <a:ext cx="1574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Inter"/>
                <a:ea typeface="Inter"/>
              </a:rPr>
              <a:t>1 · ЗНАКОМСТВО</a:t>
            </a:r>
            <a:endParaRPr lang="en-US" sz="1000" noProof="1"/>
          </a:p>
        </p:txBody>
      </p:sp>
      <p:sp>
        <p:nvSpPr>
          <p:cNvPr id="12" name="step-1-question"/>
          <p:cNvSpPr txBox="1"/>
          <p:nvPr/>
        </p:nvSpPr>
        <p:spPr>
          <a:xfrm>
            <a:off x="838200" y="29464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noProof="1">
                <a:solidFill>
                  <a:srgbClr val="2E4149"/>
                </a:solidFill>
                <a:latin typeface="Inter"/>
                <a:ea typeface="Inter"/>
              </a:rPr>
              <a:t>«А что такое ИИ вообще?»</a:t>
            </a:r>
            <a:endParaRPr lang="en-US" sz="1100" noProof="1"/>
          </a:p>
        </p:txBody>
      </p:sp>
      <p:sp>
        <p:nvSpPr>
          <p:cNvPr id="13" name="step-1-body"/>
          <p:cNvSpPr txBox="1"/>
          <p:nvPr/>
        </p:nvSpPr>
        <p:spPr>
          <a:xfrm>
            <a:off x="838200" y="3225800"/>
            <a:ext cx="3022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b="1" noProof="1">
                <a:solidFill>
                  <a:srgbClr val="64767F"/>
                </a:solidFill>
                <a:latin typeface="Inter"/>
                <a:ea typeface="Inter"/>
              </a:rPr>
              <a:t>Цель:</a:t>
            </a: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 общая картина и единый язык между блоками компании</a:t>
            </a:r>
            <a:endParaRPr lang="en-US" sz="1000" noProof="1"/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lang="en-US" sz="1000" b="1" noProof="1">
                <a:solidFill>
                  <a:srgbClr val="64767F"/>
                </a:solidFill>
                <a:latin typeface="Inter"/>
                <a:ea typeface="Inter"/>
              </a:rPr>
              <a:t>Форматы:</a:t>
            </a: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 стратсессия для правления, обзорные воркшопы функций</a:t>
            </a:r>
            <a:endParaRPr lang="en-US" sz="1000" noProof="1"/>
          </a:p>
        </p:txBody>
      </p:sp>
      <p:sp>
        <p:nvSpPr>
          <p:cNvPr id="14" name="step-2-shape"/>
          <p:cNvSpPr/>
          <p:nvPr/>
        </p:nvSpPr>
        <p:spPr>
          <a:xfrm>
            <a:off x="4368800" y="1879600"/>
            <a:ext cx="3454400" cy="1879600"/>
          </a:xfrm>
          <a:prstGeom prst="roundRect">
            <a:avLst>
              <a:gd name="adj" fmla="val 6000"/>
            </a:avLst>
          </a:prstGeom>
          <a:solidFill>
            <a:srgbClr val="4EC6C6"/>
          </a:solidFill>
          <a:ln>
            <a:noFill/>
          </a:ln>
        </p:spPr>
      </p:sp>
      <p:sp>
        <p:nvSpPr>
          <p:cNvPr id="15" name="step-2-chip-shape"/>
          <p:cNvSpPr/>
          <p:nvPr/>
        </p:nvSpPr>
        <p:spPr>
          <a:xfrm>
            <a:off x="4597400" y="2082800"/>
            <a:ext cx="1397000" cy="304800"/>
          </a:xfrm>
          <a:prstGeom prst="roundRect">
            <a:avLst>
              <a:gd name="adj" fmla="val 50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6" name="step-2-chip-text"/>
          <p:cNvSpPr txBox="1"/>
          <p:nvPr/>
        </p:nvSpPr>
        <p:spPr>
          <a:xfrm>
            <a:off x="4597400" y="20828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Inter"/>
                <a:ea typeface="Inter"/>
              </a:rPr>
              <a:t>2 · ПРАКТИКА</a:t>
            </a:r>
            <a:endParaRPr lang="en-US" sz="1000" noProof="1"/>
          </a:p>
        </p:txBody>
      </p:sp>
      <p:sp>
        <p:nvSpPr>
          <p:cNvPr id="17" name="step-2-question"/>
          <p:cNvSpPr txBox="1"/>
          <p:nvPr/>
        </p:nvSpPr>
        <p:spPr>
          <a:xfrm>
            <a:off x="4597400" y="25146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noProof="1">
                <a:solidFill>
                  <a:srgbClr val="073E44"/>
                </a:solidFill>
                <a:latin typeface="Inter"/>
                <a:ea typeface="Inter"/>
              </a:rPr>
              <a:t>«Как научить команды пользоваться?»</a:t>
            </a:r>
            <a:endParaRPr lang="en-US" sz="1100" noProof="1"/>
          </a:p>
        </p:txBody>
      </p:sp>
      <p:sp>
        <p:nvSpPr>
          <p:cNvPr id="18" name="step-2-body"/>
          <p:cNvSpPr txBox="1"/>
          <p:nvPr/>
        </p:nvSpPr>
        <p:spPr>
          <a:xfrm>
            <a:off x="4597400" y="2794000"/>
            <a:ext cx="3022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b="1" noProof="1">
                <a:solidFill>
                  <a:srgbClr val="0C323D"/>
                </a:solidFill>
                <a:latin typeface="Inter"/>
                <a:ea typeface="Inter"/>
              </a:rPr>
              <a:t>Цель:</a:t>
            </a:r>
            <a:r>
              <a:rPr lang="en-US" sz="1000" noProof="1">
                <a:solidFill>
                  <a:srgbClr val="0C323D"/>
                </a:solidFill>
                <a:latin typeface="Inter"/>
                <a:ea typeface="Inter"/>
              </a:rPr>
              <a:t> передать навыки и встроить ИИ в повседневные процессы</a:t>
            </a:r>
            <a:endParaRPr lang="en-US" sz="1000" noProof="1"/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lang="en-US" sz="1000" b="1" noProof="1">
                <a:solidFill>
                  <a:srgbClr val="0C323D"/>
                </a:solidFill>
                <a:latin typeface="Inter"/>
                <a:ea typeface="Inter"/>
              </a:rPr>
              <a:t>Форматы:</a:t>
            </a:r>
            <a:r>
              <a:rPr lang="en-US" sz="1000" noProof="1">
                <a:solidFill>
                  <a:srgbClr val="0C323D"/>
                </a:solidFill>
                <a:latin typeface="Inter"/>
                <a:ea typeface="Inter"/>
              </a:rPr>
              <a:t> прикладные интенсивы, обучение операторов, AI office hours</a:t>
            </a:r>
            <a:endParaRPr lang="en-US" sz="1000" noProof="1"/>
          </a:p>
        </p:txBody>
      </p:sp>
      <p:sp>
        <p:nvSpPr>
          <p:cNvPr id="19" name="step-3-shape"/>
          <p:cNvSpPr/>
          <p:nvPr/>
        </p:nvSpPr>
        <p:spPr>
          <a:xfrm>
            <a:off x="8128000" y="1447800"/>
            <a:ext cx="3454400" cy="1879600"/>
          </a:xfrm>
          <a:prstGeom prst="roundRect">
            <a:avLst>
              <a:gd name="adj" fmla="val 6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20" name="step-3-chip-shape"/>
          <p:cNvSpPr/>
          <p:nvPr/>
        </p:nvSpPr>
        <p:spPr>
          <a:xfrm>
            <a:off x="8356600" y="1651000"/>
            <a:ext cx="1701800" cy="304800"/>
          </a:xfrm>
          <a:prstGeom prst="roundRect">
            <a:avLst>
              <a:gd name="adj" fmla="val 50000"/>
            </a:avLst>
          </a:prstGeom>
          <a:solidFill>
            <a:srgbClr val="4EC6C6"/>
          </a:solidFill>
          <a:ln>
            <a:noFill/>
          </a:ln>
        </p:spPr>
      </p:sp>
      <p:sp>
        <p:nvSpPr>
          <p:cNvPr id="21" name="step-3-chip-text"/>
          <p:cNvSpPr txBox="1"/>
          <p:nvPr/>
        </p:nvSpPr>
        <p:spPr>
          <a:xfrm>
            <a:off x="8356600" y="1651000"/>
            <a:ext cx="1701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073E44"/>
                </a:solidFill>
                <a:latin typeface="Inter"/>
                <a:ea typeface="Inter"/>
              </a:rPr>
              <a:t>3 · АВТОНОМНОСТЬ</a:t>
            </a:r>
            <a:endParaRPr lang="en-US" sz="1000" noProof="1"/>
          </a:p>
        </p:txBody>
      </p:sp>
      <p:sp>
        <p:nvSpPr>
          <p:cNvPr id="22" name="step-3-question"/>
          <p:cNvSpPr txBox="1"/>
          <p:nvPr/>
        </p:nvSpPr>
        <p:spPr>
          <a:xfrm>
            <a:off x="8356600" y="20828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Inter"/>
                <a:ea typeface="Inter"/>
              </a:rPr>
              <a:t>«Как развивать практику самим?»</a:t>
            </a:r>
            <a:endParaRPr lang="en-US" sz="1100" noProof="1"/>
          </a:p>
        </p:txBody>
      </p:sp>
      <p:sp>
        <p:nvSpPr>
          <p:cNvPr id="23" name="step-3-body"/>
          <p:cNvSpPr txBox="1"/>
          <p:nvPr/>
        </p:nvSpPr>
        <p:spPr>
          <a:xfrm>
            <a:off x="8356600" y="2362200"/>
            <a:ext cx="3022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b="1" noProof="1">
                <a:solidFill>
                  <a:srgbClr val="B9D4D9"/>
                </a:solidFill>
                <a:latin typeface="Inter"/>
                <a:ea typeface="Inter"/>
              </a:rPr>
              <a:t>Цель:</a:t>
            </a:r>
            <a:r>
              <a:rPr lang="en-US" sz="1000" noProof="1">
                <a:solidFill>
                  <a:srgbClr val="B9D4D9"/>
                </a:solidFill>
                <a:latin typeface="Inter"/>
                <a:ea typeface="Inter"/>
              </a:rPr>
              <a:t> внутреннее тренерское ядро и продвинутые компетенции</a:t>
            </a:r>
            <a:endParaRPr lang="en-US" sz="1000" noProof="1"/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lang="en-US" sz="1000" b="1" noProof="1">
                <a:solidFill>
                  <a:srgbClr val="B9D4D9"/>
                </a:solidFill>
                <a:latin typeface="Inter"/>
                <a:ea typeface="Inter"/>
              </a:rPr>
              <a:t>Форматы:</a:t>
            </a:r>
            <a:r>
              <a:rPr lang="en-US" sz="1000" noProof="1">
                <a:solidFill>
                  <a:srgbClr val="B9D4D9"/>
                </a:solidFill>
                <a:latin typeface="Inter"/>
                <a:ea typeface="Inter"/>
              </a:rPr>
              <a:t> train the trainer, продвинутые модули, сертификация</a:t>
            </a:r>
            <a:endParaRPr lang="en-US" sz="1000" noProof="1"/>
          </a:p>
        </p:txBody>
      </p:sp>
      <p:sp>
        <p:nvSpPr>
          <p:cNvPr id="24" name="formats-label"/>
          <p:cNvSpPr txBox="1"/>
          <p:nvPr/>
        </p:nvSpPr>
        <p:spPr>
          <a:xfrm>
            <a:off x="609600" y="44704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Семь форматов — под каждую аудиторию</a:t>
            </a:r>
            <a:endParaRPr lang="en-US" sz="1250" noProof="1"/>
          </a:p>
        </p:txBody>
      </p:sp>
      <p:sp>
        <p:nvSpPr>
          <p:cNvPr id="25" name="fmt-1-shape"/>
          <p:cNvSpPr/>
          <p:nvPr/>
        </p:nvSpPr>
        <p:spPr>
          <a:xfrm>
            <a:off x="609600" y="4800600"/>
            <a:ext cx="2628900" cy="558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26" name="fmt-1-text"/>
          <p:cNvSpPr txBox="1"/>
          <p:nvPr/>
        </p:nvSpPr>
        <p:spPr>
          <a:xfrm>
            <a:off x="787400" y="4864100"/>
            <a:ext cx="22733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1 ·</a:t>
            </a: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 Стратегическая сессия</a:t>
            </a:r>
            <a:endParaRPr lang="en-US" sz="1600" noProof="1"/>
          </a:p>
          <a:p>
            <a:pPr algn="l">
              <a:lnSpc>
                <a:spcPct val="125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Правление, CEO · 1–2 дня, 8–15 чел.</a:t>
            </a:r>
            <a:endParaRPr lang="en-US" sz="1600" noProof="1"/>
          </a:p>
        </p:txBody>
      </p:sp>
      <p:sp>
        <p:nvSpPr>
          <p:cNvPr id="27" name="fmt-2-shape"/>
          <p:cNvSpPr/>
          <p:nvPr/>
        </p:nvSpPr>
        <p:spPr>
          <a:xfrm>
            <a:off x="3390900" y="4800600"/>
            <a:ext cx="2628900" cy="558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28" name="fmt-2-text"/>
          <p:cNvSpPr txBox="1"/>
          <p:nvPr/>
        </p:nvSpPr>
        <p:spPr>
          <a:xfrm>
            <a:off x="3568700" y="4864100"/>
            <a:ext cx="22733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2 ·</a:t>
            </a: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 Обзорный воркшоп</a:t>
            </a:r>
            <a:endParaRPr lang="en-US" sz="1600" noProof="1"/>
          </a:p>
          <a:p>
            <a:pPr algn="l">
              <a:lnSpc>
                <a:spcPct val="125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Руководители функций · полдня</a:t>
            </a:r>
            <a:endParaRPr lang="en-US" sz="1600" noProof="1"/>
          </a:p>
        </p:txBody>
      </p:sp>
      <p:sp>
        <p:nvSpPr>
          <p:cNvPr id="29" name="fmt-3-shape"/>
          <p:cNvSpPr/>
          <p:nvPr/>
        </p:nvSpPr>
        <p:spPr>
          <a:xfrm>
            <a:off x="6172200" y="4800600"/>
            <a:ext cx="2628900" cy="558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0" name="fmt-3-text"/>
          <p:cNvSpPr txBox="1"/>
          <p:nvPr/>
        </p:nvSpPr>
        <p:spPr>
          <a:xfrm>
            <a:off x="6350000" y="4864100"/>
            <a:ext cx="22733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3 ·</a:t>
            </a: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 Прикладной интенсив</a:t>
            </a:r>
            <a:endParaRPr lang="en-US" sz="1600" noProof="1"/>
          </a:p>
          <a:p>
            <a:pPr algn="l">
              <a:lnSpc>
                <a:spcPct val="125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Команды и пользователи · 2–5 дней</a:t>
            </a:r>
            <a:endParaRPr lang="en-US" sz="1600" noProof="1"/>
          </a:p>
        </p:txBody>
      </p:sp>
      <p:sp>
        <p:nvSpPr>
          <p:cNvPr id="31" name="fmt-4-shape"/>
          <p:cNvSpPr/>
          <p:nvPr/>
        </p:nvSpPr>
        <p:spPr>
          <a:xfrm>
            <a:off x="8953500" y="4800600"/>
            <a:ext cx="2641600" cy="558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2" name="fmt-4-text"/>
          <p:cNvSpPr txBox="1"/>
          <p:nvPr/>
        </p:nvSpPr>
        <p:spPr>
          <a:xfrm>
            <a:off x="9131300" y="4864100"/>
            <a:ext cx="2286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4 ·</a:t>
            </a: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 Обучение ИБ-операторов</a:t>
            </a:r>
            <a:endParaRPr lang="en-US" sz="1600" noProof="1"/>
          </a:p>
          <a:p>
            <a:pPr algn="l">
              <a:lnSpc>
                <a:spcPct val="125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ИБ-блок, аудиторы · работа с AI Guard</a:t>
            </a:r>
            <a:endParaRPr lang="en-US" sz="1600" noProof="1"/>
          </a:p>
        </p:txBody>
      </p:sp>
      <p:sp>
        <p:nvSpPr>
          <p:cNvPr id="33" name="fmt-5-shape"/>
          <p:cNvSpPr/>
          <p:nvPr/>
        </p:nvSpPr>
        <p:spPr>
          <a:xfrm>
            <a:off x="609600" y="5461000"/>
            <a:ext cx="3556000" cy="558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4" name="fmt-5-text"/>
          <p:cNvSpPr txBox="1"/>
          <p:nvPr/>
        </p:nvSpPr>
        <p:spPr>
          <a:xfrm>
            <a:off x="787400" y="5524500"/>
            <a:ext cx="3200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5 ·</a:t>
            </a: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 Обучение пользователей платформы</a:t>
            </a:r>
            <a:endParaRPr lang="en-US" sz="1600" noProof="1"/>
          </a:p>
          <a:p>
            <a:pPr algn="l">
              <a:lnSpc>
                <a:spcPct val="125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Сотрудники · 2–4 часа, массово и регулярно</a:t>
            </a:r>
            <a:endParaRPr lang="en-US" sz="1600" noProof="1"/>
          </a:p>
        </p:txBody>
      </p:sp>
      <p:sp>
        <p:nvSpPr>
          <p:cNvPr id="35" name="fmt-6-shape"/>
          <p:cNvSpPr/>
          <p:nvPr/>
        </p:nvSpPr>
        <p:spPr>
          <a:xfrm>
            <a:off x="4318000" y="5461000"/>
            <a:ext cx="3556000" cy="558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6" name="fmt-6-text"/>
          <p:cNvSpPr txBox="1"/>
          <p:nvPr/>
        </p:nvSpPr>
        <p:spPr>
          <a:xfrm>
            <a:off x="4495800" y="5524500"/>
            <a:ext cx="3200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6 ·</a:t>
            </a: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 Train the trainer</a:t>
            </a:r>
            <a:endParaRPr lang="en-US" sz="1600" noProof="1"/>
          </a:p>
          <a:p>
            <a:pPr algn="l">
              <a:lnSpc>
                <a:spcPct val="125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Внутренние тренеры, Центр компетенций · 5–10 дней</a:t>
            </a:r>
            <a:endParaRPr lang="en-US" sz="1600" noProof="1"/>
          </a:p>
        </p:txBody>
      </p:sp>
      <p:sp>
        <p:nvSpPr>
          <p:cNvPr id="37" name="fmt-7-shape"/>
          <p:cNvSpPr/>
          <p:nvPr/>
        </p:nvSpPr>
        <p:spPr>
          <a:xfrm>
            <a:off x="8026400" y="5461000"/>
            <a:ext cx="3568700" cy="558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38" name="fmt-7-text"/>
          <p:cNvSpPr txBox="1"/>
          <p:nvPr/>
        </p:nvSpPr>
        <p:spPr>
          <a:xfrm>
            <a:off x="8204200" y="5524500"/>
            <a:ext cx="32131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i="0" noProof="1">
                <a:solidFill>
                  <a:srgbClr val="1F9BA3"/>
                </a:solidFill>
                <a:latin typeface="Inter"/>
                <a:ea typeface="Inter"/>
              </a:rPr>
              <a:t>7 ·</a:t>
            </a:r>
            <a:r>
              <a:rPr lang="en-US" sz="1000" b="1" i="0" noProof="1">
                <a:solidFill>
                  <a:srgbClr val="2E4149"/>
                </a:solidFill>
                <a:latin typeface="Inter"/>
                <a:ea typeface="Inter"/>
              </a:rPr>
              <a:t> Регулярные форматы поддержки</a:t>
            </a:r>
            <a:endParaRPr lang="en-US" sz="1600" noProof="1"/>
          </a:p>
          <a:p>
            <a:pPr algn="l">
              <a:lnSpc>
                <a:spcPct val="125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Все, кто работает с ИИ · AI office hours, обмен кейсами</a:t>
            </a:r>
            <a:endParaRPr lang="en-US" sz="1600" noProof="1"/>
          </a:p>
        </p:txBody>
      </p:sp>
      <p:sp>
        <p:nvSpPr>
          <p:cNvPr id="39" name="footer-left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40" name="footer-page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30</a:t>
            </a:r>
            <a:endParaRPr lang="en-US" sz="850" noProof="1"/>
          </a:p>
        </p:txBody>
      </p:sp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9102BEFB-FE76-41E5-7F84-E1D1FF3ED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pill-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logo-pill-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logo-pill-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logo-pill-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kicker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СОДЕРЖАНИЕ И ОТЛИЧИЕ</a:t>
            </a:r>
            <a:endParaRPr lang="en-US" sz="1100" noProof="1"/>
          </a:p>
        </p:txBody>
      </p:sp>
      <p:sp>
        <p:nvSpPr>
          <p:cNvPr id="7" name="title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Чему учим — и почему это меняет практику</a:t>
            </a:r>
            <a:endParaRPr lang="en-US" sz="2500" noProof="1"/>
          </a:p>
        </p:txBody>
      </p:sp>
      <p:sp>
        <p:nvSpPr>
          <p:cNvPr id="8" name="blocks-label"/>
          <p:cNvSpPr txBox="1"/>
          <p:nvPr/>
        </p:nvSpPr>
        <p:spPr>
          <a:xfrm>
            <a:off x="609600" y="1143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Шесть содержательных блоков</a:t>
            </a:r>
            <a:endParaRPr lang="en-US" sz="1250" noProof="1"/>
          </a:p>
        </p:txBody>
      </p:sp>
      <p:sp>
        <p:nvSpPr>
          <p:cNvPr id="9" name="blk-1-shape"/>
          <p:cNvSpPr/>
          <p:nvPr/>
        </p:nvSpPr>
        <p:spPr>
          <a:xfrm>
            <a:off x="609600" y="1447800"/>
            <a:ext cx="3543300" cy="1625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blk-1-bar"/>
          <p:cNvSpPr/>
          <p:nvPr/>
        </p:nvSpPr>
        <p:spPr>
          <a:xfrm>
            <a:off x="609600" y="1447800"/>
            <a:ext cx="50800" cy="16256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11" name="blk-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eyJpY29uTmFtZSI6ImZhczpsYXllci1ncm91cCJ9</pptd:icon>
              </p:ext>
            </p:extLst>
          </p:nvPr>
        </p:nvSpPr>
        <p:spPr>
          <a:xfrm>
            <a:off x="838200" y="1651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3" y="5"/>
                </a:moveTo>
                <a:cubicBezTo>
                  <a:pt x="247" y="-2"/>
                  <a:pt x="265" y="-2"/>
                  <a:pt x="280" y="5"/>
                </a:cubicBezTo>
                <a:lnTo>
                  <a:pt x="498" y="106"/>
                </a:lnTo>
                <a:cubicBezTo>
                  <a:pt x="507" y="110"/>
                  <a:pt x="512" y="119"/>
                  <a:pt x="512" y="128"/>
                </a:cubicBezTo>
                <a:cubicBezTo>
                  <a:pt x="512" y="137"/>
                  <a:pt x="507" y="146"/>
                  <a:pt x="498" y="150"/>
                </a:cubicBezTo>
                <a:lnTo>
                  <a:pt x="280" y="251"/>
                </a:lnTo>
                <a:cubicBezTo>
                  <a:pt x="265" y="258"/>
                  <a:pt x="247" y="258"/>
                  <a:pt x="233" y="251"/>
                </a:cubicBezTo>
                <a:lnTo>
                  <a:pt x="14" y="150"/>
                </a:lnTo>
                <a:cubicBezTo>
                  <a:pt x="5" y="146"/>
                  <a:pt x="0" y="137"/>
                  <a:pt x="0" y="128"/>
                </a:cubicBezTo>
                <a:cubicBezTo>
                  <a:pt x="0" y="119"/>
                  <a:pt x="5" y="110"/>
                  <a:pt x="14" y="106"/>
                </a:cubicBezTo>
                <a:lnTo>
                  <a:pt x="233" y="5"/>
                </a:lnTo>
                <a:close/>
              </a:path>
              <a:path w="512" h="512">
                <a:moveTo>
                  <a:pt x="48" y="218"/>
                </a:moveTo>
                <a:lnTo>
                  <a:pt x="212" y="294"/>
                </a:lnTo>
                <a:cubicBezTo>
                  <a:pt x="240" y="307"/>
                  <a:pt x="272" y="307"/>
                  <a:pt x="300" y="294"/>
                </a:cubicBezTo>
                <a:lnTo>
                  <a:pt x="464" y="218"/>
                </a:lnTo>
                <a:lnTo>
                  <a:pt x="498" y="234"/>
                </a:lnTo>
                <a:cubicBezTo>
                  <a:pt x="507" y="238"/>
                  <a:pt x="512" y="247"/>
                  <a:pt x="512" y="256"/>
                </a:cubicBezTo>
                <a:cubicBezTo>
                  <a:pt x="512" y="265"/>
                  <a:pt x="507" y="274"/>
                  <a:pt x="498" y="278"/>
                </a:cubicBezTo>
                <a:lnTo>
                  <a:pt x="280" y="379"/>
                </a:lnTo>
                <a:cubicBezTo>
                  <a:pt x="265" y="386"/>
                  <a:pt x="247" y="386"/>
                  <a:pt x="233" y="379"/>
                </a:cubicBezTo>
                <a:lnTo>
                  <a:pt x="14" y="278"/>
                </a:lnTo>
                <a:cubicBezTo>
                  <a:pt x="5" y="274"/>
                  <a:pt x="0" y="265"/>
                  <a:pt x="0" y="256"/>
                </a:cubicBezTo>
                <a:cubicBezTo>
                  <a:pt x="0" y="247"/>
                  <a:pt x="5" y="238"/>
                  <a:pt x="14" y="234"/>
                </a:cubicBezTo>
                <a:lnTo>
                  <a:pt x="48" y="218"/>
                </a:lnTo>
                <a:close/>
              </a:path>
              <a:path w="512" h="512">
                <a:moveTo>
                  <a:pt x="14" y="362"/>
                </a:moveTo>
                <a:lnTo>
                  <a:pt x="48" y="346"/>
                </a:lnTo>
                <a:lnTo>
                  <a:pt x="212" y="422"/>
                </a:lnTo>
                <a:cubicBezTo>
                  <a:pt x="240" y="435"/>
                  <a:pt x="272" y="435"/>
                  <a:pt x="300" y="422"/>
                </a:cubicBezTo>
                <a:lnTo>
                  <a:pt x="464" y="346"/>
                </a:lnTo>
                <a:lnTo>
                  <a:pt x="498" y="362"/>
                </a:lnTo>
                <a:cubicBezTo>
                  <a:pt x="507" y="366"/>
                  <a:pt x="512" y="375"/>
                  <a:pt x="512" y="384"/>
                </a:cubicBezTo>
                <a:cubicBezTo>
                  <a:pt x="512" y="393"/>
                  <a:pt x="507" y="402"/>
                  <a:pt x="498" y="406"/>
                </a:cubicBezTo>
                <a:lnTo>
                  <a:pt x="279" y="507"/>
                </a:lnTo>
                <a:cubicBezTo>
                  <a:pt x="265" y="514"/>
                  <a:pt x="247" y="514"/>
                  <a:pt x="232" y="507"/>
                </a:cubicBezTo>
                <a:lnTo>
                  <a:pt x="14" y="406"/>
                </a:lnTo>
                <a:cubicBezTo>
                  <a:pt x="5" y="402"/>
                  <a:pt x="0" y="393"/>
                  <a:pt x="0" y="384"/>
                </a:cubicBezTo>
                <a:cubicBezTo>
                  <a:pt x="0" y="375"/>
                  <a:pt x="5" y="366"/>
                  <a:pt x="14" y="362"/>
                </a:cubicBezTo>
                <a:close/>
              </a:path>
            </a:pathLst>
          </a:custGeom>
          <a:solidFill>
            <a:srgbClr val="1F9BA3"/>
          </a:solidFill>
          <a:ln>
            <a:noFill/>
          </a:ln>
        </p:spPr>
      </p:sp>
      <p:sp>
        <p:nvSpPr>
          <p:cNvPr id="12" name="blk-1-title"/>
          <p:cNvSpPr txBox="1"/>
          <p:nvPr/>
        </p:nvSpPr>
        <p:spPr>
          <a:xfrm>
            <a:off x="1219200" y="1663700"/>
            <a:ext cx="27559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2E4149"/>
                </a:solidFill>
                <a:latin typeface="Inter"/>
                <a:ea typeface="Inter"/>
              </a:rPr>
              <a:t>Карта AI-инструментов</a:t>
            </a:r>
            <a:endParaRPr lang="en-US" sz="1150" noProof="1"/>
          </a:p>
        </p:txBody>
      </p:sp>
      <p:sp>
        <p:nvSpPr>
          <p:cNvPr id="13" name="blk-1-sub"/>
          <p:cNvSpPr txBox="1"/>
          <p:nvPr/>
        </p:nvSpPr>
        <p:spPr>
          <a:xfrm>
            <a:off x="838200" y="2032000"/>
            <a:ext cx="31115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LLM, RAG, агенты, мультимодальные — какой класс под какую задачу</a:t>
            </a:r>
            <a:endParaRPr lang="en-US" sz="1000" noProof="1"/>
          </a:p>
        </p:txBody>
      </p:sp>
      <p:sp>
        <p:nvSpPr>
          <p:cNvPr id="14" name="blk-2-shape"/>
          <p:cNvSpPr/>
          <p:nvPr/>
        </p:nvSpPr>
        <p:spPr>
          <a:xfrm>
            <a:off x="4330700" y="1447800"/>
            <a:ext cx="3543300" cy="1625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5" name="blk-2-bar"/>
          <p:cNvSpPr/>
          <p:nvPr/>
        </p:nvSpPr>
        <p:spPr>
          <a:xfrm>
            <a:off x="4330700" y="1447800"/>
            <a:ext cx="50800" cy="16256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16" name="blk-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eyJpY29uTmFtZSI6ImZhczpib29rLW9wZW4ifQ</pptd:icon>
              </p:ext>
            </p:extLst>
          </p:nvPr>
        </p:nvSpPr>
        <p:spPr>
          <a:xfrm>
            <a:off x="4559300" y="1651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141"/>
                </a:moveTo>
                <a:lnTo>
                  <a:pt x="256" y="451"/>
                </a:lnTo>
                <a:lnTo>
                  <a:pt x="257" y="450"/>
                </a:lnTo>
                <a:cubicBezTo>
                  <a:pt x="311" y="428"/>
                  <a:pt x="370" y="416"/>
                  <a:pt x="429" y="416"/>
                </a:cubicBezTo>
                <a:lnTo>
                  <a:pt x="448" y="416"/>
                </a:lnTo>
                <a:lnTo>
                  <a:pt x="448" y="96"/>
                </a:lnTo>
                <a:lnTo>
                  <a:pt x="429" y="96"/>
                </a:lnTo>
                <a:cubicBezTo>
                  <a:pt x="387" y="96"/>
                  <a:pt x="345" y="104"/>
                  <a:pt x="306" y="121"/>
                </a:cubicBezTo>
                <a:cubicBezTo>
                  <a:pt x="289" y="128"/>
                  <a:pt x="272" y="135"/>
                  <a:pt x="256" y="141"/>
                </a:cubicBezTo>
                <a:close/>
                <a:moveTo>
                  <a:pt x="231" y="62"/>
                </a:moveTo>
                <a:lnTo>
                  <a:pt x="256" y="72"/>
                </a:lnTo>
                <a:lnTo>
                  <a:pt x="281" y="62"/>
                </a:lnTo>
                <a:cubicBezTo>
                  <a:pt x="328" y="42"/>
                  <a:pt x="378" y="32"/>
                  <a:pt x="429" y="32"/>
                </a:cubicBezTo>
                <a:lnTo>
                  <a:pt x="464" y="32"/>
                </a:lnTo>
                <a:cubicBezTo>
                  <a:pt x="491" y="32"/>
                  <a:pt x="512" y="54"/>
                  <a:pt x="512" y="80"/>
                </a:cubicBezTo>
                <a:lnTo>
                  <a:pt x="512" y="432"/>
                </a:lnTo>
                <a:cubicBezTo>
                  <a:pt x="512" y="459"/>
                  <a:pt x="491" y="480"/>
                  <a:pt x="464" y="480"/>
                </a:cubicBezTo>
                <a:lnTo>
                  <a:pt x="429" y="480"/>
                </a:lnTo>
                <a:cubicBezTo>
                  <a:pt x="378" y="480"/>
                  <a:pt x="328" y="490"/>
                  <a:pt x="281" y="510"/>
                </a:cubicBezTo>
                <a:lnTo>
                  <a:pt x="268" y="515"/>
                </a:lnTo>
                <a:cubicBezTo>
                  <a:pt x="260" y="518"/>
                  <a:pt x="252" y="518"/>
                  <a:pt x="244" y="515"/>
                </a:cubicBezTo>
                <a:lnTo>
                  <a:pt x="231" y="509"/>
                </a:lnTo>
                <a:cubicBezTo>
                  <a:pt x="184" y="490"/>
                  <a:pt x="134" y="480"/>
                  <a:pt x="83" y="480"/>
                </a:cubicBezTo>
                <a:lnTo>
                  <a:pt x="48" y="480"/>
                </a:lnTo>
                <a:cubicBezTo>
                  <a:pt x="22" y="480"/>
                  <a:pt x="0" y="459"/>
                  <a:pt x="0" y="432"/>
                </a:cubicBezTo>
                <a:lnTo>
                  <a:pt x="0" y="80"/>
                </a:lnTo>
                <a:cubicBezTo>
                  <a:pt x="0" y="54"/>
                  <a:pt x="22" y="32"/>
                  <a:pt x="48" y="32"/>
                </a:cubicBezTo>
                <a:lnTo>
                  <a:pt x="83" y="32"/>
                </a:lnTo>
                <a:cubicBezTo>
                  <a:pt x="134" y="32"/>
                  <a:pt x="184" y="42"/>
                  <a:pt x="231" y="62"/>
                </a:cubicBezTo>
                <a:close/>
              </a:path>
            </a:pathLst>
          </a:custGeom>
          <a:solidFill>
            <a:srgbClr val="1F9BA3"/>
          </a:solidFill>
          <a:ln>
            <a:noFill/>
          </a:ln>
        </p:spPr>
      </p:sp>
      <p:sp>
        <p:nvSpPr>
          <p:cNvPr id="17" name="blk-2-title"/>
          <p:cNvSpPr txBox="1"/>
          <p:nvPr/>
        </p:nvSpPr>
        <p:spPr>
          <a:xfrm>
            <a:off x="4940300" y="1663700"/>
            <a:ext cx="27559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2E4149"/>
                </a:solidFill>
                <a:latin typeface="Inter"/>
                <a:ea typeface="Inter"/>
              </a:rPr>
              <a:t>Каталог сценариев функций</a:t>
            </a:r>
            <a:endParaRPr lang="en-US" sz="1150" noProof="1"/>
          </a:p>
        </p:txBody>
      </p:sp>
      <p:sp>
        <p:nvSpPr>
          <p:cNvPr id="18" name="blk-2-sub"/>
          <p:cNvSpPr txBox="1"/>
          <p:nvPr/>
        </p:nvSpPr>
        <p:spPr>
          <a:xfrm>
            <a:off x="4559300" y="2032000"/>
            <a:ext cx="31115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8–15 типовых задач для каждой функции с примерами инструментов</a:t>
            </a:r>
            <a:endParaRPr lang="en-US" sz="1000" noProof="1"/>
          </a:p>
        </p:txBody>
      </p:sp>
      <p:sp>
        <p:nvSpPr>
          <p:cNvPr id="19" name="blk-3-shape"/>
          <p:cNvSpPr/>
          <p:nvPr/>
        </p:nvSpPr>
        <p:spPr>
          <a:xfrm>
            <a:off x="8051800" y="1447800"/>
            <a:ext cx="3543300" cy="1625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0" name="blk-3-bar"/>
          <p:cNvSpPr/>
          <p:nvPr/>
        </p:nvSpPr>
        <p:spPr>
          <a:xfrm>
            <a:off x="8051800" y="1447800"/>
            <a:ext cx="50800" cy="16256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21" name="blk-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eyJpY29uTmFtZSI6ImZhczpzY2FsZS1iYWxhbmNlZCJ9</pptd:icon>
              </p:ext>
            </p:extLst>
          </p:nvPr>
        </p:nvSpPr>
        <p:spPr>
          <a:xfrm>
            <a:off x="8280400" y="1651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84" y="32"/>
                </a:moveTo>
                <a:lnTo>
                  <a:pt x="512" y="32"/>
                </a:lnTo>
                <a:cubicBezTo>
                  <a:pt x="530" y="32"/>
                  <a:pt x="544" y="46"/>
                  <a:pt x="544" y="64"/>
                </a:cubicBezTo>
                <a:cubicBezTo>
                  <a:pt x="544" y="82"/>
                  <a:pt x="530" y="96"/>
                  <a:pt x="512" y="96"/>
                </a:cubicBezTo>
                <a:lnTo>
                  <a:pt x="398" y="96"/>
                </a:lnTo>
                <a:cubicBezTo>
                  <a:pt x="393" y="122"/>
                  <a:pt x="376" y="143"/>
                  <a:pt x="352" y="153"/>
                </a:cubicBezTo>
                <a:lnTo>
                  <a:pt x="352" y="448"/>
                </a:lnTo>
                <a:lnTo>
                  <a:pt x="512" y="448"/>
                </a:lnTo>
                <a:cubicBezTo>
                  <a:pt x="530" y="448"/>
                  <a:pt x="544" y="462"/>
                  <a:pt x="544" y="480"/>
                </a:cubicBezTo>
                <a:cubicBezTo>
                  <a:pt x="544" y="498"/>
                  <a:pt x="530" y="512"/>
                  <a:pt x="512" y="512"/>
                </a:cubicBezTo>
                <a:lnTo>
                  <a:pt x="128" y="512"/>
                </a:lnTo>
                <a:cubicBezTo>
                  <a:pt x="110" y="512"/>
                  <a:pt x="96" y="498"/>
                  <a:pt x="96" y="480"/>
                </a:cubicBezTo>
                <a:cubicBezTo>
                  <a:pt x="96" y="462"/>
                  <a:pt x="110" y="448"/>
                  <a:pt x="128" y="448"/>
                </a:cubicBezTo>
                <a:lnTo>
                  <a:pt x="288" y="448"/>
                </a:lnTo>
                <a:lnTo>
                  <a:pt x="288" y="153"/>
                </a:lnTo>
                <a:cubicBezTo>
                  <a:pt x="265" y="143"/>
                  <a:pt x="247" y="122"/>
                  <a:pt x="242" y="96"/>
                </a:cubicBezTo>
                <a:lnTo>
                  <a:pt x="128" y="96"/>
                </a:lnTo>
                <a:cubicBezTo>
                  <a:pt x="110" y="96"/>
                  <a:pt x="96" y="82"/>
                  <a:pt x="96" y="64"/>
                </a:cubicBezTo>
                <a:cubicBezTo>
                  <a:pt x="96" y="46"/>
                  <a:pt x="110" y="32"/>
                  <a:pt x="128" y="32"/>
                </a:cubicBezTo>
                <a:lnTo>
                  <a:pt x="256" y="32"/>
                </a:lnTo>
                <a:cubicBezTo>
                  <a:pt x="271" y="13"/>
                  <a:pt x="294" y="0"/>
                  <a:pt x="320" y="0"/>
                </a:cubicBezTo>
                <a:cubicBezTo>
                  <a:pt x="346" y="0"/>
                  <a:pt x="369" y="13"/>
                  <a:pt x="384" y="32"/>
                </a:cubicBezTo>
                <a:close/>
              </a:path>
              <a:path w="640" h="512">
                <a:moveTo>
                  <a:pt x="512" y="416"/>
                </a:moveTo>
                <a:cubicBezTo>
                  <a:pt x="449" y="416"/>
                  <a:pt x="397" y="382"/>
                  <a:pt x="386" y="337"/>
                </a:cubicBezTo>
                <a:cubicBezTo>
                  <a:pt x="383" y="326"/>
                  <a:pt x="387" y="315"/>
                  <a:pt x="393" y="305"/>
                </a:cubicBezTo>
                <a:lnTo>
                  <a:pt x="488" y="142"/>
                </a:lnTo>
                <a:cubicBezTo>
                  <a:pt x="493" y="133"/>
                  <a:pt x="502" y="128"/>
                  <a:pt x="512" y="128"/>
                </a:cubicBezTo>
                <a:cubicBezTo>
                  <a:pt x="522" y="128"/>
                  <a:pt x="531" y="133"/>
                  <a:pt x="536" y="142"/>
                </a:cubicBezTo>
                <a:lnTo>
                  <a:pt x="631" y="305"/>
                </a:lnTo>
                <a:cubicBezTo>
                  <a:pt x="637" y="315"/>
                  <a:pt x="641" y="326"/>
                  <a:pt x="638" y="337"/>
                </a:cubicBezTo>
                <a:cubicBezTo>
                  <a:pt x="627" y="382"/>
                  <a:pt x="575" y="416"/>
                  <a:pt x="512" y="416"/>
                </a:cubicBezTo>
                <a:close/>
                <a:moveTo>
                  <a:pt x="440" y="320"/>
                </a:moveTo>
                <a:lnTo>
                  <a:pt x="584" y="320"/>
                </a:lnTo>
                <a:lnTo>
                  <a:pt x="512" y="196"/>
                </a:lnTo>
                <a:lnTo>
                  <a:pt x="440" y="320"/>
                </a:lnTo>
                <a:close/>
              </a:path>
              <a:path w="640" h="512">
                <a:moveTo>
                  <a:pt x="1" y="337"/>
                </a:moveTo>
                <a:cubicBezTo>
                  <a:pt x="-2" y="326"/>
                  <a:pt x="2" y="315"/>
                  <a:pt x="8" y="305"/>
                </a:cubicBezTo>
                <a:lnTo>
                  <a:pt x="103" y="142"/>
                </a:lnTo>
                <a:cubicBezTo>
                  <a:pt x="108" y="133"/>
                  <a:pt x="117" y="128"/>
                  <a:pt x="127" y="128"/>
                </a:cubicBezTo>
                <a:cubicBezTo>
                  <a:pt x="137" y="128"/>
                  <a:pt x="146" y="133"/>
                  <a:pt x="151" y="142"/>
                </a:cubicBezTo>
                <a:lnTo>
                  <a:pt x="246" y="305"/>
                </a:lnTo>
                <a:cubicBezTo>
                  <a:pt x="252" y="315"/>
                  <a:pt x="256" y="326"/>
                  <a:pt x="253" y="337"/>
                </a:cubicBezTo>
                <a:cubicBezTo>
                  <a:pt x="242" y="382"/>
                  <a:pt x="190" y="416"/>
                  <a:pt x="127" y="416"/>
                </a:cubicBezTo>
                <a:cubicBezTo>
                  <a:pt x="64" y="416"/>
                  <a:pt x="12" y="382"/>
                  <a:pt x="1" y="337"/>
                </a:cubicBezTo>
                <a:close/>
                <a:moveTo>
                  <a:pt x="127" y="196"/>
                </a:moveTo>
                <a:lnTo>
                  <a:pt x="54" y="320"/>
                </a:lnTo>
                <a:lnTo>
                  <a:pt x="199" y="320"/>
                </a:lnTo>
                <a:lnTo>
                  <a:pt x="127" y="196"/>
                </a:lnTo>
                <a:close/>
              </a:path>
            </a:pathLst>
          </a:custGeom>
          <a:solidFill>
            <a:srgbClr val="1F9BA3"/>
          </a:solidFill>
          <a:ln>
            <a:noFill/>
          </a:ln>
        </p:spPr>
      </p:sp>
      <p:sp>
        <p:nvSpPr>
          <p:cNvPr id="22" name="blk-3-title"/>
          <p:cNvSpPr txBox="1"/>
          <p:nvPr/>
        </p:nvSpPr>
        <p:spPr>
          <a:xfrm>
            <a:off x="8661400" y="1663700"/>
            <a:ext cx="27559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2E4149"/>
                </a:solidFill>
                <a:latin typeface="Inter"/>
                <a:ea typeface="Inter"/>
              </a:rPr>
              <a:t>Логика выбора инструмента</a:t>
            </a:r>
            <a:endParaRPr lang="en-US" sz="1150" noProof="1"/>
          </a:p>
        </p:txBody>
      </p:sp>
      <p:sp>
        <p:nvSpPr>
          <p:cNvPr id="23" name="blk-3-sub"/>
          <p:cNvSpPr txBox="1"/>
          <p:nvPr/>
        </p:nvSpPr>
        <p:spPr>
          <a:xfrm>
            <a:off x="8280400" y="2032000"/>
            <a:ext cx="31115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От процесса, данных, риска и эффекта — а не «от бренда»</a:t>
            </a:r>
            <a:endParaRPr lang="en-US" sz="1000" noProof="1"/>
          </a:p>
        </p:txBody>
      </p:sp>
      <p:sp>
        <p:nvSpPr>
          <p:cNvPr id="24" name="blk-4-shape"/>
          <p:cNvSpPr/>
          <p:nvPr/>
        </p:nvSpPr>
        <p:spPr>
          <a:xfrm>
            <a:off x="609600" y="3175000"/>
            <a:ext cx="3543300" cy="1625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5" name="blk-4-bar"/>
          <p:cNvSpPr/>
          <p:nvPr/>
        </p:nvSpPr>
        <p:spPr>
          <a:xfrm>
            <a:off x="609600" y="3175000"/>
            <a:ext cx="50800" cy="16256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26" name="blk-4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eyJpY29uTmFtZSI6ImZhczpjYWxjdWxhdG9yIn0</pptd:icon>
              </p:ext>
            </p:extLst>
          </p:nvPr>
        </p:nvSpPr>
        <p:spPr>
          <a:xfrm>
            <a:off x="838200" y="3378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lnTo>
                  <a:pt x="0" y="448"/>
                </a:lnTo>
                <a:cubicBezTo>
                  <a:pt x="0" y="483"/>
                  <a:pt x="29" y="512"/>
                  <a:pt x="64" y="512"/>
                </a:cubicBezTo>
                <a:lnTo>
                  <a:pt x="320" y="512"/>
                </a:lnTo>
                <a:cubicBezTo>
                  <a:pt x="355" y="512"/>
                  <a:pt x="384" y="483"/>
                  <a:pt x="384" y="448"/>
                </a:cubicBezTo>
                <a:lnTo>
                  <a:pt x="384" y="64"/>
                </a:lnTo>
                <a:cubicBezTo>
                  <a:pt x="384" y="29"/>
                  <a:pt x="355" y="0"/>
                  <a:pt x="320" y="0"/>
                </a:cubicBezTo>
                <a:lnTo>
                  <a:pt x="64" y="0"/>
                </a:lnTo>
                <a:close/>
                <a:moveTo>
                  <a:pt x="96" y="64"/>
                </a:moveTo>
                <a:lnTo>
                  <a:pt x="288" y="64"/>
                </a:lnTo>
                <a:cubicBezTo>
                  <a:pt x="306" y="64"/>
                  <a:pt x="320" y="78"/>
                  <a:pt x="320" y="96"/>
                </a:cubicBezTo>
                <a:lnTo>
                  <a:pt x="320" y="128"/>
                </a:lnTo>
                <a:cubicBezTo>
                  <a:pt x="320" y="146"/>
                  <a:pt x="306" y="160"/>
                  <a:pt x="288" y="160"/>
                </a:cubicBezTo>
                <a:lnTo>
                  <a:pt x="96" y="160"/>
                </a:lnTo>
                <a:cubicBezTo>
                  <a:pt x="78" y="160"/>
                  <a:pt x="64" y="146"/>
                  <a:pt x="64" y="128"/>
                </a:cubicBezTo>
                <a:lnTo>
                  <a:pt x="64" y="96"/>
                </a:lnTo>
                <a:cubicBezTo>
                  <a:pt x="64" y="78"/>
                  <a:pt x="78" y="64"/>
                  <a:pt x="96" y="64"/>
                </a:cubicBezTo>
                <a:close/>
                <a:moveTo>
                  <a:pt x="112" y="232"/>
                </a:moveTo>
                <a:cubicBezTo>
                  <a:pt x="112" y="245"/>
                  <a:pt x="101" y="256"/>
                  <a:pt x="88" y="256"/>
                </a:cubicBezTo>
                <a:cubicBezTo>
                  <a:pt x="75" y="256"/>
                  <a:pt x="64" y="245"/>
                  <a:pt x="64" y="232"/>
                </a:cubicBezTo>
                <a:cubicBezTo>
                  <a:pt x="64" y="219"/>
                  <a:pt x="75" y="208"/>
                  <a:pt x="88" y="208"/>
                </a:cubicBezTo>
                <a:cubicBezTo>
                  <a:pt x="101" y="208"/>
                  <a:pt x="112" y="219"/>
                  <a:pt x="112" y="232"/>
                </a:cubicBezTo>
                <a:close/>
                <a:moveTo>
                  <a:pt x="192" y="256"/>
                </a:moveTo>
                <a:cubicBezTo>
                  <a:pt x="179" y="256"/>
                  <a:pt x="168" y="245"/>
                  <a:pt x="168" y="232"/>
                </a:cubicBezTo>
                <a:cubicBezTo>
                  <a:pt x="168" y="219"/>
                  <a:pt x="179" y="208"/>
                  <a:pt x="192" y="208"/>
                </a:cubicBezTo>
                <a:cubicBezTo>
                  <a:pt x="205" y="208"/>
                  <a:pt x="216" y="219"/>
                  <a:pt x="216" y="232"/>
                </a:cubicBezTo>
                <a:cubicBezTo>
                  <a:pt x="216" y="245"/>
                  <a:pt x="205" y="256"/>
                  <a:pt x="192" y="256"/>
                </a:cubicBezTo>
                <a:close/>
                <a:moveTo>
                  <a:pt x="320" y="232"/>
                </a:moveTo>
                <a:cubicBezTo>
                  <a:pt x="320" y="245"/>
                  <a:pt x="309" y="256"/>
                  <a:pt x="296" y="256"/>
                </a:cubicBezTo>
                <a:cubicBezTo>
                  <a:pt x="283" y="256"/>
                  <a:pt x="272" y="245"/>
                  <a:pt x="272" y="232"/>
                </a:cubicBezTo>
                <a:cubicBezTo>
                  <a:pt x="272" y="219"/>
                  <a:pt x="283" y="208"/>
                  <a:pt x="296" y="208"/>
                </a:cubicBezTo>
                <a:cubicBezTo>
                  <a:pt x="309" y="208"/>
                  <a:pt x="320" y="219"/>
                  <a:pt x="320" y="232"/>
                </a:cubicBezTo>
                <a:close/>
                <a:moveTo>
                  <a:pt x="88" y="352"/>
                </a:moveTo>
                <a:cubicBezTo>
                  <a:pt x="75" y="352"/>
                  <a:pt x="64" y="341"/>
                  <a:pt x="64" y="328"/>
                </a:cubicBezTo>
                <a:cubicBezTo>
                  <a:pt x="64" y="315"/>
                  <a:pt x="75" y="304"/>
                  <a:pt x="88" y="304"/>
                </a:cubicBezTo>
                <a:cubicBezTo>
                  <a:pt x="101" y="304"/>
                  <a:pt x="112" y="315"/>
                  <a:pt x="112" y="328"/>
                </a:cubicBezTo>
                <a:cubicBezTo>
                  <a:pt x="112" y="341"/>
                  <a:pt x="101" y="352"/>
                  <a:pt x="88" y="352"/>
                </a:cubicBezTo>
                <a:close/>
                <a:moveTo>
                  <a:pt x="216" y="328"/>
                </a:moveTo>
                <a:cubicBezTo>
                  <a:pt x="216" y="341"/>
                  <a:pt x="205" y="352"/>
                  <a:pt x="192" y="352"/>
                </a:cubicBezTo>
                <a:cubicBezTo>
                  <a:pt x="179" y="352"/>
                  <a:pt x="168" y="341"/>
                  <a:pt x="168" y="328"/>
                </a:cubicBezTo>
                <a:cubicBezTo>
                  <a:pt x="168" y="315"/>
                  <a:pt x="179" y="304"/>
                  <a:pt x="192" y="304"/>
                </a:cubicBezTo>
                <a:cubicBezTo>
                  <a:pt x="205" y="304"/>
                  <a:pt x="216" y="315"/>
                  <a:pt x="216" y="328"/>
                </a:cubicBezTo>
                <a:close/>
                <a:moveTo>
                  <a:pt x="296" y="352"/>
                </a:moveTo>
                <a:cubicBezTo>
                  <a:pt x="283" y="352"/>
                  <a:pt x="272" y="341"/>
                  <a:pt x="272" y="328"/>
                </a:cubicBezTo>
                <a:cubicBezTo>
                  <a:pt x="272" y="315"/>
                  <a:pt x="283" y="304"/>
                  <a:pt x="296" y="304"/>
                </a:cubicBezTo>
                <a:cubicBezTo>
                  <a:pt x="309" y="304"/>
                  <a:pt x="320" y="315"/>
                  <a:pt x="320" y="328"/>
                </a:cubicBezTo>
                <a:cubicBezTo>
                  <a:pt x="320" y="341"/>
                  <a:pt x="309" y="352"/>
                  <a:pt x="296" y="352"/>
                </a:cubicBezTo>
                <a:close/>
                <a:moveTo>
                  <a:pt x="64" y="424"/>
                </a:moveTo>
                <a:cubicBezTo>
                  <a:pt x="64" y="411"/>
                  <a:pt x="75" y="400"/>
                  <a:pt x="88" y="400"/>
                </a:cubicBezTo>
                <a:lnTo>
                  <a:pt x="200" y="400"/>
                </a:lnTo>
                <a:cubicBezTo>
                  <a:pt x="213" y="400"/>
                  <a:pt x="224" y="411"/>
                  <a:pt x="224" y="424"/>
                </a:cubicBezTo>
                <a:cubicBezTo>
                  <a:pt x="224" y="437"/>
                  <a:pt x="213" y="448"/>
                  <a:pt x="200" y="448"/>
                </a:cubicBezTo>
                <a:lnTo>
                  <a:pt x="88" y="448"/>
                </a:lnTo>
                <a:cubicBezTo>
                  <a:pt x="75" y="448"/>
                  <a:pt x="64" y="437"/>
                  <a:pt x="64" y="424"/>
                </a:cubicBezTo>
                <a:close/>
                <a:moveTo>
                  <a:pt x="296" y="400"/>
                </a:moveTo>
                <a:cubicBezTo>
                  <a:pt x="309" y="400"/>
                  <a:pt x="320" y="411"/>
                  <a:pt x="320" y="424"/>
                </a:cubicBezTo>
                <a:cubicBezTo>
                  <a:pt x="320" y="437"/>
                  <a:pt x="309" y="448"/>
                  <a:pt x="296" y="448"/>
                </a:cubicBezTo>
                <a:cubicBezTo>
                  <a:pt x="283" y="448"/>
                  <a:pt x="272" y="437"/>
                  <a:pt x="272" y="424"/>
                </a:cubicBezTo>
                <a:cubicBezTo>
                  <a:pt x="272" y="411"/>
                  <a:pt x="283" y="400"/>
                  <a:pt x="296" y="400"/>
                </a:cubicBezTo>
                <a:close/>
              </a:path>
            </a:pathLst>
          </a:custGeom>
          <a:solidFill>
            <a:srgbClr val="1F9BA3"/>
          </a:solidFill>
          <a:ln>
            <a:noFill/>
          </a:ln>
        </p:spPr>
      </p:sp>
      <p:sp>
        <p:nvSpPr>
          <p:cNvPr id="27" name="blk-4-title"/>
          <p:cNvSpPr txBox="1"/>
          <p:nvPr/>
        </p:nvSpPr>
        <p:spPr>
          <a:xfrm>
            <a:off x="1219200" y="3390900"/>
            <a:ext cx="27559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2E4149"/>
                </a:solidFill>
                <a:latin typeface="Inter"/>
                <a:ea typeface="Inter"/>
              </a:rPr>
              <a:t>Экономика ИИ-применений</a:t>
            </a:r>
            <a:endParaRPr lang="en-US" sz="1150" noProof="1"/>
          </a:p>
        </p:txBody>
      </p:sp>
      <p:sp>
        <p:nvSpPr>
          <p:cNvPr id="28" name="blk-4-sub"/>
          <p:cNvSpPr txBox="1"/>
          <p:nvPr/>
        </p:nvSpPr>
        <p:spPr>
          <a:xfrm>
            <a:off x="838200" y="3759200"/>
            <a:ext cx="31115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Как считать эффект и unit-экономику, реалистичные ожидания</a:t>
            </a:r>
            <a:endParaRPr lang="en-US" sz="1000" noProof="1"/>
          </a:p>
        </p:txBody>
      </p:sp>
      <p:sp>
        <p:nvSpPr>
          <p:cNvPr id="29" name="blk-5-shape"/>
          <p:cNvSpPr/>
          <p:nvPr/>
        </p:nvSpPr>
        <p:spPr>
          <a:xfrm>
            <a:off x="4330700" y="3175000"/>
            <a:ext cx="3543300" cy="1625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30" name="blk-5-bar"/>
          <p:cNvSpPr/>
          <p:nvPr/>
        </p:nvSpPr>
        <p:spPr>
          <a:xfrm>
            <a:off x="4330700" y="3175000"/>
            <a:ext cx="50800" cy="16256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31" name="blk-5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eyJpY29uTmFtZSI6ImZhczpzaGllbGQtaGFsdmVkIn0</pptd:icon>
              </p:ext>
            </p:extLst>
          </p:nvPr>
        </p:nvSpPr>
        <p:spPr>
          <a:xfrm>
            <a:off x="4559300" y="3378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1F9BA3"/>
          </a:solidFill>
          <a:ln>
            <a:noFill/>
          </a:ln>
        </p:spPr>
      </p:sp>
      <p:sp>
        <p:nvSpPr>
          <p:cNvPr id="32" name="blk-5-title"/>
          <p:cNvSpPr txBox="1"/>
          <p:nvPr/>
        </p:nvSpPr>
        <p:spPr>
          <a:xfrm>
            <a:off x="4940300" y="3390900"/>
            <a:ext cx="27559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2E4149"/>
                </a:solidFill>
                <a:latin typeface="Inter"/>
                <a:ea typeface="Inter"/>
              </a:rPr>
              <a:t>Безопасность и контур</a:t>
            </a:r>
            <a:endParaRPr lang="en-US" sz="1150" noProof="1"/>
          </a:p>
        </p:txBody>
      </p:sp>
      <p:sp>
        <p:nvSpPr>
          <p:cNvPr id="33" name="blk-5-sub"/>
          <p:cNvSpPr txBox="1"/>
          <p:nvPr/>
        </p:nvSpPr>
        <p:spPr>
          <a:xfrm>
            <a:off x="4559300" y="3759200"/>
            <a:ext cx="31115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Классы данных, human-in-the-loop, связь с AI Guard и политиками ИБ</a:t>
            </a:r>
            <a:endParaRPr lang="en-US" sz="1000" noProof="1"/>
          </a:p>
        </p:txBody>
      </p:sp>
      <p:sp>
        <p:nvSpPr>
          <p:cNvPr id="34" name="blk-6-shape"/>
          <p:cNvSpPr/>
          <p:nvPr/>
        </p:nvSpPr>
        <p:spPr>
          <a:xfrm>
            <a:off x="8051800" y="3175000"/>
            <a:ext cx="3543300" cy="16256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35" name="blk-6-bar"/>
          <p:cNvSpPr/>
          <p:nvPr/>
        </p:nvSpPr>
        <p:spPr>
          <a:xfrm>
            <a:off x="8051800" y="3175000"/>
            <a:ext cx="50800" cy="1625600"/>
          </a:xfrm>
          <a:prstGeom prst="rect">
            <a:avLst/>
          </a:prstGeom>
          <a:solidFill>
            <a:srgbClr val="1F9BA3"/>
          </a:solidFill>
          <a:ln>
            <a:noFill/>
          </a:ln>
        </p:spPr>
      </p:sp>
      <p:sp>
        <p:nvSpPr>
          <p:cNvPr id="36" name="blk-6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eyJpY29uTmFtZSI6ImZhczpyb2NrZXQifQ</pptd:icon>
              </p:ext>
            </p:extLst>
          </p:nvPr>
        </p:nvSpPr>
        <p:spPr>
          <a:xfrm>
            <a:off x="8280400" y="3378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28" y="320"/>
                </a:moveTo>
                <a:lnTo>
                  <a:pt x="25" y="320"/>
                </a:lnTo>
                <a:cubicBezTo>
                  <a:pt x="0" y="320"/>
                  <a:pt x="-16" y="293"/>
                  <a:pt x="-3" y="272"/>
                </a:cubicBezTo>
                <a:lnTo>
                  <a:pt x="50" y="183"/>
                </a:lnTo>
                <a:cubicBezTo>
                  <a:pt x="59" y="169"/>
                  <a:pt x="74" y="160"/>
                  <a:pt x="91" y="160"/>
                </a:cubicBezTo>
                <a:lnTo>
                  <a:pt x="186" y="160"/>
                </a:lnTo>
                <a:cubicBezTo>
                  <a:pt x="262" y="31"/>
                  <a:pt x="376" y="25"/>
                  <a:pt x="452" y="36"/>
                </a:cubicBezTo>
                <a:cubicBezTo>
                  <a:pt x="465" y="38"/>
                  <a:pt x="475" y="48"/>
                  <a:pt x="476" y="60"/>
                </a:cubicBezTo>
                <a:cubicBezTo>
                  <a:pt x="487" y="136"/>
                  <a:pt x="481" y="250"/>
                  <a:pt x="352" y="326"/>
                </a:cubicBezTo>
                <a:lnTo>
                  <a:pt x="352" y="421"/>
                </a:lnTo>
                <a:cubicBezTo>
                  <a:pt x="352" y="438"/>
                  <a:pt x="343" y="453"/>
                  <a:pt x="329" y="462"/>
                </a:cubicBezTo>
                <a:lnTo>
                  <a:pt x="241" y="515"/>
                </a:lnTo>
                <a:cubicBezTo>
                  <a:pt x="219" y="528"/>
                  <a:pt x="192" y="512"/>
                  <a:pt x="192" y="488"/>
                </a:cubicBezTo>
                <a:lnTo>
                  <a:pt x="192" y="384"/>
                </a:lnTo>
                <a:cubicBezTo>
                  <a:pt x="192" y="349"/>
                  <a:pt x="163" y="320"/>
                  <a:pt x="128" y="320"/>
                </a:cubicBezTo>
                <a:lnTo>
                  <a:pt x="128" y="320"/>
                </a:lnTo>
                <a:close/>
                <a:moveTo>
                  <a:pt x="400" y="160"/>
                </a:moveTo>
                <a:cubicBezTo>
                  <a:pt x="400" y="133"/>
                  <a:pt x="379" y="112"/>
                  <a:pt x="352" y="112"/>
                </a:cubicBezTo>
                <a:cubicBezTo>
                  <a:pt x="325" y="112"/>
                  <a:pt x="304" y="133"/>
                  <a:pt x="304" y="160"/>
                </a:cubicBezTo>
                <a:cubicBezTo>
                  <a:pt x="304" y="187"/>
                  <a:pt x="325" y="208"/>
                  <a:pt x="352" y="208"/>
                </a:cubicBezTo>
                <a:cubicBezTo>
                  <a:pt x="379" y="208"/>
                  <a:pt x="400" y="187"/>
                  <a:pt x="400" y="160"/>
                </a:cubicBezTo>
                <a:close/>
              </a:path>
            </a:pathLst>
          </a:custGeom>
          <a:solidFill>
            <a:srgbClr val="1F9BA3"/>
          </a:solidFill>
          <a:ln>
            <a:noFill/>
          </a:ln>
        </p:spPr>
      </p:sp>
      <p:sp>
        <p:nvSpPr>
          <p:cNvPr id="37" name="blk-6-title"/>
          <p:cNvSpPr txBox="1"/>
          <p:nvPr/>
        </p:nvSpPr>
        <p:spPr>
          <a:xfrm>
            <a:off x="8661400" y="339090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2E4149"/>
                </a:solidFill>
                <a:latin typeface="Inter"/>
                <a:ea typeface="Inter"/>
              </a:rPr>
              <a:t>Методология запуска инициатив</a:t>
            </a:r>
            <a:endParaRPr lang="en-US" sz="1150" noProof="1"/>
          </a:p>
        </p:txBody>
      </p:sp>
      <p:sp>
        <p:nvSpPr>
          <p:cNvPr id="38" name="blk-6-sub"/>
          <p:cNvSpPr txBox="1"/>
          <p:nvPr/>
        </p:nvSpPr>
        <p:spPr>
          <a:xfrm>
            <a:off x="8280400" y="3759200"/>
            <a:ext cx="31115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64767F"/>
                </a:solidFill>
                <a:latin typeface="Inter"/>
                <a:ea typeface="Inter"/>
              </a:rPr>
              <a:t>Конвейер «идея → прод»: как довести гипотезу до результата</a:t>
            </a:r>
            <a:endParaRPr lang="en-US" sz="1000" noProof="1"/>
          </a:p>
        </p:txBody>
      </p:sp>
      <p:sp>
        <p:nvSpPr>
          <p:cNvPr id="39" name="cond-shape"/>
          <p:cNvSpPr/>
          <p:nvPr/>
        </p:nvSpPr>
        <p:spPr>
          <a:xfrm>
            <a:off x="609600" y="4978400"/>
            <a:ext cx="7112000" cy="1371600"/>
          </a:xfrm>
          <a:prstGeom prst="roundRect">
            <a:avLst>
              <a:gd name="adj" fmla="val 6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40" name="cond-title"/>
          <p:cNvSpPr txBox="1"/>
          <p:nvPr/>
        </p:nvSpPr>
        <p:spPr>
          <a:xfrm>
            <a:off x="838200" y="5105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Inter"/>
                <a:ea typeface="Inter"/>
              </a:rPr>
              <a:t>Пять условий, чтобы обучение работало</a:t>
            </a:r>
            <a:endParaRPr lang="en-US" sz="1200" noProof="1"/>
          </a:p>
        </p:txBody>
      </p:sp>
      <p:sp>
        <p:nvSpPr>
          <p:cNvPr id="41" name="cond-items"/>
          <p:cNvSpPr txBox="1"/>
          <p:nvPr/>
        </p:nvSpPr>
        <p:spPr>
          <a:xfrm>
            <a:off x="838200" y="5359400"/>
            <a:ext cx="66802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2000"/>
              </a:lnSpc>
            </a:pPr>
            <a:r>
              <a:rPr lang="en-US" sz="950" b="1" noProof="1">
                <a:solidFill>
                  <a:srgbClr val="4EC6C6"/>
                </a:solidFill>
                <a:latin typeface="Inter"/>
                <a:ea typeface="Inter"/>
              </a:rPr>
              <a:t>1.</a:t>
            </a:r>
            <a:r>
              <a:rPr lang="en-US" sz="950" noProof="1">
                <a:solidFill>
                  <a:srgbClr val="D8E9EC"/>
                </a:solidFill>
                <a:latin typeface="Inter"/>
                <a:ea typeface="Inter"/>
              </a:rPr>
              <a:t> </a:t>
            </a:r>
            <a:r>
              <a:rPr lang="en-US" sz="950" b="1" noProof="1">
                <a:solidFill>
                  <a:srgbClr val="D8E9EC"/>
                </a:solidFill>
                <a:latin typeface="Inter"/>
                <a:ea typeface="Inter"/>
              </a:rPr>
              <a:t>У программы есть владелец</a:t>
            </a:r>
            <a:r>
              <a:rPr lang="en-US" sz="950" noProof="1">
                <a:solidFill>
                  <a:srgbClr val="D8E9EC"/>
                </a:solidFill>
                <a:latin typeface="Inter"/>
                <a:ea typeface="Inter"/>
              </a:rPr>
              <a:t> — кто-то внутри отвечает за результат</a:t>
            </a:r>
            <a:endParaRPr lang="en-US" sz="950" noProof="1"/>
          </a:p>
          <a:p>
            <a:pPr algn="l">
              <a:lnSpc>
                <a:spcPct val="142000"/>
              </a:lnSpc>
            </a:pPr>
            <a:r>
              <a:rPr lang="en-US" sz="950" b="1" noProof="1">
                <a:solidFill>
                  <a:srgbClr val="4EC6C6"/>
                </a:solidFill>
                <a:latin typeface="Inter"/>
                <a:ea typeface="Inter"/>
              </a:rPr>
              <a:t>2.</a:t>
            </a:r>
            <a:r>
              <a:rPr lang="en-US" sz="950" noProof="1">
                <a:solidFill>
                  <a:srgbClr val="D8E9EC"/>
                </a:solidFill>
                <a:latin typeface="Inter"/>
                <a:ea typeface="Inter"/>
              </a:rPr>
              <a:t> </a:t>
            </a:r>
            <a:r>
              <a:rPr lang="en-US" sz="950" b="1" noProof="1">
                <a:solidFill>
                  <a:srgbClr val="D8E9EC"/>
                </a:solidFill>
                <a:latin typeface="Inter"/>
                <a:ea typeface="Inter"/>
              </a:rPr>
              <a:t>Привязка к реальным задачам</a:t>
            </a:r>
            <a:r>
              <a:rPr lang="en-US" sz="950" noProof="1">
                <a:solidFill>
                  <a:srgbClr val="D8E9EC"/>
                </a:solidFill>
                <a:latin typeface="Inter"/>
                <a:ea typeface="Inter"/>
              </a:rPr>
              <a:t> — разбираем ваши кейсы, а не абстрактные примеры</a:t>
            </a:r>
            <a:endParaRPr lang="en-US" sz="950" noProof="1"/>
          </a:p>
          <a:p>
            <a:pPr algn="l">
              <a:lnSpc>
                <a:spcPct val="142000"/>
              </a:lnSpc>
            </a:pPr>
            <a:r>
              <a:rPr lang="en-US" sz="950" b="1" noProof="1">
                <a:solidFill>
                  <a:srgbClr val="4EC6C6"/>
                </a:solidFill>
                <a:latin typeface="Inter"/>
                <a:ea typeface="Inter"/>
              </a:rPr>
              <a:t>3.</a:t>
            </a:r>
            <a:r>
              <a:rPr lang="en-US" sz="950" noProof="1">
                <a:solidFill>
                  <a:srgbClr val="D8E9EC"/>
                </a:solidFill>
                <a:latin typeface="Inter"/>
                <a:ea typeface="Inter"/>
              </a:rPr>
              <a:t> </a:t>
            </a:r>
            <a:r>
              <a:rPr lang="en-US" sz="950" b="1" noProof="1">
                <a:solidFill>
                  <a:srgbClr val="D8E9EC"/>
                </a:solidFill>
                <a:latin typeface="Inter"/>
                <a:ea typeface="Inter"/>
              </a:rPr>
              <a:t>Измеримый эффект</a:t>
            </a:r>
            <a:r>
              <a:rPr lang="en-US" sz="950" noProof="1">
                <a:solidFill>
                  <a:srgbClr val="D8E9EC"/>
                </a:solidFill>
                <a:latin typeface="Inter"/>
                <a:ea typeface="Inter"/>
              </a:rPr>
              <a:t> — что меняется через месяц, определяем заранее с вами</a:t>
            </a:r>
            <a:endParaRPr lang="en-US" sz="950" noProof="1"/>
          </a:p>
          <a:p>
            <a:pPr algn="l">
              <a:lnSpc>
                <a:spcPct val="142000"/>
              </a:lnSpc>
            </a:pPr>
            <a:r>
              <a:rPr lang="en-US" sz="950" b="1" noProof="1">
                <a:solidFill>
                  <a:srgbClr val="4EC6C6"/>
                </a:solidFill>
                <a:latin typeface="Inter"/>
                <a:ea typeface="Inter"/>
              </a:rPr>
              <a:t>4.</a:t>
            </a:r>
            <a:r>
              <a:rPr lang="en-US" sz="950" noProof="1">
                <a:solidFill>
                  <a:srgbClr val="D8E9EC"/>
                </a:solidFill>
                <a:latin typeface="Inter"/>
                <a:ea typeface="Inter"/>
              </a:rPr>
              <a:t> </a:t>
            </a:r>
            <a:r>
              <a:rPr lang="en-US" sz="950" b="1" noProof="1">
                <a:solidFill>
                  <a:srgbClr val="D8E9EC"/>
                </a:solidFill>
                <a:latin typeface="Inter"/>
                <a:ea typeface="Inter"/>
              </a:rPr>
              <a:t>После-обучающее сопровождение</a:t>
            </a:r>
            <a:r>
              <a:rPr lang="en-US" sz="950" noProof="1">
                <a:solidFill>
                  <a:srgbClr val="D8E9EC"/>
                </a:solidFill>
                <a:latin typeface="Inter"/>
                <a:ea typeface="Inter"/>
              </a:rPr>
              <a:t> — follow-up уже включён в программу</a:t>
            </a:r>
            <a:endParaRPr lang="en-US" sz="950" noProof="1"/>
          </a:p>
          <a:p>
            <a:pPr algn="l">
              <a:lnSpc>
                <a:spcPct val="142000"/>
              </a:lnSpc>
            </a:pPr>
            <a:r>
              <a:rPr lang="en-US" sz="950" b="1" noProof="1">
                <a:solidFill>
                  <a:srgbClr val="4EC6C6"/>
                </a:solidFill>
                <a:latin typeface="Inter"/>
                <a:ea typeface="Inter"/>
              </a:rPr>
              <a:t>5.</a:t>
            </a:r>
            <a:r>
              <a:rPr lang="en-US" sz="950" noProof="1">
                <a:solidFill>
                  <a:srgbClr val="D8E9EC"/>
                </a:solidFill>
                <a:latin typeface="Inter"/>
                <a:ea typeface="Inter"/>
              </a:rPr>
              <a:t> </a:t>
            </a:r>
            <a:r>
              <a:rPr lang="en-US" sz="950" b="1" noProof="1">
                <a:solidFill>
                  <a:srgbClr val="D8E9EC"/>
                </a:solidFill>
                <a:latin typeface="Inter"/>
                <a:ea typeface="Inter"/>
              </a:rPr>
              <a:t>Связь с другими практиками</a:t>
            </a:r>
            <a:r>
              <a:rPr lang="en-US" sz="950" noProof="1">
                <a:solidFill>
                  <a:srgbClr val="D8E9EC"/>
                </a:solidFill>
                <a:latin typeface="Inter"/>
                <a:ea typeface="Inter"/>
              </a:rPr>
              <a:t> — есть где попробовать и куда подать идеи</a:t>
            </a:r>
            <a:endParaRPr lang="en-US" sz="950" noProof="1"/>
          </a:p>
        </p:txBody>
      </p:sp>
      <p:sp>
        <p:nvSpPr>
          <p:cNvPr id="42" name="accent-shape"/>
          <p:cNvSpPr/>
          <p:nvPr/>
        </p:nvSpPr>
        <p:spPr>
          <a:xfrm>
            <a:off x="7924800" y="4978400"/>
            <a:ext cx="3670300" cy="1371600"/>
          </a:xfrm>
          <a:prstGeom prst="roundRect">
            <a:avLst>
              <a:gd name="adj" fmla="val 6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43" name="accent-number"/>
          <p:cNvSpPr txBox="1"/>
          <p:nvPr/>
        </p:nvSpPr>
        <p:spPr>
          <a:xfrm>
            <a:off x="8178800" y="5105400"/>
            <a:ext cx="1651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noProof="1">
                <a:solidFill>
                  <a:srgbClr val="FFFFFF"/>
                </a:solidFill>
                <a:latin typeface="Inter"/>
                <a:ea typeface="Inter"/>
              </a:rPr>
              <a:t>3–5×</a:t>
            </a:r>
            <a:endParaRPr lang="en-US" sz="2800" noProof="1"/>
          </a:p>
        </p:txBody>
      </p:sp>
      <p:sp>
        <p:nvSpPr>
          <p:cNvPr id="44" name="accent-text"/>
          <p:cNvSpPr txBox="1"/>
          <p:nvPr/>
        </p:nvSpPr>
        <p:spPr>
          <a:xfrm>
            <a:off x="8178800" y="5638800"/>
            <a:ext cx="31877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950" noProof="1">
                <a:solidFill>
                  <a:srgbClr val="FFFFFF"/>
                </a:solidFill>
                <a:latin typeface="Inter"/>
                <a:ea typeface="Inter"/>
              </a:rPr>
              <a:t>во столько раз программа без сопровождения работает хуже — поэтому сопровождение у нас часть программы, а не опция</a:t>
            </a:r>
            <a:endParaRPr lang="en-US" sz="950" noProof="1"/>
          </a:p>
        </p:txBody>
      </p:sp>
      <p:sp>
        <p:nvSpPr>
          <p:cNvPr id="45" name="footer-left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46" name="footer-page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31</a:t>
            </a:r>
            <a:endParaRPr lang="en-US" sz="850" noProof="1"/>
          </a:p>
        </p:txBody>
      </p:sp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C07ADE51-1F93-DD0C-F11B-72EC40B77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КЕЙСЫ КОРПОРАТИВНОГО ИИ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Знания, агенты, ассистенты — в работающих контурах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Кейсы из единого реестра ITQ: что строили, на чём и какой эффект зафиксирован.</a:t>
            </a:r>
            <a:endParaRPr lang="en-US" sz="125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1473200"/>
            <a:ext cx="5397500" cy="2260600"/>
          </a:xfrm>
          <a:prstGeom prst="roundRect">
            <a:avLst>
              <a:gd name="adj" fmla="val 45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TextBox 7"/>
          <p:cNvSpPr txBox="1"/>
          <p:nvPr/>
        </p:nvSpPr>
        <p:spPr>
          <a:xfrm>
            <a:off x="863600" y="1651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Солид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b="1" i="0" noProof="1">
                <a:solidFill>
                  <a:srgbClr val="1F9BA3"/>
                </a:solidFill>
                <a:latin typeface="Inter"/>
                <a:ea typeface="Inter"/>
              </a:rPr>
              <a:t>AI-ассистент корпоративных знаний (RAG)</a:t>
            </a:r>
            <a:endParaRPr lang="en-US" sz="1600" noProof="1"/>
          </a:p>
        </p:txBody>
      </p:sp>
      <p:sp>
        <p:nvSpPr>
          <p:cNvPr id="11" name="TextBox 8"/>
          <p:cNvSpPr txBox="1"/>
          <p:nvPr/>
        </p:nvSpPr>
        <p:spPr>
          <a:xfrm>
            <a:off x="863600" y="2184400"/>
            <a:ext cx="4889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Единый поиск по Confluence, GitLab, Jira и внутренней документации; ответы на естественном языке с точными ссылками на источники. Стек: LLM, RAG, FastAPI, pgvector, K8s.</a:t>
            </a:r>
            <a:endParaRPr lang="en-US" sz="1050" noProof="1"/>
          </a:p>
        </p:txBody>
      </p:sp>
      <p:sp>
        <p:nvSpPr>
          <p:cNvPr id="12" name="TextBox 9"/>
          <p:cNvSpPr txBox="1"/>
          <p:nvPr/>
        </p:nvSpPr>
        <p:spPr>
          <a:xfrm>
            <a:off x="863600" y="3276600"/>
            <a:ext cx="488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073E44"/>
                </a:solidFill>
                <a:latin typeface="Inter"/>
                <a:ea typeface="Inter"/>
              </a:rPr>
              <a:t>Эффект: поиск быстрее в 2–3 раза</a:t>
            </a: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, меньше зависимость от профильных специалистов</a:t>
            </a:r>
            <a:endParaRPr lang="en-US" sz="1600" noProof="1"/>
          </a:p>
        </p:txBody>
      </p:sp>
      <p:sp>
        <p:nvSpPr>
          <p:cNvPr id="13" name="Rounded Rectangle 10"/>
          <p:cNvSpPr/>
          <p:nvPr/>
        </p:nvSpPr>
        <p:spPr>
          <a:xfrm>
            <a:off x="6197600" y="1473200"/>
            <a:ext cx="5397500" cy="2260600"/>
          </a:xfrm>
          <a:prstGeom prst="roundRect">
            <a:avLst>
              <a:gd name="adj" fmla="val 45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4" name="TextBox 11"/>
          <p:cNvSpPr txBox="1"/>
          <p:nvPr/>
        </p:nvSpPr>
        <p:spPr>
          <a:xfrm>
            <a:off x="6451600" y="1651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МКБ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b="1" i="0" noProof="1">
                <a:solidFill>
                  <a:srgbClr val="1F9BA3"/>
                </a:solidFill>
                <a:latin typeface="Inter"/>
                <a:ea typeface="Inter"/>
              </a:rPr>
              <a:t>Интеллектуальный агент анализа падений тестов</a:t>
            </a:r>
            <a:endParaRPr lang="en-US" sz="1600" noProof="1"/>
          </a:p>
        </p:txBody>
      </p:sp>
      <p:sp>
        <p:nvSpPr>
          <p:cNvPr id="15" name="TextBox 12"/>
          <p:cNvSpPr txBox="1"/>
          <p:nvPr/>
        </p:nvSpPr>
        <p:spPr>
          <a:xfrm>
            <a:off x="6451600" y="2184400"/>
            <a:ext cx="4889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RAG по данным Allure и Jira: агент сам определяет вероятную причину падения автотеста и предлагает исправление с учётом истории дефектов и контекста проекта.</a:t>
            </a:r>
            <a:endParaRPr lang="en-US" sz="1050" noProof="1"/>
          </a:p>
        </p:txBody>
      </p:sp>
      <p:sp>
        <p:nvSpPr>
          <p:cNvPr id="16" name="TextBox 13"/>
          <p:cNvSpPr txBox="1"/>
          <p:nvPr/>
        </p:nvSpPr>
        <p:spPr>
          <a:xfrm>
            <a:off x="6451600" y="3276600"/>
            <a:ext cx="488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073E44"/>
                </a:solidFill>
                <a:latin typeface="Inter"/>
                <a:ea typeface="Inter"/>
              </a:rPr>
              <a:t>Эффект: −60–70% времени разбора падений</a:t>
            </a: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, разгрузка senior-инженеров</a:t>
            </a:r>
            <a:endParaRPr lang="en-US" sz="1600" noProof="1"/>
          </a:p>
        </p:txBody>
      </p:sp>
      <p:sp>
        <p:nvSpPr>
          <p:cNvPr id="17" name="Rounded Rectangle 14"/>
          <p:cNvSpPr/>
          <p:nvPr/>
        </p:nvSpPr>
        <p:spPr>
          <a:xfrm>
            <a:off x="609600" y="3886200"/>
            <a:ext cx="5397500" cy="2260600"/>
          </a:xfrm>
          <a:prstGeom prst="roundRect">
            <a:avLst>
              <a:gd name="adj" fmla="val 45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8" name="TextBox 15"/>
          <p:cNvSpPr txBox="1"/>
          <p:nvPr/>
        </p:nvSpPr>
        <p:spPr>
          <a:xfrm>
            <a:off x="863600" y="4064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МКБ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b="1" i="0" noProof="1">
                <a:solidFill>
                  <a:srgbClr val="1F9BA3"/>
                </a:solidFill>
                <a:latin typeface="Inter"/>
                <a:ea typeface="Inter"/>
              </a:rPr>
              <a:t>AI-ассистент performance review инженеров</a:t>
            </a:r>
            <a:endParaRPr lang="en-US" sz="1600" noProof="1"/>
          </a:p>
        </p:txBody>
      </p:sp>
      <p:sp>
        <p:nvSpPr>
          <p:cNvPr id="19" name="TextBox 16"/>
          <p:cNvSpPr txBox="1"/>
          <p:nvPr/>
        </p:nvSpPr>
        <p:spPr>
          <a:xfrm>
            <a:off x="863600" y="4597400"/>
            <a:ext cx="4889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Оценка инженерного вклада на основе данных GitLab и кодовой базы: LLM/RAG-анализ коммитов, merge request и активности — в поддержку HR- и engineering-процессов.</a:t>
            </a:r>
            <a:endParaRPr lang="en-US" sz="1050" noProof="1"/>
          </a:p>
        </p:txBody>
      </p:sp>
      <p:sp>
        <p:nvSpPr>
          <p:cNvPr id="20" name="TextBox 17"/>
          <p:cNvSpPr txBox="1"/>
          <p:nvPr/>
        </p:nvSpPr>
        <p:spPr>
          <a:xfrm>
            <a:off x="863600" y="5689600"/>
            <a:ext cx="488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073E44"/>
                </a:solidFill>
                <a:latin typeface="Inter"/>
                <a:ea typeface="Inter"/>
              </a:rPr>
              <a:t>Эффект: автоматизированный анализ вклада</a:t>
            </a: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 — объективная база для performance review</a:t>
            </a:r>
            <a:endParaRPr lang="en-US" sz="1600" noProof="1"/>
          </a:p>
        </p:txBody>
      </p:sp>
      <p:sp>
        <p:nvSpPr>
          <p:cNvPr id="21" name="Rounded Rectangle 18"/>
          <p:cNvSpPr/>
          <p:nvPr/>
        </p:nvSpPr>
        <p:spPr>
          <a:xfrm>
            <a:off x="6197600" y="3886200"/>
            <a:ext cx="5397500" cy="2260600"/>
          </a:xfrm>
          <a:prstGeom prst="roundRect">
            <a:avLst>
              <a:gd name="adj" fmla="val 45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2" name="TextBox 19"/>
          <p:cNvSpPr txBox="1"/>
          <p:nvPr/>
        </p:nvSpPr>
        <p:spPr>
          <a:xfrm>
            <a:off x="6451600" y="4064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ПАО МВС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b="1" i="0" noProof="1">
                <a:solidFill>
                  <a:srgbClr val="1F9BA3"/>
                </a:solidFill>
                <a:latin typeface="Inter"/>
                <a:ea typeface="Inter"/>
              </a:rPr>
              <a:t>Витрина взаимодействия с ИИ-моделями и агентами</a:t>
            </a:r>
            <a:endParaRPr lang="en-US" sz="1600" noProof="1"/>
          </a:p>
        </p:txBody>
      </p:sp>
      <p:sp>
        <p:nvSpPr>
          <p:cNvPr id="23" name="TextBox 20"/>
          <p:cNvSpPr txBox="1"/>
          <p:nvPr/>
        </p:nvSpPr>
        <p:spPr>
          <a:xfrm>
            <a:off x="6451600" y="4597400"/>
            <a:ext cx="4889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Пилотная витрина для демонстрации и взаимодействия с внутренними AI-моделями и агентами компании — инструмент привлечения новых абонентов.</a:t>
            </a:r>
            <a:endParaRPr lang="en-US" sz="1050" noProof="1"/>
          </a:p>
        </p:txBody>
      </p:sp>
      <p:sp>
        <p:nvSpPr>
          <p:cNvPr id="24" name="TextBox 21"/>
          <p:cNvSpPr txBox="1"/>
          <p:nvPr/>
        </p:nvSpPr>
        <p:spPr>
          <a:xfrm>
            <a:off x="6451600" y="5689600"/>
            <a:ext cx="488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073E44"/>
                </a:solidFill>
                <a:latin typeface="Inter"/>
                <a:ea typeface="Inter"/>
              </a:rPr>
              <a:t>Эффект: пилотный продукт создан</a:t>
            </a: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 и передан заказчику</a:t>
            </a:r>
            <a:endParaRPr lang="en-US" sz="1600" noProof="1"/>
          </a:p>
        </p:txBody>
      </p:sp>
      <p:sp>
        <p:nvSpPr>
          <p:cNvPr id="25" name="TextBox 22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26" name="TextBox 23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32</a:t>
            </a:r>
            <a:endParaRPr lang="en-US" sz="850" noProof="1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98E9D858-675A-7C83-9CB7-B8649D216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КЕЙСЫ КОРПОРАТИВНОГО ИИ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ИИ в инженерных процессах и на производстве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Внедряем ИИ не только в офисные сценарии — но и в CI/CD, безопасную разработку и промышленную среду.</a:t>
            </a:r>
            <a:endParaRPr lang="en-US" sz="125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1473200"/>
            <a:ext cx="5397500" cy="2260600"/>
          </a:xfrm>
          <a:prstGeom prst="roundRect">
            <a:avLst>
              <a:gd name="adj" fmla="val 45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TextBox 7"/>
          <p:cNvSpPr txBox="1"/>
          <p:nvPr/>
        </p:nvSpPr>
        <p:spPr>
          <a:xfrm>
            <a:off x="863600" y="1651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Московская Биржа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b="1" i="0" noProof="1">
                <a:solidFill>
                  <a:srgbClr val="1F9BA3"/>
                </a:solidFill>
                <a:latin typeface="Inter"/>
                <a:ea typeface="Inter"/>
              </a:rPr>
              <a:t>AI-код-ревью в CI/CD pipeline</a:t>
            </a:r>
            <a:endParaRPr lang="en-US" sz="1600" noProof="1"/>
          </a:p>
        </p:txBody>
      </p:sp>
      <p:sp>
        <p:nvSpPr>
          <p:cNvPr id="11" name="TextBox 8"/>
          <p:cNvSpPr txBox="1"/>
          <p:nvPr/>
        </p:nvSpPr>
        <p:spPr>
          <a:xfrm>
            <a:off x="863600" y="2184400"/>
            <a:ext cx="4889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Автоматический анализ merge request: замечания и рекомендации от LLM, история проверок, web-интерфейс, встраивание в контур GitLab CI.</a:t>
            </a:r>
            <a:endParaRPr lang="en-US" sz="1050" noProof="1"/>
          </a:p>
        </p:txBody>
      </p:sp>
      <p:sp>
        <p:nvSpPr>
          <p:cNvPr id="12" name="TextBox 9"/>
          <p:cNvSpPr txBox="1"/>
          <p:nvPr/>
        </p:nvSpPr>
        <p:spPr>
          <a:xfrm>
            <a:off x="863600" y="3276600"/>
            <a:ext cx="488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073E44"/>
                </a:solidFill>
                <a:latin typeface="Inter"/>
                <a:ea typeface="Inter"/>
              </a:rPr>
              <a:t>Эффект: code review быстрее на 30–50%</a:t>
            </a: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, меньше ручной нагрузки на инженеров</a:t>
            </a:r>
            <a:endParaRPr lang="en-US" sz="1600" noProof="1"/>
          </a:p>
        </p:txBody>
      </p:sp>
      <p:sp>
        <p:nvSpPr>
          <p:cNvPr id="13" name="Rounded Rectangle 10"/>
          <p:cNvSpPr/>
          <p:nvPr/>
        </p:nvSpPr>
        <p:spPr>
          <a:xfrm>
            <a:off x="6197600" y="1473200"/>
            <a:ext cx="5397500" cy="2260600"/>
          </a:xfrm>
          <a:prstGeom prst="roundRect">
            <a:avLst>
              <a:gd name="adj" fmla="val 45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4" name="TextBox 11"/>
          <p:cNvSpPr txBox="1"/>
          <p:nvPr/>
        </p:nvSpPr>
        <p:spPr>
          <a:xfrm>
            <a:off x="6451600" y="1651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Московская Биржа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b="1" i="0" noProof="1">
                <a:solidFill>
                  <a:srgbClr val="1F9BA3"/>
                </a:solidFill>
                <a:latin typeface="Inter"/>
                <a:ea typeface="Inter"/>
              </a:rPr>
              <a:t>AI-контроль зависимостей и безопасности</a:t>
            </a:r>
            <a:endParaRPr lang="en-US" sz="1600" noProof="1"/>
          </a:p>
        </p:txBody>
      </p:sp>
      <p:sp>
        <p:nvSpPr>
          <p:cNvPr id="15" name="TextBox 12"/>
          <p:cNvSpPr txBox="1"/>
          <p:nvPr/>
        </p:nvSpPr>
        <p:spPr>
          <a:xfrm>
            <a:off x="6451600" y="2184400"/>
            <a:ext cx="4889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Мониторинг актуальности зависимостей, AI-обновление библиотек с автоматической корректировкой кода, дашборд безопасности, интеграция в DevSecOps-контур.</a:t>
            </a:r>
            <a:endParaRPr lang="en-US" sz="1050" noProof="1"/>
          </a:p>
        </p:txBody>
      </p:sp>
      <p:sp>
        <p:nvSpPr>
          <p:cNvPr id="16" name="TextBox 13"/>
          <p:cNvSpPr txBox="1"/>
          <p:nvPr/>
        </p:nvSpPr>
        <p:spPr>
          <a:xfrm>
            <a:off x="6451600" y="3276600"/>
            <a:ext cx="488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073E44"/>
                </a:solidFill>
                <a:latin typeface="Inter"/>
                <a:ea typeface="Inter"/>
              </a:rPr>
              <a:t>Эффект: усиление secure SDLC</a:t>
            </a: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 — быстрая реакция на рискованные компоненты</a:t>
            </a:r>
            <a:endParaRPr lang="en-US" sz="1600" noProof="1"/>
          </a:p>
        </p:txBody>
      </p:sp>
      <p:sp>
        <p:nvSpPr>
          <p:cNvPr id="17" name="Rounded Rectangle 14"/>
          <p:cNvSpPr/>
          <p:nvPr/>
        </p:nvSpPr>
        <p:spPr>
          <a:xfrm>
            <a:off x="609600" y="3886200"/>
            <a:ext cx="5397500" cy="2260600"/>
          </a:xfrm>
          <a:prstGeom prst="roundRect">
            <a:avLst>
              <a:gd name="adj" fmla="val 45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8" name="TextBox 15"/>
          <p:cNvSpPr txBox="1"/>
          <p:nvPr/>
        </p:nvSpPr>
        <p:spPr>
          <a:xfrm>
            <a:off x="863600" y="4064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Axiom JDK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b="1" i="0" noProof="1">
                <a:solidFill>
                  <a:srgbClr val="1F9BA3"/>
                </a:solidFill>
                <a:latin typeface="Inter"/>
                <a:ea typeface="Inter"/>
              </a:rPr>
              <a:t>Генерация тестов через AI-агентов</a:t>
            </a:r>
            <a:endParaRPr lang="en-US" sz="1600" noProof="1"/>
          </a:p>
        </p:txBody>
      </p:sp>
      <p:sp>
        <p:nvSpPr>
          <p:cNvPr id="19" name="TextBox 16"/>
          <p:cNvSpPr txBox="1"/>
          <p:nvPr/>
        </p:nvSpPr>
        <p:spPr>
          <a:xfrm>
            <a:off x="863600" y="4597400"/>
            <a:ext cx="4889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Полностью автоматизированное решение по генерации тестов агентами: покрытие кодовой базы и отслеживание устаревания тестов без ручной работы.</a:t>
            </a:r>
            <a:endParaRPr lang="en-US" sz="1050" noProof="1"/>
          </a:p>
        </p:txBody>
      </p:sp>
      <p:sp>
        <p:nvSpPr>
          <p:cNvPr id="20" name="TextBox 17"/>
          <p:cNvSpPr txBox="1"/>
          <p:nvPr/>
        </p:nvSpPr>
        <p:spPr>
          <a:xfrm>
            <a:off x="863600" y="5689600"/>
            <a:ext cx="488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073E44"/>
                </a:solidFill>
                <a:latin typeface="Inter"/>
                <a:ea typeface="Inter"/>
              </a:rPr>
              <a:t>Эффект: до ~80% экономии усилий</a:t>
            </a: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 на проектах с существующим покрытием</a:t>
            </a:r>
            <a:endParaRPr lang="en-US" sz="1600" noProof="1"/>
          </a:p>
        </p:txBody>
      </p:sp>
      <p:sp>
        <p:nvSpPr>
          <p:cNvPr id="21" name="Rounded Rectangle 18"/>
          <p:cNvSpPr/>
          <p:nvPr/>
        </p:nvSpPr>
        <p:spPr>
          <a:xfrm>
            <a:off x="6197600" y="3886200"/>
            <a:ext cx="5397500" cy="2260600"/>
          </a:xfrm>
          <a:prstGeom prst="roundRect">
            <a:avLst>
              <a:gd name="adj" fmla="val 45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2" name="TextBox 19"/>
          <p:cNvSpPr txBox="1"/>
          <p:nvPr/>
        </p:nvSpPr>
        <p:spPr>
          <a:xfrm>
            <a:off x="6451600" y="4064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Газпромнефть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b="1" i="0" noProof="1">
                <a:solidFill>
                  <a:srgbClr val="1F9BA3"/>
                </a:solidFill>
                <a:latin typeface="Inter"/>
                <a:ea typeface="Inter"/>
              </a:rPr>
              <a:t>Система видеоаналитики (Computer Vision)</a:t>
            </a:r>
            <a:endParaRPr lang="en-US" sz="1600" noProof="1"/>
          </a:p>
        </p:txBody>
      </p:sp>
      <p:sp>
        <p:nvSpPr>
          <p:cNvPr id="23" name="TextBox 20"/>
          <p:cNvSpPr txBox="1"/>
          <p:nvPr/>
        </p:nvSpPr>
        <p:spPr>
          <a:xfrm>
            <a:off x="6451600" y="4597400"/>
            <a:ext cx="4889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Анализ видеопотока CV-моделями под производственные сценарии: разметка данных в CVAT, подготовка датасетов для развития моделей. Стек: Python, OpenCV.</a:t>
            </a:r>
            <a:endParaRPr lang="en-US" sz="1050" noProof="1"/>
          </a:p>
        </p:txBody>
      </p:sp>
      <p:sp>
        <p:nvSpPr>
          <p:cNvPr id="24" name="TextBox 21"/>
          <p:cNvSpPr txBox="1"/>
          <p:nvPr/>
        </p:nvSpPr>
        <p:spPr>
          <a:xfrm>
            <a:off x="6451600" y="5689600"/>
            <a:ext cx="488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073E44"/>
                </a:solidFill>
                <a:latin typeface="Inter"/>
                <a:ea typeface="Inter"/>
              </a:rPr>
              <a:t>Эффект: контур видеоаналитики в производстве</a:t>
            </a: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, база для масштабирования CV-сценариев</a:t>
            </a:r>
            <a:endParaRPr lang="en-US" sz="1600" noProof="1"/>
          </a:p>
        </p:txBody>
      </p:sp>
      <p:sp>
        <p:nvSpPr>
          <p:cNvPr id="25" name="TextBox 22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26" name="TextBox 23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33</a:t>
            </a:r>
            <a:endParaRPr lang="en-US" sz="850" noProof="1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FCA3CCD-0ED3-D372-E0B1-48A6B86E5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ФУНДАМЕНТ ДЛЯ ИИ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Данные и команды — на этом строится корпоративный ИИ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ИИ начинается с данных и людей: мы строим и то, и другое — от DWH до выделенных команд под ключ.</a:t>
            </a:r>
            <a:endParaRPr lang="en-US" sz="125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1473200"/>
            <a:ext cx="5397500" cy="2260600"/>
          </a:xfrm>
          <a:prstGeom prst="roundRect">
            <a:avLst>
              <a:gd name="adj" fmla="val 45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TextBox 7"/>
          <p:cNvSpPr txBox="1"/>
          <p:nvPr/>
        </p:nvSpPr>
        <p:spPr>
          <a:xfrm>
            <a:off x="863600" y="1651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ВТБ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b="1" i="0" noProof="1">
                <a:solidFill>
                  <a:srgbClr val="1F9BA3"/>
                </a:solidFill>
                <a:latin typeface="Inter"/>
                <a:ea typeface="Inter"/>
              </a:rPr>
              <a:t>Импортозамещение Data-платформы</a:t>
            </a:r>
            <a:endParaRPr lang="en-US" sz="1600" noProof="1"/>
          </a:p>
        </p:txBody>
      </p:sp>
      <p:sp>
        <p:nvSpPr>
          <p:cNvPr id="11" name="TextBox 8"/>
          <p:cNvSpPr txBox="1"/>
          <p:nvPr/>
        </p:nvSpPr>
        <p:spPr>
          <a:xfrm>
            <a:off x="863600" y="2184400"/>
            <a:ext cx="4889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Миграция DWH и Data Lake с Teradata/Cloudera на Arenadata, переход на Data Vault 2.0, корпоративный каталог данных и бизнес-глоссарий — фундамент для «диалога с данными».</a:t>
            </a:r>
            <a:endParaRPr lang="en-US" sz="1050" noProof="1"/>
          </a:p>
        </p:txBody>
      </p:sp>
      <p:sp>
        <p:nvSpPr>
          <p:cNvPr id="12" name="TextBox 9"/>
          <p:cNvSpPr txBox="1"/>
          <p:nvPr/>
        </p:nvSpPr>
        <p:spPr>
          <a:xfrm>
            <a:off x="863600" y="3276600"/>
            <a:ext cx="488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073E44"/>
                </a:solidFill>
                <a:latin typeface="Inter"/>
                <a:ea typeface="Inter"/>
              </a:rPr>
              <a:t>Эффект: бесшовный переход</a:t>
            </a: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 без остановки бизнес-процессов, гибкая архитектура</a:t>
            </a:r>
            <a:endParaRPr lang="en-US" sz="1600" noProof="1"/>
          </a:p>
        </p:txBody>
      </p:sp>
      <p:sp>
        <p:nvSpPr>
          <p:cNvPr id="13" name="Rounded Rectangle 10"/>
          <p:cNvSpPr/>
          <p:nvPr/>
        </p:nvSpPr>
        <p:spPr>
          <a:xfrm>
            <a:off x="6197600" y="1473200"/>
            <a:ext cx="5397500" cy="2260600"/>
          </a:xfrm>
          <a:prstGeom prst="roundRect">
            <a:avLst>
              <a:gd name="adj" fmla="val 45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4" name="TextBox 11"/>
          <p:cNvSpPr txBox="1"/>
          <p:nvPr/>
        </p:nvSpPr>
        <p:spPr>
          <a:xfrm>
            <a:off x="6451600" y="1651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Московская Биржа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b="1" i="0" noProof="1">
                <a:solidFill>
                  <a:srgbClr val="1F9BA3"/>
                </a:solidFill>
                <a:latin typeface="Inter"/>
                <a:ea typeface="Inter"/>
              </a:rPr>
              <a:t>Миграция с Oracle Exadata + Data Governance</a:t>
            </a:r>
            <a:endParaRPr lang="en-US" sz="1600" noProof="1"/>
          </a:p>
        </p:txBody>
      </p:sp>
      <p:sp>
        <p:nvSpPr>
          <p:cNvPr id="15" name="TextBox 12"/>
          <p:cNvSpPr txBox="1"/>
          <p:nvPr/>
        </p:nvSpPr>
        <p:spPr>
          <a:xfrm>
            <a:off x="6451600" y="2184400"/>
            <a:ext cx="4889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Полная миграция корпоративного DWH на открытое ПО, MDM на PostgreSQL, каталог данных EDC и бизнес-глоссарий, платформа продуктовой аналитики, CI/CD.</a:t>
            </a:r>
            <a:endParaRPr lang="en-US" sz="1050" noProof="1"/>
          </a:p>
        </p:txBody>
      </p:sp>
      <p:sp>
        <p:nvSpPr>
          <p:cNvPr id="16" name="TextBox 13"/>
          <p:cNvSpPr txBox="1"/>
          <p:nvPr/>
        </p:nvSpPr>
        <p:spPr>
          <a:xfrm>
            <a:off x="6451600" y="3276600"/>
            <a:ext cx="488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073E44"/>
                </a:solidFill>
                <a:latin typeface="Inter"/>
                <a:ea typeface="Inter"/>
              </a:rPr>
              <a:t>Эффект: ускорение time-to-market</a:t>
            </a: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, снятие зависимости от проприетарного стека</a:t>
            </a:r>
            <a:endParaRPr lang="en-US" sz="1600" noProof="1"/>
          </a:p>
        </p:txBody>
      </p:sp>
      <p:sp>
        <p:nvSpPr>
          <p:cNvPr id="17" name="Rounded Rectangle 14"/>
          <p:cNvSpPr/>
          <p:nvPr/>
        </p:nvSpPr>
        <p:spPr>
          <a:xfrm>
            <a:off x="609600" y="3886200"/>
            <a:ext cx="5397500" cy="2260600"/>
          </a:xfrm>
          <a:prstGeom prst="roundRect">
            <a:avLst>
              <a:gd name="adj" fmla="val 45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8" name="TextBox 15"/>
          <p:cNvSpPr txBox="1"/>
          <p:nvPr/>
        </p:nvSpPr>
        <p:spPr>
          <a:xfrm>
            <a:off x="863600" y="4064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МКБ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b="1" i="0" noProof="1">
                <a:solidFill>
                  <a:srgbClr val="1F9BA3"/>
                </a:solidFill>
                <a:latin typeface="Inter"/>
                <a:ea typeface="Inter"/>
              </a:rPr>
              <a:t>Развитие КХД: отчётность, риски, качество данных</a:t>
            </a:r>
            <a:endParaRPr lang="en-US" sz="1600" noProof="1"/>
          </a:p>
        </p:txBody>
      </p:sp>
      <p:sp>
        <p:nvSpPr>
          <p:cNvPr id="19" name="TextBox 16"/>
          <p:cNvSpPr txBox="1"/>
          <p:nvPr/>
        </p:nvSpPr>
        <p:spPr>
          <a:xfrm>
            <a:off x="863600" y="4597400"/>
            <a:ext cx="4889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Непрерывное развитие хранилища под требования ЦБ: ETL и витрины под новые формы, витрины по кредитным историям, интеграционный слой на Airflow.</a:t>
            </a:r>
            <a:endParaRPr lang="en-US" sz="1050" noProof="1"/>
          </a:p>
        </p:txBody>
      </p:sp>
      <p:sp>
        <p:nvSpPr>
          <p:cNvPr id="20" name="TextBox 17"/>
          <p:cNvSpPr txBox="1"/>
          <p:nvPr/>
        </p:nvSpPr>
        <p:spPr>
          <a:xfrm>
            <a:off x="863600" y="5689600"/>
            <a:ext cx="488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073E44"/>
                </a:solidFill>
                <a:latin typeface="Inter"/>
                <a:ea typeface="Inter"/>
              </a:rPr>
              <a:t>Эффект: 100% соответствие ЦБ РФ</a:t>
            </a: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, нулевые штрафные санкции, рост качества данных</a:t>
            </a:r>
            <a:endParaRPr lang="en-US" sz="1600" noProof="1"/>
          </a:p>
        </p:txBody>
      </p:sp>
      <p:sp>
        <p:nvSpPr>
          <p:cNvPr id="21" name="Rounded Rectangle 18"/>
          <p:cNvSpPr/>
          <p:nvPr/>
        </p:nvSpPr>
        <p:spPr>
          <a:xfrm>
            <a:off x="6197600" y="3886200"/>
            <a:ext cx="5397500" cy="2260600"/>
          </a:xfrm>
          <a:prstGeom prst="roundRect">
            <a:avLst>
              <a:gd name="adj" fmla="val 45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2" name="TextBox 19"/>
          <p:cNvSpPr txBox="1"/>
          <p:nvPr/>
        </p:nvSpPr>
        <p:spPr>
          <a:xfrm>
            <a:off x="6451600" y="4064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i="0" noProof="1">
                <a:solidFill>
                  <a:srgbClr val="073E44"/>
                </a:solidFill>
                <a:latin typeface="Inter"/>
                <a:ea typeface="Inter"/>
              </a:rPr>
              <a:t>МосБиржа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b="1" i="0" noProof="1">
                <a:solidFill>
                  <a:srgbClr val="1F9BA3"/>
                </a:solidFill>
                <a:latin typeface="Inter"/>
                <a:ea typeface="Inter"/>
              </a:rPr>
              <a:t>Выделенная команда «под ключ»</a:t>
            </a:r>
            <a:endParaRPr lang="en-US" sz="1600" noProof="1"/>
          </a:p>
        </p:txBody>
      </p:sp>
      <p:sp>
        <p:nvSpPr>
          <p:cNvPr id="23" name="TextBox 20"/>
          <p:cNvSpPr txBox="1"/>
          <p:nvPr/>
        </p:nvSpPr>
        <p:spPr>
          <a:xfrm>
            <a:off x="6451600" y="4597400"/>
            <a:ext cx="4889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Команда ITQ как автономная единица: доработка расчётных систем, личных кабинетов и интеграций. Стек: Java, PL/SQL, React, Camunda BPM, микросервисы.</a:t>
            </a:r>
            <a:endParaRPr lang="en-US" sz="1050" noProof="1"/>
          </a:p>
        </p:txBody>
      </p:sp>
      <p:sp>
        <p:nvSpPr>
          <p:cNvPr id="24" name="TextBox 21"/>
          <p:cNvSpPr txBox="1"/>
          <p:nvPr/>
        </p:nvSpPr>
        <p:spPr>
          <a:xfrm>
            <a:off x="6451600" y="5689600"/>
            <a:ext cx="488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noProof="1">
                <a:solidFill>
                  <a:srgbClr val="073E44"/>
                </a:solidFill>
                <a:latin typeface="Inter"/>
                <a:ea typeface="Inter"/>
              </a:rPr>
              <a:t>Эффект: 100+ задач выполнено</a:t>
            </a:r>
            <a:r>
              <a:rPr lang="en-US" sz="1000" i="0" noProof="1">
                <a:solidFill>
                  <a:srgbClr val="64767F"/>
                </a:solidFill>
                <a:latin typeface="Inter"/>
                <a:ea typeface="Inter"/>
              </a:rPr>
              <a:t> разного объёма и сложности — модель работы «внешнего офиса»</a:t>
            </a:r>
            <a:endParaRPr lang="en-US" sz="1600" noProof="1"/>
          </a:p>
        </p:txBody>
      </p:sp>
      <p:sp>
        <p:nvSpPr>
          <p:cNvPr id="25" name="TextBox 22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26" name="TextBox 23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34</a:t>
            </a:r>
            <a:endParaRPr lang="en-US" sz="850" noProof="1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47B510C1-56E9-743D-9D79-4332C851C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КАК НАЧАТЬ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Пилот на ваших данных — с оплатой по результату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Пилот строится на реальных процессах и интеграциях заказчика — и с самого начала становится частью будущего внедрения.</a:t>
            </a:r>
            <a:endParaRPr lang="en-US" sz="125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1498600"/>
            <a:ext cx="5397500" cy="3556000"/>
          </a:xfrm>
          <a:prstGeom prst="roundRect">
            <a:avLst>
              <a:gd name="adj" fmla="val 4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TextBox 7"/>
          <p:cNvSpPr txBox="1"/>
          <p:nvPr/>
        </p:nvSpPr>
        <p:spPr>
          <a:xfrm>
            <a:off x="889000" y="17272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i="0" noProof="1">
                <a:solidFill>
                  <a:srgbClr val="073E44"/>
                </a:solidFill>
                <a:latin typeface="Inter"/>
                <a:ea typeface="Inter"/>
              </a:rPr>
              <a:t>Пилот AI Guard — шлюз</a:t>
            </a:r>
            <a:endParaRPr lang="en-US" sz="1400" noProof="1"/>
          </a:p>
        </p:txBody>
      </p:sp>
      <p:sp>
        <p:nvSpPr>
          <p:cNvPr id="11" name="TextBox 8"/>
          <p:cNvSpPr txBox="1"/>
          <p:nvPr/>
        </p:nvSpPr>
        <p:spPr>
          <a:xfrm>
            <a:off x="889000" y="20574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50" b="1" i="0" noProof="1">
                <a:solidFill>
                  <a:srgbClr val="1F9BA3"/>
                </a:solidFill>
                <a:latin typeface="Inter"/>
                <a:ea typeface="Inter"/>
              </a:rPr>
              <a:t>Цель: проверить безопасный доступ к LLM на ваших данных</a:t>
            </a:r>
            <a:endParaRPr lang="en-US" sz="1050" noProof="1"/>
          </a:p>
        </p:txBody>
      </p:sp>
      <p:sp>
        <p:nvSpPr>
          <p:cNvPr id="12" name="TextBox 9"/>
          <p:cNvSpPr txBox="1"/>
          <p:nvPr/>
        </p:nvSpPr>
        <p:spPr>
          <a:xfrm>
            <a:off x="889000" y="2387600"/>
            <a:ext cx="4826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· Стенд с AI Guard в вашем контуре</a:t>
            </a:r>
            <a:endParaRPr lang="en-US" sz="1050" noProof="1"/>
          </a:p>
          <a:p>
            <a:pPr algn="l">
              <a:lnSpc>
                <a:spcPct val="15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· Проверка маскирования на реальных данных</a:t>
            </a:r>
            <a:endParaRPr lang="en-US" sz="1050" noProof="1"/>
          </a:p>
          <a:p>
            <a:pPr algn="l">
              <a:lnSpc>
                <a:spcPct val="15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· Подключение до 2 моделей</a:t>
            </a:r>
            <a:endParaRPr lang="en-US" sz="1050" noProof="1"/>
          </a:p>
          <a:p>
            <a:pPr algn="l">
              <a:lnSpc>
                <a:spcPct val="15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· До 15 пользователей в пилотной группе</a:t>
            </a:r>
            <a:endParaRPr lang="en-US" sz="1050" noProof="1"/>
          </a:p>
          <a:p>
            <a:pPr algn="l">
              <a:lnSpc>
                <a:spcPct val="15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· Журналирование и аудит</a:t>
            </a:r>
            <a:endParaRPr lang="en-US" sz="1050" noProof="1"/>
          </a:p>
          <a:p>
            <a:pPr algn="l">
              <a:lnSpc>
                <a:spcPct val="150000"/>
              </a:lnSpc>
            </a:pP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· Итоговый отчёт</a:t>
            </a:r>
            <a:endParaRPr lang="en-US" sz="1050" noProof="1"/>
          </a:p>
        </p:txBody>
      </p:sp>
      <p:sp>
        <p:nvSpPr>
          <p:cNvPr id="13" name="TextBox 10"/>
          <p:cNvSpPr txBox="1"/>
          <p:nvPr/>
        </p:nvSpPr>
        <p:spPr>
          <a:xfrm>
            <a:off x="889000" y="4267200"/>
            <a:ext cx="4826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900" b="1" i="0" noProof="1">
                <a:solidFill>
                  <a:srgbClr val="073E44"/>
                </a:solidFill>
                <a:latin typeface="Inter"/>
                <a:ea typeface="Inter"/>
              </a:rPr>
              <a:t>1 000 000 ₽</a:t>
            </a:r>
            <a:r>
              <a:rPr lang="en-US" sz="1100" i="0" noProof="1">
                <a:solidFill>
                  <a:srgbClr val="64767F"/>
                </a:solidFill>
                <a:latin typeface="Inter"/>
                <a:ea typeface="Inter"/>
              </a:rPr>
              <a:t>   · 4–6 недель · оплата по результату</a:t>
            </a:r>
            <a:endParaRPr lang="en-US" sz="1600" noProof="1"/>
          </a:p>
        </p:txBody>
      </p:sp>
      <p:sp>
        <p:nvSpPr>
          <p:cNvPr id="14" name="Rounded Rectangle 11"/>
          <p:cNvSpPr/>
          <p:nvPr/>
        </p:nvSpPr>
        <p:spPr>
          <a:xfrm>
            <a:off x="6197600" y="1498600"/>
            <a:ext cx="5397500" cy="3556000"/>
          </a:xfrm>
          <a:prstGeom prst="roundRect">
            <a:avLst>
              <a:gd name="adj" fmla="val 4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5" name="TextBox 12"/>
          <p:cNvSpPr txBox="1"/>
          <p:nvPr/>
        </p:nvSpPr>
        <p:spPr>
          <a:xfrm>
            <a:off x="6477000" y="17272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i="0" noProof="1">
                <a:solidFill>
                  <a:srgbClr val="FFFFFF"/>
                </a:solidFill>
                <a:latin typeface="Inter"/>
                <a:ea typeface="Inter"/>
              </a:rPr>
              <a:t>Пилот «Синапс» — платформа</a:t>
            </a:r>
            <a:endParaRPr lang="en-US" sz="1400" noProof="1"/>
          </a:p>
        </p:txBody>
      </p:sp>
      <p:sp>
        <p:nvSpPr>
          <p:cNvPr id="16" name="TextBox 13"/>
          <p:cNvSpPr txBox="1"/>
          <p:nvPr/>
        </p:nvSpPr>
        <p:spPr>
          <a:xfrm>
            <a:off x="6477000" y="20574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50" b="1" i="0" noProof="1">
                <a:solidFill>
                  <a:srgbClr val="4EC6C6"/>
                </a:solidFill>
                <a:latin typeface="Inter"/>
                <a:ea typeface="Inter"/>
              </a:rPr>
              <a:t>Цель: оценить платформу в действии — шлюз, данные, первый агент</a:t>
            </a:r>
            <a:endParaRPr lang="en-US" sz="1050" noProof="1"/>
          </a:p>
        </p:txBody>
      </p:sp>
      <p:sp>
        <p:nvSpPr>
          <p:cNvPr id="17" name="TextBox 14"/>
          <p:cNvSpPr txBox="1"/>
          <p:nvPr/>
        </p:nvSpPr>
        <p:spPr>
          <a:xfrm>
            <a:off x="6477000" y="2387600"/>
            <a:ext cx="4826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· Стенд с платформой «Синапс»</a:t>
            </a:r>
            <a:endParaRPr lang="en-US" sz="1050" noProof="1"/>
          </a:p>
          <a:p>
            <a:pPr algn="l">
              <a:lnSpc>
                <a:spcPct val="150000"/>
              </a:lnSpc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· AI Guard — маскирование и журналирование</a:t>
            </a:r>
            <a:endParaRPr lang="en-US" sz="1050" noProof="1"/>
          </a:p>
          <a:p>
            <a:pPr algn="l">
              <a:lnSpc>
                <a:spcPct val="150000"/>
              </a:lnSpc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· Подключение до 2 источников данных</a:t>
            </a:r>
            <a:endParaRPr lang="en-US" sz="1050" noProof="1"/>
          </a:p>
          <a:p>
            <a:pPr algn="l">
              <a:lnSpc>
                <a:spcPct val="150000"/>
              </a:lnSpc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· Настройка семантического слоя</a:t>
            </a:r>
            <a:endParaRPr lang="en-US" sz="1050" noProof="1"/>
          </a:p>
          <a:p>
            <a:pPr algn="l">
              <a:lnSpc>
                <a:spcPct val="150000"/>
              </a:lnSpc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· 1–2 рабочих сценария на ваших данных</a:t>
            </a:r>
            <a:endParaRPr lang="en-US" sz="1050" noProof="1"/>
          </a:p>
          <a:p>
            <a:pPr algn="l">
              <a:lnSpc>
                <a:spcPct val="150000"/>
              </a:lnSpc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· Итоговый отчёт + рекомендации</a:t>
            </a:r>
            <a:endParaRPr lang="en-US" sz="1050" noProof="1"/>
          </a:p>
        </p:txBody>
      </p:sp>
      <p:sp>
        <p:nvSpPr>
          <p:cNvPr id="18" name="TextBox 15"/>
          <p:cNvSpPr txBox="1"/>
          <p:nvPr/>
        </p:nvSpPr>
        <p:spPr>
          <a:xfrm>
            <a:off x="6477000" y="4267200"/>
            <a:ext cx="4826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900" b="1" i="0" noProof="1">
                <a:solidFill>
                  <a:srgbClr val="FFFFFF"/>
                </a:solidFill>
                <a:latin typeface="Inter"/>
                <a:ea typeface="Inter"/>
              </a:rPr>
              <a:t>1 500 000 ₽</a:t>
            </a:r>
            <a:r>
              <a:rPr lang="en-US" sz="1100" i="0" noProof="1">
                <a:solidFill>
                  <a:srgbClr val="B9D4D9"/>
                </a:solidFill>
                <a:latin typeface="Inter"/>
                <a:ea typeface="Inter"/>
              </a:rPr>
              <a:t>   · 6–8 недель · оплата по результату</a:t>
            </a:r>
            <a:endParaRPr lang="en-US" sz="1600" noProof="1"/>
          </a:p>
        </p:txBody>
      </p:sp>
      <p:sp>
        <p:nvSpPr>
          <p:cNvPr id="19" name="Rounded Rectangle 16"/>
          <p:cNvSpPr/>
          <p:nvPr/>
        </p:nvSpPr>
        <p:spPr>
          <a:xfrm>
            <a:off x="609600" y="5334000"/>
            <a:ext cx="10985500" cy="787400"/>
          </a:xfrm>
          <a:prstGeom prst="roundRect">
            <a:avLst>
              <a:gd name="adj" fmla="val 9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20" name="TextBox 17"/>
          <p:cNvSpPr txBox="1"/>
          <p:nvPr/>
        </p:nvSpPr>
        <p:spPr>
          <a:xfrm>
            <a:off x="914400" y="5435600"/>
            <a:ext cx="10414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100" b="1" i="0" noProof="1">
                <a:solidFill>
                  <a:srgbClr val="FFFFFF"/>
                </a:solidFill>
                <a:latin typeface="Inter"/>
                <a:ea typeface="Inter"/>
              </a:rPr>
              <a:t>Специальные условия:</a:t>
            </a:r>
            <a:r>
              <a:rPr lang="en-US" sz="1100" i="0" noProof="1">
                <a:solidFill>
                  <a:srgbClr val="FFFFFF"/>
                </a:solidFill>
                <a:latin typeface="Inter"/>
                <a:ea typeface="Inter"/>
              </a:rPr>
              <a:t> лицензия оплачивается только после успешного пилота · при переходе в промышленную эксплуатацию в течение 3 месяцев условия пилота учитываются при дальнейшем сотрудничестве · оба пилота можно провести последовательно: шлюз → платформа.</a:t>
            </a:r>
            <a:endParaRPr lang="en-US" sz="1100" noProof="1"/>
          </a:p>
        </p:txBody>
      </p:sp>
      <p:sp>
        <p:nvSpPr>
          <p:cNvPr id="21" name="TextBox 18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22" name="TextBox 19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35</a:t>
            </a:r>
            <a:endParaRPr lang="en-US" sz="850" noProof="1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75CDA04-9C63-BF01-3E38-1BD97FD73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ЛИЦЕНЗИРОВАНИЕ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Тарифы и условия — ориентир для бюджета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193800"/>
            <a:ext cx="5397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AI Guard — годовая подписка</a:t>
            </a:r>
            <a:endParaRPr lang="en-US" sz="1250" noProof="1"/>
          </a:p>
        </p:txBody>
      </p:sp>
      <p:graphicFrame>
        <p:nvGraphicFramePr>
          <p:cNvPr id="9" name="Table 6"/>
          <p:cNvGraphicFramePr>
            <a:graphicFrameLocks noGrp="1"/>
          </p:cNvGraphicFramePr>
          <p:nvPr/>
        </p:nvGraphicFramePr>
        <p:xfrm>
          <a:off x="609600" y="1498600"/>
          <a:ext cx="5397500" cy="1752600"/>
        </p:xfrm>
        <a:graphic>
          <a:graphicData uri="http://schemas.openxmlformats.org/drawingml/2006/table">
            <a:tbl>
              <a:tblPr/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73E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Базовый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73E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Расширенный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73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Лицензия (первый сервер)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100" b="1" noProof="1">
                          <a:solidFill>
                            <a:srgbClr val="1F9BA3"/>
                          </a:solidFill>
                          <a:latin typeface="Inter"/>
                          <a:ea typeface="Inter"/>
                        </a:rPr>
                        <a:t>по запросу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100" b="1" noProof="1">
                          <a:solidFill>
                            <a:srgbClr val="1F9BA3"/>
                          </a:solidFill>
                          <a:latin typeface="Inter"/>
                          <a:ea typeface="Inter"/>
                        </a:rPr>
                        <a:t>по запросу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Маскирование, RBAC, журнал, SSO, API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100" b="1" noProof="1">
                          <a:solidFill>
                            <a:srgbClr val="1F9BA3"/>
                          </a:solidFill>
                          <a:latin typeface="Inter"/>
                          <a:ea typeface="Inter"/>
                        </a:rPr>
                        <a:t>✓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✓ + расширенный аудит и работа с моделями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7"/>
          <p:cNvSpPr txBox="1"/>
          <p:nvPr/>
        </p:nvSpPr>
        <p:spPr>
          <a:xfrm>
            <a:off x="609600" y="3327400"/>
            <a:ext cx="5397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900" i="0" noProof="1">
                <a:solidFill>
                  <a:srgbClr val="64767F"/>
                </a:solidFill>
                <a:latin typeface="Inter"/>
                <a:ea typeface="Inter"/>
              </a:rPr>
              <a:t>Масштабирование и расширение функциональности — по запросу.</a:t>
            </a:r>
            <a:endParaRPr lang="en-US" sz="900" noProof="1"/>
          </a:p>
        </p:txBody>
      </p:sp>
      <p:sp>
        <p:nvSpPr>
          <p:cNvPr id="11" name="TextBox 8"/>
          <p:cNvSpPr txBox="1"/>
          <p:nvPr/>
        </p:nvSpPr>
        <p:spPr>
          <a:xfrm>
            <a:off x="609600" y="38354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50" b="1" i="0" noProof="1">
                <a:solidFill>
                  <a:srgbClr val="073E44"/>
                </a:solidFill>
                <a:latin typeface="Inter"/>
                <a:ea typeface="Inter"/>
              </a:rPr>
              <a:t>Платформа «Синапс» — годовая подписка</a:t>
            </a:r>
            <a:endParaRPr lang="en-US" sz="1250" noProof="1"/>
          </a:p>
        </p:txBody>
      </p:sp>
      <p:graphicFrame>
        <p:nvGraphicFramePr>
          <p:cNvPr id="12" name="Table 9"/>
          <p:cNvGraphicFramePr>
            <a:graphicFrameLocks noGrp="1"/>
          </p:cNvGraphicFramePr>
          <p:nvPr/>
        </p:nvGraphicFramePr>
        <p:xfrm>
          <a:off x="609600" y="4140200"/>
          <a:ext cx="7366000" cy="1930400"/>
        </p:xfrm>
        <a:graphic>
          <a:graphicData uri="http://schemas.openxmlformats.org/drawingml/2006/table">
            <a:tbl>
              <a:tblPr/>
              <a:tblGrid>
                <a:gridCol w="2062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051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73E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Базовый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73E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Средний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73E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Расширенный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73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Годовая лицензия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100" b="1" noProof="1">
                          <a:solidFill>
                            <a:srgbClr val="1F9BA3"/>
                          </a:solidFill>
                          <a:latin typeface="Inter"/>
                          <a:ea typeface="Inter"/>
                        </a:rPr>
                        <a:t>по запросу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100" b="1" noProof="1">
                          <a:solidFill>
                            <a:srgbClr val="1F9BA3"/>
                          </a:solidFill>
                          <a:latin typeface="Inter"/>
                          <a:ea typeface="Inter"/>
                        </a:rPr>
                        <a:t>по запросу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100" b="1" noProof="1">
                          <a:solidFill>
                            <a:srgbClr val="1F9BA3"/>
                          </a:solidFill>
                          <a:latin typeface="Inter"/>
                          <a:ea typeface="Inter"/>
                        </a:rPr>
                        <a:t>по запросу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Пользователей / источников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до 50 / 3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до 200 / 6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до 1 000 / 12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Агентская система, биллинг и квоты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доп.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агенты ✓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b="1" noProof="1">
                          <a:solidFill>
                            <a:srgbClr val="1F9BA3"/>
                          </a:solidFill>
                          <a:latin typeface="Inter"/>
                          <a:ea typeface="Inter"/>
                        </a:rPr>
                        <a:t>всё включено ✓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ounded Rectangle 10"/>
          <p:cNvSpPr/>
          <p:nvPr/>
        </p:nvSpPr>
        <p:spPr>
          <a:xfrm>
            <a:off x="8280400" y="1193800"/>
            <a:ext cx="3314700" cy="241300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4" name="TextBox 11"/>
          <p:cNvSpPr txBox="1"/>
          <p:nvPr/>
        </p:nvSpPr>
        <p:spPr>
          <a:xfrm>
            <a:off x="8509000" y="1371600"/>
            <a:ext cx="2857500" cy="208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Способы приобретения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50" i="0" noProof="1">
                <a:solidFill>
                  <a:srgbClr val="64767F"/>
                </a:solidFill>
                <a:latin typeface="Inter"/>
                <a:ea typeface="Inter"/>
              </a:rPr>
              <a:t>Подписка — оплата за год (OPEX)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50" i="0" noProof="1">
                <a:solidFill>
                  <a:srgbClr val="64767F"/>
                </a:solidFill>
                <a:latin typeface="Inter"/>
                <a:ea typeface="Inter"/>
              </a:rPr>
              <a:t>Бессрочная лицензия + сопровождение (CAPEX) — индивидуальный расчёт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50" i="0" noProof="1">
                <a:solidFill>
                  <a:srgbClr val="64767F"/>
                </a:solidFill>
                <a:latin typeface="Inter"/>
                <a:ea typeface="Inter"/>
              </a:rPr>
              <a:t>Лицензии — именные</a:t>
            </a:r>
            <a:endParaRPr lang="en-US" sz="1050" noProof="1"/>
          </a:p>
        </p:txBody>
      </p:sp>
      <p:sp>
        <p:nvSpPr>
          <p:cNvPr id="15" name="Rounded Rectangle 12"/>
          <p:cNvSpPr/>
          <p:nvPr/>
        </p:nvSpPr>
        <p:spPr>
          <a:xfrm>
            <a:off x="8280400" y="3759200"/>
            <a:ext cx="3314700" cy="2311400"/>
          </a:xfrm>
          <a:prstGeom prst="roundRect">
            <a:avLst>
              <a:gd name="adj" fmla="val 5000"/>
            </a:avLst>
          </a:prstGeom>
          <a:solidFill>
            <a:srgbClr val="073E44"/>
          </a:solidFill>
          <a:ln>
            <a:noFill/>
          </a:ln>
        </p:spPr>
      </p:sp>
      <p:sp>
        <p:nvSpPr>
          <p:cNvPr id="16" name="TextBox 13"/>
          <p:cNvSpPr txBox="1"/>
          <p:nvPr/>
        </p:nvSpPr>
        <p:spPr>
          <a:xfrm>
            <a:off x="8509000" y="3937000"/>
            <a:ext cx="2857500" cy="200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b="1" i="0" noProof="1">
                <a:solidFill>
                  <a:srgbClr val="FFFFFF"/>
                </a:solidFill>
                <a:latin typeface="Inter"/>
                <a:ea typeface="Inter"/>
              </a:rPr>
              <a:t>Сопровождение</a:t>
            </a: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 (рекомендовано)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Базовое — 15%/год: окно 9×5, реакция на следующий рабочий день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Расширенное — 20%/год: 8:00–20:00, реакция до 4 ч, приоритет, ревью</a:t>
            </a:r>
            <a:endParaRPr lang="en-US" sz="1050" noProof="1"/>
          </a:p>
        </p:txBody>
      </p:sp>
      <p:sp>
        <p:nvSpPr>
          <p:cNvPr id="17" name="TextBox 15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18" name="TextBox 16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36</a:t>
            </a:r>
            <a:endParaRPr lang="en-US" sz="850" noProof="1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301ACB1-489E-D988-96C4-21F33C559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ДЛЯ ИТ-КОМАНДЫ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Развёртывание и требования к инфраструктуре</a:t>
            </a:r>
            <a:endParaRPr lang="en-US" sz="2500" noProof="1"/>
          </a:p>
        </p:txBody>
      </p:sp>
      <p:graphicFrame>
        <p:nvGraphicFramePr>
          <p:cNvPr id="8" name="Table 5"/>
          <p:cNvGraphicFramePr>
            <a:graphicFrameLocks noGrp="1"/>
          </p:cNvGraphicFramePr>
          <p:nvPr/>
        </p:nvGraphicFramePr>
        <p:xfrm>
          <a:off x="609600" y="1219200"/>
          <a:ext cx="6858000" cy="3048001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Параметр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73E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Docker Compose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73E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Kubernetes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73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8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Назначение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Пилот, разработка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Production, нагрузка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8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Отказоустойчивость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Нет (single node)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Да (replication, HA/HPA)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8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Масштабирование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Ручное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Автоматическое (HPA/VPA)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8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Мониторинг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Prometheus + Grafana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Prometheus + Grafana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8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Обновление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Пересоздание контейнеров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Rolling update без остановки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Сложность ops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Низкая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Средняя / высокая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6"/>
          <p:cNvSpPr/>
          <p:nvPr/>
        </p:nvSpPr>
        <p:spPr>
          <a:xfrm>
            <a:off x="7772400" y="1219200"/>
            <a:ext cx="3822700" cy="14478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" name="TextBox 7"/>
          <p:cNvSpPr txBox="1"/>
          <p:nvPr/>
        </p:nvSpPr>
        <p:spPr>
          <a:xfrm>
            <a:off x="8001000" y="1371600"/>
            <a:ext cx="33655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Docker Compose (минимум)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050" i="0" noProof="1">
                <a:solidFill>
                  <a:srgbClr val="64767F"/>
                </a:solidFill>
                <a:latin typeface="Inter"/>
                <a:ea typeface="Inter"/>
              </a:rPr>
              <a:t>16 vCPU · 64 ГБ RAM · 100 ГБ SSD (ОС) + 500 ГБ (данные) · 1 Гбит/с</a:t>
            </a:r>
            <a:endParaRPr lang="en-US" sz="1050" noProof="1"/>
          </a:p>
        </p:txBody>
      </p:sp>
      <p:sp>
        <p:nvSpPr>
          <p:cNvPr id="11" name="Rounded Rectangle 8"/>
          <p:cNvSpPr/>
          <p:nvPr/>
        </p:nvSpPr>
        <p:spPr>
          <a:xfrm>
            <a:off x="7772400" y="2819400"/>
            <a:ext cx="3822700" cy="14478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2" name="TextBox 9"/>
          <p:cNvSpPr txBox="1"/>
          <p:nvPr/>
        </p:nvSpPr>
        <p:spPr>
          <a:xfrm>
            <a:off x="8001000" y="2971800"/>
            <a:ext cx="33655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Kubernetes (минимум)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050" i="0" noProof="1">
                <a:solidFill>
                  <a:srgbClr val="64767F"/>
                </a:solidFill>
                <a:latin typeface="Inter"/>
                <a:ea typeface="Inter"/>
              </a:rPr>
              <a:t>32 vCPU (кластер) · 64 ГБ RAM · 100 ГБ SSD/node + 1 ТБ (Ceph/PV) · Helm, K8s 1.26+, Deckhouse</a:t>
            </a:r>
            <a:endParaRPr lang="en-US" sz="1050" noProof="1"/>
          </a:p>
        </p:txBody>
      </p:sp>
      <p:sp>
        <p:nvSpPr>
          <p:cNvPr id="13" name="Rounded Rectangle 10"/>
          <p:cNvSpPr/>
          <p:nvPr/>
        </p:nvSpPr>
        <p:spPr>
          <a:xfrm>
            <a:off x="609600" y="4470400"/>
            <a:ext cx="10985500" cy="711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14" name="TextBox 11"/>
          <p:cNvSpPr txBox="1"/>
          <p:nvPr/>
        </p:nvSpPr>
        <p:spPr>
          <a:xfrm>
            <a:off x="914400" y="45720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050" b="1" i="0" noProof="1">
                <a:solidFill>
                  <a:srgbClr val="2E4149"/>
                </a:solidFill>
                <a:latin typeface="Inter"/>
                <a:ea typeface="Inter"/>
              </a:rPr>
              <a:t>Поддерживаемые ОС:</a:t>
            </a:r>
            <a:r>
              <a:rPr lang="en-US" sz="1050" i="0" noProof="1">
                <a:solidFill>
                  <a:srgbClr val="2E4149"/>
                </a:solidFill>
                <a:latin typeface="Inter"/>
                <a:ea typeface="Inter"/>
              </a:rPr>
              <a:t> Rocky Linux 8/9 · RHEL 8/9 · AltLinux P10/P11 · Ubuntu 22.04 LTS   |   Развёртывание — on-premise в контуре заказчика, изолированный режим (air-gap)</a:t>
            </a:r>
            <a:endParaRPr lang="en-US" sz="1050" noProof="1"/>
          </a:p>
        </p:txBody>
      </p:sp>
      <p:sp>
        <p:nvSpPr>
          <p:cNvPr id="15" name="Rounded Rectangle 12"/>
          <p:cNvSpPr/>
          <p:nvPr/>
        </p:nvSpPr>
        <p:spPr>
          <a:xfrm>
            <a:off x="609600" y="5384800"/>
            <a:ext cx="10985500" cy="787400"/>
          </a:xfrm>
          <a:prstGeom prst="roundRect">
            <a:avLst>
              <a:gd name="adj" fmla="val 9000"/>
            </a:avLst>
          </a:prstGeom>
          <a:solidFill>
            <a:srgbClr val="073E44"/>
          </a:solidFill>
          <a:ln>
            <a:noFill/>
          </a:ln>
        </p:spPr>
      </p:sp>
      <p:pic>
        <p:nvPicPr>
          <p:cNvPr id="16" name="Picture 13"/>
          <p:cNvPicPr/>
          <p:nvPr/>
        </p:nvPicPr>
        <p:blipFill>
          <a:blip r:embed="rId2"/>
          <a:stretch>
            <a:fillRect/>
          </a:stretch>
        </p:blipFill>
        <p:spPr>
          <a:xfrm>
            <a:off x="965200" y="5613400"/>
            <a:ext cx="330200" cy="330200"/>
          </a:xfrm>
          <a:prstGeom prst="rect">
            <a:avLst/>
          </a:prstGeom>
          <a:ln>
            <a:noFill/>
          </a:ln>
        </p:spPr>
      </p:pic>
      <p:sp>
        <p:nvSpPr>
          <p:cNvPr id="17" name="TextBox 14"/>
          <p:cNvSpPr txBox="1"/>
          <p:nvPr/>
        </p:nvSpPr>
        <p:spPr>
          <a:xfrm>
            <a:off x="1524000" y="5486400"/>
            <a:ext cx="9855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050" b="1" i="0" noProof="1">
                <a:solidFill>
                  <a:srgbClr val="FFFFFF"/>
                </a:solidFill>
                <a:latin typeface="Inter"/>
                <a:ea typeface="Inter"/>
              </a:rPr>
              <a:t>Guard rails из коробки:</a:t>
            </a: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 OAuth 2.0 + PKCE · построчная фильтрация (RLS) · SQL «только чтение» · карантин недоверенного контента · аудит LLM-сессий и SQL-запросов · выгрузка событий в SIEM · единая точка входа без исходящих в интернет</a:t>
            </a:r>
            <a:endParaRPr lang="en-US" sz="1050" noProof="1"/>
          </a:p>
        </p:txBody>
      </p:sp>
      <p:sp>
        <p:nvSpPr>
          <p:cNvPr id="18" name="TextBox 15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19" name="TextBox 16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37</a:t>
            </a:r>
            <a:endParaRPr lang="en-US" sz="850" noProof="1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3D559E9-2321-0998-58C1-D211F0EB8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-shape"/>
          <p:cNvSpPr/>
          <p:nvPr/>
        </p:nvSpPr>
        <p:spPr>
          <a:xfrm>
            <a:off x="10820400" y="355600"/>
            <a:ext cx="533400" cy="2540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3" name="Rounded Rectangle 1-text"/>
          <p:cNvSpPr txBox="1"/>
          <p:nvPr/>
        </p:nvSpPr>
        <p:spPr>
          <a:xfrm>
            <a:off x="10820400" y="355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040" noProof="1"/>
          </a:p>
        </p:txBody>
      </p:sp>
      <p:sp>
        <p:nvSpPr>
          <p:cNvPr id="4" name="Rounded Rectangle 2-shape"/>
          <p:cNvSpPr/>
          <p:nvPr/>
        </p:nvSpPr>
        <p:spPr>
          <a:xfrm>
            <a:off x="11384280" y="355600"/>
            <a:ext cx="647700" cy="254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ounded Rectangle 2-text"/>
          <p:cNvSpPr txBox="1"/>
          <p:nvPr/>
        </p:nvSpPr>
        <p:spPr>
          <a:xfrm>
            <a:off x="11384280" y="355600"/>
            <a:ext cx="6477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noProof="1">
                <a:solidFill>
                  <a:srgbClr val="073E44"/>
                </a:solidFill>
                <a:latin typeface="Inter"/>
                <a:ea typeface="Inter"/>
              </a:rPr>
              <a:t>group</a:t>
            </a:r>
            <a:endParaRPr lang="en-US" sz="920" noProof="1"/>
          </a:p>
        </p:txBody>
      </p:sp>
      <p:sp>
        <p:nvSpPr>
          <p:cNvPr id="6" name="TextBox 3"/>
          <p:cNvSpPr txBox="1"/>
          <p:nvPr/>
        </p:nvSpPr>
        <p:spPr>
          <a:xfrm>
            <a:off x="6096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i="0" kern="0" spc="300" noProof="1">
                <a:solidFill>
                  <a:srgbClr val="1F9BA3"/>
                </a:solidFill>
                <a:latin typeface="Inter"/>
                <a:ea typeface="Inter"/>
              </a:rPr>
              <a:t>ДЛЯ ИТ-КОМАНДЫ</a:t>
            </a:r>
            <a:endParaRPr lang="en-US" sz="110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6096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2500" b="1" i="0" noProof="1">
                <a:solidFill>
                  <a:srgbClr val="073E44"/>
                </a:solidFill>
                <a:latin typeface="Inter"/>
                <a:ea typeface="Inter"/>
              </a:rPr>
              <a:t>Инфраструктура для пилота: реальные цифры</a:t>
            </a:r>
            <a:endParaRPr lang="en-US" sz="250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066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50" i="0" noProof="1">
                <a:solidFill>
                  <a:srgbClr val="64767F"/>
                </a:solidFill>
                <a:latin typeface="Inter"/>
                <a:ea typeface="Inter"/>
              </a:rPr>
              <a:t>Стартовая конфигурация для пилота на 10–20 одновременных пользователей. Промышленные варианты — на отдельном слайде.</a:t>
            </a:r>
            <a:endParaRPr lang="en-US" sz="1250" noProof="1"/>
          </a:p>
        </p:txBody>
      </p:sp>
      <p:graphicFrame>
        <p:nvGraphicFramePr>
          <p:cNvPr id="9" name="Table 6"/>
          <p:cNvGraphicFramePr>
            <a:graphicFrameLocks noGrp="1"/>
          </p:cNvGraphicFramePr>
          <p:nvPr/>
        </p:nvGraphicFramePr>
        <p:xfrm>
          <a:off x="609600" y="1524000"/>
          <a:ext cx="10985500" cy="3200400"/>
        </p:xfrm>
        <a:graphic>
          <a:graphicData uri="http://schemas.openxmlformats.org/drawingml/2006/table">
            <a:tbl>
              <a:tblPr/>
              <a:tblGrid>
                <a:gridCol w="351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0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Параметр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73E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5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Рекомендация для пилота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73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Одновременные сессии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10–20 пользователей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Видеопамять GPU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80–160 ГБ суммарно (2× NVIDIA A100 или аналоги)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Модели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Open-source, ~30 млрд параметров, контекст ~200K токенов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Скорость отклика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~20 токенов/сек — комфортная работа без ожидания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CPU / RAM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Серверные мощности для платформы и BERT-моделей фильтрации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b="1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Срок развёртывания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000" noProof="1">
                          <a:solidFill>
                            <a:srgbClr val="2E4149"/>
                          </a:solidFill>
                          <a:latin typeface="Inter"/>
                          <a:ea typeface="Inter"/>
                        </a:rPr>
                        <a:t>~1 месяц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7"/>
          <p:cNvSpPr/>
          <p:nvPr/>
        </p:nvSpPr>
        <p:spPr>
          <a:xfrm>
            <a:off x="609600" y="5029200"/>
            <a:ext cx="10985500" cy="1041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11" name="TextBox 8"/>
          <p:cNvSpPr txBox="1"/>
          <p:nvPr/>
        </p:nvSpPr>
        <p:spPr>
          <a:xfrm>
            <a:off x="914400" y="5130800"/>
            <a:ext cx="10414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100" b="1" i="0" noProof="1">
                <a:solidFill>
                  <a:srgbClr val="2E4149"/>
                </a:solidFill>
                <a:latin typeface="Inter"/>
                <a:ea typeface="Inter"/>
              </a:rPr>
              <a:t>Два пути старта:</a:t>
            </a:r>
            <a:r>
              <a:rPr lang="en-US" sz="1100" i="0" noProof="1">
                <a:solidFill>
                  <a:srgbClr val="2E4149"/>
                </a:solidFill>
                <a:latin typeface="Inter"/>
                <a:ea typeface="Inter"/>
              </a:rPr>
              <a:t> гибридный (облачные модели + шлюз с маскированием — минимальные затраты, быстрый старт) и полностью локальный (собственные GPU — полный контроль, выше начальная инвестиция). Для масштабирования на 100+ пользователей требуется отдельный расчёт.</a:t>
            </a:r>
            <a:endParaRPr lang="en-US" sz="1100" noProof="1"/>
          </a:p>
        </p:txBody>
      </p:sp>
      <p:sp>
        <p:nvSpPr>
          <p:cNvPr id="12" name="TextBox 9"/>
          <p:cNvSpPr txBox="1"/>
          <p:nvPr/>
        </p:nvSpPr>
        <p:spPr>
          <a:xfrm>
            <a:off x="609600" y="6578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ITQ Group · Корпоративный ИИ под ключ</a:t>
            </a:r>
            <a:endParaRPr lang="en-US" sz="850" noProof="1"/>
          </a:p>
        </p:txBody>
      </p:sp>
      <p:sp>
        <p:nvSpPr>
          <p:cNvPr id="13" name="TextBox 10"/>
          <p:cNvSpPr txBox="1"/>
          <p:nvPr/>
        </p:nvSpPr>
        <p:spPr>
          <a:xfrm>
            <a:off x="11176000" y="6578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38</a:t>
            </a:r>
            <a:endParaRPr lang="en-US" sz="850" noProof="1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0153BA8-9C5D-5ED5-1DA2-043D3E417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355" y="228600"/>
            <a:ext cx="128489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2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Rounded Rectangle 2-shape"/>
          <p:cNvSpPr/>
          <p:nvPr/>
        </p:nvSpPr>
        <p:spPr>
          <a:xfrm>
            <a:off x="609600" y="457200"/>
            <a:ext cx="666750" cy="317500"/>
          </a:xfrm>
          <a:prstGeom prst="roundRect">
            <a:avLst>
              <a:gd name="adj" fmla="val 28000"/>
            </a:avLst>
          </a:prstGeom>
          <a:solidFill>
            <a:srgbClr val="16ABA8"/>
          </a:solidFill>
          <a:ln>
            <a:noFill/>
          </a:ln>
        </p:spPr>
      </p:sp>
      <p:sp>
        <p:nvSpPr>
          <p:cNvPr id="4" name="Rounded Rectangle 2-text"/>
          <p:cNvSpPr txBox="1"/>
          <p:nvPr/>
        </p:nvSpPr>
        <p:spPr>
          <a:xfrm>
            <a:off x="609600" y="457200"/>
            <a:ext cx="66675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Inter"/>
                <a:ea typeface="Inter"/>
              </a:rPr>
              <a:t>&gt; ITQ</a:t>
            </a:r>
            <a:endParaRPr lang="en-US" sz="1300" noProof="1"/>
          </a:p>
        </p:txBody>
      </p:sp>
      <p:sp>
        <p:nvSpPr>
          <p:cNvPr id="5" name="Rounded Rectangle 3-shape"/>
          <p:cNvSpPr/>
          <p:nvPr/>
        </p:nvSpPr>
        <p:spPr>
          <a:xfrm>
            <a:off x="584288" y="465227"/>
            <a:ext cx="808990" cy="3175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" name="Rounded Rectangle 3-text"/>
          <p:cNvSpPr txBox="1"/>
          <p:nvPr/>
        </p:nvSpPr>
        <p:spPr>
          <a:xfrm>
            <a:off x="486410" y="491226"/>
            <a:ext cx="80899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>
                <a:solidFill>
                  <a:srgbClr val="0C323D"/>
                </a:solidFill>
                <a:latin typeface="Inter"/>
                <a:ea typeface="Inter"/>
              </a:rPr>
              <a:t>group</a:t>
            </a:r>
            <a:endParaRPr lang="en-US" sz="1150" noProof="1"/>
          </a:p>
        </p:txBody>
      </p:sp>
      <p:sp>
        <p:nvSpPr>
          <p:cNvPr id="7" name="TextBox 4"/>
          <p:cNvSpPr txBox="1"/>
          <p:nvPr/>
        </p:nvSpPr>
        <p:spPr>
          <a:xfrm>
            <a:off x="609600" y="1219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i="0" kern="0" spc="300" noProof="1">
                <a:solidFill>
                  <a:srgbClr val="4EC6C6"/>
                </a:solidFill>
                <a:latin typeface="Inter"/>
                <a:ea typeface="Inter"/>
              </a:rPr>
              <a:t>СЛЕДУЮЩИЙ ШАГ</a:t>
            </a:r>
            <a:endParaRPr lang="en-US" sz="1150" noProof="1"/>
          </a:p>
        </p:txBody>
      </p:sp>
      <p:sp>
        <p:nvSpPr>
          <p:cNvPr id="8" name="TextBox 5"/>
          <p:cNvSpPr txBox="1"/>
          <p:nvPr/>
        </p:nvSpPr>
        <p:spPr>
          <a:xfrm>
            <a:off x="609600" y="1524000"/>
            <a:ext cx="7874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i="0" noProof="1">
                <a:solidFill>
                  <a:srgbClr val="FFFFFF"/>
                </a:solidFill>
                <a:latin typeface="Inter"/>
                <a:ea typeface="Inter"/>
              </a:rPr>
              <a:t>Экспертная встреча — 1–1,5 часа</a:t>
            </a:r>
            <a:endParaRPr lang="en-US" sz="3000" noProof="1"/>
          </a:p>
        </p:txBody>
      </p:sp>
      <p:sp>
        <p:nvSpPr>
          <p:cNvPr id="9" name="Rounded Rectangle 6"/>
          <p:cNvSpPr/>
          <p:nvPr/>
        </p:nvSpPr>
        <p:spPr>
          <a:xfrm>
            <a:off x="609600" y="2362200"/>
            <a:ext cx="2628900" cy="1219200"/>
          </a:xfrm>
          <a:prstGeom prst="roundRect">
            <a:avLst>
              <a:gd name="adj" fmla="val 8000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</p:sp>
      <p:sp>
        <p:nvSpPr>
          <p:cNvPr id="10" name="TextBox 7"/>
          <p:cNvSpPr txBox="1"/>
          <p:nvPr/>
        </p:nvSpPr>
        <p:spPr>
          <a:xfrm>
            <a:off x="787400" y="2514600"/>
            <a:ext cx="2286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b="1" i="0" noProof="1">
                <a:solidFill>
                  <a:srgbClr val="FFFFFF"/>
                </a:solidFill>
                <a:latin typeface="Inter"/>
                <a:ea typeface="Inter"/>
              </a:rPr>
              <a:t>Демонстрация</a:t>
            </a:r>
            <a:endParaRPr lang="en-US" sz="1050" noProof="1"/>
          </a:p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платформы на живом стенде</a:t>
            </a:r>
            <a:endParaRPr lang="en-US" sz="1050" noProof="1"/>
          </a:p>
        </p:txBody>
      </p:sp>
      <p:sp>
        <p:nvSpPr>
          <p:cNvPr id="11" name="Rounded Rectangle 8"/>
          <p:cNvSpPr/>
          <p:nvPr/>
        </p:nvSpPr>
        <p:spPr>
          <a:xfrm>
            <a:off x="3390900" y="2362200"/>
            <a:ext cx="2628900" cy="1219200"/>
          </a:xfrm>
          <a:prstGeom prst="roundRect">
            <a:avLst>
              <a:gd name="adj" fmla="val 8000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</p:sp>
      <p:sp>
        <p:nvSpPr>
          <p:cNvPr id="12" name="TextBox 9"/>
          <p:cNvSpPr txBox="1"/>
          <p:nvPr/>
        </p:nvSpPr>
        <p:spPr>
          <a:xfrm>
            <a:off x="3568700" y="2514600"/>
            <a:ext cx="2286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b="1" i="0" noProof="1">
                <a:solidFill>
                  <a:srgbClr val="FFFFFF"/>
                </a:solidFill>
                <a:latin typeface="Inter"/>
                <a:ea typeface="Inter"/>
              </a:rPr>
              <a:t>Разбор задач</a:t>
            </a:r>
            <a:endParaRPr lang="en-US" sz="1050" noProof="1"/>
          </a:p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вашей компании с экспертами продукта и внедрения</a:t>
            </a:r>
            <a:endParaRPr lang="en-US" sz="1050" noProof="1"/>
          </a:p>
        </p:txBody>
      </p:sp>
      <p:sp>
        <p:nvSpPr>
          <p:cNvPr id="13" name="Rounded Rectangle 10"/>
          <p:cNvSpPr/>
          <p:nvPr/>
        </p:nvSpPr>
        <p:spPr>
          <a:xfrm>
            <a:off x="6172200" y="2362200"/>
            <a:ext cx="2628900" cy="1219200"/>
          </a:xfrm>
          <a:prstGeom prst="roundRect">
            <a:avLst>
              <a:gd name="adj" fmla="val 8000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</p:sp>
      <p:sp>
        <p:nvSpPr>
          <p:cNvPr id="14" name="TextBox 11"/>
          <p:cNvSpPr txBox="1"/>
          <p:nvPr/>
        </p:nvSpPr>
        <p:spPr>
          <a:xfrm>
            <a:off x="6350000" y="2514600"/>
            <a:ext cx="2286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b="1" i="0" noProof="1">
                <a:solidFill>
                  <a:srgbClr val="FFFFFF"/>
                </a:solidFill>
                <a:latin typeface="Inter"/>
                <a:ea typeface="Inter"/>
              </a:rPr>
              <a:t>Состав пилота</a:t>
            </a:r>
            <a:endParaRPr lang="en-US" sz="1050" noProof="1"/>
          </a:p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процессы, данные, критерии результата</a:t>
            </a:r>
            <a:endParaRPr lang="en-US" sz="1050" noProof="1"/>
          </a:p>
        </p:txBody>
      </p:sp>
      <p:sp>
        <p:nvSpPr>
          <p:cNvPr id="15" name="Rounded Rectangle 12"/>
          <p:cNvSpPr/>
          <p:nvPr/>
        </p:nvSpPr>
        <p:spPr>
          <a:xfrm>
            <a:off x="8953500" y="2362200"/>
            <a:ext cx="2641600" cy="1219200"/>
          </a:xfrm>
          <a:prstGeom prst="roundRect">
            <a:avLst>
              <a:gd name="adj" fmla="val 8000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</p:sp>
      <p:sp>
        <p:nvSpPr>
          <p:cNvPr id="16" name="TextBox 13"/>
          <p:cNvSpPr txBox="1"/>
          <p:nvPr/>
        </p:nvSpPr>
        <p:spPr>
          <a:xfrm>
            <a:off x="9131300" y="2514600"/>
            <a:ext cx="2286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b="1" i="0" noProof="1">
                <a:solidFill>
                  <a:srgbClr val="FFFFFF"/>
                </a:solidFill>
                <a:latin typeface="Inter"/>
                <a:ea typeface="Inter"/>
              </a:rPr>
              <a:t>Предметное КП</a:t>
            </a:r>
            <a:endParaRPr lang="en-US" sz="1050" noProof="1"/>
          </a:p>
          <a:p>
            <a:pPr algn="l">
              <a:lnSpc>
                <a:spcPct val="140000"/>
              </a:lnSpc>
            </a:pPr>
            <a:r>
              <a:rPr lang="en-US" sz="1050" i="0" noProof="1">
                <a:solidFill>
                  <a:srgbClr val="D8E9EC"/>
                </a:solidFill>
                <a:latin typeface="Inter"/>
                <a:ea typeface="Inter"/>
              </a:rPr>
              <a:t>под вашу конфигурацию — и решение о старте</a:t>
            </a:r>
            <a:endParaRPr lang="en-US" sz="1050" noProof="1"/>
          </a:p>
        </p:txBody>
      </p:sp>
      <p:sp>
        <p:nvSpPr>
          <p:cNvPr id="17" name="Contacts Card"/>
          <p:cNvSpPr/>
          <p:nvPr/>
        </p:nvSpPr>
        <p:spPr>
          <a:xfrm>
            <a:off x="609600" y="3962400"/>
            <a:ext cx="4724400" cy="2133600"/>
          </a:xfrm>
          <a:prstGeom prst="roundRect">
            <a:avLst>
              <a:gd name="adj" fmla="val 5000"/>
            </a:avLst>
          </a:prstGeom>
          <a:solidFill>
            <a:srgbClr val="1F9BA3"/>
          </a:solidFill>
          <a:ln>
            <a:noFill/>
          </a:ln>
        </p:spPr>
      </p:sp>
      <p:sp>
        <p:nvSpPr>
          <p:cNvPr id="18" name="Contacts Title"/>
          <p:cNvSpPr txBox="1"/>
          <p:nvPr/>
        </p:nvSpPr>
        <p:spPr>
          <a:xfrm>
            <a:off x="914400" y="4140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i="0" kern="0" spc="200" noProof="1">
                <a:solidFill>
                  <a:srgbClr val="FFFFFF"/>
                </a:solidFill>
                <a:latin typeface="Inter"/>
                <a:ea typeface="Inter"/>
              </a:rPr>
              <a:t>КОНТАКТЫ</a:t>
            </a:r>
            <a:endParaRPr lang="en-US" sz="1500" noProof="1"/>
          </a:p>
        </p:txBody>
      </p:sp>
      <p:sp>
        <p:nvSpPr>
          <p:cNvPr id="19" name="Contacts Email Label"/>
          <p:cNvSpPr txBox="1"/>
          <p:nvPr/>
        </p:nvSpPr>
        <p:spPr>
          <a:xfrm>
            <a:off x="914400" y="44958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00" b="1" i="0" kern="0" spc="200" noProof="1">
                <a:solidFill>
                  <a:srgbClr val="D8E9EC"/>
                </a:solidFill>
                <a:latin typeface="Inter"/>
                <a:ea typeface="Inter"/>
              </a:rPr>
              <a:t>EMAIL</a:t>
            </a:r>
            <a:endParaRPr lang="en-US" sz="900" noProof="1"/>
          </a:p>
        </p:txBody>
      </p:sp>
      <p:sp>
        <p:nvSpPr>
          <p:cNvPr id="20" name="Contacts Email Value"/>
          <p:cNvSpPr txBox="1"/>
          <p:nvPr/>
        </p:nvSpPr>
        <p:spPr>
          <a:xfrm>
            <a:off x="914400" y="46736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i="0" noProof="1">
                <a:solidFill>
                  <a:srgbClr val="FFFFFF"/>
                </a:solidFill>
                <a:latin typeface="Inter"/>
                <a:ea typeface="Inter"/>
              </a:rPr>
              <a:t>info@itq-group.com</a:t>
            </a:r>
            <a:endParaRPr lang="en-US" sz="1200" noProof="1"/>
          </a:p>
        </p:txBody>
      </p:sp>
      <p:sp>
        <p:nvSpPr>
          <p:cNvPr id="21" name="Contacts Phone Label"/>
          <p:cNvSpPr txBox="1"/>
          <p:nvPr/>
        </p:nvSpPr>
        <p:spPr>
          <a:xfrm>
            <a:off x="914400" y="49784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00" b="1" i="0" kern="0" spc="200" noProof="1">
                <a:solidFill>
                  <a:srgbClr val="D8E9EC"/>
                </a:solidFill>
                <a:latin typeface="Inter"/>
                <a:ea typeface="Inter"/>
              </a:rPr>
              <a:t>ТЕЛЕФОН</a:t>
            </a:r>
            <a:endParaRPr lang="en-US" sz="900" noProof="1"/>
          </a:p>
        </p:txBody>
      </p:sp>
      <p:sp>
        <p:nvSpPr>
          <p:cNvPr id="22" name="Contacts Phone Value"/>
          <p:cNvSpPr txBox="1"/>
          <p:nvPr/>
        </p:nvSpPr>
        <p:spPr>
          <a:xfrm>
            <a:off x="914400" y="51562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i="0" noProof="1">
                <a:solidFill>
                  <a:srgbClr val="FFFFFF"/>
                </a:solidFill>
                <a:latin typeface="Inter"/>
                <a:ea typeface="Inter"/>
              </a:rPr>
              <a:t>+7 (499) 990-01-24</a:t>
            </a:r>
            <a:endParaRPr lang="en-US" sz="1200" noProof="1"/>
          </a:p>
        </p:txBody>
      </p:sp>
      <p:sp>
        <p:nvSpPr>
          <p:cNvPr id="23" name="Contacts Site Label"/>
          <p:cNvSpPr txBox="1"/>
          <p:nvPr/>
        </p:nvSpPr>
        <p:spPr>
          <a:xfrm>
            <a:off x="914400" y="54610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00" b="1" i="0" kern="0" spc="200" noProof="1">
                <a:solidFill>
                  <a:srgbClr val="D8E9EC"/>
                </a:solidFill>
                <a:latin typeface="Inter"/>
                <a:ea typeface="Inter"/>
              </a:rPr>
              <a:t>САЙТ</a:t>
            </a:r>
            <a:endParaRPr lang="en-US" sz="900" noProof="1"/>
          </a:p>
        </p:txBody>
      </p:sp>
      <p:sp>
        <p:nvSpPr>
          <p:cNvPr id="24" name="Contacts Site Value"/>
          <p:cNvSpPr txBox="1"/>
          <p:nvPr/>
        </p:nvSpPr>
        <p:spPr>
          <a:xfrm>
            <a:off x="914400" y="56388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i="0" noProof="1">
                <a:solidFill>
                  <a:srgbClr val="FFFFFF"/>
                </a:solidFill>
                <a:latin typeface="Inter"/>
                <a:ea typeface="Inter"/>
              </a:rPr>
              <a:t>itq-group.com</a:t>
            </a:r>
            <a:endParaRPr lang="en-US" sz="1200" noProof="1"/>
          </a:p>
        </p:txBody>
      </p:sp>
      <p:sp>
        <p:nvSpPr>
          <p:cNvPr id="36" name="QR Card"/>
          <p:cNvSpPr/>
          <p:nvPr/>
        </p:nvSpPr>
        <p:spPr>
          <a:xfrm>
            <a:off x="3155950" y="3962400"/>
            <a:ext cx="2171700" cy="213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37" name="QR Image"/>
          <p:cNvPicPr/>
          <p:nvPr/>
        </p:nvPicPr>
        <p:blipFill>
          <a:blip r:embed="rId3"/>
          <a:stretch>
            <a:fillRect/>
          </a:stretch>
        </p:blipFill>
        <p:spPr>
          <a:xfrm>
            <a:off x="3667125" y="4368800"/>
            <a:ext cx="1562100" cy="1168400"/>
          </a:xfrm>
          <a:prstGeom prst="rect">
            <a:avLst/>
          </a:prstGeom>
          <a:ln>
            <a:noFill/>
          </a:ln>
        </p:spPr>
      </p:pic>
      <p:sp>
        <p:nvSpPr>
          <p:cNvPr id="38" name="QR Caption"/>
          <p:cNvSpPr txBox="1"/>
          <p:nvPr/>
        </p:nvSpPr>
        <p:spPr>
          <a:xfrm>
            <a:off x="3308350" y="5626100"/>
            <a:ext cx="20193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5000"/>
              </a:lnSpc>
            </a:pPr>
            <a:r>
              <a:rPr lang="en-US" sz="950" b="1" i="0" noProof="1">
                <a:solidFill>
                  <a:srgbClr val="2E4149"/>
                </a:solidFill>
                <a:latin typeface="Inter"/>
                <a:ea typeface="Inter"/>
              </a:rPr>
              <a:t>itq-group.com</a:t>
            </a:r>
            <a:endParaRPr lang="en-US" sz="950" noProof="1"/>
          </a:p>
          <a:p>
            <a:pPr algn="ctr">
              <a:lnSpc>
                <a:spcPct val="145000"/>
              </a:lnSpc>
            </a:pPr>
            <a:r>
              <a:rPr lang="en-US" sz="850" i="0" noProof="1">
                <a:solidFill>
                  <a:srgbClr val="64767F"/>
                </a:solidFill>
                <a:latin typeface="Inter"/>
                <a:ea typeface="Inter"/>
              </a:rPr>
              <a:t>продукты, кейсы, вакансии</a:t>
            </a:r>
            <a:endParaRPr lang="en-US" sz="950" noProof="1"/>
          </a:p>
        </p:txBody>
      </p:sp>
      <p:sp>
        <p:nvSpPr>
          <p:cNvPr id="39" name="TextBox 22"/>
          <p:cNvSpPr txBox="1"/>
          <p:nvPr/>
        </p:nvSpPr>
        <p:spPr>
          <a:xfrm>
            <a:off x="609600" y="63500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50" i="0" noProof="1">
                <a:solidFill>
                  <a:srgbClr val="7FAAB1"/>
                </a:solidFill>
                <a:latin typeface="Inter"/>
                <a:ea typeface="Inter"/>
              </a:rPr>
              <a:t>ITQ Group · г. Москва, ул. Ракетный Бульвар, д. 16 · Эффективные решения в IT сфере</a:t>
            </a:r>
            <a:endParaRPr lang="en-US" sz="950" noProof="1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9A23C42E-977C-F964-5996-671CFA21E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36" y="368300"/>
            <a:ext cx="1284890" cy="508000"/>
          </a:xfrm>
          <a:prstGeom prst="rect">
            <a:avLst/>
          </a:prstGeom>
        </p:spPr>
      </p:pic>
      <p:sp>
        <p:nvSpPr>
          <p:cNvPr id="45" name="Contacts Card">
            <a:extLst>
              <a:ext uri="{FF2B5EF4-FFF2-40B4-BE49-F238E27FC236}">
                <a16:creationId xmlns:a16="http://schemas.microsoft.com/office/drawing/2014/main" id="{6FFA768B-2614-8312-734F-C7172284BC69}"/>
              </a:ext>
            </a:extLst>
          </p:cNvPr>
          <p:cNvSpPr/>
          <p:nvPr/>
        </p:nvSpPr>
        <p:spPr>
          <a:xfrm>
            <a:off x="6959600" y="3962400"/>
            <a:ext cx="4724400" cy="2133600"/>
          </a:xfrm>
          <a:prstGeom prst="roundRect">
            <a:avLst>
              <a:gd name="adj" fmla="val 5000"/>
            </a:avLst>
          </a:prstGeom>
          <a:solidFill>
            <a:srgbClr val="073E44"/>
          </a:solidFill>
          <a:ln>
            <a:solidFill>
              <a:srgbClr val="073E44"/>
            </a:solidFill>
          </a:ln>
        </p:spPr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ACA6C185-CE5E-8479-48EA-0270AAB3A6C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000216" y="4051300"/>
            <a:ext cx="3736051" cy="1981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5842</Words>
  <Application>Microsoft Office PowerPoint</Application>
  <PresentationFormat>Широкоэкранный</PresentationFormat>
  <Paragraphs>930</Paragraphs>
  <Slides>39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2" baseType="lpstr">
      <vt:lpstr>Inter</vt:lpstr>
      <vt:lpstr>Times New Roman</vt:lpstr>
      <vt:lpstr>PPTD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using python-pptx</dc:title>
  <dc:subject>generated using python-pptx</dc:subject>
  <dc:creator>Kimi</dc:creator>
  <cp:lastModifiedBy>Irina Fedoseeva</cp:lastModifiedBy>
  <cp:revision>1</cp:revision>
  <dcterms:modified xsi:type="dcterms:W3CDTF">2026-07-29T15:37:52Z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{"Label":"generated using python-pptx","ContentProducer":"001191110108MACG2KBH8F10000","ProduceID":"19fae387-9692-83fb-8000-0000820d5131","ReservedCode1":"","ContentPropagator":"001191110108MACG2KBH8F20000","PropagateID":"19fae280-6c12-80e5-8000-098841ee3626","ReservedCode2":""}</vt:lpwstr>
  </property>
</Properties>
</file>