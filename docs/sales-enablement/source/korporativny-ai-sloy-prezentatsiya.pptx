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 сценария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1-й</c:v>
                </c:pt>
                <c:pt idx="1">
                  <c:v>2-й</c:v>
                </c:pt>
                <c:pt idx="2">
                  <c:v>3-й</c:v>
                </c:pt>
                <c:pt idx="3">
                  <c:v>4-й</c:v>
                </c:pt>
                <c:pt idx="4">
                  <c:v>5-й</c:v>
                </c:pt>
                <c:pt idx="5">
                  <c:v>6-й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72</c:v>
                </c:pt>
                <c:pt idx="2">
                  <c:v>55</c:v>
                </c:pt>
                <c:pt idx="3">
                  <c:v>43</c:v>
                </c:pt>
                <c:pt idx="4">
                  <c:v>36</c:v>
                </c:pt>
                <c:pt idx="5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E0-4D2B-A1A5-31DA0272DA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8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A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8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423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КОРПОРАТИВНЫЙ ИИ-СЛОЙ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Корпоративная ИИ-платформа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32688" y="333756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ИИ стал частью операционной деятельности компании — управляемо, от идеи до продакшена.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4206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инфраструктура, на которой бизнес запускает ИИ-сценарии — быстро, безопасно и под контролем.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ЗНАКОМО?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приходит в компанию с разных сторон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 всё начинается не с большого проекта, а с разрозненных историй — и их становится всё больше.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9242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31720"/>
            <a:ext cx="339242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7860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Идей всё больше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бизнеса копятся инициативы, которые «хочется сделать через ИИ». Список растёт, приоритетов нет.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8264" y="2331720"/>
            <a:ext cx="339242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98264" y="2331720"/>
            <a:ext cx="339242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626864" y="257860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«Сделайте нам ИИ»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26864" y="315468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приходит к ИТ: «я слышал про ИИ — давайте внедрим и у нас». Запросов всё больше.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2331720"/>
            <a:ext cx="339242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56448" y="2331720"/>
            <a:ext cx="3392424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8385048" y="257860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пробуют сами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85048" y="315468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Отдельные команды начали использовать ИИ у себя в отделе — без общих правил, контроля и безопасности.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08792" cy="822960"/>
          </a:xfrm>
          <a:prstGeom prst="rect">
            <a:avLst/>
          </a:prstGeom>
          <a:solidFill>
            <a:srgbClr val="EEF4FB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892040"/>
            <a:ext cx="73152" cy="82296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 это отдельные истории, ИИ не даёт эффекта в масштабе компании. 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разрозненные инициативы превратились в управляемый поток с предсказуемым результатом — нужна единая платформа.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 ПРОИСХОДИТ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общей основы идея не доходит до прода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отсутствие платформы путь каждой ИИ-идеи — это серия никем не управляемых очередей. На каждой остановке возможны задержка, отказ или возврат на доработку.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«Продать» идею ИТ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39340" y="3200400"/>
            <a:ext cx="128016" cy="0"/>
          </a:xfrm>
          <a:prstGeom prst="line">
            <a:avLst/>
          </a:prstGeom>
          <a:noFill/>
          <a:ln w="19050">
            <a:solidFill>
              <a:srgbClr val="5C68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85644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5644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77084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бюджет и ресурсы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84904" y="3200400"/>
            <a:ext cx="128016" cy="0"/>
          </a:xfrm>
          <a:prstGeom prst="line">
            <a:avLst/>
          </a:prstGeom>
          <a:noFill/>
          <a:ln w="19050">
            <a:solidFill>
              <a:srgbClr val="5C68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31208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1208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22648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Согласовать с ИБ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0468" y="3200400"/>
            <a:ext cx="128016" cy="0"/>
          </a:xfrm>
          <a:prstGeom prst="line">
            <a:avLst/>
          </a:prstGeom>
          <a:noFill/>
          <a:ln w="19050">
            <a:solidFill>
              <a:srgbClr val="5C68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6772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6772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8212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инфраструктуру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76032" y="3200400"/>
            <a:ext cx="128016" cy="0"/>
          </a:xfrm>
          <a:prstGeom prst="line">
            <a:avLst/>
          </a:prstGeom>
          <a:noFill/>
          <a:ln w="19050">
            <a:solidFill>
              <a:srgbClr val="5C68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022336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2336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13776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Найти, кто внедрит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721596" y="3200400"/>
            <a:ext cx="128016" cy="0"/>
          </a:xfrm>
          <a:prstGeom prst="line">
            <a:avLst/>
          </a:prstGeom>
          <a:noFill/>
          <a:ln w="19050">
            <a:solidFill>
              <a:srgbClr val="5C68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867900" y="2514600"/>
            <a:ext cx="1680972" cy="1371600"/>
          </a:xfrm>
          <a:prstGeom prst="rect">
            <a:avLst/>
          </a:prstGeom>
          <a:solidFill>
            <a:srgbClr val="F5F9FF"/>
          </a:solidFill>
          <a:ln w="12700">
            <a:solidFill>
              <a:srgbClr val="E7C9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7900" y="2624328"/>
            <a:ext cx="1680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59340" y="2971800"/>
            <a:ext cx="14980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Найти, кто поддержит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343400"/>
            <a:ext cx="10908792" cy="822960"/>
          </a:xfrm>
          <a:prstGeom prst="rect">
            <a:avLst/>
          </a:prstGeom>
          <a:solidFill>
            <a:srgbClr val="EEF4FB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43400"/>
            <a:ext cx="73152" cy="82296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34340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Сроки непредсказуемы, точек принятия решений нет. 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инициатива проходит этот путь заново. Поэтому идеи тонут или ждут месяцами, а внедрённое не масштабируется.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ИИ-слой между данными и бизнес-сценариями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ИИ-запросы компании проходят через один инженерный слой. Слева — корпоративные данные, в центре — слой, справа — реальные бизнес-сценарии.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148840" cy="324612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048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данные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CRM · BPM</a:t>
            </a:r>
            <a:endParaRPr lang="en-US" sz="11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Хранилища (DWH)</a:t>
            </a:r>
            <a:endParaRPr lang="en-US" sz="11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Документы, переписка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Структур. и неструктур.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2240280"/>
            <a:ext cx="4983480" cy="3246120"/>
          </a:xfrm>
          <a:prstGeom prst="rect">
            <a:avLst/>
          </a:prstGeom>
          <a:solidFill>
            <a:srgbClr val="E4F0E9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386584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ИИ-слой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46120" y="2862072"/>
            <a:ext cx="4617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8620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и интерфейсы  </a:t>
            </a:r>
            <a:r>
              <a:rPr lang="en-US" sz="9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диалоги, ассистенты, агенты, отчёты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3483864"/>
            <a:ext cx="4617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48386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Платформенные сервисы  </a:t>
            </a:r>
            <a:r>
              <a:rPr lang="en-US" sz="9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маршрутизация моделей, поиск, оркестрация агентов, мониторинг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4105656"/>
            <a:ext cx="4617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1056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управление  </a:t>
            </a:r>
            <a:r>
              <a:rPr lang="en-US" sz="9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маскирование ПД, контроль доступа, аудит, governance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4727448"/>
            <a:ext cx="4617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72744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 эксплуатация  </a:t>
            </a:r>
            <a:r>
              <a:rPr lang="en-US" sz="9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выбор контура, сайзинг, масштабирование, SLA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66760" y="2240280"/>
            <a:ext cx="3182112" cy="324612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4048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Бизнес-сценарии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67928" y="2898648"/>
            <a:ext cx="287121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Ассистент руководителя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ИИ-агент бухгалтерии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HR-рекрутер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Тендерный специалист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клиентов</a:t>
            </a:r>
            <a:endParaRPr lang="en-US" sz="11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 «на ест. языке»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16352" y="3863340"/>
            <a:ext cx="246888" cy="0"/>
          </a:xfrm>
          <a:prstGeom prst="line">
            <a:avLst/>
          </a:prstGeom>
          <a:noFill/>
          <a:ln w="31750">
            <a:solidFill>
              <a:srgbClr val="1E6B3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074152" y="3863340"/>
            <a:ext cx="246888" cy="0"/>
          </a:xfrm>
          <a:prstGeom prst="line">
            <a:avLst/>
          </a:prstGeom>
          <a:noFill/>
          <a:ln w="31750">
            <a:solidFill>
              <a:srgbClr val="1E6B3C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 В ПЛАТФОРМУ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— это набор готовых компонентов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Базовая обвязка уже построена и работает. Для нового сценария вы описываете его специфику — остальное платформа даёт сразу.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71516" cy="1627632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5271516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865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оркестратор (AI Gateway)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8143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точка входа для всех ИИ-запросов компании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модели под задачу: быстрая / мощная / локальная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Квоты и контроль расходов; смена модели без переписывания кода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77356" y="2240280"/>
            <a:ext cx="5271516" cy="1627632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7356" y="2240280"/>
            <a:ext cx="5271516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505956" y="23865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поиск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05956" y="2770632"/>
            <a:ext cx="48143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 — единый язык понятий (выручка, клиент)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Корпоративный поиск по документам (RAG)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источников и lineage до исходной записи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71516" cy="1627632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69080"/>
            <a:ext cx="5271516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153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ролевая модель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68680" y="4599432"/>
            <a:ext cx="48143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Маскирование персональных данных (AI Guard)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Ролевая модель (RBAC) наследуется из систем-источников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Фильтрация по правам — до модели; сквозной аудит, governance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77356" y="4069080"/>
            <a:ext cx="5271516" cy="1627632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7356" y="4069080"/>
            <a:ext cx="5271516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505956" y="4215384"/>
            <a:ext cx="4814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Развёртывание и эксплуатация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5956" y="4599432"/>
            <a:ext cx="481431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On-premise, облако или гибрид; Kubernetes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без переписывания сценариев</a:t>
            </a:r>
            <a:endParaRPr lang="en-US" sz="11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  <a:buChar char="—"/>
            </a:pPr>
            <a:r>
              <a:rPr lang="en-US" sz="11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встроенные бизнес-метрики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Новый сценарий = ваша специфика + готовая обвязка. Поэтому запуск занимает недели, а не месяцы.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РЕШАЕТ ПЛАТФОРМА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типа задач — и ваши конкретные примеры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закрывает сразу три типа задач. Вот реальные примеры по каждому — бизнес сразу узнаёт свои.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СТРУКТУРИРОВАННЫЕ ДАННЫЕ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505456"/>
            <a:ext cx="3392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к ERP, CRM, хранилищам на естественном языке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200400"/>
            <a:ext cx="73152" cy="78638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0040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«Выручка по регионам за квартал против плана»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33088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4133088"/>
            <a:ext cx="73152" cy="78638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133088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«Какие клиенты снизили закупки за 3 месяца?»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5065776"/>
            <a:ext cx="73152" cy="78638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65776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Отчёты и витрины по расписанию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98264" y="22402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И ТЕКСТЫ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98264" y="2505456"/>
            <a:ext cx="3392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ответы по регламентам, договорам, переписке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98264" y="3200400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98264" y="3200400"/>
            <a:ext cx="73152" cy="7863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320040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«Что в регламенте сказано про командировки?»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398264" y="4133088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98264" y="4133088"/>
            <a:ext cx="73152" cy="7863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626864" y="4133088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«Найди пункт о расторжении в договоре с X»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98264" y="5065776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98264" y="5065776"/>
            <a:ext cx="73152" cy="7863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5065776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сотрудников по базе знаний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56448" y="22402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B89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АГЕНТЫ ПРОЦЕССОВ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56448" y="2505456"/>
            <a:ext cx="3392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выполняют действия в системах, а не просто отвечают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56448" y="3200400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3200400"/>
            <a:ext cx="73152" cy="786384"/>
          </a:xfrm>
          <a:prstGeom prst="rect">
            <a:avLst/>
          </a:prstGeom>
          <a:solidFill>
            <a:srgbClr val="B8924D"/>
          </a:solidFill>
          <a:ln/>
        </p:spPr>
      </p:sp>
      <p:sp>
        <p:nvSpPr>
          <p:cNvPr id="31" name="Text 29"/>
          <p:cNvSpPr/>
          <p:nvPr/>
        </p:nvSpPr>
        <p:spPr>
          <a:xfrm>
            <a:off x="8385048" y="3200400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линия поддержки: ответ и эскалация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156448" y="4133088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56448" y="4133088"/>
            <a:ext cx="73152" cy="786384"/>
          </a:xfrm>
          <a:prstGeom prst="rect">
            <a:avLst/>
          </a:prstGeom>
          <a:solidFill>
            <a:srgbClr val="B8924D"/>
          </a:solidFill>
          <a:ln/>
        </p:spPr>
      </p:sp>
      <p:sp>
        <p:nvSpPr>
          <p:cNvPr id="34" name="Text 32"/>
          <p:cNvSpPr/>
          <p:nvPr/>
        </p:nvSpPr>
        <p:spPr>
          <a:xfrm>
            <a:off x="8385048" y="4133088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бухгалтерии: проверка первички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156448" y="5065776"/>
            <a:ext cx="3392424" cy="786384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56448" y="5065776"/>
            <a:ext cx="73152" cy="786384"/>
          </a:xfrm>
          <a:prstGeom prst="rect">
            <a:avLst/>
          </a:prstGeom>
          <a:solidFill>
            <a:srgbClr val="B8924D"/>
          </a:solidFill>
          <a:ln/>
        </p:spPr>
      </p:sp>
      <p:sp>
        <p:nvSpPr>
          <p:cNvPr id="37" name="Text 35"/>
          <p:cNvSpPr/>
          <p:nvPr/>
        </p:nvSpPr>
        <p:spPr>
          <a:xfrm>
            <a:off x="8385048" y="5065776"/>
            <a:ext cx="30266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 обработка типовых заявлений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Бизнесу — конвейер, ИТ — управляемость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контур одновременно закрывает две повестки, которые обычно конфликтуют: скорость бизнеса и контроль ИТ и ИБ.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394960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Бизнесу — конвейер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Понятный путь идеи: от формулировки до прода за известный срок.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из набора экспериментов превращается в управляемую деятельность.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Владельцы процессов приходят с идеями, а не ждут «ИТ что-нибудь сделает».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286000"/>
            <a:ext cx="510235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286000"/>
            <a:ext cx="5102352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25146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 и ИБ — управляемость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3108960"/>
            <a:ext cx="4553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периметр безопасности: одна политика на все сценарии.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governance: доступы, аудит, жизненный цикл моделей — в одной системе.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Выделенная эксплуатация: SLA, обновления, разбор инцидентов.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ЭФФЕКТИВНО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и срок сценария падают, а не растут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 построена один раз. Поэтому каждый следующий сценарий запускается быстрее и дешевле: безопасность, поиск и интеграции уже готовы — сценарий собирается, а не строится с нуля.</a:t>
            </a:r>
            <a:endParaRPr lang="en-US" sz="15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514600"/>
          <a:ext cx="6675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Иллюстративно: стоимость каждого следующего сценария на готовом слое.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0" y="2514600"/>
            <a:ext cx="3776472" cy="2926080"/>
          </a:xfrm>
          <a:prstGeom prst="rect">
            <a:avLst/>
          </a:prstGeom>
          <a:solidFill>
            <a:srgbClr val="E4F0E9"/>
          </a:solidFill>
          <a:ln w="12700">
            <a:solidFill>
              <a:srgbClr val="BFD8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0" y="2743200"/>
            <a:ext cx="3227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это значит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0" y="3291840"/>
            <a:ext cx="32278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Окупается не один сценарий, а вся программа ИИ.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сценарий — инвестиция в слой; дальше — переиспользование.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—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дешевле: один контур вместо десяти.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ОПЫТ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ИИ уже работает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90000"/>
            <a:ext cx="109728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не только внедряем ИИ клиентам — команда ITQ использует ИИ и в своей ежедневной инженерной работе. Несколько примеров из крупных проектов:</a:t>
            </a:r>
            <a:endParaRPr lang="en-US" sz="1400" dirty="0"/>
          </a:p>
        </p:txBody>
      </p:sp>
      <p:sp>
        <p:nvSpPr>
          <p:cNvPr id="101" name="Shape"/>
          <p:cNvSpPr/>
          <p:nvPr/>
        </p:nvSpPr>
        <p:spPr>
          <a:xfrm>
            <a:off x="640080" y="2103120"/>
            <a:ext cx="3392424" cy="175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02" name="Bar"/>
          <p:cNvSpPr/>
          <p:nvPr/>
        </p:nvSpPr>
        <p:spPr>
          <a:xfrm>
            <a:off x="640080" y="210312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03" name="Title"/>
          <p:cNvSpPr/>
          <p:nvPr/>
        </p:nvSpPr>
        <p:spPr>
          <a:xfrm>
            <a:off x="868680" y="2167802"/>
            <a:ext cx="293522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Московская Биржа</a:t>
            </a:r>
            <a:endParaRPr lang="en-US" sz="1500" dirty="0"/>
          </a:p>
        </p:txBody>
      </p:sp>
      <p:sp>
        <p:nvSpPr>
          <p:cNvPr id="104" name="Body"/>
          <p:cNvSpPr/>
          <p:nvPr/>
        </p:nvSpPr>
        <p:spPr>
          <a:xfrm>
            <a:off x="713232" y="2487802"/>
            <a:ext cx="2935224" cy="8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AI-агенты для код-ревью с содержательной обратной связью разработчикам</a:t>
            </a:r>
            <a:endParaRPr lang="en-US" sz="1250" dirty="0"/>
          </a:p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зависимостей и безопасности цепочки поставок кода</a:t>
            </a:r>
            <a:endParaRPr lang="en-US" sz="1250" dirty="0"/>
          </a:p>
        </p:txBody>
      </p:sp>
      <p:sp>
        <p:nvSpPr>
          <p:cNvPr id="106" name="Shape"/>
          <p:cNvSpPr/>
          <p:nvPr/>
        </p:nvSpPr>
        <p:spPr>
          <a:xfrm>
            <a:off x="4398264" y="2103120"/>
            <a:ext cx="3392424" cy="175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07" name="Bar"/>
          <p:cNvSpPr/>
          <p:nvPr/>
        </p:nvSpPr>
        <p:spPr>
          <a:xfrm>
            <a:off x="4398264" y="210312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08" name="Title"/>
          <p:cNvSpPr/>
          <p:nvPr/>
        </p:nvSpPr>
        <p:spPr>
          <a:xfrm>
            <a:off x="4626864" y="2193912"/>
            <a:ext cx="293522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«Солид»</a:t>
            </a:r>
            <a:endParaRPr lang="en-US" sz="1500" dirty="0"/>
          </a:p>
        </p:txBody>
      </p:sp>
      <p:sp>
        <p:nvSpPr>
          <p:cNvPr id="109" name="Body"/>
          <p:cNvSpPr/>
          <p:nvPr/>
        </p:nvSpPr>
        <p:spPr>
          <a:xfrm>
            <a:off x="4465526" y="2487802"/>
            <a:ext cx="2935224" cy="8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Поисковый AI-ассистент по внутренней документации — регламенты и спецификации находятся за секунды, а не часы</a:t>
            </a:r>
            <a:endParaRPr lang="en-US" sz="1250" dirty="0"/>
          </a:p>
        </p:txBody>
      </p:sp>
      <p:sp>
        <p:nvSpPr>
          <p:cNvPr id="111" name="Shape"/>
          <p:cNvSpPr/>
          <p:nvPr/>
        </p:nvSpPr>
        <p:spPr>
          <a:xfrm>
            <a:off x="8156448" y="2103120"/>
            <a:ext cx="3392424" cy="175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12" name="Bar"/>
          <p:cNvSpPr/>
          <p:nvPr/>
        </p:nvSpPr>
        <p:spPr>
          <a:xfrm>
            <a:off x="8156448" y="210312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13" name="Title"/>
          <p:cNvSpPr/>
          <p:nvPr/>
        </p:nvSpPr>
        <p:spPr>
          <a:xfrm>
            <a:off x="8339328" y="2193912"/>
            <a:ext cx="293522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AXIOM JDK</a:t>
            </a:r>
            <a:endParaRPr lang="en-US" sz="1500" dirty="0"/>
          </a:p>
        </p:txBody>
      </p:sp>
      <p:sp>
        <p:nvSpPr>
          <p:cNvPr id="114" name="Body"/>
          <p:cNvSpPr/>
          <p:nvPr/>
        </p:nvSpPr>
        <p:spPr>
          <a:xfrm>
            <a:off x="8177990" y="2443000"/>
            <a:ext cx="2935224" cy="8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и генерация тестов AI-агентами — меньше ручного труда, выше покрытие критического кода</a:t>
            </a:r>
            <a:endParaRPr lang="en-US" sz="1250" dirty="0"/>
          </a:p>
        </p:txBody>
      </p:sp>
      <p:sp>
        <p:nvSpPr>
          <p:cNvPr id="116" name="Shape"/>
          <p:cNvSpPr/>
          <p:nvPr/>
        </p:nvSpPr>
        <p:spPr>
          <a:xfrm>
            <a:off x="640080" y="4033120"/>
            <a:ext cx="5273088" cy="175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17" name="Bar"/>
          <p:cNvSpPr/>
          <p:nvPr/>
        </p:nvSpPr>
        <p:spPr>
          <a:xfrm>
            <a:off x="640080" y="4033120"/>
            <a:ext cx="5273088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18" name="Title"/>
          <p:cNvSpPr/>
          <p:nvPr/>
        </p:nvSpPr>
        <p:spPr>
          <a:xfrm>
            <a:off x="868680" y="4129950"/>
            <a:ext cx="4815888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МКБ (Московский Кредитный Банк)</a:t>
            </a:r>
            <a:endParaRPr lang="en-US" sz="1500" dirty="0"/>
          </a:p>
        </p:txBody>
      </p:sp>
      <p:sp>
        <p:nvSpPr>
          <p:cNvPr id="119" name="Body"/>
          <p:cNvSpPr/>
          <p:nvPr/>
        </p:nvSpPr>
        <p:spPr>
          <a:xfrm>
            <a:off x="713232" y="4417802"/>
            <a:ext cx="4815888" cy="8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AI-система performance review инженеров — совместно с партнёром Veai</a:t>
            </a:r>
            <a:endParaRPr lang="en-US" sz="1250" dirty="0"/>
          </a:p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анализа падений автотестов: классифицирует причины сбоев и предлагает исправления</a:t>
            </a:r>
            <a:endParaRPr lang="en-US" sz="1250" dirty="0"/>
          </a:p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Мультиагентный разбор крупных XML-файлов в структурированную документацию</a:t>
            </a:r>
            <a:endParaRPr lang="en-US" sz="1250" dirty="0"/>
          </a:p>
        </p:txBody>
      </p:sp>
      <p:sp>
        <p:nvSpPr>
          <p:cNvPr id="121" name="Shape"/>
          <p:cNvSpPr/>
          <p:nvPr/>
        </p:nvSpPr>
        <p:spPr>
          <a:xfrm>
            <a:off x="6278832" y="4033120"/>
            <a:ext cx="5273088" cy="175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22" name="Bar"/>
          <p:cNvSpPr/>
          <p:nvPr/>
        </p:nvSpPr>
        <p:spPr>
          <a:xfrm>
            <a:off x="6278832" y="4033120"/>
            <a:ext cx="5273088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23" name="Title"/>
          <p:cNvSpPr/>
          <p:nvPr/>
        </p:nvSpPr>
        <p:spPr>
          <a:xfrm>
            <a:off x="6458664" y="4109050"/>
            <a:ext cx="4815888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Сбер НПФ (совместно с Veai)</a:t>
            </a:r>
            <a:endParaRPr lang="en-US" sz="1500" dirty="0"/>
          </a:p>
        </p:txBody>
      </p:sp>
      <p:sp>
        <p:nvSpPr>
          <p:cNvPr id="124" name="Body"/>
          <p:cNvSpPr/>
          <p:nvPr/>
        </p:nvSpPr>
        <p:spPr>
          <a:xfrm>
            <a:off x="6458664" y="4443879"/>
            <a:ext cx="4815888" cy="8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AI-агента-плагина для IDE семейства JetBrains</a:t>
            </a:r>
            <a:endParaRPr lang="en-US" sz="1250" dirty="0"/>
          </a:p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на юнит-тесты — в 2 раза быстрее за счёт автогенерации</a:t>
            </a:r>
            <a:endParaRPr lang="en-US" sz="1250" dirty="0"/>
          </a:p>
          <a:p>
            <a:pPr marL="182880" indent="-182880">
              <a:lnSpc>
                <a:spcPct val="112000"/>
              </a:lnSpc>
              <a:spcBef>
                <a:spcPts val="400"/>
              </a:spcBef>
              <a:buFont typeface="Arial"/>
              <a:buChar char="•"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предлагает несколько вариантов реализации, снижая долю рутины</a:t>
            </a:r>
            <a:endParaRPr lang="en-US" sz="1250" dirty="0"/>
          </a:p>
        </p:txBody>
      </p:sp>
      <p:sp>
        <p:nvSpPr>
          <p:cNvPr id="126" name="FootBg"/>
          <p:cNvSpPr/>
          <p:nvPr/>
        </p:nvSpPr>
        <p:spPr>
          <a:xfrm>
            <a:off x="640080" y="5933120"/>
            <a:ext cx="10908792" cy="624880"/>
          </a:xfrm>
          <a:prstGeom prst="rect">
            <a:avLst/>
          </a:prstGeom>
          <a:solidFill>
            <a:srgbClr val="EEF4FB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27" name="FootBar"/>
          <p:cNvSpPr/>
          <p:nvPr/>
        </p:nvSpPr>
        <p:spPr>
          <a:xfrm>
            <a:off x="640080" y="5933120"/>
            <a:ext cx="73152" cy="62488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28" name="FootTxt"/>
          <p:cNvSpPr/>
          <p:nvPr/>
        </p:nvSpPr>
        <p:spPr>
          <a:xfrm>
            <a:off x="914400" y="5933120"/>
            <a:ext cx="10360152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инженер ITQ </a:t>
            </a: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AI-инструменты в ежедневной работе — от генерации кода и тестов до анализа логов и рефакторинга.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ПИЛОТА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для JetBrains: Сбер НПФ + Veai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90000"/>
            <a:ext cx="109728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AI-агента-плагина для IDE семейства JetBrains показал измеримый эффект уже на первом проекте:</a:t>
            </a:r>
            <a:endParaRPr lang="en-US" sz="1400" dirty="0"/>
          </a:p>
        </p:txBody>
      </p:sp>
      <p:sp>
        <p:nvSpPr>
          <p:cNvPr id="301" name="Shape"/>
          <p:cNvSpPr/>
          <p:nvPr/>
        </p:nvSpPr>
        <p:spPr>
          <a:xfrm>
            <a:off x="640080" y="2400000"/>
            <a:ext cx="3392424" cy="220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02" name="Bar"/>
          <p:cNvSpPr/>
          <p:nvPr/>
        </p:nvSpPr>
        <p:spPr>
          <a:xfrm>
            <a:off x="640080" y="240000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03" name="Big"/>
          <p:cNvSpPr/>
          <p:nvPr/>
        </p:nvSpPr>
        <p:spPr>
          <a:xfrm>
            <a:off x="868680" y="2628600"/>
            <a:ext cx="2935224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200" dirty="0"/>
          </a:p>
        </p:txBody>
      </p:sp>
      <p:sp>
        <p:nvSpPr>
          <p:cNvPr id="304" name="Label"/>
          <p:cNvSpPr/>
          <p:nvPr/>
        </p:nvSpPr>
        <p:spPr>
          <a:xfrm>
            <a:off x="868680" y="3248600"/>
            <a:ext cx="2935224" cy="11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юнит-тесты</a:t>
            </a:r>
          </a:p>
          <a:p>
            <a:pPr marL="0" indent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на написание сократилось вдвое за счёт автогенерации и подсказок агента</a:t>
            </a:r>
          </a:p>
        </p:txBody>
      </p:sp>
      <p:sp>
        <p:nvSpPr>
          <p:cNvPr id="305" name="Shape"/>
          <p:cNvSpPr/>
          <p:nvPr/>
        </p:nvSpPr>
        <p:spPr>
          <a:xfrm>
            <a:off x="4398264" y="2400000"/>
            <a:ext cx="3392424" cy="220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06" name="Bar"/>
          <p:cNvSpPr/>
          <p:nvPr/>
        </p:nvSpPr>
        <p:spPr>
          <a:xfrm>
            <a:off x="4398264" y="240000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07" name="Big"/>
          <p:cNvSpPr/>
          <p:nvPr/>
        </p:nvSpPr>
        <p:spPr>
          <a:xfrm>
            <a:off x="4626864" y="2628600"/>
            <a:ext cx="2935224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</a:t>
            </a:r>
            <a:endParaRPr lang="en-US" sz="3200" dirty="0"/>
          </a:p>
        </p:txBody>
      </p:sp>
      <p:sp>
        <p:nvSpPr>
          <p:cNvPr id="308" name="Label"/>
          <p:cNvSpPr/>
          <p:nvPr/>
        </p:nvSpPr>
        <p:spPr>
          <a:xfrm>
            <a:off x="4626864" y="3248600"/>
            <a:ext cx="2935224" cy="11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Вариативность решений</a:t>
            </a:r>
          </a:p>
          <a:p>
            <a:pPr marL="0" indent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предлагает несколько подходов к реализации и рефакторингу на выбор</a:t>
            </a:r>
          </a:p>
        </p:txBody>
      </p:sp>
      <p:sp>
        <p:nvSpPr>
          <p:cNvPr id="309" name="Shape"/>
          <p:cNvSpPr/>
          <p:nvPr/>
        </p:nvSpPr>
        <p:spPr>
          <a:xfrm>
            <a:off x="8156448" y="2400000"/>
            <a:ext cx="3392424" cy="2200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10" name="Bar"/>
          <p:cNvSpPr/>
          <p:nvPr/>
        </p:nvSpPr>
        <p:spPr>
          <a:xfrm>
            <a:off x="8156448" y="2400000"/>
            <a:ext cx="3392424" cy="4572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11" name="Big"/>
          <p:cNvSpPr/>
          <p:nvPr/>
        </p:nvSpPr>
        <p:spPr>
          <a:xfrm>
            <a:off x="8385048" y="2628600"/>
            <a:ext cx="2935224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200" dirty="0"/>
          </a:p>
        </p:txBody>
      </p:sp>
      <p:sp>
        <p:nvSpPr>
          <p:cNvPr id="312" name="Label"/>
          <p:cNvSpPr/>
          <p:nvPr/>
        </p:nvSpPr>
        <p:spPr>
          <a:xfrm>
            <a:off x="8385048" y="3248600"/>
            <a:ext cx="2935224" cy="112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рутины</a:t>
            </a:r>
          </a:p>
          <a:p>
            <a:pPr marL="0" indent="0">
              <a:lnSpc>
                <a:spcPct val="112000"/>
              </a:lnSpc>
              <a:spcBef>
                <a:spcPts val="300"/>
              </a:spcBef>
              <a:buNone/>
            </a:pPr>
            <a:r>
              <a:rPr lang="en-US" sz="12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доля монотонного ручного труда — быстрее поставка качественного кода</a:t>
            </a:r>
          </a:p>
        </p:txBody>
      </p:sp>
      <p:sp>
        <p:nvSpPr>
          <p:cNvPr id="313" name="FootBg"/>
          <p:cNvSpPr/>
          <p:nvPr/>
        </p:nvSpPr>
        <p:spPr>
          <a:xfrm>
            <a:off x="640080" y="4850000"/>
            <a:ext cx="10908792" cy="624880"/>
          </a:xfrm>
          <a:prstGeom prst="rect">
            <a:avLst/>
          </a:prstGeom>
          <a:solidFill>
            <a:srgbClr val="EEF4FB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314" name="FootBar"/>
          <p:cNvSpPr/>
          <p:nvPr/>
        </p:nvSpPr>
        <p:spPr>
          <a:xfrm>
            <a:off x="640080" y="4850000"/>
            <a:ext cx="73152" cy="62488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315" name="FootTxt"/>
          <p:cNvSpPr/>
          <p:nvPr/>
        </p:nvSpPr>
        <p:spPr>
          <a:xfrm>
            <a:off x="914400" y="4850000"/>
            <a:ext cx="10360152" cy="62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измерим: </a:t>
            </a: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времени на тестирование, снижение нагрузки на разработчиков, рост прозрачности и управляемости процессов.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КОМУ ПОДХОДИТ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платформа оправдана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92424" cy="2286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3392424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317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— часть операционной деятельности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хотите, чтобы ИИ работал в ежедневных процессах постоянно, а не разово.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8264" y="2103120"/>
            <a:ext cx="3392424" cy="2286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98264" y="2103120"/>
            <a:ext cx="3392424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23317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предсказуемость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26864" y="301752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понимать, как и за какой срок идея дойдёт от бизнеса до продакшена.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6448" y="2103120"/>
            <a:ext cx="3392424" cy="2286000"/>
          </a:xfrm>
          <a:prstGeom prst="rect">
            <a:avLst/>
          </a:prstGeom>
          <a:solidFill>
            <a:srgbClr val="F5F9FF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2103120"/>
            <a:ext cx="3392424" cy="54864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233172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единый контроль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85048" y="3017520"/>
            <a:ext cx="29352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Безопасность, расходы, доступы и governance должны быть едиными, а не у каждого свои.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908792" cy="822960"/>
          </a:xfrm>
          <a:prstGeom prst="rect">
            <a:avLst/>
          </a:prstGeom>
          <a:solidFill>
            <a:srgbClr val="EEF4FB"/>
          </a:solidFill>
          <a:ln w="12700">
            <a:solidFill>
              <a:srgbClr val="D4D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709160"/>
            <a:ext cx="73152" cy="822960"/>
          </a:xfrm>
          <a:prstGeom prst="rect">
            <a:avLst/>
          </a:prstGeom>
          <a:solidFill>
            <a:srgbClr val="1E6B3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091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Честно: 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раскрывается там, где ИИ становится постоянной частью работы компании. Для одной разовой задачи она избыточна — и мы скажем об этом прямо.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Спроектируем ваш ИИ-слой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32688" y="2788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E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Начнём с целевой архитектуры под ваши сценарии и описания пути идея → прод: как ИИ встроится в операционную деятельность вашей компании.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886200"/>
            <a:ext cx="3209544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88620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целевой слой под вас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89704" y="3886200"/>
            <a:ext cx="3209544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2584" y="388620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приоритеты и примеры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65008" y="3886200"/>
            <a:ext cx="3209544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47888" y="3886200"/>
            <a:ext cx="2843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Бизнес-кейс 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сроки и эффект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</a:t>
            </a: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ru-RU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ru-RU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Федосеева Ирина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персональный менеджер</a:t>
            </a:r>
          </a:p>
          <a:p>
            <a:r>
              <a:rPr lang="ru-RU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</a:t>
            </a:r>
            <a:r>
              <a:rPr lang="ru-RU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.: </a:t>
            </a:r>
            <a:r>
              <a:rPr lang="ru-RU" sz="1400" dirty="0">
                <a:solidFill>
                  <a:srgbClr val="95ADD0"/>
                </a:solidFill>
              </a:rPr>
              <a:t>+7 913 671 57 06</a:t>
            </a:r>
          </a:p>
          <a:p>
            <a:r>
              <a:rPr lang="en-US" sz="1000" dirty="0">
                <a:solidFill>
                  <a:srgbClr val="95A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r>
              <a:rPr lang="ru-RU" sz="1400" dirty="0">
                <a:solidFill>
                  <a:srgbClr val="95A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dirty="0">
                <a:solidFill>
                  <a:srgbClr val="95ADD0"/>
                </a:solidFill>
              </a:rPr>
              <a:t>i.fedoseeva@itq-group.com</a:t>
            </a:r>
            <a:endParaRPr lang="ru-RU" sz="1400" dirty="0">
              <a:solidFill>
                <a:srgbClr val="95ADD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Корпоративная ИИ-платформа · обезличенная версия · брендовая обложка подставляется отдельно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1439</TotalTime>
  <Words>1276</Words>
  <Application>Microsoft Office PowerPoint</Application>
  <PresentationFormat>Широкоэкранный</PresentationFormat>
  <Paragraphs>170</Paragraphs>
  <Slides>12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Корпоративная ИИ-платформа</dc:title>
  <dc:subject>PptxGenJS Presentation</dc:subject>
  <dc:creator>Корпоративная ИИ-платформа</dc:creator>
  <cp:lastModifiedBy>Irina Fedoseeva</cp:lastModifiedBy>
  <cp:revision>4</cp:revision>
  <dcterms:created xsi:type="dcterms:W3CDTF">2026-05-30T20:28:37Z</dcterms:created>
  <dcterms:modified xsi:type="dcterms:W3CDTF">2026-07-21T07:40:38Z</dcterms:modified>
</cp:coreProperties>
</file>