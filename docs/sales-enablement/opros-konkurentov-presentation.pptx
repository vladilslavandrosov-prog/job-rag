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502920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ПРОДАЖИ · КОНКУРЕНТНАЯ РАЗВЕДКА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960120"/>
            <a:ext cx="11155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Опрос конкурентов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828800"/>
            <a:ext cx="8778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Чек-лист для продавцов — узнать реальную функциональность рынка под видом обычного клиента, без внутренних терминов.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02920" y="3154680"/>
            <a:ext cx="2606040" cy="1600200"/>
          </a:xfrm>
          <a:prstGeom prst="roundRect">
            <a:avLst>
              <a:gd name="adj" fmla="val 4571"/>
            </a:avLst>
          </a:prstGeom>
          <a:solidFill>
            <a:srgbClr val="F4F6F7"/>
          </a:solidFill>
          <a:ln w="9525">
            <a:solidFill>
              <a:srgbClr val="D8DE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67512" y="3319272"/>
            <a:ext cx="22768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5F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667512" y="4114800"/>
            <a:ext cx="22768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вопросов с объяснением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337560" y="3154680"/>
            <a:ext cx="2606040" cy="1600200"/>
          </a:xfrm>
          <a:prstGeom prst="roundRect">
            <a:avLst>
              <a:gd name="adj" fmla="val 4571"/>
            </a:avLst>
          </a:prstGeom>
          <a:solidFill>
            <a:srgbClr val="F4F6F7"/>
          </a:solidFill>
          <a:ln w="9525">
            <a:solidFill>
              <a:srgbClr val="D8DEE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502152" y="3319272"/>
            <a:ext cx="22768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5F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400" dirty="0"/>
          </a:p>
        </p:txBody>
      </p:sp>
      <p:sp>
        <p:nvSpPr>
          <p:cNvPr id="10" name="Text 8"/>
          <p:cNvSpPr txBox="1"/>
          <p:nvPr/>
        </p:nvSpPr>
        <p:spPr>
          <a:xfrm>
            <a:off x="3502152" y="4114800"/>
            <a:ext cx="22768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блока по приоритету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72200" y="3154680"/>
            <a:ext cx="2606040" cy="1600200"/>
          </a:xfrm>
          <a:prstGeom prst="roundRect">
            <a:avLst>
              <a:gd name="adj" fmla="val 4571"/>
            </a:avLst>
          </a:prstGeom>
          <a:solidFill>
            <a:srgbClr val="F4F6F7"/>
          </a:solidFill>
          <a:ln w="9525">
            <a:solidFill>
              <a:srgbClr val="D8DEE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336792" y="3319272"/>
            <a:ext cx="22768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5F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</a:t>
            </a:r>
            <a:endParaRPr lang="en-US" sz="3400" dirty="0"/>
          </a:p>
        </p:txBody>
      </p:sp>
      <p:sp>
        <p:nvSpPr>
          <p:cNvPr id="13" name="Text 11"/>
          <p:cNvSpPr txBox="1"/>
          <p:nvPr/>
        </p:nvSpPr>
        <p:spPr>
          <a:xfrm>
            <a:off x="6336792" y="4114800"/>
            <a:ext cx="22768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пункта роадмапа — источник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006840" y="3154680"/>
            <a:ext cx="2606040" cy="1600200"/>
          </a:xfrm>
          <a:prstGeom prst="roundRect">
            <a:avLst>
              <a:gd name="adj" fmla="val 4571"/>
            </a:avLst>
          </a:prstGeom>
          <a:solidFill>
            <a:srgbClr val="F4F6F7"/>
          </a:solidFill>
          <a:ln w="9525">
            <a:solidFill>
              <a:srgbClr val="D8DEE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71432" y="3319272"/>
            <a:ext cx="22768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5F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400" dirty="0"/>
          </a:p>
        </p:txBody>
      </p:sp>
      <p:sp>
        <p:nvSpPr>
          <p:cNvPr id="16" name="Text 14"/>
          <p:cNvSpPr txBox="1"/>
          <p:nvPr/>
        </p:nvSpPr>
        <p:spPr>
          <a:xfrm>
            <a:off x="9171432" y="4114800"/>
            <a:ext cx="22768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листа рабочего чек-листа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C9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7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КАК ПРОВОДИТЬ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21792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Правила разговора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170432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Естественность важнее полноты — не нужно задавать все вопросы подряд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691640"/>
            <a:ext cx="5394960" cy="1234440"/>
          </a:xfrm>
          <a:prstGeom prst="roundRect">
            <a:avLst>
              <a:gd name="adj" fmla="val 4444"/>
            </a:avLst>
          </a:prstGeom>
          <a:solidFill>
            <a:srgbClr val="F4F6F7"/>
          </a:solidFill>
          <a:ln w="9525">
            <a:solidFill>
              <a:srgbClr val="D8DE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5F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188720" y="1828800"/>
            <a:ext cx="4526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Представьтесь тем, кто вы есть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1188720" y="2148840"/>
            <a:ext cx="4526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Компания выбирает платформу для работы с ИИ и данными — это правда, ничего выдумывать не нужно.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263640" y="1691640"/>
            <a:ext cx="5394960" cy="1234440"/>
          </a:xfrm>
          <a:prstGeom prst="roundRect">
            <a:avLst>
              <a:gd name="adj" fmla="val 4444"/>
            </a:avLst>
          </a:prstGeom>
          <a:solidFill>
            <a:srgbClr val="F4F6F7"/>
          </a:solidFill>
          <a:ln w="9525">
            <a:solidFill>
              <a:srgbClr val="D8DEE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4652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5F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6949440" y="1828800"/>
            <a:ext cx="4526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называйте наш продукт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6949440" y="2148840"/>
            <a:ext cx="4526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сравнивайте вслух — расспрашивайте как обычный заинтересованный клиент.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02920" y="3108960"/>
            <a:ext cx="5394960" cy="1234440"/>
          </a:xfrm>
          <a:prstGeom prst="roundRect">
            <a:avLst>
              <a:gd name="adj" fmla="val 4444"/>
            </a:avLst>
          </a:prstGeom>
          <a:solidFill>
            <a:srgbClr val="F4F6F7"/>
          </a:solidFill>
          <a:ln w="9525">
            <a:solidFill>
              <a:srgbClr val="D8DEE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5800" y="3246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5F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1188720" y="3246120"/>
            <a:ext cx="4526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Выбирайте вопросы по ходу разговора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1188720" y="3566160"/>
            <a:ext cx="4526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обязательно задавать все подряд — естественность важнее полноты списка.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263640" y="3108960"/>
            <a:ext cx="5394960" cy="1234440"/>
          </a:xfrm>
          <a:prstGeom prst="roundRect">
            <a:avLst>
              <a:gd name="adj" fmla="val 4444"/>
            </a:avLst>
          </a:prstGeom>
          <a:solidFill>
            <a:srgbClr val="F4F6F7"/>
          </a:solidFill>
          <a:ln w="9525">
            <a:solidFill>
              <a:srgbClr val="D8DEE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46520" y="3246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5F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6949440" y="3246120"/>
            <a:ext cx="4526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Говорите своими словами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6949440" y="3566160"/>
            <a:ext cx="4526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Формулировки в чек-листе — заготовка, а не сценарий для зачитывания.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02920" y="4526280"/>
            <a:ext cx="5394960" cy="1234440"/>
          </a:xfrm>
          <a:prstGeom prst="roundRect">
            <a:avLst>
              <a:gd name="adj" fmla="val 4444"/>
            </a:avLst>
          </a:prstGeom>
          <a:solidFill>
            <a:srgbClr val="F4F6F7"/>
          </a:solidFill>
          <a:ln w="9525">
            <a:solidFill>
              <a:srgbClr val="D8DEE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85800" y="4663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5F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1188720" y="4663440"/>
            <a:ext cx="4526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Пропускайте, если звучит подозрительно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1188720" y="4983480"/>
            <a:ext cx="4526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Слишком технический вопрос — спросите проще или отложите на другой раз.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263640" y="4526280"/>
            <a:ext cx="5394960" cy="1234440"/>
          </a:xfrm>
          <a:prstGeom prst="roundRect">
            <a:avLst>
              <a:gd name="adj" fmla="val 4444"/>
            </a:avLst>
          </a:prstGeom>
          <a:solidFill>
            <a:srgbClr val="F4F6F7"/>
          </a:solidFill>
          <a:ln w="9525">
            <a:solidFill>
              <a:srgbClr val="D8DEE2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446520" y="4663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5F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000" dirty="0"/>
          </a:p>
        </p:txBody>
      </p:sp>
      <p:sp>
        <p:nvSpPr>
          <p:cNvPr id="27" name="Text 25"/>
          <p:cNvSpPr txBox="1"/>
          <p:nvPr/>
        </p:nvSpPr>
        <p:spPr>
          <a:xfrm>
            <a:off x="6949440" y="4663440"/>
            <a:ext cx="4526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Записывайте сразу после разговора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6949440" y="4983480"/>
            <a:ext cx="4526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Пока не забылись детали — заносите в чек-лист интервью.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C9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7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КРИТИЧНО СПРОСИТЬ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21792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Критично спросить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170432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Вопрос — своими словами; объяснение — для вас, не для клиента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783080"/>
            <a:ext cx="11155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Есть ли автоматическое скрытие/маскирование персональных данных (ФИО, паспорта, счета) в ответах системы?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2267712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Проверяем наличие автоматической защиты персональных данных в ответах — критично для комплаенса.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02920" y="2606040"/>
            <a:ext cx="11155680" cy="0"/>
          </a:xfrm>
          <a:prstGeom prst="line">
            <a:avLst/>
          </a:prstGeom>
          <a:noFill/>
          <a:ln w="9525">
            <a:solidFill>
              <a:srgbClr val="D8DEE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02920" y="2697480"/>
            <a:ext cx="11155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Можно ли развернуть систему полностью у нас, в закрытом контуре, без доступа к интернету?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02920" y="3182112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Проверяем, есть ли у них поставка «в закрытом контуре» — важно для клиентов с высокими требованиями к безопасности.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02920" y="3520440"/>
            <a:ext cx="11155680" cy="0"/>
          </a:xfrm>
          <a:prstGeom prst="line">
            <a:avLst/>
          </a:prstGeom>
          <a:noFill/>
          <a:ln w="9525">
            <a:solidFill>
              <a:srgbClr val="D8DEE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02920" y="3611880"/>
            <a:ext cx="11155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Может ли система отвечать, объединяя данные сразу из нескольких систем, а не только по одной?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02920" y="4096512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Проверяем, умеет ли конкурент строить один ответ на основе сразу нескольких источников данных, а не искать по одному за раз.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02920" y="4434840"/>
            <a:ext cx="11155680" cy="0"/>
          </a:xfrm>
          <a:prstGeom prst="line">
            <a:avLst/>
          </a:prstGeom>
          <a:noFill/>
          <a:ln w="9525">
            <a:solidFill>
              <a:srgbClr val="D8DEE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02920" y="4526280"/>
            <a:ext cx="11155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Есть ли единый справочник бизнес-показателей, чтобы разные сотрудники получали одинаковый ответ на один и тот же вопрос?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502920" y="5010912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Проверяем, есть ли у них общий каталог метрик с готовыми формулами, чтобы ответы не расходились между сотрудниками.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02920" y="5349240"/>
            <a:ext cx="11155680" cy="0"/>
          </a:xfrm>
          <a:prstGeom prst="line">
            <a:avLst/>
          </a:prstGeom>
          <a:noFill/>
          <a:ln w="9525">
            <a:solidFill>
              <a:srgbClr val="D8DEE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02920" y="5440680"/>
            <a:ext cx="11155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Можно ли выгружать логи действий (кто что спрашивал/делал) в наши системы безопасности?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502920" y="5925312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Проверяем интеграцию с системами информационной безопасности и экспорт журналов действий.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C9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7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ВАЖНО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21792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Важно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170432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Вопрос — своими словами; объяснение — для вас, не для клиента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783080"/>
            <a:ext cx="11155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Если агент собирается сделать что-то важное (отправить письмо, изменить данные) — он спросит подтверждения у человека или сделает сам?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2267712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Проверяем наличие контроля человека перед важными автоматическими действиями агента.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02920" y="2606040"/>
            <a:ext cx="11155680" cy="0"/>
          </a:xfrm>
          <a:prstGeom prst="line">
            <a:avLst/>
          </a:prstGeom>
          <a:noFill/>
          <a:ln w="9525">
            <a:solidFill>
              <a:srgbClr val="D8DEE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02920" y="2697480"/>
            <a:ext cx="11155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Можно ли гибко настроить, кому какие источники данных доступны — вплоть до отдельных папок?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02920" y="3182112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Проверяем гранулярность разграничения доступа к источникам данных.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02920" y="3520440"/>
            <a:ext cx="11155680" cy="0"/>
          </a:xfrm>
          <a:prstGeom prst="line">
            <a:avLst/>
          </a:prstGeom>
          <a:noFill/>
          <a:ln w="9525">
            <a:solidFill>
              <a:srgbClr val="D8DEE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02920" y="3611880"/>
            <a:ext cx="11155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Если нужно посчитать показатель по данным из разных систем — система сама сведёт расчёт, или это делается вручную?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02920" y="4096512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Проверяем, автоматизирован ли у них расчёт, который затрагивает несколько систем.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02920" y="4434840"/>
            <a:ext cx="11155680" cy="0"/>
          </a:xfrm>
          <a:prstGeom prst="line">
            <a:avLst/>
          </a:prstGeom>
          <a:noFill/>
          <a:ln w="9525">
            <a:solidFill>
              <a:srgbClr val="D8DEE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02920" y="4526280"/>
            <a:ext cx="11155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Можно ли самостоятельно, без программиста, настраивать, какие выборки/срезы данных доступны для вопросов?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502920" y="5010912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Проверяем, есть ли у них простой конструктор настройки данных, без обращения к разработчикам.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02920" y="5349240"/>
            <a:ext cx="11155680" cy="0"/>
          </a:xfrm>
          <a:prstGeom prst="line">
            <a:avLst/>
          </a:prstGeom>
          <a:noFill/>
          <a:ln w="9525">
            <a:solidFill>
              <a:srgbClr val="D8DEE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02920" y="5440680"/>
            <a:ext cx="11155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Можно ли подключить систему к моделям, которые мы уже используем, или она работает только со своими?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502920" y="5925312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Проверяем, насколько открыта их платформа к сторонним ИИ-моделям.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C9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7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ЕСЛИ БУДЕТ ВРЕМЯ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21792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Если будет время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170432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Вопрос — своими словами; объяснение — для вас, не для клиента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783080"/>
            <a:ext cx="11155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хранятся пароли и ключи доступа к нашим системам — есть ли отдельная защита?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2267712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Проверяем, как конкурент защищает учётные данные для подключения к системам клиента.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02920" y="2606040"/>
            <a:ext cx="11155680" cy="0"/>
          </a:xfrm>
          <a:prstGeom prst="line">
            <a:avLst/>
          </a:prstGeom>
          <a:noFill/>
          <a:ln w="9525">
            <a:solidFill>
              <a:srgbClr val="D8DEE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02920" y="2697480"/>
            <a:ext cx="11155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Если у вас есть агенты, которые сами выполняют действия — видно ли, к каким системам у какого агента есть доступ?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02920" y="3182112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Проверяем, ведут ли они учёт того, к каким системам может обращаться каждый агент.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02920" y="3520440"/>
            <a:ext cx="11155680" cy="0"/>
          </a:xfrm>
          <a:prstGeom prst="line">
            <a:avLst/>
          </a:prstGeom>
          <a:noFill/>
          <a:ln w="9525">
            <a:solidFill>
              <a:srgbClr val="D8DEE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02920" y="3611880"/>
            <a:ext cx="11155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Можно ли отличить текст или документ, который создал ИИ, от написанного человеком?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02920" y="4096512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Проверяем, маркируют ли они контент, созданный моделью.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C9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7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ОРГАНИЗАЦИОННЫЕ ВОПРОСЫ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21792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Организационные вопросы — спрашивать всегда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170432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Вопрос — своими словами; объяснение — для вас, не для клиента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783080"/>
            <a:ext cx="11155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Сколько времени обычно занимает внедрение?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2267712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Ориентир скорости поставки у конкурента — для сравнения с нашими сроками.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02920" y="2606040"/>
            <a:ext cx="11155680" cy="0"/>
          </a:xfrm>
          <a:prstGeom prst="line">
            <a:avLst/>
          </a:prstGeom>
          <a:noFill/>
          <a:ln w="9525">
            <a:solidFill>
              <a:srgbClr val="D8DEE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02920" y="2697480"/>
            <a:ext cx="11155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строится ценообразование — за пользователя, за объём данных, фиксированная стоимость?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02920" y="3182112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Модель цены конкурента — для сравнения с нашей.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02920" y="3520440"/>
            <a:ext cx="11155680" cy="0"/>
          </a:xfrm>
          <a:prstGeom prst="line">
            <a:avLst/>
          </a:prstGeom>
          <a:noFill/>
          <a:ln w="9525">
            <a:solidFill>
              <a:srgbClr val="D8DEE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02920" y="3611880"/>
            <a:ext cx="11155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Есть ли у вас клиенты в нашей отрасли, на которых можно посмотреть референс?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02920" y="4096512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Отраслевой опыт конкурента.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C9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7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КАК ИСПОЛЬЗОВАТЬ РЕЗУЛЬТАТ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21792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Сравнение рынка — накапливаем по мере опросов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170432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«Наша платформа» — по текущему роадмапу. Колонки под конкурентов добавляются в xlsx по мере разговоров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691640"/>
          <a:ext cx="11155680" cy="4206240"/>
        </p:xfrm>
        <a:graphic>
          <a:graphicData uri="http://schemas.openxmlformats.org/drawingml/2006/table">
            <a:tbl>
              <a:tblPr/>
              <a:tblGrid>
                <a:gridCol w="3108960"/>
                <a:gridCol w="2011680"/>
                <a:gridCol w="6035040"/>
              </a:tblGrid>
              <a:tr h="5257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Категория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Наша платформа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Комментарий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33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Источники данных и интеграции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7B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Есть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B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Совместимость с ещё одним форматом API — в доработке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Единый справочник показателей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97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Скоро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B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 разработке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Настройка и поставка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97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Скоро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B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 разработке, гейт для демо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Защита данных и приватность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7B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Есть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B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Маскирование и защита ключей — готово; оповещения о качестве — скоро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ИИ-агенты и контроль действий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97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Скоро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B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 разработке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Аудит и информационная безопасность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7B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Есть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B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SIEM — готово; аудит внешних обменов — скоро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Поиск и общие возможности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7B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Есть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B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Веб-поиск готов; гибкий доступ по папкам — зависит от реестра доступов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02920" y="6172200"/>
            <a:ext cx="219456" cy="182880"/>
          </a:xfrm>
          <a:prstGeom prst="rect">
            <a:avLst/>
          </a:prstGeom>
          <a:solidFill>
            <a:srgbClr val="1E7B4D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95528" y="61264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Есть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3246120" y="6172200"/>
            <a:ext cx="219456" cy="182880"/>
          </a:xfrm>
          <a:prstGeom prst="rect">
            <a:avLst/>
          </a:prstGeom>
          <a:solidFill>
            <a:srgbClr val="C97A1A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3538728" y="61264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Скоро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5989320" y="6172200"/>
            <a:ext cx="219456" cy="182880"/>
          </a:xfrm>
          <a:prstGeom prst="rect">
            <a:avLst/>
          </a:prstGeom>
          <a:solidFill>
            <a:srgbClr val="8C99A6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6281928" y="61264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планах</a:t>
            </a:r>
            <a:endParaRPr lang="en-US" sz="1050" dirty="0"/>
          </a:p>
        </p:txBody>
      </p:sp>
      <p:sp>
        <p:nvSpPr>
          <p:cNvPr id="12" name="Text 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C9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7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2026-09-15T16:39:38Z</dcterms:created>
  <dcterms:modified xsi:type="dcterms:W3CDTF">2026-09-15T16:39:38Z</dcterms:modified>
</cp:coreProperties>
</file>