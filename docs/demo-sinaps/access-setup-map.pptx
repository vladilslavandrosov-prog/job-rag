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7" r:id="rId18"/>
    <p:sldId id="268" r:id="rId19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Материал для команды настройки, не клиентский питч. Три независимых механизма разграничения перечислены справа.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это три разных дерева связей. Ошибка в одном не компенсируется настройкой другого. RLS не действует на документы, домены не действуют на таблицы, DLP не знает ни о том, ни о другом.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Разграничение документов возможно только доменом целиком — нельзя закрыть отдельный абзац. Поэтому договоры вынесены в отдельный домен от политик. Обе версии политики скидок лежат в одном домене намеренно.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Гендиректор — эталон «видит всё», нужен для сравнения на демо. У Петрова три фильтра и два параметра — самая трудоёмкая персона.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Маска колонки — не то же самое, что маскирование AI Guard: маска роли необратима и действует везде, включая локальную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частая тихая ошибка настройки. Фильтр с неверным значением не падает — он возвращает 0 строк, и это неотличимо от «данных нет».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Полка — вторая компания кейса, используется для сценариев с внешними источниками и белым списком сайтов.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Проверять обязательно под самим демо-пользователем: на администратора RLS не действует, и настройка ошибочно выглядит рабочей.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слой. Загрузка secrets_base — один пункт чек-листа, но требует отдельного теста детекции на перефразировках.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этому слайду возвращаться при проверке «Графа доступа»: каждая ячейка ✓/— должна подтверждаться под соответствующим демо-пользователем, не под admin.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сводка объёма. Два предусловия — самые частые причины, по которым настройка выглядит рабочей, но на демо не срабатывает.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Справочный слайд. Ничего нового не вводит — это перечень всех имён, которые понадобится ввести в платформе: домены, технические id коллекций, персоны и демо-пользователи. Держать открытым при заполнении форм, чтобы не расходились написания.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карта доступа к документам: 4 домена, 4 коллекции, 12 связей домен → пользователь. Персоны здесь намеренно не нарисованы — они указаны мелкой подписью, а разбираются дальше. Смирнов получает все три домена «Меридиана», у остальных — один-два.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822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Внутренний технический материал · настройка доступа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Слой документов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пользователей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демо «Синапс»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0156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8B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Карта доменов, коллекций, персон и пользователей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9776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9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Рабочая схема для настройки платформы «Камерата»: что именно заводить и как оно связано между собой. Данные взяты из пакета кейса docs/demo-sinaps.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092440" y="1234440"/>
            <a:ext cx="3429000" cy="1005840"/>
          </a:xfrm>
          <a:prstGeom prst="roundRect">
            <a:avLst>
              <a:gd name="adj" fmla="val 4545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21040" y="1600200"/>
            <a:ext cx="256032" cy="256032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32520" y="14173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+ коллекции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1737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документам (RAG)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92440" y="2404872"/>
            <a:ext cx="3429000" cy="1005840"/>
          </a:xfrm>
          <a:prstGeom prst="roundRect">
            <a:avLst>
              <a:gd name="adj" fmla="val 4545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2770632"/>
            <a:ext cx="256032" cy="256032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32520" y="25877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Персоны + row-фильтры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732520" y="2907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 к структурным данным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575304"/>
            <a:ext cx="3429000" cy="1005840"/>
          </a:xfrm>
          <a:prstGeom prst="roundRect">
            <a:avLst>
              <a:gd name="adj" fmla="val 4545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3941064"/>
            <a:ext cx="256032" cy="256032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32520" y="37581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 (DLP)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32520" y="40782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вообще уходит наружу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9436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E9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домена  ·  4 коллекции  ·  8 персон  ·  8 пользователей  ·  1 база секретов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независимых механизма доступа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Разные объекты настройки, разные экраны платформы, разные последствия ошибки. Пересекаются они только в одном месте — в конкретном пользователе.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3454298" cy="3886200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98448"/>
            <a:ext cx="3454298" cy="658368"/>
          </a:xfrm>
          <a:prstGeom prst="roundRect">
            <a:avLst>
              <a:gd name="adj" fmla="val 6944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55648"/>
            <a:ext cx="3454298" cy="201168"/>
          </a:xfrm>
          <a:prstGeom prst="rect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53896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6E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1408176"/>
            <a:ext cx="2649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 + коллекции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084832"/>
            <a:ext cx="30519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(RAG)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9808" y="2450592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E1EFF1"/>
          </a:solidFill>
          <a:ln w="9525">
            <a:solidFill>
              <a:srgbClr val="0F6E7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4505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75789" y="2743200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9808" y="2871216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E1EFF1"/>
          </a:solidFill>
          <a:ln w="9525">
            <a:solidFill>
              <a:srgbClr val="0F6E7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2871216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75789" y="3163824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9808" y="3291840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E1EFF1"/>
          </a:solidFill>
          <a:ln w="9525">
            <a:solidFill>
              <a:srgbClr val="0F6E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3291840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3749040"/>
            <a:ext cx="30519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создаётся в Каталоге. Коллекция документов привязывается к домену. Пользователь получает домен — напрямую или через персону.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700016"/>
            <a:ext cx="3051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чате виден только корпус документов своего домена.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68698" y="1298448"/>
            <a:ext cx="3454298" cy="3886200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68698" y="1298448"/>
            <a:ext cx="3454298" cy="658368"/>
          </a:xfrm>
          <a:prstGeom prst="roundRect">
            <a:avLst>
              <a:gd name="adj" fmla="val 6944"/>
            </a:avLst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8698" y="1755648"/>
            <a:ext cx="3454298" cy="201168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1578" y="1453896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1578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96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990490" y="1408176"/>
            <a:ext cx="2649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Персоны + row-фильтры и маски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9866" y="2084832"/>
            <a:ext cx="30519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СТРУКТУРНЫЕ ДАННЫЕ (SQL, ЧАТ ПО ДАННЫМ)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69866" y="2450592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7EDDD"/>
          </a:solidFill>
          <a:ln w="9525">
            <a:solidFill>
              <a:srgbClr val="A9641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69866" y="24505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95848" y="2743200"/>
            <a:ext cx="0" cy="128016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569866" y="2871216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7EDDD"/>
          </a:solidFill>
          <a:ln w="9525">
            <a:solidFill>
              <a:srgbClr val="A9641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69866" y="2871216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 / маска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095848" y="3163824"/>
            <a:ext cx="0" cy="128016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69866" y="3291840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7EDDD"/>
          </a:solidFill>
          <a:ln w="9525">
            <a:solidFill>
              <a:srgbClr val="A9641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69866" y="3291840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Таблицы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69866" y="3749040"/>
            <a:ext cx="30519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— шаблон: row-фильтры (WHERE с плейсхолдерами :параметр) и маскируемые колонки (колонка → NULL). Пользователь привязывается к персоне и получает значения плейсхолдеров.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569866" y="4700016"/>
            <a:ext cx="3051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строк не возвращается, часть колонок приходит пустой.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188757" y="1298448"/>
            <a:ext cx="3454298" cy="3886200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188757" y="1298448"/>
            <a:ext cx="3454298" cy="658368"/>
          </a:xfrm>
          <a:prstGeom prst="roundRect">
            <a:avLst>
              <a:gd name="adj" fmla="val 6944"/>
            </a:avLst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88757" y="1755648"/>
            <a:ext cx="3454298" cy="201168"/>
          </a:xfrm>
          <a:prstGeom prst="rect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71637" y="1453896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71637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810549" y="1408176"/>
            <a:ext cx="26496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секретов (DLP Secret)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389925" y="2084832"/>
            <a:ext cx="30519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ВСЁ, ЧТО УХОДИТ ВО ВНЕШНЮЮ МОДЕЛЬ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389925" y="2450592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5E5E7"/>
          </a:solidFill>
          <a:ln w="9525">
            <a:solidFill>
              <a:srgbClr val="8C2F3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89925" y="2450592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secrets_base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915906" y="2743200"/>
            <a:ext cx="0" cy="128016"/>
          </a:xfrm>
          <a:prstGeom prst="line">
            <a:avLst/>
          </a:prstGeom>
          <a:noFill/>
          <a:ln w="19050">
            <a:solidFill>
              <a:srgbClr val="8C2F39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389925" y="2871216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5E5E7"/>
          </a:solidFill>
          <a:ln w="9525">
            <a:solidFill>
              <a:srgbClr val="8C2F3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89925" y="2871216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Secret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915906" y="3163824"/>
            <a:ext cx="0" cy="128016"/>
          </a:xfrm>
          <a:prstGeom prst="line">
            <a:avLst/>
          </a:prstGeom>
          <a:noFill/>
          <a:ln w="19050">
            <a:solidFill>
              <a:srgbClr val="8C2F39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8389925" y="3291840"/>
            <a:ext cx="3051962" cy="292608"/>
          </a:xfrm>
          <a:prstGeom prst="roundRect">
            <a:avLst>
              <a:gd name="adj" fmla="val 15625"/>
            </a:avLst>
          </a:prstGeom>
          <a:solidFill>
            <a:srgbClr val="F5E5E7"/>
          </a:solidFill>
          <a:ln w="9525">
            <a:solidFill>
              <a:srgbClr val="8C2F3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89925" y="3291840"/>
            <a:ext cx="3051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модель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8389925" y="3749040"/>
            <a:ext cx="30519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secrets_base с темами на естественном языке загружается в модуль «База секретов». К персонам и доменам не привязана вообще.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389925" y="4700016"/>
            <a:ext cx="305196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Действует одинаково для всех пользователей стенда.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275789" y="5184648"/>
            <a:ext cx="0" cy="21031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95848" y="5184648"/>
            <a:ext cx="0" cy="210312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915906" y="5184648"/>
            <a:ext cx="0" cy="210312"/>
          </a:xfrm>
          <a:prstGeom prst="line">
            <a:avLst/>
          </a:prstGeom>
          <a:noFill/>
          <a:ln w="19050">
            <a:solidFill>
              <a:srgbClr val="8C2F3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275789" y="5394960"/>
            <a:ext cx="7640117" cy="0"/>
          </a:xfrm>
          <a:prstGeom prst="line">
            <a:avLst/>
          </a:prstGeom>
          <a:noFill/>
          <a:ln w="19050">
            <a:solidFill>
              <a:srgbClr val="8A99A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095848" y="5394960"/>
            <a:ext cx="0" cy="219456"/>
          </a:xfrm>
          <a:prstGeom prst="line">
            <a:avLst/>
          </a:prstGeom>
          <a:noFill/>
          <a:ln w="19050">
            <a:solidFill>
              <a:srgbClr val="8A99A8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2670048" y="5614416"/>
            <a:ext cx="6858000" cy="731520"/>
          </a:xfrm>
          <a:prstGeom prst="roundRect">
            <a:avLst>
              <a:gd name="adj" fmla="val 6250"/>
            </a:avLst>
          </a:prstGeom>
          <a:solidFill>
            <a:srgbClr val="EFF2F6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2670048" y="5715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учётная запись пользователя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670048" y="6007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три механизма применяются к нему одновременно и независимо друг от друга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Домены и коллекции — полная карта (RAG)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домена → 4 коллекции → 14 документов. Поле «Домен» у коллекции нельзя изменить после создания — разложить корпус нужно до загрузки.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207008"/>
            <a:ext cx="36041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Договоры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98468" y="1207008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Source-aligned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19374" y="1682496"/>
            <a:ext cx="0" cy="25603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188720" y="1938528"/>
            <a:ext cx="406130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938528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pPr algn="ctr" indent="0" marL="0">
              <a:buNone/>
            </a:pPr>
            <a:r>
              <a:rPr lang="en-US" sz="11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meridian_contracts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9374" y="2304288"/>
            <a:ext cx="0" cy="237744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542032"/>
            <a:ext cx="5341468" cy="1115568"/>
          </a:xfrm>
          <a:prstGeom prst="roundRect">
            <a:avLst>
              <a:gd name="adj" fmla="val 4098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633472"/>
            <a:ext cx="4939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· 3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68096" y="2862072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2816352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contract_vertikal_supply.md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017520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contract_alfa_supply.md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68096" y="326440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3218688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contract_exclusive_severstal.md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301588" y="1207008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02756" y="1207008"/>
            <a:ext cx="36041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Коммуникации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951415" y="1207008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Consumer-aligned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972321" y="1682496"/>
            <a:ext cx="0" cy="25603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41668" y="1938528"/>
            <a:ext cx="406130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1668" y="1938528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pPr algn="ctr" indent="0" marL="0">
              <a:buNone/>
            </a:pPr>
            <a:r>
              <a:rPr lang="en-US" sz="11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meridian_comms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72321" y="2304288"/>
            <a:ext cx="0" cy="237744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301588" y="2542032"/>
            <a:ext cx="5341468" cy="1115568"/>
          </a:xfrm>
          <a:prstGeom prst="roundRect">
            <a:avLst>
              <a:gd name="adj" fmla="val 4098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02756" y="2633472"/>
            <a:ext cx="4939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· 4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21044" y="2862072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85636" y="2816352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minutes_vertikal_20250520.md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21044" y="3063240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85636" y="3017520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minutes_vertikal_20250708.md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21044" y="326440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85636" y="3218688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email_vertikal_payment.md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21044" y="3465576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85636" y="3419856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email_vertikal_specification.md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8640" y="3895344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49808" y="3895344"/>
            <a:ext cx="36041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Политики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198468" y="3895344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19374" y="4370832"/>
            <a:ext cx="0" cy="25603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1188720" y="4626864"/>
            <a:ext cx="406130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188720" y="4626864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pPr algn="ctr" indent="0" marL="0">
              <a:buNone/>
            </a:pPr>
            <a:r>
              <a:rPr lang="en-US" sz="11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meridian_policies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219374" y="4992624"/>
            <a:ext cx="0" cy="237744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48640" y="5230368"/>
            <a:ext cx="5341468" cy="1115568"/>
          </a:xfrm>
          <a:prstGeom prst="roundRect">
            <a:avLst>
              <a:gd name="adj" fmla="val 4098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9808" y="5321808"/>
            <a:ext cx="4939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· 4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68096" y="555040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504688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discount_policy_ACTIVE_v2.md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68096" y="5751576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2688" y="5705856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discount_policy_OUTDATED_v1.md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68096" y="5952744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32688" y="5907024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payment_regulation_suppliers.md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68096" y="6153912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2688" y="6108192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infosec_pii_policy.md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01588" y="3895344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4" name="Text 52"/>
          <p:cNvSpPr txBox="1"/>
          <p:nvPr/>
        </p:nvSpPr>
        <p:spPr>
          <a:xfrm>
            <a:off x="6502756" y="3895344"/>
            <a:ext cx="36041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 — Операционные документы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951415" y="3895344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Consumer-aligned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972321" y="4370832"/>
            <a:ext cx="0" cy="25603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941668" y="4626864"/>
            <a:ext cx="406130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941668" y="4626864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pPr algn="ctr" indent="0" marL="0">
              <a:buNone/>
            </a:pPr>
            <a:r>
              <a:rPr lang="en-US" sz="11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polka_docs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972321" y="4992624"/>
            <a:ext cx="0" cy="237744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301588" y="5230368"/>
            <a:ext cx="5341468" cy="1115568"/>
          </a:xfrm>
          <a:prstGeom prst="roundRect">
            <a:avLst>
              <a:gd name="adj" fmla="val 4098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2756" y="5321808"/>
            <a:ext cx="49391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· 3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521044" y="555040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685636" y="5504688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returns_policy.md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521044" y="5751576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685636" y="5705856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service_standards.md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521044" y="5952744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685636" y="5907024"/>
            <a:ext cx="47745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whitelist_sites.md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Персоны «Меридиана» — фильтры и маски (1 из 2)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 задаёт шаблон: домены, row-фильтры и маскируемые колонки. Значения плейсхолдеров :параметр вносятся уже на карточке пользователя.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225296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26464"/>
            <a:ext cx="50292" cy="932688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4447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Меридиан-Гендиректор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175564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Г.А. (E-001)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04672" y="2084832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9264" y="2029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3 домена «Меридиана»: Договоры, Коммуникации, Политики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1444752"/>
            <a:ext cx="7452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886200" y="1700784"/>
            <a:ext cx="7452360" cy="310896"/>
          </a:xfrm>
          <a:prstGeom prst="roundRect">
            <a:avLst>
              <a:gd name="adj" fmla="val 14706"/>
            </a:avLst>
          </a:prstGeom>
          <a:solidFill>
            <a:srgbClr val="EFF2F6"/>
          </a:solidFill>
          <a:ln w="12700">
            <a:solidFill>
              <a:srgbClr val="C6D0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14216" y="1700784"/>
            <a:ext cx="7196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Фильтров нет — видит все строки во всех таблицах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706624"/>
            <a:ext cx="11094415" cy="1225296"/>
          </a:xfrm>
          <a:prstGeom prst="roundRect">
            <a:avLst>
              <a:gd name="adj" fmla="val 3731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852928"/>
            <a:ext cx="50292" cy="932688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871216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Меридиан-HR-директор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318211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Иванова Т.Н. (E-003)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" y="3511296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" y="345643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Коммуникации, Политики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2871216"/>
            <a:ext cx="7452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886200" y="3127248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86200" y="31272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93208" y="3264408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95544" y="3154680"/>
            <a:ext cx="5843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access_class != 'КОНФИДЕНЦИАЛЬНО · M&amp;A'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886200" y="3511296"/>
            <a:ext cx="7452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Оклады и ПДн сотрудников ей нужны по роли — колонки employees не маскируются.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133088"/>
            <a:ext cx="11094415" cy="2084832"/>
          </a:xfrm>
          <a:prstGeom prst="roundRect">
            <a:avLst>
              <a:gd name="adj" fmla="val 2193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279392"/>
            <a:ext cx="50292" cy="1792224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2976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Меридиан-Рук-продаж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460857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Петров А.В. (E-006)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" y="4937760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9264" y="488289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Коммуникации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886200" y="4297680"/>
            <a:ext cx="7452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886200" y="455371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86200" y="4553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93208" y="4690872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495544" y="4581144"/>
            <a:ext cx="5843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 = :dept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86200" y="4901184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886200" y="49011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93208" y="5038344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95544" y="4928616"/>
            <a:ext cx="5843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manager = :manager_short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886200" y="5248656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886200" y="52486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93208" y="5385816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5495544" y="5276088"/>
            <a:ext cx="5843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owner = :manager_short AND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access_class != 'КОНФИДЕНЦИАЛЬНО · M&amp;A'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886200" y="5797296"/>
            <a:ext cx="7452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пользователя Петрова:  dept = «Продажи Центр»,  manager_short = «Петров А.В.»  —  два разных плейсхолдера, см. следующий слайд.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3276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условие пишется с именем каталога (&lt;каталог&gt;.public.&lt;таблица&gt;) — без него фильтр протечёт на одноимённую таблицу в другой базе.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Персоны «Меридиана» — фильтры и маски (2 из 2)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этих трёх ролей к row-фильтрам добавляются маски колонок: для персоны значение колонки всегда NULL, включая её собственный чат и сырой SQL.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26464"/>
            <a:ext cx="50292" cy="1078992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4447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Меридиан-Финаналитик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175564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Сидоров К.Л. (E-011)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04672" y="2084832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9264" y="20299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144475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886200" y="1700784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86200" y="17007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93208" y="1837944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495544" y="1728216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access_class != 'КОНФИДЕНЦИАЛЬНО · M&amp;A'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 КОЛОНОК → NULL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189720" y="1700784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5E5E7"/>
          </a:solidFill>
          <a:ln w="9525">
            <a:solidFill>
              <a:srgbClr val="D9B6B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81160" y="170078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employees.salary_rub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89720" y="1975104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5E5E7"/>
          </a:solidFill>
          <a:ln w="9525">
            <a:solidFill>
              <a:srgbClr val="D9B6B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197510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employees.fio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2249424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5E5E7"/>
          </a:solidFill>
          <a:ln w="9525">
            <a:solidFill>
              <a:srgbClr val="D9B6B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2249424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employees.email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886200" y="2231136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 финансовыми агрегатами; персональные данные сотрудников для роли закрыты полностью.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52928"/>
            <a:ext cx="11094415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999232"/>
            <a:ext cx="50292" cy="1078992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301752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Меридиан-Юрист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32841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Кузнецова А.Д. (E-005)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672" y="3657600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9264" y="360273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Договоры, Политики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886200" y="301752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886200" y="327355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86200" y="3273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93208" y="3410712"/>
            <a:ext cx="310896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5495544" y="3300984"/>
            <a:ext cx="3465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access_class != 'КОНФИДЕНЦИАЛЬНО · M&amp;A'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01752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 КОЛОНОК → NULL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189720" y="3273552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5E5E7"/>
          </a:solidFill>
          <a:ln w="9525">
            <a:solidFill>
              <a:srgbClr val="D9B6B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327355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employees.salary_rub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189720" y="3547872"/>
            <a:ext cx="2240280" cy="237744"/>
          </a:xfrm>
          <a:prstGeom prst="roundRect">
            <a:avLst>
              <a:gd name="adj" fmla="val 19231"/>
            </a:avLst>
          </a:prstGeom>
          <a:solidFill>
            <a:srgbClr val="F5E5E7"/>
          </a:solidFill>
          <a:ln w="9525">
            <a:solidFill>
              <a:srgbClr val="D9B6B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281160" y="3547872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sales.cogs_rub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886200" y="380390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Единственная роль (кроме гендиректора) с доступом к домену «Меридиан — Договоры».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4425696"/>
            <a:ext cx="11094415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48640" y="4572000"/>
            <a:ext cx="50292" cy="1188720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59028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Меридиан-ИБ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" y="490118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Соколов И.Р. (E-004)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" y="5230368"/>
            <a:ext cx="100584" cy="100584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69264" y="517550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Политики — по существу только infosec_pii_policy.md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3886200" y="4590288"/>
            <a:ext cx="7452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ROW-ФИЛЬТРЫ  ·  таблица → условие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886200" y="4846320"/>
            <a:ext cx="7452360" cy="310896"/>
          </a:xfrm>
          <a:prstGeom prst="roundRect">
            <a:avLst>
              <a:gd name="adj" fmla="val 14706"/>
            </a:avLst>
          </a:prstGeom>
          <a:solidFill>
            <a:srgbClr val="EFF2F6"/>
          </a:solidFill>
          <a:ln w="12700">
            <a:solidFill>
              <a:srgbClr val="C6D0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014216" y="4846320"/>
            <a:ext cx="7196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Фильтров нет — доступ к бизнес-таблицам не выдаётся вовсе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3886200" y="5486400"/>
            <a:ext cx="7452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через журнал аудита и модуль DLP, а не через бизнес-таблицы: бизнес-домены персоне можно не назначать.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25449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 роли ≠ маскирование AI Guard: AI Guard прячет ПДн только на пути во внешнюю модель и реверсируется в ответе, а маска колонки отдаёт NULL всегда — включая локальную модель и сырой SQL.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сохранения политики — «Предпросмотр»: убедиться, что не осталось незаполненных :параметров.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Особый случай: два формата ФИО у Петрова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Прямого равенства между таблицами нет. Если подставить в фильтр значение из employees.fio, запрос молча вернёт ноль строк — это выглядит как пустой отчёт, а не как ошибка.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1860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5318608" cy="420624"/>
          </a:xfrm>
          <a:prstGeom prst="roundRect">
            <a:avLst>
              <a:gd name="adj" fmla="val 10870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09344"/>
            <a:ext cx="5318608" cy="182880"/>
          </a:xfrm>
          <a:prstGeom prst="rect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371600"/>
            <a:ext cx="491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meridian.employees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1938528"/>
            <a:ext cx="491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 fio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194560"/>
            <a:ext cx="4916272" cy="438912"/>
          </a:xfrm>
          <a:prstGeom prst="roundRect">
            <a:avLst>
              <a:gd name="adj" fmla="val 10417"/>
            </a:avLst>
          </a:prstGeom>
          <a:solidFill>
            <a:srgbClr val="EFF2F6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194560"/>
            <a:ext cx="491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«Петров Артём Викторович»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697480"/>
            <a:ext cx="491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форма — как в кадровой карточке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926080"/>
            <a:ext cx="491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рядом в той же строке: department = «Продажи Центр»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24448" y="1371600"/>
            <a:ext cx="531860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4448" y="1371600"/>
            <a:ext cx="5318608" cy="420624"/>
          </a:xfrm>
          <a:prstGeom prst="roundRect">
            <a:avLst>
              <a:gd name="adj" fmla="val 10870"/>
            </a:avLst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24448" y="1609344"/>
            <a:ext cx="5318608" cy="182880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25616" y="1371600"/>
            <a:ext cx="4916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meridian.sales / meridian.deals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25616" y="1938528"/>
            <a:ext cx="491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колонка manager / owner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25616" y="2194560"/>
            <a:ext cx="4916272" cy="438912"/>
          </a:xfrm>
          <a:prstGeom prst="roundRect">
            <a:avLst>
              <a:gd name="adj" fmla="val 10417"/>
            </a:avLst>
          </a:prstGeom>
          <a:solidFill>
            <a:srgbClr val="EFF2F6"/>
          </a:solidFill>
          <a:ln w="15875">
            <a:solidFill>
              <a:srgbClr val="A964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25616" y="2194560"/>
            <a:ext cx="49162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«Петров А.В.»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25616" y="2697480"/>
            <a:ext cx="491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Сокращённая форма — как в CRM-выгрузке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25616" y="2926080"/>
            <a:ext cx="491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рядом в той же строке: region = «Центр» (без слова «Продажи»)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58104" y="2148840"/>
            <a:ext cx="475488" cy="475488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58104" y="2148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≠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207944" y="3246120"/>
            <a:ext cx="0" cy="36576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983751" y="3246120"/>
            <a:ext cx="0" cy="36576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8640" y="3611880"/>
            <a:ext cx="11094415" cy="1481328"/>
          </a:xfrm>
          <a:prstGeom prst="roundRect">
            <a:avLst>
              <a:gd name="adj" fmla="val 3086"/>
            </a:avLst>
          </a:prstGeom>
          <a:solidFill>
            <a:srgbClr val="F7EDDD"/>
          </a:solidFill>
          <a:ln w="12700">
            <a:solidFill>
              <a:srgbClr val="E0C79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77240" y="3758184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C48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два разных плейсхолдера на одной персоне, а не один общий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77240" y="4114800"/>
            <a:ext cx="5044288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4215384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:dept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0120" y="4498848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«Продажи Центр»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960120" y="4745736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row-фильтра на employees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95848" y="4114800"/>
            <a:ext cx="5044288" cy="896112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5875">
            <a:solidFill>
              <a:srgbClr val="A9641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78728" y="4215384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964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:manager_short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4498848"/>
            <a:ext cx="467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«Петров А.В.»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278728" y="4745736"/>
            <a:ext cx="467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row-фильтров на sales и deals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5239512"/>
            <a:ext cx="3515258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31520" y="5440680"/>
            <a:ext cx="109728" cy="109728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376672"/>
            <a:ext cx="29483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Никакого JOIN писать не нужно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650992"/>
            <a:ext cx="314949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Оба значения — обычные текстовые параметры на карточке пользователя; сверять посимвольно с SQL.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38218" y="5239512"/>
            <a:ext cx="3515258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21098" y="5440680"/>
            <a:ext cx="109728" cy="109728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722266" y="5376672"/>
            <a:ext cx="29483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разрыв есть и в отделах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4521098" y="5650992"/>
            <a:ext cx="314949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employees.department = «Продажи Центр», а sales.region = «Центр» — совпадения по этой паре полей тоже нет.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27797" y="5239512"/>
            <a:ext cx="3515258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310677" y="5440680"/>
            <a:ext cx="109728" cy="109728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511845" y="5376672"/>
            <a:ext cx="29483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не видна как ошибка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310677" y="5650992"/>
            <a:ext cx="314949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Неверное значение параметра не роняет запрос — он возвращает 0 строк. Проверять «Предпросмотром» политики персоны.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«Полка» — один домен, две персоны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«Полки» структурных ограничений в демо нет: обе персоны получают один и тот же корпус операционных документов, row-фильтры и маски не задаются.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480560" cy="512064"/>
          </a:xfrm>
          <a:prstGeom prst="roundRect">
            <a:avLst>
              <a:gd name="adj" fmla="val 8929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91640"/>
            <a:ext cx="4078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 — Операционные документы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88920" y="2203704"/>
            <a:ext cx="0" cy="27432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554480" y="2478024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54480" y="24780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pPr algn="ctr" indent="0" marL="0">
              <a:buNone/>
            </a:pPr>
            <a:r>
              <a:rPr lang="en-US" sz="120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polka_docs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88920" y="2862072"/>
            <a:ext cx="0" cy="256032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3118104"/>
            <a:ext cx="4480560" cy="1225296"/>
          </a:xfrm>
          <a:prstGeom prst="roundRect">
            <a:avLst>
              <a:gd name="adj" fmla="val 3731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209544"/>
            <a:ext cx="4078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·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68096" y="3520440"/>
            <a:ext cx="73152" cy="73152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" y="3465576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returns_policy.md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8096" y="3776472"/>
            <a:ext cx="73152" cy="73152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" y="3721608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service_standards.md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8096" y="4032504"/>
            <a:ext cx="73152" cy="73152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0976" y="3977640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whitelist_sites.md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66560" y="1691640"/>
            <a:ext cx="4876495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837944"/>
            <a:ext cx="50292" cy="914400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856232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Полка-Сервис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148840"/>
            <a:ext cx="4419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демо-пользователь клиентского сервиса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24231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по возвратам и стандартам обслуживания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2295144"/>
            <a:ext cx="347472" cy="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0" y="3172968"/>
            <a:ext cx="4876495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0" y="3319272"/>
            <a:ext cx="50292" cy="914400"/>
          </a:xfrm>
          <a:prstGeom prst="rect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22592" y="333756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Полка-Продукт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022592" y="3630168"/>
            <a:ext cx="4419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демо-пользователь категорийного менеджера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3904488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по ассортименту и внешним источникам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3776472"/>
            <a:ext cx="347472" cy="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1947672"/>
            <a:ext cx="0" cy="182880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65776" y="1947672"/>
            <a:ext cx="1335024" cy="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138928" y="162763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домен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138928"/>
            <a:ext cx="11094415" cy="1170432"/>
          </a:xfrm>
          <a:prstGeom prst="roundRect">
            <a:avLst>
              <a:gd name="adj" fmla="val 3906"/>
            </a:avLst>
          </a:prstGeom>
          <a:solidFill>
            <a:srgbClr val="EFF2F6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528523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Row-фильтры и маскируемые колонки для «Полки» в демо не задаются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5778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персоны различаются только набором демо-сценариев, а не объёмом данных. Домен у них общий, поэтому проверять разграничение на «Полке» бессмысленно — она нужна для сценариев RAG и внешних источников.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Пользователь как точка схождения: Петров А.В.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одного человека одновременно работают оба независимых механизма — и доменный доступ к документам, и row-фильтры на таблицы.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2331720" cy="1234440"/>
          </a:xfrm>
          <a:prstGeom prst="roundRect">
            <a:avLst>
              <a:gd name="adj" fmla="val 3704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4871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2491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Петров А.В.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358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E-006 · Руководитель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отдела продаж «Центр»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749040"/>
            <a:ext cx="23317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385876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КАРТОЧКИ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0782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:dept = "Продажи Центр"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:manager_short = "Петров А.В."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2944368"/>
            <a:ext cx="338328" cy="0"/>
          </a:xfrm>
          <a:prstGeom prst="line">
            <a:avLst/>
          </a:prstGeom>
          <a:noFill/>
          <a:ln w="19050">
            <a:solidFill>
              <a:srgbClr val="8A99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10128" y="233172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F7EDDD"/>
          </a:solidFill>
          <a:ln w="12700">
            <a:solidFill>
              <a:srgbClr val="A96412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93008" y="248716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270662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C48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Меридиан-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C48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Рук-продаж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93008" y="32735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доступа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79592" y="2944368"/>
            <a:ext cx="384048" cy="0"/>
          </a:xfrm>
          <a:prstGeom prst="line">
            <a:avLst/>
          </a:prstGeom>
          <a:noFill/>
          <a:ln w="19050">
            <a:solidFill>
              <a:srgbClr val="8A99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2084832"/>
            <a:ext cx="0" cy="2743200"/>
          </a:xfrm>
          <a:prstGeom prst="line">
            <a:avLst/>
          </a:prstGeom>
          <a:noFill/>
          <a:ln w="19050">
            <a:solidFill>
              <a:srgbClr val="8A99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2084832"/>
            <a:ext cx="320040" cy="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63640" y="4828032"/>
            <a:ext cx="320040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1298448"/>
            <a:ext cx="5059375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784848" y="1426464"/>
            <a:ext cx="4657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· ДОКУМЕНТЫ (RAG) — через домен персоны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4848" y="1700784"/>
            <a:ext cx="2240280" cy="329184"/>
          </a:xfrm>
          <a:prstGeom prst="roundRect">
            <a:avLst>
              <a:gd name="adj" fmla="val 13889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84848" y="17007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Коммуникации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079992" y="1865376"/>
            <a:ext cx="292608" cy="0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436608" y="1700784"/>
            <a:ext cx="146304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36608" y="1700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meridian_comms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2139696"/>
            <a:ext cx="46570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документа: протоколы встреч и письма по «Вертикали». Договоры и политики в чате не видны — они в других доменах.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0" y="3310128"/>
            <a:ext cx="5059375" cy="2999232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A96412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784848" y="3438144"/>
            <a:ext cx="4657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 · СТРУКТУРНЫЕ ДАННЫЕ — через row-фильтры персоны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84848" y="3730752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84848" y="37307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936992" y="3867912"/>
            <a:ext cx="292608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302752" y="374904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 = :dept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302752" y="4023360"/>
            <a:ext cx="31391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только сотрудники отдела «Продажи Центр»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84848" y="4334256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84848" y="43342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936992" y="4471416"/>
            <a:ext cx="292608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8302752" y="4352544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manager = :manager_short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302752" y="4626864"/>
            <a:ext cx="31391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только собственные продажи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784848" y="493776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F7EDDD"/>
          </a:solidFill>
          <a:ln w="11430">
            <a:solidFill>
              <a:srgbClr val="A9641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84848" y="4937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48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936992" y="5074920"/>
            <a:ext cx="292608" cy="0"/>
          </a:xfrm>
          <a:prstGeom prst="line">
            <a:avLst/>
          </a:prstGeom>
          <a:noFill/>
          <a:ln w="19050">
            <a:solidFill>
              <a:srgbClr val="A96412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302752" y="4956048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owner = :manager_short AND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access_class != 'КОНФИДЕНЦИАЛЬНО · M&amp;A'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8302752" y="5413248"/>
            <a:ext cx="31391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свои сделки, кроме M&amp;A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784848" y="5779008"/>
            <a:ext cx="46570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Маскируемых колонок у этой персоны нет: оклады своего отдела Петров видит.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5138928"/>
            <a:ext cx="5577840" cy="1170432"/>
          </a:xfrm>
          <a:prstGeom prst="roundRect">
            <a:avLst>
              <a:gd name="adj" fmla="val 3906"/>
            </a:avLst>
          </a:prstGeom>
          <a:solidFill>
            <a:srgbClr val="EFF2F6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749808" y="5266944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механизма не проверяют друг друга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49808" y="5559552"/>
            <a:ext cx="5175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домен не выдан, а роль Domain Only Access Role не назначена — документы останутся видны все. Если схема meridian не добавлена в managed schemas — row-фильтры не сработают, хотя персона настроена верно.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База секретов — третий, независимый слой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привязана ни к персоне, ни к домену, ни к пользователю: действует на уровне того, что вообще может уйти во внешнюю модель — одинаково для всех.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00400" cy="1143000"/>
          </a:xfrm>
          <a:prstGeom prst="roundRect">
            <a:avLst>
              <a:gd name="adj" fmla="val 4000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85623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secrets_base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9456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из Meridian_load_postgres.sql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сформулированы на естественном языке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22192" y="2263140"/>
            <a:ext cx="600304" cy="0"/>
          </a:xfrm>
          <a:prstGeom prst="line">
            <a:avLst/>
          </a:prstGeom>
          <a:noFill/>
          <a:ln w="19050">
            <a:solidFill>
              <a:srgbClr val="7E93A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495648" y="1691640"/>
            <a:ext cx="3200400" cy="1143000"/>
          </a:xfrm>
          <a:prstGeom prst="roundRect">
            <a:avLst>
              <a:gd name="adj" fmla="val 4000"/>
            </a:avLst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96816" y="185623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Модуль «База секретов»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96816" y="219456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0D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Secret · семантическая детекция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0D4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+ правило реакции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69200" y="2263140"/>
            <a:ext cx="600304" cy="0"/>
          </a:xfrm>
          <a:prstGeom prst="line">
            <a:avLst/>
          </a:prstGeom>
          <a:noFill/>
          <a:ln w="19050">
            <a:solidFill>
              <a:srgbClr val="7E93A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442655" y="1691640"/>
            <a:ext cx="3200400" cy="1143000"/>
          </a:xfrm>
          <a:prstGeom prst="roundRect">
            <a:avLst>
              <a:gd name="adj" fmla="val 4000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3823" y="1856232"/>
            <a:ext cx="2798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Внешняя модель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43823" y="219456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блокируется или обезличивается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отправки наружу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246120"/>
            <a:ext cx="6858000" cy="2606040"/>
          </a:xfrm>
          <a:prstGeom prst="roundRect">
            <a:avLst>
              <a:gd name="adj" fmla="val 1754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447288"/>
            <a:ext cx="868680" cy="292608"/>
          </a:xfrm>
          <a:prstGeom prst="roundRect">
            <a:avLst>
              <a:gd name="adj" fmla="val 156250"/>
            </a:avLst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4472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SEC-1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41071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Эксклюзивные условия по договору с «Северсталью»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95935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C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закрывает содержание contract_exclusive_severstal.md. Документ при этом лежит в домене «Меридиан — Договоры» и доступен юристу и гендиректору — база секретов ограничивает не чтение, а отправку содержимого во внешнюю модель.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85546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E0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ДЕМО — ПРОГНАТЬ ПЕРЕФРАЗИРОВКИ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95528" y="5184648"/>
            <a:ext cx="73152" cy="73152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8408" y="5129784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«какие эксклюзивные условия по договору № 5-2025/ЭКС»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5404104"/>
            <a:ext cx="73152" cy="73152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8408" y="5349240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мы обещали Северстали сверх обычных условий»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5528" y="5623560"/>
            <a:ext cx="73152" cy="73152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568696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«есть ли у нас с кем-то особые скидки помимо стандартных»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26680" y="3246120"/>
            <a:ext cx="3916375" cy="2606040"/>
          </a:xfrm>
          <a:prstGeom prst="roundRect">
            <a:avLst>
              <a:gd name="adj" fmla="val 1754"/>
            </a:avLst>
          </a:prstGeom>
          <a:solidFill>
            <a:srgbClr val="1E2C46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55280" y="3447288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это НЕ является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7955280" y="3959352"/>
            <a:ext cx="91440" cy="91440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3904488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маска колонки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4123944"/>
            <a:ext cx="3276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маска убирает значение для роли — здесь роль ни при чём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955280" y="4581144"/>
            <a:ext cx="91440" cy="91440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8160" y="4526280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домен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4745736"/>
            <a:ext cx="3276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закрывает документ целиком — здесь документ читается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955280" y="5202936"/>
            <a:ext cx="91440" cy="91440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8160" y="5148072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настройка пользователя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0" y="5367528"/>
            <a:ext cx="3276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включается один раз и работает для всего стенда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05332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E9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Семантическая детекция вероятностна: совпадение «по смыслу» гарантировано только для формулировок, близких к описанию темы. Проверять до показа, а не во время.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Сводная матрица: кто что видит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референс при настройке. Столбцы «Оклады» и «M&amp;A-сделки» — результат масок и row-фильтров, остальные — результат выдачи доменов.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298448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55648"/>
                <a:gridCol w="1097280"/>
                <a:gridCol w="1371600"/>
                <a:gridCol w="1097280"/>
                <a:gridCol w="1060704"/>
                <a:gridCol w="1316736"/>
                <a:gridCol w="10789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Демо-пользователь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Договоры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Коммуникации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Политики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Полка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Оклады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(salary_rub)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M&amp;A-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сделки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Меридиан-Гендиректор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Смирнов Г.А. (E-001)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C48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C48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Меридиан-HR-директор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Иванова Т.Н. (E-003)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7C48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Меридиан-Рук-продаж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Петров А.В. (E-006)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C48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свой отдел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Меридиан-Финаналитик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Сидоров К.Л. (E-011)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маска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Меридиан-Юрист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Кузнецова А.Д. (E-005)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маска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Меридиан-ИБ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Соколов И.Р. (E-004)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Полка-Сервис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клиентский сервис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Полка-Продукт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E6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категорийный менеджер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6E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AAB6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0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Домен «Меридиан — Политики» ИБ нужен по существу только ради infosec_pii_policy.md; доступ к бизнес-таблицам персоне не выдаётся вовсе — работа идёт через журнал аудита и модуль DLP.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618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 маска» = колонка приходит NULL по маске персоны.   «—» в столбце M&amp;A-сделки = строки отсекает row-фильтр access_class != 'КОНФИДЕНЦИАЛЬНО · M&amp;A'.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завести технически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объём работ по слою доступа. Порядок важен: домены создаются до коллекций, персоны — до пользователей.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72579" cy="2331720"/>
          </a:xfrm>
          <a:prstGeom prst="roundRect">
            <a:avLst>
              <a:gd name="adj" fmla="val 2206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→ Data Marketplace → Домены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04099" y="1691640"/>
            <a:ext cx="2072579" cy="2331720"/>
          </a:xfrm>
          <a:prstGeom prst="roundRect">
            <a:avLst>
              <a:gd name="adj" fmla="val 2206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86979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2986979" y="26517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коллекции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86979" y="3017520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Администрирование → Коллекции, поле «Домен» после создания не меняется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9558" y="1691640"/>
            <a:ext cx="2072579" cy="2331720"/>
          </a:xfrm>
          <a:prstGeom prst="roundRect">
            <a:avLst>
              <a:gd name="adj" fmla="val 2206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42438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5242438" y="26517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персон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42438" y="3017520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 доступа → Политики доступа: домены, row-фильтры, маски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017" y="1691640"/>
            <a:ext cx="2072579" cy="2331720"/>
          </a:xfrm>
          <a:prstGeom prst="roundRect">
            <a:avLst>
              <a:gd name="adj" fmla="val 2206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7897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0A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497897" y="26517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пользователей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497897" y="3017520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Привязка персоны + значения плейсхолдеров на карточке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570476" y="1691640"/>
            <a:ext cx="2072579" cy="2331720"/>
          </a:xfrm>
          <a:prstGeom prst="roundRect">
            <a:avLst>
              <a:gd name="adj" fmla="val 2206"/>
            </a:avLst>
          </a:prstGeom>
          <a:solidFill>
            <a:srgbClr val="24354F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53356" y="18745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972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9753356" y="2651760"/>
            <a:ext cx="17068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загрузка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53356" y="3017520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secrets_base → модуль «База секретов» (DLP Secret)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315968"/>
            <a:ext cx="11094415" cy="1600200"/>
          </a:xfrm>
          <a:prstGeom prst="roundRect">
            <a:avLst>
              <a:gd name="adj" fmla="val 2857"/>
            </a:avLst>
          </a:prstGeom>
          <a:solidFill>
            <a:srgbClr val="1E2C46"/>
          </a:solidFill>
          <a:ln w="12700">
            <a:solidFill>
              <a:srgbClr val="3B4E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4480560"/>
            <a:ext cx="105823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подтверждения, которые нужно получить до начала настройки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4672" y="4882896"/>
            <a:ext cx="109728" cy="109728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24128" y="4809744"/>
            <a:ext cx="479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Схемы meridian и polka добавлены в governed_schemas?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526694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Иначе таблицы видны целиком, как будто RLS не настроен, — и без единой ошибки в интерфейсе.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95848" y="4882896"/>
            <a:ext cx="109728" cy="109728"/>
          </a:xfrm>
          <a:prstGeom prst="ellipse">
            <a:avLst/>
          </a:prstGeom>
          <a:solidFill>
            <a:srgbClr val="D9727E"/>
          </a:solidFill>
          <a:ln w="12700">
            <a:solidFill>
              <a:srgbClr val="D972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15304" y="4809744"/>
            <a:ext cx="479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Точные имена каталогов Trino после регистрации источников?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315304" y="526694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FB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Row-фильтр без имени каталога протечёт на одноимённую таблицу в другой базе.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10819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E9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Проверять результат только под демо-пользователями: на администратора row-level security не действует.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Сводный глоссарий имён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названия в одном месте — для быстрой сверки при настройке. Связи между ними разобраны на следующих слайдах.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371600"/>
            <a:ext cx="3602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98468" y="1371600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341468" cy="1216152"/>
          </a:xfrm>
          <a:prstGeom prst="roundRect">
            <a:avLst>
              <a:gd name="adj" fmla="val 3704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2123694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06654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Договоры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8096" y="2370582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31343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Коммуникации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617470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2560320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Политики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8096" y="286435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2807208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 — Операционные документы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1892" y="1371600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03060" y="1371600"/>
            <a:ext cx="3602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951720" y="1371600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FE0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1892" y="1920240"/>
            <a:ext cx="5341468" cy="1216152"/>
          </a:xfrm>
          <a:prstGeom prst="roundRect">
            <a:avLst>
              <a:gd name="adj" fmla="val 3704"/>
            </a:avLst>
          </a:prstGeom>
          <a:solidFill>
            <a:srgbClr val="E1EFF1"/>
          </a:solidFill>
          <a:ln w="12700">
            <a:solidFill>
              <a:srgbClr val="CADF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21348" y="2123694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5940" y="206654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meridian_contracts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21348" y="2370582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85940" y="231343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meridian_comms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21348" y="2617470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85940" y="2560320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meridian_policies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21348" y="2864358"/>
            <a:ext cx="68580" cy="68580"/>
          </a:xfrm>
          <a:prstGeom prst="ellipse">
            <a:avLst/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85940" y="2807208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741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polka_docs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502152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9808" y="3502152"/>
            <a:ext cx="3602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98468" y="3502152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050792"/>
            <a:ext cx="5341468" cy="2203704"/>
          </a:xfrm>
          <a:prstGeom prst="roundRect">
            <a:avLst>
              <a:gd name="adj" fmla="val 3704"/>
            </a:avLst>
          </a:prstGeom>
          <a:solidFill>
            <a:srgbClr val="F7EDDD"/>
          </a:solidFill>
          <a:ln w="12700">
            <a:solidFill>
              <a:srgbClr val="E8D2A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8096" y="4254246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32688" y="4197096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Меридиан-Гендиректор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8096" y="4501134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2688" y="444398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Меридиан-HR-директор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8096" y="4748022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2688" y="469087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Меридиан-Рук-продаж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68096" y="4994910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2688" y="4937760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Меридиан-Финаналитик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68096" y="5241798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32688" y="5184648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Меридиан-Юрист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68096" y="5488686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32688" y="5431536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Меридиан-ИБ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68096" y="5735574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" y="567842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Полка-Сервис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8096" y="5982462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32688" y="592531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Полка-Продукт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301892" y="3502152"/>
            <a:ext cx="5341468" cy="475488"/>
          </a:xfrm>
          <a:prstGeom prst="roundRect">
            <a:avLst>
              <a:gd name="adj" fmla="val 9615"/>
            </a:avLst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503060" y="3502152"/>
            <a:ext cx="3602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951720" y="3502152"/>
            <a:ext cx="1490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301892" y="4050792"/>
            <a:ext cx="5341468" cy="2203704"/>
          </a:xfrm>
          <a:prstGeom prst="roundRect">
            <a:avLst>
              <a:gd name="adj" fmla="val 3704"/>
            </a:avLst>
          </a:prstGeom>
          <a:solidFill>
            <a:srgbClr val="F7EDDD"/>
          </a:solidFill>
          <a:ln w="12700">
            <a:solidFill>
              <a:srgbClr val="E8D2A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21348" y="4254246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685940" y="4197096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Г.А. (E-001)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521348" y="4501134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685940" y="444398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Иванова Т.Н. (E-003)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521348" y="4748022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685940" y="469087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Петров А.В. (E-006)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521348" y="4994910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685940" y="4937760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Сидоров К.Л. (E-011)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521348" y="5241798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85940" y="5184648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Кузнецова А.Д. (E-005)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521348" y="5488686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685940" y="5431536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Соколов И.Р. (E-004)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521348" y="5735574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685940" y="5678424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клиентский сервис (Полка)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521348" y="5982462"/>
            <a:ext cx="68580" cy="68580"/>
          </a:xfrm>
          <a:prstGeom prst="ellipse">
            <a:avLst/>
          </a:prstGeom>
          <a:solidFill>
            <a:srgbClr val="A96412"/>
          </a:solidFill>
          <a:ln w="12700">
            <a:solidFill>
              <a:srgbClr val="A9641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685940" y="5925312"/>
            <a:ext cx="4756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7C48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категорийный менеджер (Полка)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 → коллекция → пользователь: все связи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из демо-пользователей получает какой корпус документов: 4 домена, 4 коллекции, 12 связей. Один пользователь может получить несколько доменов — у Смирнова их три.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 →  КОЛЛЕКЦИЯ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059168" y="1280160"/>
            <a:ext cx="4581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F6E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· 8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528048" y="1280160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</a:t>
            </a:r>
            <a:endParaRPr lang="en-US" sz="850" dirty="0"/>
          </a:p>
        </p:txBody>
      </p:sp>
      <p:sp>
        <p:nvSpPr>
          <p:cNvPr id="7" name="Line 5"/>
          <p:cNvSpPr/>
          <p:nvPr/>
        </p:nvSpPr>
        <p:spPr>
          <a:xfrm>
            <a:off x="3383280" y="2286000"/>
            <a:ext cx="3675888" cy="530352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8" name="Line 6"/>
          <p:cNvSpPr/>
          <p:nvPr/>
        </p:nvSpPr>
        <p:spPr>
          <a:xfrm flipV="1">
            <a:off x="3383280" y="2916936"/>
            <a:ext cx="3675888" cy="576072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9" name="Line 7"/>
          <p:cNvSpPr/>
          <p:nvPr/>
        </p:nvSpPr>
        <p:spPr>
          <a:xfrm flipV="1">
            <a:off x="3383280" y="3017520"/>
            <a:ext cx="3675888" cy="1682496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0" name="Line 8"/>
          <p:cNvSpPr/>
          <p:nvPr/>
        </p:nvSpPr>
        <p:spPr>
          <a:xfrm>
            <a:off x="3383280" y="2286000"/>
            <a:ext cx="3675888" cy="1165860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1" name="Line 9"/>
          <p:cNvSpPr/>
          <p:nvPr/>
        </p:nvSpPr>
        <p:spPr>
          <a:xfrm flipV="1">
            <a:off x="3383280" y="3552444"/>
            <a:ext cx="3675888" cy="1147572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2" name="Line 10"/>
          <p:cNvSpPr/>
          <p:nvPr/>
        </p:nvSpPr>
        <p:spPr>
          <a:xfrm flipV="1">
            <a:off x="3383280" y="1746504"/>
            <a:ext cx="3675888" cy="1746504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3" name="Line 11"/>
          <p:cNvSpPr/>
          <p:nvPr/>
        </p:nvSpPr>
        <p:spPr>
          <a:xfrm flipV="1">
            <a:off x="3383280" y="2281428"/>
            <a:ext cx="3675888" cy="1211580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4" name="Line 12"/>
          <p:cNvSpPr/>
          <p:nvPr/>
        </p:nvSpPr>
        <p:spPr>
          <a:xfrm flipV="1">
            <a:off x="3383280" y="2382012"/>
            <a:ext cx="3675888" cy="2318004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5" name="Line 13"/>
          <p:cNvSpPr/>
          <p:nvPr/>
        </p:nvSpPr>
        <p:spPr>
          <a:xfrm flipV="1">
            <a:off x="3383280" y="4087368"/>
            <a:ext cx="3675888" cy="612648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6" name="Line 14"/>
          <p:cNvSpPr/>
          <p:nvPr/>
        </p:nvSpPr>
        <p:spPr>
          <a:xfrm flipV="1">
            <a:off x="3383280" y="4672584"/>
            <a:ext cx="3675888" cy="27432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7" name="Line 15"/>
          <p:cNvSpPr/>
          <p:nvPr/>
        </p:nvSpPr>
        <p:spPr>
          <a:xfrm flipV="1">
            <a:off x="3383280" y="5257800"/>
            <a:ext cx="3675888" cy="649224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8" name="Line 16"/>
          <p:cNvSpPr/>
          <p:nvPr/>
        </p:nvSpPr>
        <p:spPr>
          <a:xfrm flipV="1">
            <a:off x="3383280" y="5843016"/>
            <a:ext cx="3675888" cy="64008"/>
          </a:xfrm>
          <a:prstGeom prst="line">
            <a:avLst/>
          </a:prstGeom>
          <a:noFill/>
          <a:ln w="15875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1517904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1517904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Договоры</a:t>
            </a:r>
            <a:endParaRPr lang="en-US" sz="1100" dirty="0"/>
          </a:p>
        </p:txBody>
      </p:sp>
      <p:sp>
        <p:nvSpPr>
          <p:cNvPr id="21" name="Line 19"/>
          <p:cNvSpPr/>
          <p:nvPr/>
        </p:nvSpPr>
        <p:spPr>
          <a:xfrm>
            <a:off x="1965960" y="1993392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2121408"/>
            <a:ext cx="283464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121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r>
              <a:rPr lang="en-US" sz="10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meridian_contracts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2724912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13232" y="2724912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Коммуникации</a:t>
            </a:r>
            <a:endParaRPr lang="en-US" sz="1100" dirty="0"/>
          </a:p>
        </p:txBody>
      </p:sp>
      <p:sp>
        <p:nvSpPr>
          <p:cNvPr id="26" name="Line 24"/>
          <p:cNvSpPr/>
          <p:nvPr/>
        </p:nvSpPr>
        <p:spPr>
          <a:xfrm>
            <a:off x="1965960" y="3200400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48640" y="3328416"/>
            <a:ext cx="283464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284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r>
              <a:rPr lang="en-US" sz="10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meridian_comms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31920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13232" y="3931920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 — Политики</a:t>
            </a:r>
            <a:endParaRPr lang="en-US" sz="1100" dirty="0"/>
          </a:p>
        </p:txBody>
      </p:sp>
      <p:sp>
        <p:nvSpPr>
          <p:cNvPr id="31" name="Line 29"/>
          <p:cNvSpPr/>
          <p:nvPr/>
        </p:nvSpPr>
        <p:spPr>
          <a:xfrm>
            <a:off x="1965960" y="4407408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4535424"/>
            <a:ext cx="283464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5354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r>
              <a:rPr lang="en-US" sz="10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meridian_policies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2834640" cy="475488"/>
          </a:xfrm>
          <a:prstGeom prst="roundRect">
            <a:avLst>
              <a:gd name="adj" fmla="val 9615"/>
            </a:avLst>
          </a:prstGeom>
          <a:solidFill>
            <a:srgbClr val="0F6E7B"/>
          </a:solidFill>
          <a:ln w="12700">
            <a:solidFill>
              <a:srgbClr val="0F6E7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13232" y="5138928"/>
            <a:ext cx="2505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 — Операционные документы</a:t>
            </a:r>
            <a:endParaRPr lang="en-US" sz="1100" dirty="0"/>
          </a:p>
        </p:txBody>
      </p:sp>
      <p:sp>
        <p:nvSpPr>
          <p:cNvPr id="36" name="Line 34"/>
          <p:cNvSpPr/>
          <p:nvPr/>
        </p:nvSpPr>
        <p:spPr>
          <a:xfrm>
            <a:off x="1965960" y="5614416"/>
            <a:ext cx="0" cy="128016"/>
          </a:xfrm>
          <a:prstGeom prst="line">
            <a:avLst/>
          </a:prstGeom>
          <a:noFill/>
          <a:ln w="19050">
            <a:solidFill>
              <a:srgbClr val="0F6E7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742432"/>
            <a:ext cx="2834640" cy="32918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F6E7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5742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 </a:t>
            </a:r>
            <a:r>
              <a:rPr lang="en-US" sz="1050" b="1" dirty="0">
                <a:solidFill>
                  <a:srgbClr val="0F6E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polka_docs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059168" y="1517904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60336" y="15179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Петров А.В. (E-006)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528048" y="1517904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Меридиан-Рук-продаж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59168" y="2103120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7260336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Иванова Т.Н. (E-003)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528048" y="2103120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Меридиан-HR-директор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059168" y="2688336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260336" y="2688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Смирнов Г.А. (E-001)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528048" y="2688336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Меридиан-Гендиректор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059168" y="3273552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7260336" y="32735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Кузнецова А.Д. (E-005)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528048" y="3273552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Меридиан-Юрист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59168" y="3858768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7260336" y="3858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Сидоров К.Л. (E-011)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9528048" y="3858768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Меридиан-Финаналитик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59168" y="4443984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7260336" y="44439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Соколов И.Р. (E-004)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9528048" y="4443984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Меридиан-ИБ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59168" y="5029200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7260336" y="5029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клиентский сервис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9528048" y="5029200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Полка-Сервис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59168" y="5614416"/>
            <a:ext cx="4581144" cy="457200"/>
          </a:xfrm>
          <a:prstGeom prst="roundRect">
            <a:avLst>
              <a:gd name="adj" fmla="val 4098"/>
            </a:avLst>
          </a:prstGeom>
          <a:solidFill>
            <a:srgbClr val="FFFFFF"/>
          </a:solidFill>
          <a:ln w="12700">
            <a:solidFill>
              <a:srgbClr val="C6D0DB"/>
            </a:solidFill>
            <a:prstDash val="solid"/>
          </a:ln>
          <a:effectLst>
            <a:outerShdw sx="100000" sy="100000" kx="0" ky="0" algn="bl" rotWithShape="0" blurRad="76200" dist="12700" dir="5400000">
              <a:srgbClr val="8C99A8">
                <a:alpha val="22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7260336" y="56144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категорийный менеджер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9528048" y="5614416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A96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Полка-Продукт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6272784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E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Линия = домен, который персона этого пользователя включает в доступ; сами персоны, row-фильтры и маски разбираются на следующих слайдах.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Слой документов и пользователей для демо «Синапс»</dc:title>
  <dc:subject>PptxGenJS Presentation</dc:subject>
  <dc:creator>Команда внедрения</dc:creator>
  <cp:lastModifiedBy>Команда внедрения</cp:lastModifiedBy>
  <cp:revision>1</cp:revision>
  <dcterms:created xsi:type="dcterms:W3CDTF">2026-09-10T19:07:16Z</dcterms:created>
  <dcterms:modified xsi:type="dcterms:W3CDTF">2026-09-10T19:07:16Z</dcterms:modified>
</cp:coreProperties>
</file>